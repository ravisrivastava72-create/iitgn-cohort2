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0" y="0"/>
            <a:ext cx="2679192" cy="6858000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EE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74066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EEAE3A"/>
                </a:solidFill>
                <a:latin typeface="Aptos"/>
              </a:rPr>
              <a:t>SIMPLIFIED CONSOLIDATED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498079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Business Metrics
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63240"/>
            <a:ext cx="704088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How to choose the right number, define it clearly, and stop it being gamed.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212080"/>
            <a:ext cx="71323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DCE6F0"/>
                </a:solidFill>
                <a:latin typeface="Aptos"/>
              </a:rPr>
              <a:t>Week 4 • Business Metric Design • Simplified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080760"/>
            <a:ext cx="7132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DCE6F0"/>
                </a:solidFill>
                <a:latin typeface="Aptos"/>
              </a:rPr>
              <a:t>Built from the two uploaded course slide decks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1. What is a business metric?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52044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82880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45336"/>
            <a:ext cx="31729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11095"/>
            <a:ext cx="3172968" cy="12435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7313D"/>
                </a:solidFill>
                <a:latin typeface="Aptos"/>
              </a:rPr>
              <a:t>A number we track to help make a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52044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828800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45336"/>
            <a:ext cx="31729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11095"/>
            <a:ext cx="3172968" cy="12435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7313D"/>
                </a:solidFill>
                <a:latin typeface="Aptos"/>
              </a:rPr>
              <a:t>A metric with a goal that a person or team is asked to reach.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52044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1828800"/>
          </a:xfrm>
          <a:prstGeom prst="rect">
            <a:avLst/>
          </a:prstGeom>
          <a:solidFill>
            <a:srgbClr val="EE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45336"/>
            <a:ext cx="31729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11095"/>
            <a:ext cx="3172968" cy="12435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7313D"/>
                </a:solidFill>
                <a:latin typeface="Aptos"/>
              </a:rPr>
              <a:t>A number used in place of something we really care about.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1069848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000" b="1">
                <a:solidFill>
                  <a:srgbClr val="182B49"/>
                </a:solidFill>
                <a:latin typeface="Aptos"/>
              </a:rPr>
              <a:t>Example: online hours may be easy to count, but the real goal may be completed trips that serve riders.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92040"/>
            <a:ext cx="98755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A8B88"/>
                </a:solidFill>
                <a:latin typeface="Aptos"/>
              </a:rPr>
              <a:t>Start with the decision: “What do we need to decide, and what outcome matters?”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2. The proxy test: can the number be fooled?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4924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828800"/>
          </a:xfrm>
          <a:prstGeom prst="rect">
            <a:avLst/>
          </a:prstGeom>
          <a:solidFill>
            <a:srgbClr val="EE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45336"/>
            <a:ext cx="50017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2B49"/>
                </a:solidFill>
                <a:latin typeface="Aptos"/>
              </a:rPr>
              <a:t>Canteen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11095"/>
            <a:ext cx="5001768" cy="12435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7313D"/>
                </a:solidFill>
                <a:latin typeface="Aptos"/>
              </a:rPr>
              <a:t>Servers were paid per token. Tokens doubled from 200 to 400, but plates stayed at 200. The count rose; the real result did not.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4924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182880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45336"/>
            <a:ext cx="50017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2B49"/>
                </a:solidFill>
                <a:latin typeface="Aptos"/>
              </a:rPr>
              <a:t>What this teaches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11095"/>
            <a:ext cx="5001768" cy="12435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7313D"/>
                </a:solidFill>
                <a:latin typeface="Aptos"/>
              </a:rPr>
              <a:t>A target can change behaviour. People may increase the measured number without improving the thing it is meant to represent.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03327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182B49"/>
                </a:solidFill>
                <a:latin typeface="Aptos"/>
              </a:rPr>
              <a:t>Ask before paying on a metric: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99669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000" b="1">
                <a:solidFill>
                  <a:srgbClr val="1A8B88"/>
                </a:solidFill>
                <a:latin typeface="Aptos"/>
              </a:rPr>
              <a:t>“Could someone raise this number while the customer or business outcome stays the same—or gets worse?”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3. North-star metric and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492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920240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45336"/>
            <a:ext cx="50017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2B49"/>
                </a:solidFill>
                <a:latin typeface="Aptos"/>
              </a:rPr>
              <a:t>North star = the main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11095"/>
            <a:ext cx="5001768" cy="1335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7313D"/>
                </a:solidFill>
                <a:latin typeface="Aptos"/>
              </a:rPr>
              <a:t>The single number that best reflects the value people receive.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492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1920240"/>
          </a:xfrm>
          <a:prstGeom prst="rect">
            <a:avLst/>
          </a:prstGeom>
          <a:solidFill>
            <a:srgbClr val="EE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45336"/>
            <a:ext cx="50017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2B49"/>
                </a:solidFill>
                <a:latin typeface="Aptos"/>
              </a:rPr>
              <a:t>Guardrails = safety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11095"/>
            <a:ext cx="5001768" cy="1335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7313D"/>
                </a:solidFill>
                <a:latin typeface="Aptos"/>
              </a:rPr>
              <a:t>Other numbers that warn us if improving the main number causes harm.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50292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82B49"/>
                </a:solidFill>
                <a:latin typeface="Aptos"/>
              </a:rPr>
              <a:t>Driving-school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5029200" cy="960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0">
                <a:solidFill>
                  <a:srgbClr val="27313D"/>
                </a:solidFill>
                <a:latin typeface="Aptos"/>
              </a:rPr>
              <a:t>A 90% pass rate can look good if only the easiest learners take the 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794760"/>
            <a:ext cx="50292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82B49"/>
                </a:solidFill>
                <a:latin typeface="Aptos"/>
              </a:rPr>
              <a:t>A better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97680"/>
            <a:ext cx="5029200" cy="960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0">
                <a:solidFill>
                  <a:srgbClr val="27313D"/>
                </a:solidFill>
                <a:latin typeface="Aptos"/>
              </a:rPr>
              <a:t>Track licences per enrolled learner, and check the share who actually take the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4. Leading vs. lagging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34924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82296" cy="182880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91056"/>
            <a:ext cx="50017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2B49"/>
                </a:solidFill>
                <a:latin typeface="Aptos"/>
              </a:rPr>
              <a:t>Leading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56816"/>
            <a:ext cx="5001768" cy="12435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7313D"/>
                </a:solidFill>
                <a:latin typeface="Aptos"/>
              </a:rPr>
              <a:t>Moves early, while the team can still act. Example: the share of offers accepted.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4924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82296" cy="1828800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91056"/>
            <a:ext cx="50017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2B49"/>
                </a:solidFill>
                <a:latin typeface="Aptos"/>
              </a:rPr>
              <a:t>Lagging indicator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56816"/>
            <a:ext cx="5001768" cy="12435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7313D"/>
                </a:solidFill>
                <a:latin typeface="Aptos"/>
              </a:rPr>
              <a:t>Confirms the final result after it happens. Example: completed trips at the end of the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105156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182B49"/>
                </a:solidFill>
                <a:latin typeface="Aptos"/>
              </a:rPr>
              <a:t>A useful dashboard needs both: early warnings to guide action, and outcome measures to confirm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5F6C7A"/>
                </a:solidFill>
                <a:latin typeface="Aptos"/>
              </a:rPr>
              <a:t>Also read each leading number beside a guardrail—for example, required runs per over beside wickets in hand.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5. Define every metric so everyone counts it the same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57800" cy="123444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82296" cy="123444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45336"/>
            <a:ext cx="491032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1. Numerator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11095"/>
            <a:ext cx="4910328" cy="6492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What exactly is counted on top?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57800" cy="123444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1234440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45336"/>
            <a:ext cx="491032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2. Denominator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11095"/>
            <a:ext cx="4910328" cy="6492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What is the number divided by?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57800" cy="123444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926080"/>
            <a:ext cx="82296" cy="1234440"/>
          </a:xfrm>
          <a:prstGeom prst="rect">
            <a:avLst/>
          </a:prstGeom>
          <a:solidFill>
            <a:srgbClr val="EE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054096"/>
            <a:ext cx="491032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3. Time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19856"/>
            <a:ext cx="4910328" cy="6492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Which dates, week, month, or quarter?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926080"/>
            <a:ext cx="5257800" cy="123444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82296" cy="123444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054096"/>
            <a:ext cx="491032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4. Exclusions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419856"/>
            <a:ext cx="4910328" cy="6492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What is left out, and why?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0060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82B49"/>
                </a:solidFill>
                <a:latin typeface="Aptos"/>
              </a:rPr>
              <a:t>Write the definition next to the number. If the definition changes, record when and how it 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6. Common ways a metric gets gamed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3492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82296" cy="141732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9616"/>
            <a:ext cx="50017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False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5001768" cy="8321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Mark a delivery complete when the customer did not receive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492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82296" cy="1417320"/>
          </a:xfrm>
          <a:prstGeom prst="rect">
            <a:avLst/>
          </a:prstGeom>
          <a:solidFill>
            <a:srgbClr val="EE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99616"/>
            <a:ext cx="50017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Cherry-picking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65376"/>
            <a:ext cx="5001768" cy="8321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Do only the easy jobs and avoid difficult 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53492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063240"/>
            <a:ext cx="82296" cy="141732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191256"/>
            <a:ext cx="50017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Shrinking the denominator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557016"/>
            <a:ext cx="5001768" cy="8321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Test only the learners most likely to pass.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63240"/>
            <a:ext cx="53492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063240"/>
            <a:ext cx="82296" cy="1417320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191256"/>
            <a:ext cx="50017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Counting activity, not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557016"/>
            <a:ext cx="5001768" cy="8321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Reward hours online instead of service actually delivered.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2B49"/>
                </a:solidFill>
                <a:latin typeface="Aptos"/>
              </a:rPr>
              <a:t>Ways to resist gaming: use receipts or independent checks, clear rules, and guardrail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7. Case study: Uber Hyderabad peak-hour guarantee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BC4949"/>
                </a:solidFill>
                <a:latin typeface="Aptos"/>
              </a:rPr>
              <a:t>Illustrative course case: Uber is real; the scenario and data are synthetic.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352044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82296" cy="182880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139696"/>
            <a:ext cx="31729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The scheme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505456"/>
            <a:ext cx="3172968" cy="12435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Eligible drivers were guaranteed ₹300 per peak online hour; Uber paid a top-up when trip earnings were below the floor.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011680"/>
            <a:ext cx="352044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011680"/>
            <a:ext cx="82296" cy="1828800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2139696"/>
            <a:ext cx="31729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What increased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505456"/>
            <a:ext cx="3172968" cy="12435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7313D"/>
                </a:solidFill>
                <a:latin typeface="Aptos"/>
              </a:rPr>
              <a:t>Peak online hours rose from 118,000 to 146,300: +24%.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352044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011680"/>
            <a:ext cx="82296" cy="1828800"/>
          </a:xfrm>
          <a:prstGeom prst="rect">
            <a:avLst/>
          </a:prstGeom>
          <a:solidFill>
            <a:srgbClr val="EE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139696"/>
            <a:ext cx="31729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What barely moved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505456"/>
            <a:ext cx="3172968" cy="12435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7313D"/>
                </a:solidFill>
                <a:latin typeface="Aptos"/>
              </a:rPr>
              <a:t>Completed peak trips rose from 224,200 to 230,900: +3%.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72000"/>
            <a:ext cx="1014984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182B49"/>
                </a:solidFill>
                <a:latin typeface="Aptos"/>
              </a:rPr>
              <a:t>Key question: did the scheme create more useful service—or mainly more time with the app open?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8. Read the numbers together—not one at a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17320"/>
          <a:ext cx="108356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828800"/>
                <a:gridCol w="1828800"/>
                <a:gridCol w="4709160"/>
              </a:tblGrid>
              <a:tr h="6126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109728" marR="7315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Before</a:t>
                      </a:r>
                    </a:p>
                  </a:txBody>
                  <a:tcPr marL="109728" marR="7315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After</a:t>
                      </a:r>
                    </a:p>
                  </a:txBody>
                  <a:tcPr marL="109728" marR="7315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 marL="109728" marR="73152" anchor="ctr">
                    <a:solidFill>
                      <a:srgbClr val="182B4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Peak online hours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118,000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146,300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+24%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Completed peak trips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224,200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230,900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+3%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Trips per online hour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1.90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1.58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Efficiency fell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Top-up paid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₹0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₹1.9 crore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7313D"/>
                          </a:solidFill>
                          <a:latin typeface="Aptos"/>
                        </a:defRPr>
                      </a:pPr>
                      <a:r>
                        <a:t>Cost increased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480060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BC4949"/>
                </a:solidFill>
                <a:latin typeface="Aptos"/>
              </a:rPr>
              <a:t>Lesson: more online hours did not mean a similar increase in completed trips.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9. Choose a metric that reflects customer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5204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92024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45336"/>
            <a:ext cx="31729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Avoid rewarding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11095"/>
            <a:ext cx="3172968" cy="1335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7313D"/>
                </a:solidFill>
                <a:latin typeface="Aptos"/>
              </a:rPr>
              <a:t>Peak online hours: the app can be open without a rider being served.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5204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920240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45336"/>
            <a:ext cx="31729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Main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11095"/>
            <a:ext cx="3172968" cy="1335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7313D"/>
                </a:solidFill>
                <a:latin typeface="Aptos"/>
              </a:rPr>
              <a:t>Completed peak trips per enrolled driver who is online at peak.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5204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1920240"/>
          </a:xfrm>
          <a:prstGeom prst="rect">
            <a:avLst/>
          </a:prstGeom>
          <a:solidFill>
            <a:srgbClr val="EE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45336"/>
            <a:ext cx="31729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11095"/>
            <a:ext cx="3172968" cy="1335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7313D"/>
                </a:solidFill>
                <a:latin typeface="Aptos"/>
              </a:rPr>
              <a:t>Share of offers accepted; rider wait; top-up cost per completed trip.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82B49"/>
                </a:solidFill>
                <a:latin typeface="Aptos"/>
              </a:rPr>
              <a:t>Why? Trips reflect service delivered; guardrails discourage rejecting difficult trips or harming riders and the budget.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10. The metric definition page: seven useful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371600"/>
            <a:ext cx="256032" cy="256032"/>
          </a:xfrm>
          <a:prstGeom prst="ellipse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325880"/>
            <a:ext cx="101498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27313D"/>
                </a:solidFill>
                <a:latin typeface="Aptos"/>
              </a:rPr>
              <a:t>1. Name: what is the metric called?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029967"/>
            <a:ext cx="256032" cy="256032"/>
          </a:xfrm>
          <a:prstGeom prst="ellipse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984248"/>
            <a:ext cx="101498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7313D"/>
                </a:solidFill>
                <a:latin typeface="Aptos"/>
              </a:rPr>
              <a:t>2. Purpose: what decision will it support?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688335"/>
            <a:ext cx="256032" cy="256032"/>
          </a:xfrm>
          <a:prstGeom prst="ellipse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642615"/>
            <a:ext cx="101498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7313D"/>
                </a:solidFill>
                <a:latin typeface="Aptos"/>
              </a:rPr>
              <a:t>3. Numerator: what is counted?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46704"/>
            <a:ext cx="256032" cy="256032"/>
          </a:xfrm>
          <a:prstGeom prst="ellipse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300984"/>
            <a:ext cx="101498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7313D"/>
                </a:solidFill>
                <a:latin typeface="Aptos"/>
              </a:rPr>
              <a:t>4. Denominator / unit: divided by what, or what is one counted unit?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005072"/>
            <a:ext cx="256032" cy="256032"/>
          </a:xfrm>
          <a:prstGeom prst="ellipse">
            <a:avLst/>
          </a:prstGeom>
          <a:solidFill>
            <a:srgbClr val="EE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959352"/>
            <a:ext cx="101498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7313D"/>
                </a:solidFill>
                <a:latin typeface="Aptos"/>
              </a:rPr>
              <a:t>5. Window: which dates or periods?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663440"/>
            <a:ext cx="256032" cy="256032"/>
          </a:xfrm>
          <a:prstGeom prst="ellipse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617720"/>
            <a:ext cx="101498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7313D"/>
                </a:solidFill>
                <a:latin typeface="Aptos"/>
              </a:rPr>
              <a:t>6. Exclusions: what is left out?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321808"/>
            <a:ext cx="256032" cy="256032"/>
          </a:xfrm>
          <a:prstGeom prst="ellipse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5276088"/>
            <a:ext cx="101498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27313D"/>
                </a:solidFill>
                <a:latin typeface="Aptos"/>
              </a:rPr>
              <a:t>7. What it does not reward + guardrails: how could it be gamed, and what catches that?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1A8B88"/>
                </a:solidFill>
                <a:latin typeface="Aptos"/>
              </a:rPr>
              <a:t>A metric is ready to use when two people can calculate it the same way.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11. Consider cost—and be honest about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4924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828800"/>
          </a:xfrm>
          <a:prstGeom prst="rect">
            <a:avLst/>
          </a:prstGeom>
          <a:solidFill>
            <a:srgbClr val="EE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45336"/>
            <a:ext cx="50017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What the case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11095"/>
            <a:ext cx="5001768" cy="12435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7313D"/>
                </a:solidFill>
                <a:latin typeface="Aptos"/>
              </a:rPr>
              <a:t>₹1.9 crore in top-ups over six weeks. About ₹1.159 crore (61%) went to driver-weeks accepting fewer than half of offers.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4924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182880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45336"/>
            <a:ext cx="500176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What not to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11095"/>
            <a:ext cx="5001768" cy="12435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7313D"/>
                </a:solidFill>
                <a:latin typeface="Aptos"/>
              </a:rPr>
              <a:t>A redesign might save money, but drivers may change behaviour under new rules. Treat savings as a range, not a guaranteed amount.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105156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82B49"/>
                </a:solidFill>
                <a:latin typeface="Aptos"/>
              </a:rPr>
              <a:t>The case also leaves questions open: seasonality, drivers using other apps, and whether the scheme caused the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A8B88"/>
                </a:solidFill>
                <a:latin typeface="Aptos"/>
              </a:rPr>
              <a:t>To establish cause, test the redesign and monitor the outcome and guardrails.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12. A simple framework for any business metric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7472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55448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45336"/>
            <a:ext cx="312724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1. Clarify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11095"/>
            <a:ext cx="3127248" cy="9692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What is the goal and what decision must be made?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554480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45336"/>
            <a:ext cx="312724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2. Choose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11095"/>
            <a:ext cx="3127248" cy="9692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Pick one north-star metric that reflects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47472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82296" cy="1554480"/>
          </a:xfrm>
          <a:prstGeom prst="rect">
            <a:avLst/>
          </a:prstGeom>
          <a:solidFill>
            <a:srgbClr val="EE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45336"/>
            <a:ext cx="312724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3. Protect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11095"/>
            <a:ext cx="3127248" cy="9692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Add guardrails for customer harm, quality, and cost.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91839"/>
            <a:ext cx="347472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91839"/>
            <a:ext cx="82296" cy="155448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419856"/>
            <a:ext cx="312724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4. Define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785615"/>
            <a:ext cx="3127248" cy="9692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Write numerator, denominator/unit, window, exclusions.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291839"/>
            <a:ext cx="347472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291839"/>
            <a:ext cx="82296" cy="155448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419856"/>
            <a:ext cx="312724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5.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785615"/>
            <a:ext cx="3127248" cy="9692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Check for gaming, compare fairly, and investigate segments.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291839"/>
            <a:ext cx="347472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291839"/>
            <a:ext cx="82296" cy="1554480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3419856"/>
            <a:ext cx="312724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82B49"/>
                </a:solidFill>
                <a:latin typeface="Aptos"/>
              </a:rPr>
              <a:t>6. 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3785615"/>
            <a:ext cx="3127248" cy="9692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7313D"/>
                </a:solidFill>
                <a:latin typeface="Aptos"/>
              </a:rPr>
              <a:t>Recommend action, state uncertainty, and test if needed.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82B49"/>
                </a:solidFill>
                <a:latin typeface="Aptos"/>
              </a:rPr>
              <a:t>Remember: the right metric rewards the right behaviour—not just a bigger number.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A8B88"/>
                </a:solidFill>
                <a:latin typeface="Aptos"/>
              </a:rPr>
              <a:t>BUSINESS METRICS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2B49"/>
                </a:solidFill>
                <a:latin typeface="Aptos"/>
              </a:rPr>
              <a:t>Final recap: the five rules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78992"/>
            <a:ext cx="11109960" cy="32004"/>
          </a:xfrm>
          <a:prstGeom prst="rect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698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C7A"/>
                </a:solidFill>
                <a:latin typeface="Aptos"/>
              </a:rPr>
              <a:t>Simplified learning deck • Based on the two uploaded Week 4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14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508760"/>
            <a:ext cx="384048" cy="384048"/>
          </a:xfrm>
          <a:prstGeom prst="ellipse">
            <a:avLst/>
          </a:prstGeom>
          <a:solidFill>
            <a:srgbClr val="1A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490472"/>
            <a:ext cx="95097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7313D"/>
                </a:solidFill>
                <a:latin typeface="Aptos"/>
              </a:rPr>
              <a:t>Start with the business decision, not the dashboard.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286000"/>
            <a:ext cx="384048" cy="384048"/>
          </a:xfrm>
          <a:prstGeom prst="ellipse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267712"/>
            <a:ext cx="95097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7313D"/>
                </a:solidFill>
                <a:latin typeface="Aptos"/>
              </a:rPr>
              <a:t>Do not trust a proxy until it passes the “could it be gamed?” test.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063239"/>
            <a:ext cx="384048" cy="384048"/>
          </a:xfrm>
          <a:prstGeom prst="ellipse">
            <a:avLst/>
          </a:prstGeom>
          <a:solidFill>
            <a:srgbClr val="EEA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044951"/>
            <a:ext cx="95097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7313D"/>
                </a:solidFill>
                <a:latin typeface="Aptos"/>
              </a:rPr>
              <a:t>Choose one north star and add guardrails.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840479"/>
            <a:ext cx="384048" cy="384048"/>
          </a:xfrm>
          <a:prstGeom prst="ellipse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822191"/>
            <a:ext cx="95097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7313D"/>
                </a:solidFill>
                <a:latin typeface="Aptos"/>
              </a:rPr>
              <a:t>Write a precise definition so everyone counts the same way.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617720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4599432"/>
            <a:ext cx="95097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7313D"/>
                </a:solidFill>
                <a:latin typeface="Aptos"/>
              </a:rPr>
              <a:t>Look at outcomes, costs, segments, and uncertainty before deciding.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15000"/>
            <a:ext cx="10058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A8B88"/>
                </a:solidFill>
                <a:latin typeface="Aptos"/>
              </a:rPr>
              <a:t>End goal: a metric that is useful, clear, fair, and difficult to manipulate.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