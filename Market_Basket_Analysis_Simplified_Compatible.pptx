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6D5B098-C7F3-4FB3-845A-A6D0B526EB2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7DE338-DCAB-4F59-A475-1DA199395DF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7C65FE-6C3D-4050-9EF3-1ECA7F062C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3D422C-93DC-4FF7-A6DF-10506B8533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01302A-DDB3-4477-82B9-3F93A4F6670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E0B0A2-8094-4286-B479-42ECF32BF5D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BF272C-C331-452C-A0D0-35068EFCCC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E44137-1FE0-491B-B738-9B98BA4175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003CB7-CE3D-4C5B-9E5E-21629F0A954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FAA381-4040-4231-8FE8-14A994E1DE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0D50D0-CBC7-45D1-92F5-7E4F74E372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A5814A-8D7C-42AC-B3F2-2CF78C3616F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EA2D74-AEB0-4F3C-A175-44D6FFF76CA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C40845-C32F-449A-84F8-711BC6C49E0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3776A4-435A-46CB-AC06-2052963CCA4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E57B77-8526-473C-AD76-1C677F87DD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2A4D47-26F4-43C1-A809-8A4E08C88A8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5F882E-9625-4D8C-881E-CA600AE45A9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4D6D33-D873-48B7-AA07-F7B26ACA183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555706-8F5F-4E00-91A5-B6DFA4AD0FF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280" y="6473880"/>
            <a:ext cx="11109960" cy="360"/>
          </a:xfrm>
          <a:prstGeom prst="line">
            <a:avLst/>
          </a:prstGeom>
          <a:ln w="1016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7000" y="651060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WEEK 4 · DAY 3  |  SIMPLIFIED STUDY DECK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2E2BD7-F149-40C2-8E25-0F2A8B550D0C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200880" cy="6857640"/>
          </a:xfrm>
          <a:prstGeom prst="rect">
            <a:avLst/>
          </a:prstGeom>
          <a:solidFill>
            <a:srgbClr val="19a993"/>
          </a:solidFill>
          <a:ln w="127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77240" y="960120"/>
            <a:ext cx="10606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201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MARKET BASKET ANALYSIS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49880" y="1481400"/>
            <a:ext cx="10789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Which products belong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together — beyond chance?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804600" y="3246120"/>
            <a:ext cx="960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A simplified guide to support, confidence, lift, basket data and recommendation decisions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7498080" y="4800600"/>
            <a:ext cx="603000" cy="603000"/>
          </a:xfrm>
          <a:prstGeom prst="ellipse">
            <a:avLst/>
          </a:prstGeom>
          <a:solidFill>
            <a:srgbClr val="19a993"/>
          </a:solidFill>
          <a:ln w="1270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7498080" y="4928760"/>
            <a:ext cx="60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A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8732520" y="4224600"/>
            <a:ext cx="603000" cy="60300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8732520" y="4352400"/>
            <a:ext cx="60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B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9966960" y="4800600"/>
            <a:ext cx="603000" cy="603000"/>
          </a:xfrm>
          <a:prstGeom prst="ellipse">
            <a:avLst/>
          </a:prstGeom>
          <a:solidFill>
            <a:srgbClr val="19a993"/>
          </a:solidFill>
          <a:ln w="1270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9966960" y="4928760"/>
            <a:ext cx="60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C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0"/>
          <p:cNvSpPr/>
          <p:nvPr/>
        </p:nvSpPr>
        <p:spPr>
          <a:xfrm flipV="1">
            <a:off x="8064720" y="4535280"/>
            <a:ext cx="667800" cy="539640"/>
          </a:xfrm>
          <a:prstGeom prst="line">
            <a:avLst/>
          </a:prstGeom>
          <a:ln w="25400">
            <a:solidFill>
              <a:srgbClr val="92a9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9335880" y="4535280"/>
            <a:ext cx="631080" cy="539640"/>
          </a:xfrm>
          <a:prstGeom prst="line">
            <a:avLst/>
          </a:prstGeom>
          <a:ln w="25400">
            <a:solidFill>
              <a:srgbClr val="92a9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804600" y="60534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aebed0"/>
                </a:solidFill>
                <a:effectLst/>
                <a:uFillTx/>
                <a:latin typeface="Aptos"/>
                <a:ea typeface="Aptos"/>
              </a:rPr>
              <a:t>Week 4 · Day 3 · Simplified study deck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The business question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A recommendation slot is valuable — so which pairs deserve to be shown?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640080" y="1508760"/>
            <a:ext cx="512028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914400" y="1783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WHAT WE KNOW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914400" y="2148840"/>
            <a:ext cx="4480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Two products can appear together often for very different reasons.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914400" y="334656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1115640" y="3246120"/>
            <a:ext cx="427896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They genuinely go well together.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914400" y="405396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1115640" y="3953160"/>
            <a:ext cx="427896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One product is popular with almost everyone.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914400" y="476100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1115640" y="4660560"/>
            <a:ext cx="427896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The pair appears together only by luck in a small sample.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6080760" y="1508760"/>
            <a:ext cx="5440320" cy="4343040"/>
          </a:xfrm>
          <a:prstGeom prst="roundRect">
            <a:avLst>
              <a:gd name="adj" fmla="val 2526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6400800" y="1783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WHAT WE NEED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6419160" y="224028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7086600" y="22402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How often together?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9829800" y="224028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Support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6400800" y="2898360"/>
            <a:ext cx="4663440" cy="360"/>
          </a:xfrm>
          <a:prstGeom prst="line">
            <a:avLst/>
          </a:prstGeom>
          <a:ln w="12700">
            <a:solidFill>
              <a:srgbClr val="3a50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6419160" y="326448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7086600" y="32644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How reliably one leads to the other?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9829800" y="326448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Confidence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6400800" y="3922560"/>
            <a:ext cx="4663440" cy="360"/>
          </a:xfrm>
          <a:prstGeom prst="line">
            <a:avLst/>
          </a:prstGeom>
          <a:ln w="12700">
            <a:solidFill>
              <a:srgbClr val="3a50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6419160" y="4288680"/>
            <a:ext cx="502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7086600" y="42886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More often than chance?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9829800" y="4288680"/>
            <a:ext cx="13255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Lift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6400800" y="54406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Use all three numbers together; one metric alone can mislead.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sldNum" idx="5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9E1306E-05B0-4BCF-B707-F9BCFF680B21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2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Three numbers, three different questions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Keep the denominators straight.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658440" y="1554480"/>
            <a:ext cx="3273120" cy="4251600"/>
          </a:xfrm>
          <a:prstGeom prst="roundRect">
            <a:avLst>
              <a:gd name="adj" fmla="val 3352"/>
            </a:avLst>
          </a:prstGeom>
          <a:solidFill>
            <a:srgbClr val="ddf5ef"/>
          </a:solidFill>
          <a:ln w="11430">
            <a:solidFill>
              <a:srgbClr val="ddf5e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859680" y="1810440"/>
            <a:ext cx="47520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905400" y="1815120"/>
            <a:ext cx="38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859680" y="2286000"/>
            <a:ext cx="2788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SUPPORT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859680" y="276156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How often?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859680" y="3246120"/>
            <a:ext cx="2815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Share of all baskets that contain both A and B.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859320" y="4389120"/>
            <a:ext cx="2853000" cy="360"/>
          </a:xfrm>
          <a:prstGeom prst="line">
            <a:avLst/>
          </a:prstGeom>
          <a:ln w="1778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859680" y="4617720"/>
            <a:ext cx="2797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both baskets ÷ all baskets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4462200" y="1554480"/>
            <a:ext cx="3273120" cy="4251600"/>
          </a:xfrm>
          <a:prstGeom prst="roundRect">
            <a:avLst>
              <a:gd name="adj" fmla="val 3352"/>
            </a:avLst>
          </a:prstGeom>
          <a:solidFill>
            <a:srgbClr val="e6effa"/>
          </a:solidFill>
          <a:ln w="11430">
            <a:solidFill>
              <a:srgbClr val="e6eff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4663440" y="1810440"/>
            <a:ext cx="47520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4709160" y="1815120"/>
            <a:ext cx="38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4663440" y="2286000"/>
            <a:ext cx="2788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CONFIDENCE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4663440" y="276156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How reliably?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4663440" y="3246120"/>
            <a:ext cx="2815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Among baskets with A, the share that also contain B.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4663440" y="4389120"/>
            <a:ext cx="2852640" cy="360"/>
          </a:xfrm>
          <a:prstGeom prst="line">
            <a:avLst/>
          </a:prstGeom>
          <a:ln w="17780">
            <a:solidFill>
              <a:srgbClr val="3974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4663440" y="4617720"/>
            <a:ext cx="2797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A and B ÷ 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8256960" y="1554480"/>
            <a:ext cx="3273120" cy="4251600"/>
          </a:xfrm>
          <a:prstGeom prst="roundRect">
            <a:avLst>
              <a:gd name="adj" fmla="val 3352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8458200" y="1810440"/>
            <a:ext cx="47520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8503920" y="1815120"/>
            <a:ext cx="383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8458200" y="2286000"/>
            <a:ext cx="2788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LIFT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8458200" y="276156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Beyond chance?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3"/>
          <p:cNvSpPr/>
          <p:nvPr/>
        </p:nvSpPr>
        <p:spPr>
          <a:xfrm>
            <a:off x="8458200" y="3246120"/>
            <a:ext cx="2815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Observed co-occurrence compared with what chance predicts.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8458200" y="4389120"/>
            <a:ext cx="2852640" cy="360"/>
          </a:xfrm>
          <a:prstGeom prst="line">
            <a:avLst/>
          </a:prstGeom>
          <a:ln w="1778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8458200" y="4617720"/>
            <a:ext cx="2797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observed ÷ expected by chance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6"/>
          <p:cNvSpPr/>
          <p:nvPr/>
        </p:nvSpPr>
        <p:spPr>
          <a:xfrm>
            <a:off x="749880" y="598932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Support has all baskets in its denominator. Confidence uses A’s baskets. Lift compares with chance.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sldNum" idx="6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217E5B-9F31-4255-8B15-B01CF63D9BB2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3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Support: count baskets that contain both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Example: a hostel canteen has 12 lunch orders.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685800" y="1481400"/>
            <a:ext cx="4983120" cy="44344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960120" y="17373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ROTI + SABZI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960120" y="224028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Roti appears in 4 orders.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960120" y="278892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Sabzi appears in 4 orders.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960120" y="3337560"/>
            <a:ext cx="4297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Both appear together in 3 orders.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932760" y="4251960"/>
            <a:ext cx="4434480" cy="776880"/>
          </a:xfrm>
          <a:prstGeom prst="roundRect">
            <a:avLst>
              <a:gd name="adj" fmla="val 14118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932760" y="4251960"/>
            <a:ext cx="72720" cy="776880"/>
          </a:xfrm>
          <a:prstGeom prst="rect">
            <a:avLst/>
          </a:prstGeom>
          <a:solidFill>
            <a:srgbClr val="19a993"/>
          </a:solidFill>
          <a:ln w="127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1134000" y="4288680"/>
            <a:ext cx="41054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Support = 3 ÷ 12 = 0.25 (25%)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5989320" y="1481400"/>
            <a:ext cx="5531760" cy="4434480"/>
          </a:xfrm>
          <a:prstGeom prst="roundRect">
            <a:avLst>
              <a:gd name="adj" fmla="val 2474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6327720" y="1774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REMEMBER THIS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6327720" y="226764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Do not add 4 + 4.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6327720" y="28530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The three shared orders would be counted twice.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4"/>
          <p:cNvSpPr/>
          <p:nvPr/>
        </p:nvSpPr>
        <p:spPr>
          <a:xfrm>
            <a:off x="6327360" y="3794760"/>
            <a:ext cx="4691160" cy="360"/>
          </a:xfrm>
          <a:prstGeom prst="line">
            <a:avLst/>
          </a:prstGeom>
          <a:ln w="15240">
            <a:solidFill>
              <a:srgbClr val="3a50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6327720" y="41148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Support tells us frequency only.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6327720" y="4663440"/>
            <a:ext cx="4571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It does not yet tell us whether the pairing is special.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7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2D2ED19-40FA-4D9A-AFF9-BCEA68982380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Support ranks frequency — not usefulness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From the 12 invented lunch orders.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822960" y="1572840"/>
            <a:ext cx="3291480" cy="621360"/>
          </a:xfrm>
          <a:prstGeom prst="rect">
            <a:avLst/>
          </a:prstGeom>
          <a:solidFill>
            <a:srgbClr val="15243a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932760" y="162756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Pair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"/>
          <p:cNvSpPr/>
          <p:nvPr/>
        </p:nvSpPr>
        <p:spPr>
          <a:xfrm>
            <a:off x="4114800" y="1572840"/>
            <a:ext cx="3291480" cy="621360"/>
          </a:xfrm>
          <a:prstGeom prst="rect">
            <a:avLst/>
          </a:prstGeom>
          <a:solidFill>
            <a:srgbClr val="15243a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4224600" y="162756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Orders containing both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7406640" y="1572840"/>
            <a:ext cx="1828440" cy="621360"/>
          </a:xfrm>
          <a:prstGeom prst="rect">
            <a:avLst/>
          </a:prstGeom>
          <a:solidFill>
            <a:srgbClr val="15243a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7516440" y="1627560"/>
            <a:ext cx="1608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Support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8"/>
          <p:cNvSpPr/>
          <p:nvPr/>
        </p:nvSpPr>
        <p:spPr>
          <a:xfrm>
            <a:off x="822960" y="2194560"/>
            <a:ext cx="329148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932760" y="224928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Dal rice + chaas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4114800" y="2194560"/>
            <a:ext cx="329148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4224600" y="224928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6 of 12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7406640" y="2194560"/>
            <a:ext cx="182844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7516440" y="2249280"/>
            <a:ext cx="1608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0.50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822960" y="2816280"/>
            <a:ext cx="3291480" cy="621360"/>
          </a:xfrm>
          <a:prstGeom prst="rect">
            <a:avLst/>
          </a:prstGeom>
          <a:solidFill>
            <a:srgbClr val="f0f4f8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932760" y="287136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Roti + sabzi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4114800" y="2816280"/>
            <a:ext cx="3291480" cy="621360"/>
          </a:xfrm>
          <a:prstGeom prst="rect">
            <a:avLst/>
          </a:prstGeom>
          <a:solidFill>
            <a:srgbClr val="f0f4f8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4224600" y="287136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3 of 12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8"/>
          <p:cNvSpPr/>
          <p:nvPr/>
        </p:nvSpPr>
        <p:spPr>
          <a:xfrm>
            <a:off x="7406640" y="2816280"/>
            <a:ext cx="1828440" cy="621360"/>
          </a:xfrm>
          <a:prstGeom prst="rect">
            <a:avLst/>
          </a:prstGeom>
          <a:solidFill>
            <a:srgbClr val="f0f4f8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7516440" y="2871360"/>
            <a:ext cx="1608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0.25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0"/>
          <p:cNvSpPr/>
          <p:nvPr/>
        </p:nvSpPr>
        <p:spPr>
          <a:xfrm>
            <a:off x="822960" y="3438000"/>
            <a:ext cx="329148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932760" y="349308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Roti + chaas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2"/>
          <p:cNvSpPr/>
          <p:nvPr/>
        </p:nvSpPr>
        <p:spPr>
          <a:xfrm>
            <a:off x="4114800" y="3438000"/>
            <a:ext cx="329148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4224600" y="349308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3 of 12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4"/>
          <p:cNvSpPr/>
          <p:nvPr/>
        </p:nvSpPr>
        <p:spPr>
          <a:xfrm>
            <a:off x="7406640" y="3438000"/>
            <a:ext cx="1828440" cy="621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5"/>
          <p:cNvSpPr/>
          <p:nvPr/>
        </p:nvSpPr>
        <p:spPr>
          <a:xfrm>
            <a:off x="7516440" y="3493080"/>
            <a:ext cx="1608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0.25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6"/>
          <p:cNvSpPr/>
          <p:nvPr/>
        </p:nvSpPr>
        <p:spPr>
          <a:xfrm>
            <a:off x="822960" y="4060080"/>
            <a:ext cx="3291480" cy="621360"/>
          </a:xfrm>
          <a:prstGeom prst="rect">
            <a:avLst/>
          </a:prstGeom>
          <a:solidFill>
            <a:srgbClr val="f0f4f8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7"/>
          <p:cNvSpPr/>
          <p:nvPr/>
        </p:nvSpPr>
        <p:spPr>
          <a:xfrm>
            <a:off x="932760" y="411480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Papad + pickle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8"/>
          <p:cNvSpPr/>
          <p:nvPr/>
        </p:nvSpPr>
        <p:spPr>
          <a:xfrm>
            <a:off x="4114800" y="4060080"/>
            <a:ext cx="3291480" cy="621360"/>
          </a:xfrm>
          <a:prstGeom prst="rect">
            <a:avLst/>
          </a:prstGeom>
          <a:solidFill>
            <a:srgbClr val="f0f4f8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9"/>
          <p:cNvSpPr/>
          <p:nvPr/>
        </p:nvSpPr>
        <p:spPr>
          <a:xfrm>
            <a:off x="4224600" y="4114800"/>
            <a:ext cx="30718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2 of 12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30"/>
          <p:cNvSpPr/>
          <p:nvPr/>
        </p:nvSpPr>
        <p:spPr>
          <a:xfrm>
            <a:off x="7406640" y="4060080"/>
            <a:ext cx="1828440" cy="621360"/>
          </a:xfrm>
          <a:prstGeom prst="rect">
            <a:avLst/>
          </a:prstGeom>
          <a:solidFill>
            <a:srgbClr val="f0f4f8"/>
          </a:solidFill>
          <a:ln w="635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1"/>
          <p:cNvSpPr/>
          <p:nvPr/>
        </p:nvSpPr>
        <p:spPr>
          <a:xfrm>
            <a:off x="7516440" y="4114800"/>
            <a:ext cx="1608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0.17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2"/>
          <p:cNvSpPr/>
          <p:nvPr/>
        </p:nvSpPr>
        <p:spPr>
          <a:xfrm>
            <a:off x="9144000" y="1572840"/>
            <a:ext cx="2331360" cy="3108600"/>
          </a:xfrm>
          <a:prstGeom prst="roundRect">
            <a:avLst>
              <a:gd name="adj" fmla="val 4706"/>
            </a:avLst>
          </a:prstGeom>
          <a:solidFill>
            <a:srgbClr val="ddf5ef"/>
          </a:solidFill>
          <a:ln w="11430">
            <a:solidFill>
              <a:srgbClr val="ddf5e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3"/>
          <p:cNvSpPr/>
          <p:nvPr/>
        </p:nvSpPr>
        <p:spPr>
          <a:xfrm>
            <a:off x="9372600" y="184716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Highest support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4"/>
          <p:cNvSpPr/>
          <p:nvPr/>
        </p:nvSpPr>
        <p:spPr>
          <a:xfrm>
            <a:off x="9372600" y="230436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Dal rice + chaas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5"/>
          <p:cNvSpPr/>
          <p:nvPr/>
        </p:nvSpPr>
        <p:spPr>
          <a:xfrm>
            <a:off x="9372600" y="306324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6 out of 12 orders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6"/>
          <p:cNvSpPr/>
          <p:nvPr/>
        </p:nvSpPr>
        <p:spPr>
          <a:xfrm>
            <a:off x="9372600" y="3703320"/>
            <a:ext cx="17827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But is it a better recommendation? We still need lift.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7"/>
          <p:cNvSpPr/>
          <p:nvPr/>
        </p:nvSpPr>
        <p:spPr>
          <a:xfrm>
            <a:off x="841320" y="5166360"/>
            <a:ext cx="10634040" cy="749520"/>
          </a:xfrm>
          <a:prstGeom prst="roundRect">
            <a:avLst>
              <a:gd name="adj" fmla="val 14634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8"/>
          <p:cNvSpPr/>
          <p:nvPr/>
        </p:nvSpPr>
        <p:spPr>
          <a:xfrm>
            <a:off x="987480" y="5276160"/>
            <a:ext cx="10341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KEY IDEA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9"/>
          <p:cNvSpPr/>
          <p:nvPr/>
        </p:nvSpPr>
        <p:spPr>
          <a:xfrm>
            <a:off x="987480" y="5532120"/>
            <a:ext cx="10341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A frequent pair is only a candidate. Support does not correct for how popular each item already is.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sldNum" idx="8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7F195F7-699D-4757-9CC7-305FA6D13677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Confidence: the direction changes the answer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Same shared orders, different denominator.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685800" y="1481400"/>
            <a:ext cx="5028840" cy="44344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960120" y="175572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EXAMPLE: DAL RICE AND PAPAD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960120" y="226764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Dal rice appears in 6 orders.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960120" y="278892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Papad appears in 5 orders.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960120" y="3310200"/>
            <a:ext cx="4251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Both appear together in 3 orders.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914400" y="397764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914400" y="3977640"/>
            <a:ext cx="72720" cy="658080"/>
          </a:xfrm>
          <a:prstGeom prst="rect">
            <a:avLst/>
          </a:prstGeom>
          <a:solidFill>
            <a:srgbClr val="3974b8"/>
          </a:solidFill>
          <a:ln w="1270">
            <a:solidFill>
              <a:srgbClr val="3974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1115640" y="4014360"/>
            <a:ext cx="41968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Dal rice → papad = 3 ÷ 6 = 0.50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914400" y="4754880"/>
            <a:ext cx="4525920" cy="658080"/>
          </a:xfrm>
          <a:prstGeom prst="roundRect">
            <a:avLst>
              <a:gd name="adj" fmla="val 16667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914400" y="4754880"/>
            <a:ext cx="72720" cy="658080"/>
          </a:xfrm>
          <a:prstGeom prst="rect">
            <a:avLst/>
          </a:prstGeom>
          <a:solidFill>
            <a:srgbClr val="19a993"/>
          </a:solidFill>
          <a:ln w="127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1115640" y="4791600"/>
            <a:ext cx="41968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Papad → dal rice = 3 ÷ 5 = 0.60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6053400" y="1481400"/>
            <a:ext cx="5467680" cy="4434480"/>
          </a:xfrm>
          <a:prstGeom prst="roundRect">
            <a:avLst>
              <a:gd name="adj" fmla="val 2474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6382440" y="177408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ASK THE QUESTION CAREFULLY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6382440" y="2249280"/>
            <a:ext cx="4617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“Of the baskets containing A, how many also contain B?”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6382440" y="362088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6583680" y="3520440"/>
            <a:ext cx="4370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 → B uses A as the denominator.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8"/>
          <p:cNvSpPr/>
          <p:nvPr/>
        </p:nvSpPr>
        <p:spPr>
          <a:xfrm>
            <a:off x="6382440" y="419112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9"/>
          <p:cNvSpPr/>
          <p:nvPr/>
        </p:nvSpPr>
        <p:spPr>
          <a:xfrm>
            <a:off x="6583680" y="4090320"/>
            <a:ext cx="4370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 → A uses B as the denominator.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0"/>
          <p:cNvSpPr/>
          <p:nvPr/>
        </p:nvSpPr>
        <p:spPr>
          <a:xfrm>
            <a:off x="6382440" y="476100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6583680" y="4660560"/>
            <a:ext cx="4370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Confidence alone does not prove a special relationship.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sldNum" idx="9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52910BB-6003-4496-A85C-2AB8226BBBCA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Lift: compare what we saw with what chance predicts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For roti and sabzi: 4 orders contain each item; 3 contain both.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731520" y="1508760"/>
            <a:ext cx="3657240" cy="434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1005840" y="18104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WHAT CHANCE PREDICTS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1005840" y="224028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If the items were unrelated…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1005840" y="290772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12 × (4/12) × (4/12)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1005840" y="356616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= 1.33 orders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1005840" y="4343400"/>
            <a:ext cx="3062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Observed: 3 orders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4709160" y="1508760"/>
            <a:ext cx="6720480" cy="4343040"/>
          </a:xfrm>
          <a:prstGeom prst="roundRect">
            <a:avLst>
              <a:gd name="adj" fmla="val 2526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5074920" y="18104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LIFT CALCULATION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0"/>
          <p:cNvSpPr/>
          <p:nvPr/>
        </p:nvSpPr>
        <p:spPr>
          <a:xfrm>
            <a:off x="5074920" y="2286000"/>
            <a:ext cx="5897520" cy="685440"/>
          </a:xfrm>
          <a:prstGeom prst="roundRect">
            <a:avLst>
              <a:gd name="adj" fmla="val 16000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1"/>
          <p:cNvSpPr/>
          <p:nvPr/>
        </p:nvSpPr>
        <p:spPr>
          <a:xfrm>
            <a:off x="5074920" y="2286000"/>
            <a:ext cx="72720" cy="685440"/>
          </a:xfrm>
          <a:prstGeom prst="rect">
            <a:avLst/>
          </a:prstGeom>
          <a:solidFill>
            <a:srgbClr val="e6a23c"/>
          </a:solidFill>
          <a:ln w="127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2"/>
          <p:cNvSpPr/>
          <p:nvPr/>
        </p:nvSpPr>
        <p:spPr>
          <a:xfrm>
            <a:off x="5276160" y="2322720"/>
            <a:ext cx="5568480" cy="61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Lift = observed overlap ÷ chance overlap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5074920" y="3310200"/>
            <a:ext cx="58975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 ÷ 1.33 ≈ 2.25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4"/>
          <p:cNvSpPr/>
          <p:nvPr/>
        </p:nvSpPr>
        <p:spPr>
          <a:xfrm>
            <a:off x="5074920" y="43160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Lift &lt; 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5"/>
          <p:cNvSpPr/>
          <p:nvPr/>
        </p:nvSpPr>
        <p:spPr>
          <a:xfrm>
            <a:off x="5074920" y="468180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Less often than chance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7040880" y="43160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Lift = 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7040880" y="468180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About what chance predicts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9006840" y="43160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Lift &gt; 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9006840" y="468180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More often than chance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5120640" y="5504760"/>
            <a:ext cx="5760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Lift has no direction: A with B gives the same lift as B with 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10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B0F6EDA-62BB-4098-9095-93AA3B98095C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The confidence trap: a popular item looks like everyone’s partner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Example: chaas appears in 9 of 12 orders (base rate = 0.75).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731520" y="1508760"/>
            <a:ext cx="3337200" cy="4251600"/>
          </a:xfrm>
          <a:prstGeom prst="roundRect">
            <a:avLst>
              <a:gd name="adj" fmla="val 3288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1024200" y="178308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THE TEMPTING METRIC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1024200" y="232272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Dal rice → chaas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1024200" y="295344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Confidence = 1.00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1024200" y="3675960"/>
            <a:ext cx="2605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Every dal-rice order includes chaas.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4407480" y="1508760"/>
            <a:ext cx="3245760" cy="4251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4709160" y="178308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THE CHANCE CHECK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4709160" y="2395800"/>
            <a:ext cx="2605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12 × (6/12) × (9/12)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4709160" y="309060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= 4.5 expected orders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4709160" y="384048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6 orders observed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4709160" y="461772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Lift = 6 ÷ 4.5 = 1.33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8001000" y="1508760"/>
            <a:ext cx="3428640" cy="4251600"/>
          </a:xfrm>
          <a:prstGeom prst="roundRect">
            <a:avLst>
              <a:gd name="adj" fmla="val 3200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8321040" y="179208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THE LESSON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8321040" y="2331720"/>
            <a:ext cx="2697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Confidence is high because chaas is popular.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8321040" y="3474720"/>
            <a:ext cx="2697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Lift divides out that popularity. At 1.33, the pairing is only 1.33× the chance rate.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8321040" y="5010840"/>
            <a:ext cx="2697120" cy="255600"/>
          </a:xfrm>
          <a:prstGeom prst="roundRect">
            <a:avLst>
              <a:gd name="adj" fmla="val 42857"/>
            </a:avLst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8366760" y="501552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DON’T PROMOTE ON CONFIDENCE ALONE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sldNum" idx="11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7C27296-6266-442E-A0F9-9791C28B2CA3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How basket analysis works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Raw shop data is usually stored as order lines — one row per item within an order.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713160" y="1828800"/>
            <a:ext cx="2239920" cy="3154320"/>
          </a:xfrm>
          <a:prstGeom prst="roundRect">
            <a:avLst>
              <a:gd name="adj" fmla="val 4898"/>
            </a:avLst>
          </a:prstGeom>
          <a:solidFill>
            <a:srgbClr val="e6effa"/>
          </a:solidFill>
          <a:ln w="11430">
            <a:solidFill>
              <a:srgbClr val="e6eff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877680" y="2039040"/>
            <a:ext cx="41112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923400" y="20437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877680" y="26060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Order lines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877680" y="3246120"/>
            <a:ext cx="1901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order_id | item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T01 | roti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T01 | sabzi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T01 | chaas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3054240" y="2971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8"/>
          <p:cNvSpPr/>
          <p:nvPr/>
        </p:nvSpPr>
        <p:spPr>
          <a:xfrm>
            <a:off x="3566160" y="1828800"/>
            <a:ext cx="2239920" cy="3154320"/>
          </a:xfrm>
          <a:prstGeom prst="roundRect">
            <a:avLst>
              <a:gd name="adj" fmla="val 4898"/>
            </a:avLst>
          </a:prstGeom>
          <a:solidFill>
            <a:srgbClr val="ddf5ef"/>
          </a:solidFill>
          <a:ln w="11430">
            <a:solidFill>
              <a:srgbClr val="ddf5e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9"/>
          <p:cNvSpPr/>
          <p:nvPr/>
        </p:nvSpPr>
        <p:spPr>
          <a:xfrm>
            <a:off x="3730680" y="2039040"/>
            <a:ext cx="41112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3776400" y="20437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3730680" y="26060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Group by order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2"/>
          <p:cNvSpPr/>
          <p:nvPr/>
        </p:nvSpPr>
        <p:spPr>
          <a:xfrm>
            <a:off x="3730680" y="3246120"/>
            <a:ext cx="1901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T01 becomes one basket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{roti, sabzi, chaas}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3"/>
          <p:cNvSpPr/>
          <p:nvPr/>
        </p:nvSpPr>
        <p:spPr>
          <a:xfrm>
            <a:off x="5906880" y="2971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4"/>
          <p:cNvSpPr/>
          <p:nvPr/>
        </p:nvSpPr>
        <p:spPr>
          <a:xfrm>
            <a:off x="6419160" y="1828800"/>
            <a:ext cx="2239920" cy="3154320"/>
          </a:xfrm>
          <a:prstGeom prst="roundRect">
            <a:avLst>
              <a:gd name="adj" fmla="val 4898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5"/>
          <p:cNvSpPr/>
          <p:nvPr/>
        </p:nvSpPr>
        <p:spPr>
          <a:xfrm>
            <a:off x="6583680" y="2039040"/>
            <a:ext cx="41112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6629400" y="20437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6583680" y="26060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Make every pair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8"/>
          <p:cNvSpPr/>
          <p:nvPr/>
        </p:nvSpPr>
        <p:spPr>
          <a:xfrm>
            <a:off x="6583680" y="3246120"/>
            <a:ext cx="1901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roti + sabzi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roti + chaas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sabzi + chaas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9"/>
          <p:cNvSpPr/>
          <p:nvPr/>
        </p:nvSpPr>
        <p:spPr>
          <a:xfrm>
            <a:off x="8759880" y="2971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0"/>
          <p:cNvSpPr/>
          <p:nvPr/>
        </p:nvSpPr>
        <p:spPr>
          <a:xfrm>
            <a:off x="9272160" y="1828800"/>
            <a:ext cx="2239920" cy="3154320"/>
          </a:xfrm>
          <a:prstGeom prst="roundRect">
            <a:avLst>
              <a:gd name="adj" fmla="val 4898"/>
            </a:avLst>
          </a:prstGeom>
          <a:solidFill>
            <a:srgbClr val="efeafa"/>
          </a:solidFill>
          <a:ln w="11430">
            <a:solidFill>
              <a:srgbClr val="efeaf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1"/>
          <p:cNvSpPr/>
          <p:nvPr/>
        </p:nvSpPr>
        <p:spPr>
          <a:xfrm>
            <a:off x="9436680" y="2039040"/>
            <a:ext cx="41112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9482400" y="20437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863b5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9436680" y="260604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Count pairs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4"/>
          <p:cNvSpPr/>
          <p:nvPr/>
        </p:nvSpPr>
        <p:spPr>
          <a:xfrm>
            <a:off x="9436680" y="3246120"/>
            <a:ext cx="1901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Count orders that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contain each pair,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then calculate metrics.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5"/>
          <p:cNvSpPr/>
          <p:nvPr/>
        </p:nvSpPr>
        <p:spPr>
          <a:xfrm>
            <a:off x="777240" y="5394960"/>
            <a:ext cx="106066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fffff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6"/>
          <p:cNvSpPr/>
          <p:nvPr/>
        </p:nvSpPr>
        <p:spPr>
          <a:xfrm>
            <a:off x="923400" y="5504760"/>
            <a:ext cx="10314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IMPORTANT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7"/>
          <p:cNvSpPr/>
          <p:nvPr/>
        </p:nvSpPr>
        <p:spPr>
          <a:xfrm>
            <a:off x="923400" y="5760720"/>
            <a:ext cx="10314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Treat a basket as a set of items: an item should count once per basket, even if quantity is more than one.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sldNum" idx="12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01584F6-4E1F-40C8-AEC0-1A93F8F2C241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Each basket creates combinations of two items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Do not count the same pair twice by reversing its names.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822960" y="1664280"/>
            <a:ext cx="2102760" cy="19656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932760" y="1920240"/>
            <a:ext cx="1874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2 items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932760" y="235908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1 pair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932760" y="294444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2 × 1 ÷ 2 = 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"/>
          <p:cNvSpPr/>
          <p:nvPr/>
        </p:nvSpPr>
        <p:spPr>
          <a:xfrm>
            <a:off x="3246120" y="1664280"/>
            <a:ext cx="2102760" cy="1965600"/>
          </a:xfrm>
          <a:prstGeom prst="roundRect">
            <a:avLst>
              <a:gd name="adj" fmla="val 5581"/>
            </a:avLst>
          </a:prstGeom>
          <a:solidFill>
            <a:srgbClr val="ddf5ef"/>
          </a:solidFill>
          <a:ln w="11430">
            <a:solidFill>
              <a:srgbClr val="ddf5e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3355920" y="1920240"/>
            <a:ext cx="1874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3 items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8"/>
          <p:cNvSpPr/>
          <p:nvPr/>
        </p:nvSpPr>
        <p:spPr>
          <a:xfrm>
            <a:off x="3355920" y="235908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3 pairs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3355920" y="294444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3 × 2 ÷ 2 = 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0"/>
          <p:cNvSpPr/>
          <p:nvPr/>
        </p:nvSpPr>
        <p:spPr>
          <a:xfrm>
            <a:off x="5669280" y="1664280"/>
            <a:ext cx="2102760" cy="19656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1"/>
          <p:cNvSpPr/>
          <p:nvPr/>
        </p:nvSpPr>
        <p:spPr>
          <a:xfrm>
            <a:off x="5779080" y="1920240"/>
            <a:ext cx="18741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4 items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5779080" y="2359080"/>
            <a:ext cx="1874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6 pairs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5779080" y="2944440"/>
            <a:ext cx="1874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4 × 3 ÷ 2 = 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4"/>
          <p:cNvSpPr/>
          <p:nvPr/>
        </p:nvSpPr>
        <p:spPr>
          <a:xfrm>
            <a:off x="8321040" y="2057400"/>
            <a:ext cx="2742840" cy="914040"/>
          </a:xfrm>
          <a:prstGeom prst="roundRect">
            <a:avLst>
              <a:gd name="adj" fmla="val 12000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5"/>
          <p:cNvSpPr/>
          <p:nvPr/>
        </p:nvSpPr>
        <p:spPr>
          <a:xfrm>
            <a:off x="8321040" y="2057400"/>
            <a:ext cx="72720" cy="914040"/>
          </a:xfrm>
          <a:prstGeom prst="rect">
            <a:avLst/>
          </a:prstGeom>
          <a:solidFill>
            <a:srgbClr val="e6a23c"/>
          </a:solidFill>
          <a:ln w="127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6"/>
          <p:cNvSpPr/>
          <p:nvPr/>
        </p:nvSpPr>
        <p:spPr>
          <a:xfrm>
            <a:off x="8522280" y="2094120"/>
            <a:ext cx="24138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Pairs per basket = k × (k − 1) ÷ 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7"/>
          <p:cNvSpPr/>
          <p:nvPr/>
        </p:nvSpPr>
        <p:spPr>
          <a:xfrm>
            <a:off x="841320" y="4069080"/>
            <a:ext cx="10240920" cy="1508400"/>
          </a:xfrm>
          <a:prstGeom prst="roundRect">
            <a:avLst>
              <a:gd name="adj" fmla="val 7273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8"/>
          <p:cNvSpPr/>
          <p:nvPr/>
        </p:nvSpPr>
        <p:spPr>
          <a:xfrm>
            <a:off x="1170360" y="4352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Canteen example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3246120" y="43160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9 three-item orders → 9 × 3 = 27 pairs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0"/>
          <p:cNvSpPr/>
          <p:nvPr/>
        </p:nvSpPr>
        <p:spPr>
          <a:xfrm>
            <a:off x="3246120" y="47548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 two-item orders → 3 × 1 = 3 pairs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1"/>
          <p:cNvSpPr/>
          <p:nvPr/>
        </p:nvSpPr>
        <p:spPr>
          <a:xfrm>
            <a:off x="8229600" y="45262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Total = 30 pairs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2"/>
          <p:cNvSpPr/>
          <p:nvPr/>
        </p:nvSpPr>
        <p:spPr>
          <a:xfrm>
            <a:off x="960120" y="5852160"/>
            <a:ext cx="10149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Sort pair names (e.g., bread, milk) so the pair has one key.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sldNum" idx="13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095E71D-109E-4C29-BE26-EEC40FA4E585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Simple Python idea: count each pair once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You do not need to memorize the code yet — understand the steps first.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"/>
          <p:cNvSpPr/>
          <p:nvPr/>
        </p:nvSpPr>
        <p:spPr>
          <a:xfrm>
            <a:off x="749880" y="1463040"/>
            <a:ext cx="6537600" cy="4525920"/>
          </a:xfrm>
          <a:prstGeom prst="roundRect">
            <a:avLst>
              <a:gd name="adj" fmla="val 2424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1051560" y="1783080"/>
            <a:ext cx="598896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from collections import Counter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from itertools import combinations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# One set of items per order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baskets = lines.groupby("order_id").item.apply(set)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# Count every pair once per basket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pairs = Counter(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    pair for basket in baskets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    for pair in combinations(sorted(basket), 2)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5edf6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7635240" y="1463040"/>
            <a:ext cx="3794400" cy="452592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7973640" y="178308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WHAT EACH LINE DOES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7973640" y="236844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8174880" y="2267640"/>
            <a:ext cx="27702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groupby("order_id") gathers item rows into orders.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7973640" y="316152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8174880" y="3061080"/>
            <a:ext cx="27702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set removes duplicate item names within one order.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0"/>
          <p:cNvSpPr/>
          <p:nvPr/>
        </p:nvSpPr>
        <p:spPr>
          <a:xfrm>
            <a:off x="7973640" y="395496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1"/>
          <p:cNvSpPr/>
          <p:nvPr/>
        </p:nvSpPr>
        <p:spPr>
          <a:xfrm>
            <a:off x="8174880" y="3854160"/>
            <a:ext cx="27702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combinations(..., 2) creates each pair once.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7973640" y="4748040"/>
            <a:ext cx="91080" cy="91080"/>
          </a:xfrm>
          <a:prstGeom prst="ellipse">
            <a:avLst/>
          </a:prstGeom>
          <a:solidFill>
            <a:srgbClr val="19a993"/>
          </a:solidFill>
          <a:ln w="635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8174880" y="4647600"/>
            <a:ext cx="27702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Counter tallies how many baskets contain each pair.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sldNum" idx="14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C0DB02-C20D-4591-B990-F483DD815249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A huge lift on two orders can be pure luck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In an invented month of 600 orders where items are unrelated, a pair still reached lift 8.57 on just 2 orders.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"/>
          <p:cNvSpPr/>
          <p:nvPr/>
        </p:nvSpPr>
        <p:spPr>
          <a:xfrm>
            <a:off x="777240" y="1572840"/>
            <a:ext cx="512028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"/>
          <p:cNvSpPr/>
          <p:nvPr/>
        </p:nvSpPr>
        <p:spPr>
          <a:xfrm>
            <a:off x="1097280" y="18471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WHAT THE SIMULATION SHOWED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1097280" y="2441520"/>
            <a:ext cx="185580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Pair on 2 orders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3063240" y="2633400"/>
            <a:ext cx="1627200" cy="438480"/>
          </a:xfrm>
          <a:prstGeom prst="roundRect">
            <a:avLst>
              <a:gd name="adj" fmla="val 25000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3063240" y="2633400"/>
            <a:ext cx="1549440" cy="438480"/>
          </a:xfrm>
          <a:prstGeom prst="roundRect">
            <a:avLst>
              <a:gd name="adj" fmla="val 25000"/>
            </a:avLst>
          </a:prstGeom>
          <a:solidFill>
            <a:srgbClr val="d65b5b"/>
          </a:solidFill>
          <a:ln w="10160">
            <a:solidFill>
              <a:srgbClr val="d65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4745880" y="2432160"/>
            <a:ext cx="6397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8.57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8"/>
          <p:cNvSpPr/>
          <p:nvPr/>
        </p:nvSpPr>
        <p:spPr>
          <a:xfrm>
            <a:off x="1097280" y="3355920"/>
            <a:ext cx="185580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Pairs on 30+ orders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3063240" y="3547800"/>
            <a:ext cx="1627200" cy="438480"/>
          </a:xfrm>
          <a:prstGeom prst="roundRect">
            <a:avLst>
              <a:gd name="adj" fmla="val 25000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0"/>
          <p:cNvSpPr/>
          <p:nvPr/>
        </p:nvSpPr>
        <p:spPr>
          <a:xfrm>
            <a:off x="3063240" y="3547800"/>
            <a:ext cx="180360" cy="438480"/>
          </a:xfrm>
          <a:prstGeom prst="roundRect">
            <a:avLst>
              <a:gd name="adj" fmla="val 60674"/>
            </a:avLst>
          </a:prstGeom>
          <a:solidFill>
            <a:srgbClr val="19a993"/>
          </a:solidFill>
          <a:ln w="1016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4745880" y="3346560"/>
            <a:ext cx="63972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0.90–1.00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1097280" y="4818960"/>
            <a:ext cx="4297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Small denominators make the metric jump around.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3"/>
          <p:cNvSpPr/>
          <p:nvPr/>
        </p:nvSpPr>
        <p:spPr>
          <a:xfrm>
            <a:off x="6236280" y="1572840"/>
            <a:ext cx="5166000" cy="4343040"/>
          </a:xfrm>
          <a:prstGeom prst="roundRect">
            <a:avLst>
              <a:gd name="adj" fmla="val 2526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6565320" y="185616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USE A SUPPORT FLOOR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5"/>
          <p:cNvSpPr/>
          <p:nvPr/>
        </p:nvSpPr>
        <p:spPr>
          <a:xfrm>
            <a:off x="6565320" y="2304360"/>
            <a:ext cx="4388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Before ranking by lift, require a minimum number of baskets containing the pair.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6"/>
          <p:cNvSpPr/>
          <p:nvPr/>
        </p:nvSpPr>
        <p:spPr>
          <a:xfrm>
            <a:off x="6565320" y="362088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7"/>
          <p:cNvSpPr/>
          <p:nvPr/>
        </p:nvSpPr>
        <p:spPr>
          <a:xfrm>
            <a:off x="6766560" y="3520440"/>
            <a:ext cx="4187520" cy="4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Below the floor + high lift → WATCH / TEST.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8"/>
          <p:cNvSpPr/>
          <p:nvPr/>
        </p:nvSpPr>
        <p:spPr>
          <a:xfrm>
            <a:off x="6565320" y="418176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9"/>
          <p:cNvSpPr/>
          <p:nvPr/>
        </p:nvSpPr>
        <p:spPr>
          <a:xfrm>
            <a:off x="6766560" y="4081320"/>
            <a:ext cx="4187520" cy="4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Below the floor + low lift → IGNORE for now.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0"/>
          <p:cNvSpPr/>
          <p:nvPr/>
        </p:nvSpPr>
        <p:spPr>
          <a:xfrm>
            <a:off x="6565320" y="474264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1"/>
          <p:cNvSpPr/>
          <p:nvPr/>
        </p:nvSpPr>
        <p:spPr>
          <a:xfrm>
            <a:off x="6766560" y="4642200"/>
            <a:ext cx="4187520" cy="45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Set the floor using the data volume and a fair baseline.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2"/>
          <p:cNvSpPr/>
          <p:nvPr/>
        </p:nvSpPr>
        <p:spPr>
          <a:xfrm>
            <a:off x="6565320" y="539496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“30 observations” is a safe default mentioned in the course — not a universal law.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Num" idx="15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A812A0-2F8C-420D-9123-0B2891870CA6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Turn metrics into a decision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Illustrative rule from the lesson: minimum support floor = 3 baskets, lift bar = 1.5. Real floors depend on the dataset.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822960" y="1691640"/>
            <a:ext cx="4891680" cy="1554120"/>
          </a:xfrm>
          <a:prstGeom prst="roundRect">
            <a:avLst>
              <a:gd name="adj" fmla="val 7059"/>
            </a:avLst>
          </a:prstGeom>
          <a:solidFill>
            <a:srgbClr val="e4f5ea"/>
          </a:solidFill>
          <a:ln w="11430">
            <a:solidFill>
              <a:srgbClr val="e4f5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1051560" y="192024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f855a"/>
                </a:solidFill>
                <a:effectLst/>
                <a:uFillTx/>
                <a:latin typeface="Aptos"/>
                <a:ea typeface="Aptos"/>
              </a:rPr>
              <a:t>PROMOTE TO A TRIAL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1051560" y="245052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Enough support + lift ≥ 1.5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5"/>
          <p:cNvSpPr/>
          <p:nvPr/>
        </p:nvSpPr>
        <p:spPr>
          <a:xfrm>
            <a:off x="6080760" y="1691640"/>
            <a:ext cx="4891680" cy="1554120"/>
          </a:xfrm>
          <a:prstGeom prst="roundRect">
            <a:avLst>
              <a:gd name="adj" fmla="val 7059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"/>
          <p:cNvSpPr/>
          <p:nvPr/>
        </p:nvSpPr>
        <p:spPr>
          <a:xfrm>
            <a:off x="6309360" y="192024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WATCH / TEST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6309360" y="245052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High lift, but too few baskets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822960" y="3703320"/>
            <a:ext cx="4891680" cy="1554120"/>
          </a:xfrm>
          <a:prstGeom prst="roundRect">
            <a:avLst>
              <a:gd name="adj" fmla="val 7059"/>
            </a:avLst>
          </a:prstGeom>
          <a:solidFill>
            <a:srgbClr val="e9eef4"/>
          </a:solidFill>
          <a:ln w="11430">
            <a:solidFill>
              <a:srgbClr val="e9eef4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9"/>
          <p:cNvSpPr/>
          <p:nvPr/>
        </p:nvSpPr>
        <p:spPr>
          <a:xfrm>
            <a:off x="1051560" y="393192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TRAP: DON’T PROMOTE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1051560" y="44622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Enough baskets, but lift near/below 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1"/>
          <p:cNvSpPr/>
          <p:nvPr/>
        </p:nvSpPr>
        <p:spPr>
          <a:xfrm>
            <a:off x="6080760" y="3703320"/>
            <a:ext cx="4891680" cy="1554120"/>
          </a:xfrm>
          <a:prstGeom prst="roundRect">
            <a:avLst>
              <a:gd name="adj" fmla="val 7059"/>
            </a:avLst>
          </a:prstGeom>
          <a:solidFill>
            <a:srgbClr val="fce8e8"/>
          </a:solidFill>
          <a:ln w="11430">
            <a:solidFill>
              <a:srgbClr val="fce8e8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2"/>
          <p:cNvSpPr/>
          <p:nvPr/>
        </p:nvSpPr>
        <p:spPr>
          <a:xfrm>
            <a:off x="6309360" y="3931920"/>
            <a:ext cx="4434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IGNORE FOR NOW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3"/>
          <p:cNvSpPr/>
          <p:nvPr/>
        </p:nvSpPr>
        <p:spPr>
          <a:xfrm>
            <a:off x="6309360" y="4462200"/>
            <a:ext cx="4434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Too few baskets and little lift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868680" y="566928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A strong pair below the floor should earn a controlled test, not automatic promotion.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sldNum" idx="16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5A728F7-E5BE-47E1-9FCC-2FB174232EBA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Case study: Instamart cart suggestions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The company is real; the scenario and dataset in this classroom case are synthetic.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749880" y="1444680"/>
            <a:ext cx="3657240" cy="4525920"/>
          </a:xfrm>
          <a:prstGeom prst="roundRect">
            <a:avLst>
              <a:gd name="adj" fmla="val 3000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1051560" y="175572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THE PROBLEM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1051560" y="2240280"/>
            <a:ext cx="2971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Click-through rate fell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1051560" y="2880360"/>
            <a:ext cx="28800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6.1% → 3.8%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1051560" y="3730680"/>
            <a:ext cx="28800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After 7 September 2026, the curated suggestions were replaced by items most often found in the same cart.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4800600" y="1691640"/>
            <a:ext cx="278856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4965120" y="187452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40,000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4965120" y="24778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carts in September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0"/>
          <p:cNvSpPr/>
          <p:nvPr/>
        </p:nvSpPr>
        <p:spPr>
          <a:xfrm>
            <a:off x="8046720" y="1691640"/>
            <a:ext cx="278856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8211240" y="187452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12,000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8211240" y="24778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customers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4800600" y="3383280"/>
            <a:ext cx="278856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4965120" y="356616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8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5"/>
          <p:cNvSpPr/>
          <p:nvPr/>
        </p:nvSpPr>
        <p:spPr>
          <a:xfrm>
            <a:off x="4965120" y="4169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delivery zones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6"/>
          <p:cNvSpPr/>
          <p:nvPr/>
        </p:nvSpPr>
        <p:spPr>
          <a:xfrm>
            <a:off x="8046720" y="3383280"/>
            <a:ext cx="2788560" cy="13255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7"/>
          <p:cNvSpPr/>
          <p:nvPr/>
        </p:nvSpPr>
        <p:spPr>
          <a:xfrm>
            <a:off x="8211240" y="356616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8"/>
          <p:cNvSpPr/>
          <p:nvPr/>
        </p:nvSpPr>
        <p:spPr>
          <a:xfrm>
            <a:off x="8211240" y="4169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suggestion slots per cart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9"/>
          <p:cNvSpPr/>
          <p:nvPr/>
        </p:nvSpPr>
        <p:spPr>
          <a:xfrm>
            <a:off x="4800600" y="5321880"/>
            <a:ext cx="6034680" cy="639720"/>
          </a:xfrm>
          <a:prstGeom prst="roundRect">
            <a:avLst>
              <a:gd name="adj" fmla="val 17143"/>
            </a:avLst>
          </a:prstGeom>
          <a:solidFill>
            <a:srgbClr val="ddf5ef"/>
          </a:solidFill>
          <a:ln w="11430">
            <a:solidFill>
              <a:srgbClr val="ddf5e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4946760" y="5431680"/>
            <a:ext cx="5742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ANALYST’S TASK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1"/>
          <p:cNvSpPr/>
          <p:nvPr/>
        </p:nvSpPr>
        <p:spPr>
          <a:xfrm>
            <a:off x="4946760" y="5687640"/>
            <a:ext cx="5742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Find useful pairs, avoid the “popular item beside everything” trap, and explain the click-through drop from the slot logs.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sldNum" idx="17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F75178-C814-41F4-8220-3E31067C24F4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Twelve carts tell an exciting — but unreliable — story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Mini-sample: toned milk appears in 8 carts, bread in 4, and all 4 bread carts contain milk.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731520" y="1508760"/>
            <a:ext cx="4937400" cy="438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"/>
          <p:cNvSpPr/>
          <p:nvPr/>
        </p:nvSpPr>
        <p:spPr>
          <a:xfrm>
            <a:off x="1051560" y="178308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COUNT THE OVERLAP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1051560" y="22676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All carts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4343400" y="226764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12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1051560" y="28530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Bread carts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7"/>
          <p:cNvSpPr/>
          <p:nvPr/>
        </p:nvSpPr>
        <p:spPr>
          <a:xfrm>
            <a:off x="4343400" y="28530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8"/>
          <p:cNvSpPr/>
          <p:nvPr/>
        </p:nvSpPr>
        <p:spPr>
          <a:xfrm>
            <a:off x="1051560" y="34380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Milk carts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4343400" y="34380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8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0"/>
          <p:cNvSpPr/>
          <p:nvPr/>
        </p:nvSpPr>
        <p:spPr>
          <a:xfrm>
            <a:off x="1051560" y="40233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Bread + milk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1"/>
          <p:cNvSpPr/>
          <p:nvPr/>
        </p:nvSpPr>
        <p:spPr>
          <a:xfrm>
            <a:off x="4343400" y="40233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2"/>
          <p:cNvSpPr/>
          <p:nvPr/>
        </p:nvSpPr>
        <p:spPr>
          <a:xfrm>
            <a:off x="1023840" y="4526280"/>
            <a:ext cx="4051080" cy="360"/>
          </a:xfrm>
          <a:prstGeom prst="line">
            <a:avLst/>
          </a:prstGeom>
          <a:ln w="1270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3"/>
          <p:cNvSpPr/>
          <p:nvPr/>
        </p:nvSpPr>
        <p:spPr>
          <a:xfrm>
            <a:off x="1051560" y="47732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Support = 4/12 = 0.33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4"/>
          <p:cNvSpPr/>
          <p:nvPr/>
        </p:nvSpPr>
        <p:spPr>
          <a:xfrm>
            <a:off x="1051560" y="5166360"/>
            <a:ext cx="4160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Bread → milk confidence = 4/4 = 1.00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5"/>
          <p:cNvSpPr/>
          <p:nvPr/>
        </p:nvSpPr>
        <p:spPr>
          <a:xfrm>
            <a:off x="6080760" y="1508760"/>
            <a:ext cx="5348880" cy="4388760"/>
          </a:xfrm>
          <a:prstGeom prst="roundRect">
            <a:avLst>
              <a:gd name="adj" fmla="val 2500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6"/>
          <p:cNvSpPr/>
          <p:nvPr/>
        </p:nvSpPr>
        <p:spPr>
          <a:xfrm>
            <a:off x="6419160" y="18104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NOW CORRECT FOR CHANCE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7"/>
          <p:cNvSpPr/>
          <p:nvPr/>
        </p:nvSpPr>
        <p:spPr>
          <a:xfrm>
            <a:off x="6419160" y="234072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Chance overlap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8"/>
          <p:cNvSpPr/>
          <p:nvPr/>
        </p:nvSpPr>
        <p:spPr>
          <a:xfrm>
            <a:off x="6419160" y="276156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12 × (4/12) × (8/12) = 2.67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9"/>
          <p:cNvSpPr/>
          <p:nvPr/>
        </p:nvSpPr>
        <p:spPr>
          <a:xfrm>
            <a:off x="6419160" y="349308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Observed overlap = 4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0"/>
          <p:cNvSpPr/>
          <p:nvPr/>
        </p:nvSpPr>
        <p:spPr>
          <a:xfrm>
            <a:off x="6419160" y="4224600"/>
            <a:ext cx="4388760" cy="731160"/>
          </a:xfrm>
          <a:prstGeom prst="roundRect">
            <a:avLst>
              <a:gd name="adj" fmla="val 15000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1"/>
          <p:cNvSpPr/>
          <p:nvPr/>
        </p:nvSpPr>
        <p:spPr>
          <a:xfrm>
            <a:off x="6419160" y="4224600"/>
            <a:ext cx="72720" cy="731160"/>
          </a:xfrm>
          <a:prstGeom prst="rect">
            <a:avLst/>
          </a:prstGeom>
          <a:solidFill>
            <a:srgbClr val="e6a23c"/>
          </a:solidFill>
          <a:ln w="127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2"/>
          <p:cNvSpPr/>
          <p:nvPr/>
        </p:nvSpPr>
        <p:spPr>
          <a:xfrm>
            <a:off x="6620400" y="4260960"/>
            <a:ext cx="4059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Lift = 4 ÷ 2.67 = 1.50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3"/>
          <p:cNvSpPr/>
          <p:nvPr/>
        </p:nvSpPr>
        <p:spPr>
          <a:xfrm>
            <a:off x="6419160" y="516636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Good signal to investigate — not enough data to trust yet.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sldNum" idx="18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3D214F3-E3BF-4535-91C2-05E2A92CE703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On 40,000 carts, bread and milk are near chance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Large samples can correct the story told by a tiny sample.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2"/>
          <p:cNvSpPr/>
          <p:nvPr/>
        </p:nvSpPr>
        <p:spPr>
          <a:xfrm>
            <a:off x="777240" y="1554480"/>
            <a:ext cx="4800240" cy="4343040"/>
          </a:xfrm>
          <a:prstGeom prst="roundRect">
            <a:avLst>
              <a:gd name="adj" fmla="val 2526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"/>
          <p:cNvSpPr/>
          <p:nvPr/>
        </p:nvSpPr>
        <p:spPr>
          <a:xfrm>
            <a:off x="1115640" y="18288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LARGE DATASET FACTS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"/>
          <p:cNvSpPr/>
          <p:nvPr/>
        </p:nvSpPr>
        <p:spPr>
          <a:xfrm>
            <a:off x="1115640" y="239580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Bread in 34% of carts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5"/>
          <p:cNvSpPr/>
          <p:nvPr/>
        </p:nvSpPr>
        <p:spPr>
          <a:xfrm>
            <a:off x="1115640" y="297180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Milk in 71% of carts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6"/>
          <p:cNvSpPr/>
          <p:nvPr/>
        </p:nvSpPr>
        <p:spPr>
          <a:xfrm>
            <a:off x="1115640" y="354780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Both seen in 10,064 carts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7"/>
          <p:cNvSpPr/>
          <p:nvPr/>
        </p:nvSpPr>
        <p:spPr>
          <a:xfrm>
            <a:off x="1115280" y="4160520"/>
            <a:ext cx="3931920" cy="360"/>
          </a:xfrm>
          <a:prstGeom prst="line">
            <a:avLst/>
          </a:prstGeom>
          <a:ln w="13970">
            <a:solidFill>
              <a:srgbClr val="3a50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8"/>
          <p:cNvSpPr/>
          <p:nvPr/>
        </p:nvSpPr>
        <p:spPr>
          <a:xfrm>
            <a:off x="1115640" y="448056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Chance predicts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9"/>
          <p:cNvSpPr/>
          <p:nvPr/>
        </p:nvSpPr>
        <p:spPr>
          <a:xfrm>
            <a:off x="1115640" y="487368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0.34 × 0.71 × 40,000 = 9,656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0"/>
          <p:cNvSpPr/>
          <p:nvPr/>
        </p:nvSpPr>
        <p:spPr>
          <a:xfrm>
            <a:off x="5989320" y="1554480"/>
            <a:ext cx="544032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1"/>
          <p:cNvSpPr/>
          <p:nvPr/>
        </p:nvSpPr>
        <p:spPr>
          <a:xfrm>
            <a:off x="6355080" y="1828800"/>
            <a:ext cx="2102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THE COMPARISON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2"/>
          <p:cNvSpPr/>
          <p:nvPr/>
        </p:nvSpPr>
        <p:spPr>
          <a:xfrm>
            <a:off x="6400800" y="24231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12-cart lift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3"/>
          <p:cNvSpPr/>
          <p:nvPr/>
        </p:nvSpPr>
        <p:spPr>
          <a:xfrm>
            <a:off x="6400800" y="2834640"/>
            <a:ext cx="1554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1.50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4"/>
          <p:cNvSpPr/>
          <p:nvPr/>
        </p:nvSpPr>
        <p:spPr>
          <a:xfrm>
            <a:off x="9006840" y="24231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40,000-cart lift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5"/>
          <p:cNvSpPr/>
          <p:nvPr/>
        </p:nvSpPr>
        <p:spPr>
          <a:xfrm>
            <a:off x="9006840" y="283464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9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1.04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6"/>
          <p:cNvSpPr/>
          <p:nvPr/>
        </p:nvSpPr>
        <p:spPr>
          <a:xfrm>
            <a:off x="8183880" y="2514600"/>
            <a:ext cx="360" cy="1188720"/>
          </a:xfrm>
          <a:prstGeom prst="line">
            <a:avLst/>
          </a:prstGeom>
          <a:ln w="15240">
            <a:solidFill>
              <a:srgbClr val="d9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7"/>
          <p:cNvSpPr/>
          <p:nvPr/>
        </p:nvSpPr>
        <p:spPr>
          <a:xfrm>
            <a:off x="6400800" y="3703320"/>
            <a:ext cx="4480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10,064 ÷ 9,656 ≈ 1.04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8"/>
          <p:cNvSpPr/>
          <p:nvPr/>
        </p:nvSpPr>
        <p:spPr>
          <a:xfrm>
            <a:off x="6400800" y="443484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Milk is common. Most item pairings with milk had lift 0.99–1.04, close to chance.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9"/>
          <p:cNvSpPr/>
          <p:nvPr/>
        </p:nvSpPr>
        <p:spPr>
          <a:xfrm>
            <a:off x="6812280" y="5440680"/>
            <a:ext cx="3657240" cy="255600"/>
          </a:xfrm>
          <a:prstGeom prst="roundRect">
            <a:avLst>
              <a:gd name="adj" fmla="val 42857"/>
            </a:avLst>
          </a:prstGeom>
          <a:solidFill>
            <a:srgbClr val="ddf5ef"/>
          </a:solidFill>
          <a:ln w="6350">
            <a:solidFill>
              <a:srgbClr val="ddf5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0"/>
          <p:cNvSpPr/>
          <p:nvPr/>
        </p:nvSpPr>
        <p:spPr>
          <a:xfrm>
            <a:off x="6858000" y="544536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THE SAMPLE CHANGED THE STORY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sldNum" idx="19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2B52D4-FBB2-46E0-8E6C-6EC3CBF6B68E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Why click-through fell: milk took half the slots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The slot log supports this explanation better than “shoppers changed their habits.”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"/>
          <p:cNvSpPr/>
          <p:nvPr/>
        </p:nvSpPr>
        <p:spPr>
          <a:xfrm>
            <a:off x="777240" y="1481400"/>
            <a:ext cx="4845960" cy="45259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3"/>
          <p:cNvSpPr/>
          <p:nvPr/>
        </p:nvSpPr>
        <p:spPr>
          <a:xfrm>
            <a:off x="1097280" y="17647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AFTER THE CHANGE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1097280" y="2377440"/>
            <a:ext cx="18558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Milk suggestions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5"/>
          <p:cNvSpPr/>
          <p:nvPr/>
        </p:nvSpPr>
        <p:spPr>
          <a:xfrm>
            <a:off x="3063240" y="2553840"/>
            <a:ext cx="1444320" cy="405720"/>
          </a:xfrm>
          <a:prstGeom prst="roundRect">
            <a:avLst>
              <a:gd name="adj" fmla="val 27027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6"/>
          <p:cNvSpPr/>
          <p:nvPr/>
        </p:nvSpPr>
        <p:spPr>
          <a:xfrm>
            <a:off x="3063240" y="2553840"/>
            <a:ext cx="247320" cy="405720"/>
          </a:xfrm>
          <a:prstGeom prst="roundRect">
            <a:avLst>
              <a:gd name="adj" fmla="val 44304"/>
            </a:avLst>
          </a:prstGeom>
          <a:solidFill>
            <a:srgbClr val="d65b5b"/>
          </a:solidFill>
          <a:ln w="10160">
            <a:solidFill>
              <a:srgbClr val="d65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7"/>
          <p:cNvSpPr/>
          <p:nvPr/>
        </p:nvSpPr>
        <p:spPr>
          <a:xfrm>
            <a:off x="4563000" y="2368440"/>
            <a:ext cx="63972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1.2%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8"/>
          <p:cNvSpPr/>
          <p:nvPr/>
        </p:nvSpPr>
        <p:spPr>
          <a:xfrm>
            <a:off x="1097280" y="3223440"/>
            <a:ext cx="1855800" cy="8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All other suggestions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9"/>
          <p:cNvSpPr/>
          <p:nvPr/>
        </p:nvSpPr>
        <p:spPr>
          <a:xfrm>
            <a:off x="3063240" y="3399480"/>
            <a:ext cx="1444320" cy="405720"/>
          </a:xfrm>
          <a:prstGeom prst="roundRect">
            <a:avLst>
              <a:gd name="adj" fmla="val 27027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0"/>
          <p:cNvSpPr/>
          <p:nvPr/>
        </p:nvSpPr>
        <p:spPr>
          <a:xfrm>
            <a:off x="3063240" y="3399480"/>
            <a:ext cx="1320480" cy="405720"/>
          </a:xfrm>
          <a:prstGeom prst="roundRect">
            <a:avLst>
              <a:gd name="adj" fmla="val 27027"/>
            </a:avLst>
          </a:prstGeom>
          <a:solidFill>
            <a:srgbClr val="19a993"/>
          </a:solidFill>
          <a:ln w="1016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1"/>
          <p:cNvSpPr/>
          <p:nvPr/>
        </p:nvSpPr>
        <p:spPr>
          <a:xfrm>
            <a:off x="4563000" y="3214080"/>
            <a:ext cx="639720" cy="8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6.4%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2"/>
          <p:cNvSpPr/>
          <p:nvPr/>
        </p:nvSpPr>
        <p:spPr>
          <a:xfrm>
            <a:off x="1097280" y="434340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Milk now received 50% of impressions.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3"/>
          <p:cNvSpPr/>
          <p:nvPr/>
        </p:nvSpPr>
        <p:spPr>
          <a:xfrm>
            <a:off x="1097280" y="4800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Half the slots at 1.2%, half at 6.4%.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4"/>
          <p:cNvSpPr/>
          <p:nvPr/>
        </p:nvSpPr>
        <p:spPr>
          <a:xfrm>
            <a:off x="1078920" y="5230440"/>
            <a:ext cx="4160160" cy="502560"/>
          </a:xfrm>
          <a:prstGeom prst="roundRect">
            <a:avLst>
              <a:gd name="adj" fmla="val 21818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5"/>
          <p:cNvSpPr/>
          <p:nvPr/>
        </p:nvSpPr>
        <p:spPr>
          <a:xfrm>
            <a:off x="1078920" y="5230440"/>
            <a:ext cx="72720" cy="502560"/>
          </a:xfrm>
          <a:prstGeom prst="rect">
            <a:avLst/>
          </a:prstGeom>
          <a:solidFill>
            <a:srgbClr val="19a993"/>
          </a:solidFill>
          <a:ln w="127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6"/>
          <p:cNvSpPr/>
          <p:nvPr/>
        </p:nvSpPr>
        <p:spPr>
          <a:xfrm>
            <a:off x="1280160" y="5266800"/>
            <a:ext cx="383112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0.5 × 1.2% + 0.5 × 6.4% = 3.8%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7"/>
          <p:cNvSpPr/>
          <p:nvPr/>
        </p:nvSpPr>
        <p:spPr>
          <a:xfrm>
            <a:off x="5989320" y="1481400"/>
            <a:ext cx="5440320" cy="4525920"/>
          </a:xfrm>
          <a:prstGeom prst="roundRect">
            <a:avLst>
              <a:gd name="adj" fmla="val 2424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8"/>
          <p:cNvSpPr/>
          <p:nvPr/>
        </p:nvSpPr>
        <p:spPr>
          <a:xfrm>
            <a:off x="6355080" y="176472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BEFORE THE CHANGE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9"/>
          <p:cNvSpPr/>
          <p:nvPr/>
        </p:nvSpPr>
        <p:spPr>
          <a:xfrm>
            <a:off x="6355080" y="228600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Overall click-through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0"/>
          <p:cNvSpPr/>
          <p:nvPr/>
        </p:nvSpPr>
        <p:spPr>
          <a:xfrm>
            <a:off x="6355080" y="2633400"/>
            <a:ext cx="44802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1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6.1%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1"/>
          <p:cNvSpPr/>
          <p:nvPr/>
        </p:nvSpPr>
        <p:spPr>
          <a:xfrm>
            <a:off x="6355080" y="342900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Milk had only 2% of impressions; other suggestions clicked at 6.2%.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2"/>
          <p:cNvSpPr/>
          <p:nvPr/>
        </p:nvSpPr>
        <p:spPr>
          <a:xfrm>
            <a:off x="6355080" y="4434840"/>
            <a:ext cx="4572000" cy="360"/>
          </a:xfrm>
          <a:prstGeom prst="line">
            <a:avLst/>
          </a:prstGeom>
          <a:ln w="12700">
            <a:solidFill>
              <a:srgbClr val="3a50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3"/>
          <p:cNvSpPr/>
          <p:nvPr/>
        </p:nvSpPr>
        <p:spPr>
          <a:xfrm>
            <a:off x="6355080" y="4727520"/>
            <a:ext cx="4434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The recommendation change crowded out better-performing suggestions.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Num" idx="20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948FEF6-EFFE-40B9-BCC2-87017C515FE9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A good recommendation needs lift, enough data and a good slot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Count alone can make popular products dominate the top of the list.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"/>
          <p:cNvSpPr/>
          <p:nvPr/>
        </p:nvSpPr>
        <p:spPr>
          <a:xfrm>
            <a:off x="777240" y="1554480"/>
            <a:ext cx="507456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1430">
            <a:solidFill>
              <a:srgbClr val="d9e1e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1115640" y="18288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WHAT THE LESSON SHOWS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4"/>
          <p:cNvSpPr/>
          <p:nvPr/>
        </p:nvSpPr>
        <p:spPr>
          <a:xfrm>
            <a:off x="1115640" y="2350080"/>
            <a:ext cx="226728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Other suggestion · slot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"/>
          <p:cNvSpPr/>
          <p:nvPr/>
        </p:nvSpPr>
        <p:spPr>
          <a:xfrm>
            <a:off x="3493080" y="2463120"/>
            <a:ext cx="1215720" cy="273960"/>
          </a:xfrm>
          <a:prstGeom prst="roundRect">
            <a:avLst>
              <a:gd name="adj" fmla="val 40000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6"/>
          <p:cNvSpPr/>
          <p:nvPr/>
        </p:nvSpPr>
        <p:spPr>
          <a:xfrm>
            <a:off x="3493080" y="2463120"/>
            <a:ext cx="1107720" cy="273960"/>
          </a:xfrm>
          <a:prstGeom prst="roundRect">
            <a:avLst>
              <a:gd name="adj" fmla="val 40000"/>
            </a:avLst>
          </a:prstGeom>
          <a:solidFill>
            <a:srgbClr val="19a993"/>
          </a:solidFill>
          <a:ln w="10160">
            <a:solidFill>
              <a:srgbClr val="19a9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7"/>
          <p:cNvSpPr/>
          <p:nvPr/>
        </p:nvSpPr>
        <p:spPr>
          <a:xfrm>
            <a:off x="4763880" y="2340720"/>
            <a:ext cx="6397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8.2%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8"/>
          <p:cNvSpPr/>
          <p:nvPr/>
        </p:nvSpPr>
        <p:spPr>
          <a:xfrm>
            <a:off x="1115640" y="2921400"/>
            <a:ext cx="226728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Other suggestion · slot 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9"/>
          <p:cNvSpPr/>
          <p:nvPr/>
        </p:nvSpPr>
        <p:spPr>
          <a:xfrm>
            <a:off x="3493080" y="3034800"/>
            <a:ext cx="1215720" cy="273960"/>
          </a:xfrm>
          <a:prstGeom prst="roundRect">
            <a:avLst>
              <a:gd name="adj" fmla="val 40000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0"/>
          <p:cNvSpPr/>
          <p:nvPr/>
        </p:nvSpPr>
        <p:spPr>
          <a:xfrm>
            <a:off x="3493080" y="3034800"/>
            <a:ext cx="729360" cy="273960"/>
          </a:xfrm>
          <a:prstGeom prst="roundRect">
            <a:avLst>
              <a:gd name="adj" fmla="val 40000"/>
            </a:avLst>
          </a:prstGeom>
          <a:solidFill>
            <a:srgbClr val="3974b8"/>
          </a:solidFill>
          <a:ln w="10160">
            <a:solidFill>
              <a:srgbClr val="3974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1"/>
          <p:cNvSpPr/>
          <p:nvPr/>
        </p:nvSpPr>
        <p:spPr>
          <a:xfrm>
            <a:off x="4763880" y="2912400"/>
            <a:ext cx="6397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5.4%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1115640" y="3493080"/>
            <a:ext cx="226728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Milk · slot 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3493080" y="3606120"/>
            <a:ext cx="1215720" cy="273960"/>
          </a:xfrm>
          <a:prstGeom prst="roundRect">
            <a:avLst>
              <a:gd name="adj" fmla="val 40000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4"/>
          <p:cNvSpPr/>
          <p:nvPr/>
        </p:nvSpPr>
        <p:spPr>
          <a:xfrm>
            <a:off x="3493080" y="3606120"/>
            <a:ext cx="188640" cy="273960"/>
          </a:xfrm>
          <a:prstGeom prst="roundRect">
            <a:avLst>
              <a:gd name="adj" fmla="val 58002"/>
            </a:avLst>
          </a:prstGeom>
          <a:solidFill>
            <a:srgbClr val="d65b5b"/>
          </a:solidFill>
          <a:ln w="10160">
            <a:solidFill>
              <a:srgbClr val="d65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5"/>
          <p:cNvSpPr/>
          <p:nvPr/>
        </p:nvSpPr>
        <p:spPr>
          <a:xfrm>
            <a:off x="4763880" y="3483720"/>
            <a:ext cx="6397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1.4%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6"/>
          <p:cNvSpPr/>
          <p:nvPr/>
        </p:nvSpPr>
        <p:spPr>
          <a:xfrm>
            <a:off x="1115640" y="4064400"/>
            <a:ext cx="226728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Milk · slot 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7"/>
          <p:cNvSpPr/>
          <p:nvPr/>
        </p:nvSpPr>
        <p:spPr>
          <a:xfrm>
            <a:off x="3493080" y="4177800"/>
            <a:ext cx="1215720" cy="273960"/>
          </a:xfrm>
          <a:prstGeom prst="roundRect">
            <a:avLst>
              <a:gd name="adj" fmla="val 40000"/>
            </a:avLst>
          </a:prstGeom>
          <a:solidFill>
            <a:srgbClr val="e7edf4"/>
          </a:solidFill>
          <a:ln w="10160">
            <a:solidFill>
              <a:srgbClr val="e7ed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8"/>
          <p:cNvSpPr/>
          <p:nvPr/>
        </p:nvSpPr>
        <p:spPr>
          <a:xfrm>
            <a:off x="3493080" y="4177800"/>
            <a:ext cx="121320" cy="273960"/>
          </a:xfrm>
          <a:prstGeom prst="roundRect">
            <a:avLst>
              <a:gd name="adj" fmla="val 90226"/>
            </a:avLst>
          </a:prstGeom>
          <a:solidFill>
            <a:srgbClr val="d65b5b"/>
          </a:solidFill>
          <a:ln w="10160">
            <a:solidFill>
              <a:srgbClr val="d65b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9"/>
          <p:cNvSpPr/>
          <p:nvPr/>
        </p:nvSpPr>
        <p:spPr>
          <a:xfrm>
            <a:off x="4763880" y="4055400"/>
            <a:ext cx="63972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0.9%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0"/>
          <p:cNvSpPr/>
          <p:nvPr/>
        </p:nvSpPr>
        <p:spPr>
          <a:xfrm>
            <a:off x="1115640" y="5074920"/>
            <a:ext cx="4297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Slot 1 performs well — but it was given to milk.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21"/>
          <p:cNvSpPr/>
          <p:nvPr/>
        </p:nvSpPr>
        <p:spPr>
          <a:xfrm>
            <a:off x="6217920" y="1554480"/>
            <a:ext cx="5166000" cy="4343040"/>
          </a:xfrm>
          <a:prstGeom prst="roundRect">
            <a:avLst>
              <a:gd name="adj" fmla="val 2526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2"/>
          <p:cNvSpPr/>
          <p:nvPr/>
        </p:nvSpPr>
        <p:spPr>
          <a:xfrm>
            <a:off x="6565320" y="182880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3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DECISION CHECKLIST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23"/>
          <p:cNvSpPr/>
          <p:nvPr/>
        </p:nvSpPr>
        <p:spPr>
          <a:xfrm>
            <a:off x="6565320" y="241416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4"/>
          <p:cNvSpPr/>
          <p:nvPr/>
        </p:nvSpPr>
        <p:spPr>
          <a:xfrm>
            <a:off x="6766560" y="2313360"/>
            <a:ext cx="4141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Do not rank by count alone.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25"/>
          <p:cNvSpPr/>
          <p:nvPr/>
        </p:nvSpPr>
        <p:spPr>
          <a:xfrm>
            <a:off x="6565320" y="303048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6"/>
          <p:cNvSpPr/>
          <p:nvPr/>
        </p:nvSpPr>
        <p:spPr>
          <a:xfrm>
            <a:off x="6766560" y="2929680"/>
            <a:ext cx="4141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Use lift to correct for item popularity.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27"/>
          <p:cNvSpPr/>
          <p:nvPr/>
        </p:nvSpPr>
        <p:spPr>
          <a:xfrm>
            <a:off x="6565320" y="364680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8"/>
          <p:cNvSpPr/>
          <p:nvPr/>
        </p:nvSpPr>
        <p:spPr>
          <a:xfrm>
            <a:off x="6766560" y="3546000"/>
            <a:ext cx="4141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Require enough baskets before trusting lift.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9"/>
          <p:cNvSpPr/>
          <p:nvPr/>
        </p:nvSpPr>
        <p:spPr>
          <a:xfrm>
            <a:off x="6565320" y="426276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0"/>
          <p:cNvSpPr/>
          <p:nvPr/>
        </p:nvSpPr>
        <p:spPr>
          <a:xfrm>
            <a:off x="6766560" y="4162320"/>
            <a:ext cx="4141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Run a controlled test before rollout.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31"/>
          <p:cNvSpPr/>
          <p:nvPr/>
        </p:nvSpPr>
        <p:spPr>
          <a:xfrm>
            <a:off x="6565320" y="4879080"/>
            <a:ext cx="91080" cy="91080"/>
          </a:xfrm>
          <a:prstGeom prst="ellipse">
            <a:avLst/>
          </a:prstGeom>
          <a:solidFill>
            <a:srgbClr val="e6a23c"/>
          </a:solidFill>
          <a:ln w="6350">
            <a:solidFill>
              <a:srgbClr val="e6a2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32"/>
          <p:cNvSpPr/>
          <p:nvPr/>
        </p:nvSpPr>
        <p:spPr>
          <a:xfrm>
            <a:off x="6766560" y="4778640"/>
            <a:ext cx="41418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Check click-through by item and slot position.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33"/>
          <p:cNvSpPr/>
          <p:nvPr/>
        </p:nvSpPr>
        <p:spPr>
          <a:xfrm>
            <a:off x="6565320" y="5413320"/>
            <a:ext cx="4343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72e0ce"/>
                </a:solidFill>
                <a:effectLst/>
                <a:uFillTx/>
                <a:latin typeface="Aptos"/>
                <a:ea typeface="Aptos"/>
              </a:rPr>
              <a:t>A/B test: randomize who sees the recommendation, then compare outcomes.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sldNum" idx="21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806922F-B021-4A59-B831-7C71ABA5C650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59436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15243a"/>
                </a:solidFill>
                <a:effectLst/>
                <a:uFillTx/>
                <a:latin typeface="Aptos Display"/>
                <a:ea typeface="Aptos Display"/>
              </a:rPr>
              <a:t>The whole lesson on one slide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612720" y="877680"/>
            <a:ext cx="10972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e"/>
                </a:solidFill>
                <a:effectLst/>
                <a:uFillTx/>
                <a:latin typeface="Aptos"/>
                <a:ea typeface="Aptos"/>
              </a:rPr>
              <a:t>Use this sequence whenever you analyse “frequently bought together” data.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2"/>
          <p:cNvSpPr/>
          <p:nvPr/>
        </p:nvSpPr>
        <p:spPr>
          <a:xfrm>
            <a:off x="640080" y="1737360"/>
            <a:ext cx="2057040" cy="2468520"/>
          </a:xfrm>
          <a:prstGeom prst="roundRect">
            <a:avLst>
              <a:gd name="adj" fmla="val 5333"/>
            </a:avLst>
          </a:prstGeom>
          <a:solidFill>
            <a:srgbClr val="e6effa"/>
          </a:solidFill>
          <a:ln w="11430">
            <a:solidFill>
              <a:srgbClr val="e6eff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804600" y="1974960"/>
            <a:ext cx="38376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"/>
          <p:cNvSpPr/>
          <p:nvPr/>
        </p:nvSpPr>
        <p:spPr>
          <a:xfrm>
            <a:off x="850320" y="1979640"/>
            <a:ext cx="2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974b8"/>
                </a:solidFill>
                <a:effectLst/>
                <a:uFillTx/>
                <a:latin typeface="Aptos"/>
                <a:ea typeface="Aptos"/>
              </a:rPr>
              <a:t>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804600" y="254196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Build baskets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804600" y="3246120"/>
            <a:ext cx="17370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One unique set of items per order.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2706480" y="269748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8"/>
          <p:cNvSpPr/>
          <p:nvPr/>
        </p:nvSpPr>
        <p:spPr>
          <a:xfrm>
            <a:off x="2971800" y="1737360"/>
            <a:ext cx="2057040" cy="2468520"/>
          </a:xfrm>
          <a:prstGeom prst="roundRect">
            <a:avLst>
              <a:gd name="adj" fmla="val 5333"/>
            </a:avLst>
          </a:prstGeom>
          <a:solidFill>
            <a:srgbClr val="ddf5ef"/>
          </a:solidFill>
          <a:ln w="11430">
            <a:solidFill>
              <a:srgbClr val="ddf5ef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9"/>
          <p:cNvSpPr/>
          <p:nvPr/>
        </p:nvSpPr>
        <p:spPr>
          <a:xfrm>
            <a:off x="3136320" y="1974960"/>
            <a:ext cx="38376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0"/>
          <p:cNvSpPr/>
          <p:nvPr/>
        </p:nvSpPr>
        <p:spPr>
          <a:xfrm>
            <a:off x="3182040" y="1979640"/>
            <a:ext cx="2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19a993"/>
                </a:solidFill>
                <a:effectLst/>
                <a:uFillTx/>
                <a:latin typeface="Aptos"/>
                <a:ea typeface="Aptos"/>
              </a:rPr>
              <a:t>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1"/>
          <p:cNvSpPr/>
          <p:nvPr/>
        </p:nvSpPr>
        <p:spPr>
          <a:xfrm>
            <a:off x="3136320" y="254196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Count pairs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2"/>
          <p:cNvSpPr/>
          <p:nvPr/>
        </p:nvSpPr>
        <p:spPr>
          <a:xfrm>
            <a:off x="3136320" y="3246120"/>
            <a:ext cx="17370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Every two-item combination, counted once.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3"/>
          <p:cNvSpPr/>
          <p:nvPr/>
        </p:nvSpPr>
        <p:spPr>
          <a:xfrm>
            <a:off x="5038200" y="269748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4"/>
          <p:cNvSpPr/>
          <p:nvPr/>
        </p:nvSpPr>
        <p:spPr>
          <a:xfrm>
            <a:off x="5303520" y="1737360"/>
            <a:ext cx="2057040" cy="2468520"/>
          </a:xfrm>
          <a:prstGeom prst="roundRect">
            <a:avLst>
              <a:gd name="adj" fmla="val 5333"/>
            </a:avLst>
          </a:prstGeom>
          <a:solidFill>
            <a:srgbClr val="fff1d6"/>
          </a:solidFill>
          <a:ln w="11430">
            <a:solidFill>
              <a:srgbClr val="fff1d6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5"/>
          <p:cNvSpPr/>
          <p:nvPr/>
        </p:nvSpPr>
        <p:spPr>
          <a:xfrm>
            <a:off x="5468040" y="1974960"/>
            <a:ext cx="38376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6"/>
          <p:cNvSpPr/>
          <p:nvPr/>
        </p:nvSpPr>
        <p:spPr>
          <a:xfrm>
            <a:off x="5513760" y="1979640"/>
            <a:ext cx="2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7"/>
          <p:cNvSpPr/>
          <p:nvPr/>
        </p:nvSpPr>
        <p:spPr>
          <a:xfrm>
            <a:off x="5468040" y="254196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Compute 3 metrics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8"/>
          <p:cNvSpPr/>
          <p:nvPr/>
        </p:nvSpPr>
        <p:spPr>
          <a:xfrm>
            <a:off x="5468040" y="3246120"/>
            <a:ext cx="17370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Support · Confidence · Lift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9"/>
          <p:cNvSpPr/>
          <p:nvPr/>
        </p:nvSpPr>
        <p:spPr>
          <a:xfrm>
            <a:off x="7369920" y="269748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0"/>
          <p:cNvSpPr/>
          <p:nvPr/>
        </p:nvSpPr>
        <p:spPr>
          <a:xfrm>
            <a:off x="7635240" y="1737360"/>
            <a:ext cx="2057040" cy="2468520"/>
          </a:xfrm>
          <a:prstGeom prst="roundRect">
            <a:avLst>
              <a:gd name="adj" fmla="val 5333"/>
            </a:avLst>
          </a:prstGeom>
          <a:solidFill>
            <a:srgbClr val="fce8e8"/>
          </a:solidFill>
          <a:ln w="11430">
            <a:solidFill>
              <a:srgbClr val="fce8e8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1"/>
          <p:cNvSpPr/>
          <p:nvPr/>
        </p:nvSpPr>
        <p:spPr>
          <a:xfrm>
            <a:off x="7799760" y="1974960"/>
            <a:ext cx="38376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2"/>
          <p:cNvSpPr/>
          <p:nvPr/>
        </p:nvSpPr>
        <p:spPr>
          <a:xfrm>
            <a:off x="7845480" y="1979640"/>
            <a:ext cx="2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d65b5b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3"/>
          <p:cNvSpPr/>
          <p:nvPr/>
        </p:nvSpPr>
        <p:spPr>
          <a:xfrm>
            <a:off x="7799760" y="254196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Check sample size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4"/>
          <p:cNvSpPr/>
          <p:nvPr/>
        </p:nvSpPr>
        <p:spPr>
          <a:xfrm>
            <a:off x="7799760" y="3246120"/>
            <a:ext cx="17370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Thin support can inflate lift.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25"/>
          <p:cNvSpPr/>
          <p:nvPr/>
        </p:nvSpPr>
        <p:spPr>
          <a:xfrm>
            <a:off x="9701640" y="269748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→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26"/>
          <p:cNvSpPr/>
          <p:nvPr/>
        </p:nvSpPr>
        <p:spPr>
          <a:xfrm>
            <a:off x="9966960" y="1737360"/>
            <a:ext cx="2057040" cy="2468520"/>
          </a:xfrm>
          <a:prstGeom prst="roundRect">
            <a:avLst>
              <a:gd name="adj" fmla="val 5333"/>
            </a:avLst>
          </a:prstGeom>
          <a:solidFill>
            <a:srgbClr val="efeafa"/>
          </a:solidFill>
          <a:ln w="11430">
            <a:solidFill>
              <a:srgbClr val="efeaf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27"/>
          <p:cNvSpPr/>
          <p:nvPr/>
        </p:nvSpPr>
        <p:spPr>
          <a:xfrm>
            <a:off x="10131480" y="1974960"/>
            <a:ext cx="383760" cy="255600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28"/>
          <p:cNvSpPr/>
          <p:nvPr/>
        </p:nvSpPr>
        <p:spPr>
          <a:xfrm>
            <a:off x="10177200" y="1979640"/>
            <a:ext cx="292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863b5"/>
                </a:solidFill>
                <a:effectLst/>
                <a:uFillTx/>
                <a:latin typeface="Aptos"/>
                <a:ea typeface="Aptos"/>
              </a:rPr>
              <a:t>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9"/>
          <p:cNvSpPr/>
          <p:nvPr/>
        </p:nvSpPr>
        <p:spPr>
          <a:xfrm>
            <a:off x="10131480" y="254196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5243a"/>
                </a:solidFill>
                <a:effectLst/>
                <a:uFillTx/>
                <a:latin typeface="Aptos"/>
                <a:ea typeface="Aptos"/>
              </a:rPr>
              <a:t>Test then promote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0"/>
          <p:cNvSpPr/>
          <p:nvPr/>
        </p:nvSpPr>
        <p:spPr>
          <a:xfrm>
            <a:off x="10131480" y="3246120"/>
            <a:ext cx="173700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43246"/>
                </a:solidFill>
                <a:effectLst/>
                <a:uFillTx/>
                <a:latin typeface="Aptos"/>
                <a:ea typeface="Aptos"/>
              </a:rPr>
              <a:t>Use a controlled experiment.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31"/>
          <p:cNvSpPr/>
          <p:nvPr/>
        </p:nvSpPr>
        <p:spPr>
          <a:xfrm>
            <a:off x="822960" y="4663440"/>
            <a:ext cx="10515240" cy="1005480"/>
          </a:xfrm>
          <a:prstGeom prst="roundRect">
            <a:avLst>
              <a:gd name="adj" fmla="val 10909"/>
            </a:avLst>
          </a:prstGeom>
          <a:solidFill>
            <a:srgbClr val="15243a"/>
          </a:solidFill>
          <a:ln w="11430">
            <a:solidFill>
              <a:srgbClr val="15243a"/>
            </a:solidFill>
            <a:round/>
          </a:ln>
          <a:effectLst>
            <a:outerShdw algn="bl" blurRad="12600" dir="2700000" dist="50402" kx="0" ky="0" rotWithShape="0" sx="100000" sy="100000">
              <a:srgbClr val="9aa9b8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2"/>
          <p:cNvSpPr/>
          <p:nvPr/>
        </p:nvSpPr>
        <p:spPr>
          <a:xfrm>
            <a:off x="1143000" y="486468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6a23c"/>
                </a:solidFill>
                <a:effectLst/>
                <a:uFillTx/>
                <a:latin typeface="Aptos"/>
                <a:ea typeface="Aptos"/>
              </a:rPr>
              <a:t>Quick self-check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33"/>
          <p:cNvSpPr/>
          <p:nvPr/>
        </p:nvSpPr>
        <p:spPr>
          <a:xfrm>
            <a:off x="2834640" y="4818960"/>
            <a:ext cx="7954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Can you explain why confidence 1.00 does not automatically make a good bundle?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4"/>
          <p:cNvSpPr/>
          <p:nvPr/>
        </p:nvSpPr>
        <p:spPr>
          <a:xfrm>
            <a:off x="1143000" y="5486400"/>
            <a:ext cx="9966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d8e2ef"/>
                </a:solidFill>
                <a:effectLst/>
                <a:uFillTx/>
                <a:latin typeface="Aptos"/>
                <a:ea typeface="Aptos"/>
              </a:rPr>
              <a:t>Answer: confidence ignores the partner’s base rate; lift compares the pair with chance.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sldNum" idx="22"/>
          </p:nvPr>
        </p:nvSpPr>
        <p:spPr>
          <a:xfrm>
            <a:off x="11137320" y="6501240"/>
            <a:ext cx="456840" cy="16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C9459E0-3034-489F-965E-C9076263A33B}" type="slidenum">
              <a:rPr b="0" lang="en-US" sz="800" strike="noStrike" u="none">
                <a:solidFill>
                  <a:srgbClr val="718096"/>
                </a:solidFill>
                <a:effectLst/>
                <a:uFillTx/>
                <a:latin typeface="Aptos"/>
                <a:ea typeface="Aptos"/>
              </a:rPr>
              <a:t>&lt;number&gt;</a:t>
            </a:fld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2026-10-28T09:26:46Z</dcterms:created>
  <dc:creator>OpenAI</dc:creator>
  <dc:description/>
  <dc:language>en-US</dc:language>
  <cp:lastModifiedBy>OpenAI</cp:lastModifiedBy>
  <dcterms:modified xsi:type="dcterms:W3CDTF">2026-10-28T09:26:46Z</dcterms:modified>
  <cp:revision>1</cp:revision>
  <dc:subject>Simplified study deck: market basket analysis</dc:subject>
  <dc:title>Market Basket Analysis Simplified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19</vt:r8>
  </property>
  <property fmtid="{D5CDD505-2E9C-101B-9397-08002B2CF9AE}" pid="3" name="PresentationFormat">
    <vt:lpwstr>On-screen Show (16:9)</vt:lpwstr>
  </property>
  <property fmtid="{D5CDD505-2E9C-101B-9397-08002B2CF9AE}" pid="4" name="Slides">
    <vt:r8>19</vt:r8>
  </property>
</Properties>
</file>