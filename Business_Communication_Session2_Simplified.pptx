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300" b="1">
                <a:solidFill>
                  <a:srgbClr val="E8AB36"/>
                </a:solidFill>
                <a:latin typeface="Aptos"/>
              </a:defRPr>
            </a:pPr>
            <a:r>
              <a:t>WEEK 4 • DAY 2 •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2344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Guesstimates, business cases</a:t>
            </a:r>
            <a:br/>
            <a:r>
              <a:t>and interview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9875520" cy="7772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100" b="0">
                <a:solidFill>
                  <a:srgbClr val="DCE6F0"/>
                </a:solidFill>
                <a:latin typeface="Aptos"/>
              </a:defRPr>
            </a:pPr>
            <a:r>
              <a:t>A simplified guide to estimating unknown numbers, writing a clear recommendation, and explaining your thinking.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617720"/>
            <a:ext cx="91440" cy="11430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82312"/>
            <a:ext cx="26517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1.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39512"/>
            <a:ext cx="2651760" cy="4297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300" b="0">
                <a:solidFill>
                  <a:srgbClr val="27313E"/>
                </a:solidFill>
                <a:latin typeface="Aptos"/>
              </a:defRPr>
            </a:pPr>
            <a:r>
              <a:t>Build a number from assumptions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4617720"/>
            <a:ext cx="91440" cy="11430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782312"/>
            <a:ext cx="26517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2.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39512"/>
            <a:ext cx="2651760" cy="4297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300" b="0">
                <a:solidFill>
                  <a:srgbClr val="27313E"/>
                </a:solidFill>
                <a:latin typeface="Aptos"/>
              </a:defRPr>
            </a:pPr>
            <a:r>
              <a:t>Explain a decision on one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4617720"/>
            <a:ext cx="91440" cy="11430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782312"/>
            <a:ext cx="26517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3. 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39512"/>
            <a:ext cx="2651760" cy="4297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300" b="0">
                <a:solidFill>
                  <a:srgbClr val="27313E"/>
                </a:solidFill>
                <a:latin typeface="Aptos"/>
              </a:defRPr>
            </a:pPr>
            <a:r>
              <a:t>Show your reasoning in an 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73952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0">
                <a:solidFill>
                  <a:srgbClr val="BECDDC"/>
                </a:solidFill>
                <a:latin typeface="Aptos"/>
              </a:defRPr>
            </a:pPr>
            <a:r>
              <a:t>Based on the uploaded Week 4, Day 2 Session 2 slides • case data is illustrative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is a guesstimate?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300" b="1">
                <a:solidFill>
                  <a:srgbClr val="182B49"/>
                </a:solidFill>
                <a:latin typeface="Aptos"/>
              </a:defRPr>
            </a:pPr>
            <a:r>
              <a:t>A guesstimate is a sensible estimate when the exact number is not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91440" cy="2011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9631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1. CLARIFY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53512"/>
            <a:ext cx="2194560" cy="12984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What exactly are we counting?</a:t>
            </a:r>
            <a:br/>
            <a:r>
              <a:t>Which place and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317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331720"/>
            <a:ext cx="91440" cy="20116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49631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2.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953512"/>
            <a:ext cx="2194560" cy="12984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Break the answer into smaller factors.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3172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331720"/>
            <a:ext cx="91440" cy="2011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9631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3. 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53512"/>
            <a:ext cx="2194560" cy="12984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Use clear assumptions and multiply/divide.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33172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331720"/>
            <a:ext cx="91440" cy="20116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96312"/>
            <a:ext cx="17830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4.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53512"/>
            <a:ext cx="1783080" cy="12984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Check if the result makes sense.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900" b="1">
                <a:solidFill>
                  <a:srgbClr val="008080"/>
                </a:solidFill>
                <a:latin typeface="Aptos"/>
              </a:defRPr>
            </a:pPr>
            <a:r>
              <a:t>Important: the interviewer values your method and checks—not just a lucky final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CANTEEN EXAMPLE • INVENTED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Example: estimate weekday tea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t>Question: How many cups of tea does the campus canteen sell in one weekday?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28803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ASSUMPTION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2880360" cy="7040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900" b="0">
                <a:solidFill>
                  <a:srgbClr val="27313E"/>
                </a:solidFill>
                <a:latin typeface="Aptos"/>
              </a:defRPr>
            </a:pPr>
            <a:r>
              <a:t>3,000 students on campus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3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91440" cy="14173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67712"/>
            <a:ext cx="28803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ASSUMPTION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24912"/>
            <a:ext cx="2880360" cy="7040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900" b="0">
                <a:solidFill>
                  <a:srgbClr val="27313E"/>
                </a:solidFill>
                <a:latin typeface="Aptos"/>
              </a:defRPr>
            </a:pPr>
            <a:r>
              <a:t>45% buy tea → 1,350 buyers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91440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267712"/>
            <a:ext cx="28803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ASSUMPTION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24912"/>
            <a:ext cx="2880360" cy="7040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900" b="0">
                <a:solidFill>
                  <a:srgbClr val="27313E"/>
                </a:solidFill>
                <a:latin typeface="Aptos"/>
              </a:defRPr>
            </a:pPr>
            <a:r>
              <a:t>2 cups per 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defRPr sz="2700" b="1">
                <a:solidFill>
                  <a:srgbClr val="008080"/>
                </a:solidFill>
                <a:latin typeface="Aptos"/>
              </a:defRPr>
            </a:pPr>
            <a:r>
              <a:t>3,000 × 0.45 × 2 = 2,700 cups per weekday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defRPr sz="1800" b="0">
                <a:solidFill>
                  <a:srgbClr val="27313E"/>
                </a:solidFill>
                <a:latin typeface="Aptos"/>
              </a:defRPr>
            </a:pPr>
            <a:r>
              <a:t>The till average is 2,340 cups. Our estimate is 15.4% high, so we should revisit an assumption—especially the share who buy tea.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DON'T PRETEND A GUESS IS EXACT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 good estimate includes a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91440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CENTRAL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300" b="0">
                <a:solidFill>
                  <a:srgbClr val="27313E"/>
                </a:solidFill>
                <a:latin typeface="Aptos"/>
              </a:defRPr>
            </a:pPr>
            <a:r>
              <a:t>About 2,700 cups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91440" cy="18288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6479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HONEST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300" b="0">
                <a:solidFill>
                  <a:srgbClr val="27313E"/>
                </a:solidFill>
                <a:latin typeface="Aptos"/>
              </a:defRPr>
            </a:pPr>
            <a:r>
              <a:t>About 1,500–3,900 cups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t>When checking an estimate, compare like with like: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1060704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Same unit (cups with cups; drivers with drivers).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Same time period (one weekday with one weekday).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Same definition (completed trips, not requests; online drivers, not sign-ups).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SANITY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Three mistakes that make estimates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74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91440" cy="30175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3063239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1. WRONG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3063239" cy="2304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Wrong: 24,000 people = 96,000 households.</a:t>
            </a:r>
            <a:br/>
            <a:br/>
            <a:r>
              <a:t>Better: households ≈ people ÷ 4 = 6,000.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74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91440" cy="30175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64792"/>
            <a:ext cx="3063239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2. WRONG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3063239" cy="2304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Do not divide a whole day's trips by what one driver does in one hour.</a:t>
            </a:r>
            <a:br/>
            <a:br/>
            <a:r>
              <a:t>Convert both to the same time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91440" cy="30175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64792"/>
            <a:ext cx="3063239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3. WRONG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21992"/>
            <a:ext cx="3063239" cy="23042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Do not compare people signed up with people online now.</a:t>
            </a:r>
            <a:br/>
            <a:br/>
            <a:r>
              <a:t>Count the thing the question asks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defRPr sz="2100" b="1">
                <a:solidFill>
                  <a:srgbClr val="008080"/>
                </a:solidFill>
                <a:latin typeface="Aptos"/>
              </a:defRPr>
            </a:pPr>
            <a:r>
              <a:t>Write the unit beside every number before calculating.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Uber case: first define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ptos"/>
              </a:defRPr>
            </a:pPr>
            <a:r>
              <a:t>Question: How many drivers should be online during the weekday evening peak in Hyderabad?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60704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7313E"/>
                </a:solidFill>
                <a:latin typeface="Aptos"/>
              </a:defRPr>
            </a:pPr>
            <a:r>
              <a:t>•  City and service: Hyderabad, assume Uber cars.</a:t>
            </a:r>
          </a:p>
          <a:p>
            <a:pPr>
              <a:spcAft>
                <a:spcPts val="1600"/>
              </a:spcAft>
              <a:defRPr sz="1800">
                <a:solidFill>
                  <a:srgbClr val="27313E"/>
                </a:solidFill>
                <a:latin typeface="Aptos"/>
              </a:defRPr>
            </a:pPr>
            <a:r>
              <a:t>•  Time: the 3-hour weekday evening peak.</a:t>
            </a:r>
          </a:p>
          <a:p>
            <a:pPr>
              <a:spcAft>
                <a:spcPts val="1600"/>
              </a:spcAft>
              <a:defRPr sz="1800">
                <a:solidFill>
                  <a:srgbClr val="27313E"/>
                </a:solidFill>
                <a:latin typeface="Aptos"/>
              </a:defRPr>
            </a:pPr>
            <a:r>
              <a:t>•  Count: drivers online at one moment—not driver-hours added across the whole evening.</a:t>
            </a:r>
          </a:p>
          <a:p>
            <a:pPr>
              <a:spcAft>
                <a:spcPts val="1600"/>
              </a:spcAft>
              <a:defRPr sz="1800">
                <a:solidFill>
                  <a:srgbClr val="27313E"/>
                </a:solidFill>
                <a:latin typeface="Aptos"/>
              </a:defRPr>
            </a:pPr>
            <a:r>
              <a:t>•  Goal: median rider wait under 5 minutes.</a:t>
            </a:r>
          </a:p>
          <a:p>
            <a:pPr>
              <a:spcAft>
                <a:spcPts val="1600"/>
              </a:spcAft>
              <a:defRPr sz="1800">
                <a:solidFill>
                  <a:srgbClr val="27313E"/>
                </a:solidFill>
                <a:latin typeface="Aptos"/>
              </a:defRPr>
            </a:pPr>
            <a:r>
              <a:t>•  Count completed trips, not just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200" b="0">
                <a:solidFill>
                  <a:srgbClr val="5B6978"/>
                </a:solidFill>
                <a:latin typeface="Aptos"/>
              </a:defRPr>
            </a:pPr>
            <a:r>
              <a:t>This scenario and its figures are illustrative, not an official Uber forecast.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ILLUSTRATIVE NUMBERS FROM THE SOURCE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Uber case: build the estimate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DAILY TRIPS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1 crore people × 1 trip per 100 people</a:t>
            </a:r>
            <a:br/>
            <a:r>
              <a:t>= 1,00,000 trips/day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91440" cy="13258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EVENING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3911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25% of daily trips</a:t>
            </a:r>
            <a:br/>
            <a:r>
              <a:t>= 25,000 trips in the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91440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8191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PER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3911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25,000 ÷ 3</a:t>
            </a:r>
            <a:br/>
            <a:r>
              <a:t>≈ 8,330 trips/hour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154680"/>
            <a:ext cx="91440" cy="13258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1927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DRIVER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7647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2.4 trips/hour × 70% busy</a:t>
            </a:r>
            <a:br/>
            <a:r>
              <a:t>= 1.68 trips/driver-hour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154680"/>
            <a:ext cx="91440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31927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DRIVERS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7647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8,330 ÷ 1.68</a:t>
            </a:r>
            <a:br/>
            <a:r>
              <a:t>≈ 4,960 drivers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1546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154680"/>
            <a:ext cx="91440" cy="13258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319272"/>
            <a:ext cx="29718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ADD 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76472"/>
            <a:ext cx="297180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4,960 × 1.15</a:t>
            </a:r>
            <a:br/>
            <a:r>
              <a:t>≈ 5,700 drivers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defRPr sz="2200" b="1">
                <a:solidFill>
                  <a:srgbClr val="008080"/>
                </a:solidFill>
                <a:latin typeface="Aptos"/>
              </a:defRPr>
            </a:pPr>
            <a:r>
              <a:t>First estimate: about 5,700 drivers online at the peak.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VALIDATE AND REFINE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The estimate is uncertain—say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ptos"/>
              </a:defRPr>
            </a:pPr>
            <a:r>
              <a:t>The biggest uncertainty is how often people take an app 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91440" cy="1645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WIDE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0632"/>
            <a:ext cx="4846320" cy="9326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If trips per 100 people range from 0.5 to 1.5, the estimate moves from about 2,900 to 8,600 drivers.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91440" cy="16459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1343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CHECK WITH CASE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70632"/>
            <a:ext cx="4846320" cy="9326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The case's driver-hours per completed trip suggests the chain may be high.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The slides' checked estimate is about 5,000–5,700 drivers, while the wider uncertainty range is 2,900–8,600. The exact peak count is not available in the case.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1">
                <a:solidFill>
                  <a:srgbClr val="008080"/>
                </a:solidFill>
                <a:latin typeface="Aptos"/>
              </a:defRPr>
            </a:pPr>
            <a:r>
              <a:t>Best practice: state the range, name the biggest assumption, and say what data you would collect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 business case is a written decision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ptos"/>
              </a:defRPr>
            </a:pPr>
            <a:r>
              <a:t>Write so a busy leader can understand your recommendation in about two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606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91440" cy="2103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1.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2194560" cy="1389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What should we do—and why?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40280"/>
            <a:ext cx="2606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240280"/>
            <a:ext cx="91440" cy="21031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40487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2.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62072"/>
            <a:ext cx="2194560" cy="1389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One key number, with its unit and time period.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40280"/>
            <a:ext cx="2606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91440" cy="2103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04872"/>
            <a:ext cx="219456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3.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62072"/>
            <a:ext cx="2194560" cy="1389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What might make our conclusion wrong?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240280"/>
            <a:ext cx="2194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240280"/>
            <a:ext cx="91440" cy="210312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04872"/>
            <a:ext cx="17830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4.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862072"/>
            <a:ext cx="1783080" cy="138988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Next step, cost, timing and owner.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defRPr sz="2000" b="1">
                <a:solidFill>
                  <a:srgbClr val="008080"/>
                </a:solidFill>
                <a:latin typeface="Aptos"/>
              </a:defRPr>
            </a:pPr>
            <a:r>
              <a:t>Use plain language. Say “divided by,” not “denominator.”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INVENTED EXAMPLE FROM THE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One-page example: Ramesh's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102870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10287000" cy="20116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Keep the longer opening hours for one more month and track evening sales separately.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91440" cy="9144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79192"/>
            <a:ext cx="102870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36392"/>
            <a:ext cx="10287000" cy="20116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Daily sales rose by ₹700, but sales per hour fell from ₹1,190 to ₹1,050.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76472"/>
            <a:ext cx="102870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CAVEAT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33672"/>
            <a:ext cx="10287000" cy="20116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A festival period fell in October, so seasonality may explain part of the increase.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09160"/>
            <a:ext cx="91440" cy="9144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73752"/>
            <a:ext cx="1028700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30952"/>
            <a:ext cx="10287000" cy="20116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Continue through November, record evening sales for 30 days, then decide. Extra helper cost: ₹170/day.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STRUCTURE BEFORE THE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How to answer in an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91440" cy="182880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1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WEAK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700" b="0">
                <a:solidFill>
                  <a:srgbClr val="27313E"/>
                </a:solidFill>
                <a:latin typeface="Aptos"/>
              </a:defRPr>
            </a:pPr>
            <a:r>
              <a:t>“There are 1 crore people; 1% ride; so we need 41,700 drivers.”</a:t>
            </a:r>
            <a:br/>
            <a:br/>
            <a:r>
              <a:t>No clear time window, incomplete logic, no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91440" cy="1828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STRONG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4846320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“For one moment in the 3-hour evening peak, I estimate about 5,700 drivers, with a wide range of 2,900–8,600. Ride frequency drives the range; I would check it against peak trip data.”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t>When challenged, use four moves: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24128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Restate the concern.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Answer it directly.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Concede what is valid.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Say what evidence would change your mind.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ILLUSTRATIVE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AI product example: acceptance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91440" cy="192024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1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VISIBLE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4846320" cy="12070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32% of suggested code is accepted.</a:t>
            </a:r>
            <a:br/>
            <a:br/>
            <a:r>
              <a:t>But some accepted code is deleted soon after.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91440" cy="1920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BETTER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4846320" cy="12070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Measure how much suggested code remains in the file after 7 days, per paid developer seat.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000" b="1">
                <a:solidFill>
                  <a:srgbClr val="182B49"/>
                </a:solidFill>
                <a:latin typeface="Aptos"/>
              </a:defRPr>
            </a:pPr>
            <a:r>
              <a:t>Keep acceptance rate as an early signal, but do not let it be the only measure.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33272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Guardrail 1: check characters per accepted suggestion to spot padding.</a:t>
            </a:r>
          </a:p>
          <a:p>
            <a:pPr>
              <a:spcAft>
                <a:spcPts val="1600"/>
              </a:spcAft>
              <a:defRPr sz="1700">
                <a:solidFill>
                  <a:srgbClr val="27313E"/>
                </a:solidFill>
                <a:latin typeface="Aptos"/>
              </a:defRPr>
            </a:pPr>
            <a:r>
              <a:t>•  Guardrail 2: engineers review a sample of code that remains.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USE FOR CASES AND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Simple checklist: is your answer strong?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define exactly what is counted and over what time period?</a:t>
            </a:r>
          </a:p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show the factors and assumptions?</a:t>
            </a:r>
          </a:p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give a range and identify the assumption that matters most?</a:t>
            </a:r>
          </a:p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check the result using the same unit, period and definition?</a:t>
            </a:r>
          </a:p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make a clear recommendation with evidence and a caveat?</a:t>
            </a:r>
          </a:p>
          <a:p>
            <a:pPr>
              <a:spcAft>
                <a:spcPts val="1600"/>
              </a:spcAft>
              <a:defRPr sz="1900">
                <a:solidFill>
                  <a:srgbClr val="27313E"/>
                </a:solidFill>
                <a:latin typeface="Aptos"/>
              </a:defRPr>
            </a:pPr>
            <a:r>
              <a:t>•  Did I explain the next action, cost and owner in plain English?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000" b="1">
                <a:solidFill>
                  <a:srgbClr val="E8AB36"/>
                </a:solidFill>
                <a:latin typeface="Aptos"/>
              </a:defRPr>
            </a:pPr>
            <a:r>
              <a:t>SESSION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Remember these five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900" b="1">
                <a:solidFill>
                  <a:srgbClr val="5B6978"/>
                </a:solidFill>
                <a:latin typeface="Aptos"/>
              </a:defRPr>
            </a:pPr>
            <a:r>
              <a:t>WEEK 4 • DAY 2 • SIMPLIFIED STUDY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943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1.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484632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Clarify → Map → Calculate → 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91440" cy="13258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8191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2. CHECK FAIRLY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484632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Same unit, same period, same definition.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91440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3. SHOW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484632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Give a range and name the biggest assumption.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91440" cy="1325880"/>
          </a:xfrm>
          <a:prstGeom prst="rect">
            <a:avLst/>
          </a:prstGeom>
          <a:solidFill>
            <a:srgbClr val="E8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27832"/>
            <a:ext cx="484632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4. WRITE CLEARLY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85032"/>
            <a:ext cx="4846320" cy="61264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0">
                <a:solidFill>
                  <a:srgbClr val="27313E"/>
                </a:solidFill>
                <a:latin typeface="Aptos"/>
              </a:defRPr>
            </a:pPr>
            <a:r>
              <a:t>Claim → Evidence → Caveat →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709160"/>
            <a:ext cx="6675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470916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4873752"/>
            <a:ext cx="626364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800" b="1">
                <a:solidFill>
                  <a:srgbClr val="182B49"/>
                </a:solidFill>
                <a:latin typeface="Aptos"/>
              </a:defRPr>
            </a:pPr>
            <a:r>
              <a:t>5. THINK LIKE AN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330952"/>
            <a:ext cx="6263640" cy="201167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>
              <a:defRPr sz="1600" b="0">
                <a:solidFill>
                  <a:srgbClr val="27313E"/>
                </a:solidFill>
                <a:latin typeface="Aptos"/>
              </a:defRPr>
            </a:pPr>
            <a:r>
              <a:t>Explain your method, check your answer, and say what you would measure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