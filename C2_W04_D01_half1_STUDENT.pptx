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on screen as the room sits down. Read the subtitle: it is the row's Day focus, the</a:t>
            </a:r>
          </a:p>
          <a:p>
            <a:r>
              <a:t>number the growth plan chases and what stops it being gamed. Say the order of the day once: six</a:t>
            </a:r>
          </a:p>
          <a:p>
            <a:r>
              <a:t>topics on everyday examples, then the Uber case, then Kalpa in the TA lab. The row's own scenario,</a:t>
            </a:r>
          </a:p>
          <a:p>
            <a:r>
              <a:t>the growth plan of Meera Raghavan, Kalpa Retail's CEO, back after Build 1's Kalpa Health week, and the fight over which number the company chases, comes back</a:t>
            </a:r>
          </a:p>
          <a:p>
            <a:r>
              <a:t>in the lab, where the head of Retail-Plus wants "reorders per member". Transition: where Monday sits</a:t>
            </a:r>
          </a:p>
          <a:p>
            <a:r>
              <a:t>in the week.</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Point to Monday, lit, and to the four dashed days. Each day is a ticket at a company</a:t>
            </a:r>
          </a:p>
          <a:p>
            <a:r>
              <a:t>the room uses, and each day's TA lab moves the same method to Kalpa Retail. Monday is first, so no</a:t>
            </a:r>
          </a:p>
          <a:p>
            <a:r>
              <a:t>earlier day has a number on its node yet; by Saturday every node carries the number the room</a:t>
            </a:r>
          </a:p>
          <a:p>
            <a:r>
              <a:t>produced on it. The week explorer (demos/C2_W04_D01_week_explorer_STUDENT.html, which ships with the</a:t>
            </a:r>
          </a:p>
          <a:p>
            <a:r>
              <a:t>week) opens on this map; light Monday there if it is on the projector. Transition: the six topics.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Read the topic column aloud: these are the six subtopics of the curriculum row, in</a:t>
            </a:r>
          </a:p>
          <a:p>
            <a:r>
              <a:t>its order, word for word. Chapters 1 to 3 decide what to count; chapters 4 to 6 decide how it is</a:t>
            </a:r>
          </a:p>
          <a:p>
            <a:r>
              <a:t>written down so it cannot be gamed. Then read the running order the table and the line under it</a:t>
            </a:r>
          </a:p>
          <a:p>
            <a:r>
              <a:t>give: the opening, the six chapters, the break, chapters 7 to 9 to lunch, chapters 10 and 11 and the</a:t>
            </a:r>
          </a:p>
          <a:p>
            <a:r>
              <a:t>20-minute close, then the IITGN faculty session (tentative), or the metric clinic in its place. The</a:t>
            </a:r>
          </a:p>
          <a:p>
            <a:r>
              <a:t>row's own Kalpa scenario, Meera's growth plan and the three numbers its teams propose, runs in the</a:t>
            </a:r>
          </a:p>
          <a:p>
            <a:r>
              <a:t>practice lab on the same method. Transition: how the six topics join.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ByteByteGo's move: one connected map before any detail. The lit boxes are the six</a:t>
            </a:r>
          </a:p>
          <a:p>
            <a:r>
              <a:t>topics of the row, in its order. Two chains: chapters 1 to 3 choose the number (is it safe to pay</a:t>
            </a:r>
          </a:p>
          <a:p>
            <a:r>
              <a:t>for, which one to chase, which one warns first), and chapters 4 and 5 write it down so it cannot be</a:t>
            </a:r>
          </a:p>
          <a:p>
            <a:r>
              <a:t>gamed; chapter 6 puts both on one page, its guardrails from chapter 2. The Uber box says which case</a:t>
            </a:r>
          </a:p>
          <a:p>
            <a:r>
              <a:t>chapter applies which topic. On the slide all six are lit as today's topics; on the board, draw them</a:t>
            </a:r>
          </a:p>
          <a:p>
            <a:r>
              <a:t>unlit and light each as its chapter closes. The dashed box is what the chapters reuse, each named again at</a:t>
            </a:r>
          </a:p>
          <a:p>
            <a:r>
              <a:t>the point of reuse: Week 1 Monday's numerator and denominator for every rate, Week 1 Tuesday's like</a:t>
            </a:r>
          </a:p>
          <a:p>
            <a:r>
              <a:t>with like, Week 2 Friday's grain and one number with its denominator. Tuesday defends today's number</a:t>
            </a:r>
          </a:p>
          <a:p>
            <a:r>
              <a:t>on one slide; Wednesday's lift, Thursday's cohorts and Friday's forecast each consume a number written</a:t>
            </a:r>
          </a:p>
          <a:p>
            <a:r>
              <a:t>today's way. Every concept chapter closes on this map with its own box lit. Explorer: the home screen.</a:t>
            </a:r>
          </a:p>
          <a:p>
            <a:r>
              <a:t>Transition: the destination.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Show it as the destination: read the before and after line and the ask, nothing</a:t>
            </a:r>
          </a:p>
          <a:p>
            <a:r>
              <a:t>more. Ask which of these numbers the city team would put in Monday's headline; most hands go to peak</a:t>
            </a:r>
          </a:p>
          <a:p>
            <a:r>
              <a:t>online hours, up 24 percent. Write it on the whiteboard with the board's question above it, "What</a:t>
            </a:r>
          </a:p>
          <a:p>
            <a:r>
              <a:t>makes a number safe to pay for?", and leave both up: chapter 7 opens on the full ticket after the</a:t>
            </a:r>
          </a:p>
          <a:p>
            <a:r>
              <a:t>break and fills the board region by region. Transition: chapter 1.</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30 seconds. Concept 1 of 6, 13 minutes, the longest, because it opens on the instinct round</a:t>
            </a:r>
          </a:p>
          <a:p>
            <a:r>
              <a:t>the curriculum row asks for. The topic is the row's subtopic, word for word. Every number in this</a:t>
            </a:r>
          </a:p>
          <a:p>
            <a:r>
              <a:t>chapter except the bank's on its last slide is invented. Notebook 01 runs beside the chapter. Transition: what a metric is, and who needs the answer.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Read the two definitions, then the four questions; each gets a number before the</a:t>
            </a:r>
          </a:p>
          <a:p>
            <a:r>
              <a:t>next is asked. Most of the room has never been paid on a number, so the canteen makes the pull of a</a:t>
            </a:r>
          </a:p>
          <a:p>
            <a:r>
              <a:t>target concrete. Transition: the instinct round.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the row's instinct round at small scale: three proposed targets, and the room says</a:t>
            </a:r>
          </a:p>
          <a:p>
            <a:r>
              <a:t>how each could be hit while the thing it stands for got no better. Letters on paper, a show of letters,</a:t>
            </a:r>
          </a:p>
          <a:p>
            <a:r>
              <a:t>two minutes with a neighbour, a second vote. Most pick c, since an exam feels hard to fake. Write the</a:t>
            </a:r>
          </a:p>
          <a:p>
            <a:r>
              <a:t>room's ways of raising each number on the board before the answer goes up. Transition: the answer.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30 seconds. Take each row in turn. The room usually finds the first two and argues</a:t>
            </a:r>
          </a:p>
          <a:p>
            <a:r>
              <a:t>about the third: the exam average is a proxy too, and its last move, keeping the weakest children</a:t>
            </a:r>
          </a:p>
          <a:p>
            <a:r>
              <a:t>away, returns in chapter 2 at a driving school as a shrinking denominator. Transition: the same pull,</a:t>
            </a:r>
          </a:p>
          <a:p>
            <a:r>
              <a:t>counted by hand.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StatQuest: say each number aloud and write the four sums on the board.</a:t>
            </a:r>
          </a:p>
          <a:p>
            <a:r>
              <a:t>Ask what changed on day 6: only the pay rule. A server who hands two tokens to each diner is paid</a:t>
            </a:r>
          </a:p>
          <a:p>
            <a:r>
              <a:t>twice for one plate, and nobody else loses anything they can see that day. Transition: the picture,</a:t>
            </a:r>
          </a:p>
          <a:p>
            <a:r>
              <a:t>and the rule named last.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30 seconds, 3Blue1Brown: the picture first, the name after it. The rule in the</a:t>
            </a:r>
          </a:p>
          <a:p>
            <a:r>
              <a:t>curriculum row's own words: "if a department could hit the number while the business got worse, the</a:t>
            </a:r>
          </a:p>
          <a:p>
            <a:r>
              <a:t>number is a proxy that has drifted." The word proxy as research uses it: Chou, "Blending Proxy</a:t>
            </a:r>
          </a:p>
          <a:p>
            <a:r>
              <a:t>Metrics with a North Star", arXiv 2606.21745 (June 2026), whose abstract describes proxies as numbers</a:t>
            </a:r>
          </a:p>
          <a:p>
            <a:r>
              <a:t>used in place of outcomes the experimenter does not observe:</a:t>
            </a:r>
          </a:p>
          <a:p>
            <a:r>
              <a:t>https://arxiv.org/abs/2606.21745 (checked 13 October 2026). Explorer: scene M1 draws the same drift</a:t>
            </a:r>
          </a:p>
          <a:p>
            <a:r>
              <a:t>on the city's drivers; it belongs to chapter 8, which opens it at S67. Transition: the same test in</a:t>
            </a:r>
          </a:p>
          <a:p>
            <a:r>
              <a:t>code.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Krish Naik's move: one plain sentence for each line. Line one loads the ten days;</a:t>
            </a:r>
          </a:p>
          <a:p>
            <a:r>
              <a:t>line two divides tokens by plates; line three cooks rice from tokens the way the kitchen did; the</a:t>
            </a:r>
          </a:p>
          <a:p>
            <a:r>
              <a:t>last two lines ask the proxy test of the two columns, first day against last. Transition: the rules.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30 seconds. The rules are the slide a learner photographs. Ask the proxy-test set's</a:t>
            </a:r>
          </a:p>
          <a:p>
            <a:r>
              <a:t>first item aloud (exercises/unguided/C2_W04_D01_proxy_test_set_STUDENT.md, Q1), take letters, then</a:t>
            </a:r>
          </a:p>
          <a:p>
            <a:r>
              <a:t>say the key and one reason from its solution file; Q2 and Q3 wait for the practice lab. Transition:</a:t>
            </a:r>
          </a:p>
          <a:p>
            <a:r>
              <a:t>where the idea goes, and what it cost a bank.</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The idea joins the map. Then the bank, in order: the numbers (products sold, on</a:t>
            </a:r>
          </a:p>
          <a:p>
            <a:r>
              <a:t>which the CFPB says staff chased "sales targets" and "bonuses", and the cross-sell number, products</a:t>
            </a:r>
          </a:p>
          <a:p>
            <a:r>
              <a:t>per household, which investors read), the missing condition (nobody had to use the account), what it cost (USD 185 million in</a:t>
            </a:r>
          </a:p>
          <a:p>
            <a:r>
              <a:t>2016: the CFPB's USD 100 million, the OCC's USD 35 million and Los Angeles's USD 50 million, all named</a:t>
            </a:r>
          </a:p>
          <a:p>
            <a:r>
              <a:t>in the CFPB's release; USD 3 billion in 2020, and the bank dropped product sales goals). Do not quote a firing count or</a:t>
            </a:r>
          </a:p>
          <a:p>
            <a:r>
              <a:t>Goodhart; neither is verified in the week's sources. Sources:</a:t>
            </a:r>
          </a:p>
          <a:p>
            <a:r>
              <a:t>https://www.consumerfinance.gov/about-us/newsroom/consumer-financial-protection-bureau-fines-wells-fargo-100-million-widespread-illegal-practice-secretly-opening-unauthorized-accounts/ (checked 13 October 2026)</a:t>
            </a:r>
          </a:p>
          <a:p>
            <a:r>
              <a:t>https://www.sec.gov/newsroom/press-releases/2020-38 (checked 13 October 2026)</a:t>
            </a:r>
          </a:p>
          <a:p>
            <a:r>
              <a:t>Transition: chapter 2, the number a plan chases.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30 seconds. Concept 2 of 6, 10 minutes. The example is a driving school whose numbers are all</a:t>
            </a:r>
          </a:p>
          <a:p>
            <a:r>
              <a:t>invented; its four instructors teach 25 learners each. Notebook 02 runs beside the chapter.</a:t>
            </a:r>
          </a:p>
          <a:p>
            <a:r>
              <a:t>Transition: who needs the answer.</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Read the two names and the four questions. A learner who has never worked in a</a:t>
            </a:r>
          </a:p>
          <a:p>
            <a:r>
              <a:t>business has seen this pull in coaching ads and school results, so the driving school is chosen to</a:t>
            </a:r>
          </a:p>
          <a:p>
            <a:r>
              <a:t>feel familiar. Transition: the prediction.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30 seconds. Vote, a neighbour, vote again. The plausible first instinct is a, the</a:t>
            </a:r>
          </a:p>
          <a:p>
            <a:r>
              <a:t>reading the hoarding is written for. Transition: the answer, counted by hand.</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30 seconds. Write the six numbers on the board and divide aloud. The hoarding's</a:t>
            </a:r>
          </a:p>
          <a:p>
            <a:r>
              <a:t>rate rose by half while 24 fewer learners got a licence. Transition: the picture, and the two names.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30 seconds, 3Blue1Brown: point at the seesaw before naming it. The two numbers</a:t>
            </a:r>
          </a:p>
          <a:p>
            <a:r>
              <a:t>multiply into the honest one: 0.90 x 0.40 = 0.36. Sources for the names: Amplitude's "What Makes a</a:t>
            </a:r>
          </a:p>
          <a:p>
            <a:r>
              <a:t>Good vs Bad North Star Metric" (Julia Sholtz, 15 August 2024): "A North Star Metric is a single metric</a:t>
            </a:r>
          </a:p>
          <a:p>
            <a:r>
              <a:t>that best captures the value customers derive from your product":</a:t>
            </a:r>
          </a:p>
          <a:p>
            <a:r>
              <a:t>https://www.amplitude.com/blog/good-bad-north-star-metric.md (checked 13 October 2026); Spotify</a:t>
            </a:r>
          </a:p>
          <a:p>
            <a:r>
              <a:t>Confidence's glossary: "A guardrail metric is a metric monitored during an experiment to ensure the</a:t>
            </a:r>
          </a:p>
          <a:p>
            <a:r>
              <a:t>change doesn't cause unintended harm, even when the success metric improves":</a:t>
            </a:r>
          </a:p>
          <a:p>
            <a:r>
              <a:t>https://confidence.spotify.com/glossary/guardrail-metric (checked 13 October 2026). Explorer: scene</a:t>
            </a:r>
          </a:p>
          <a:p>
            <a:r>
              <a:t>M2, the seesaw, on the city's drivers; it belongs to chapter 9, which opens it at S75 and S80.</a:t>
            </a:r>
          </a:p>
          <a:p>
            <a:r>
              <a:t>Transition: the same split in code.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One sentence a line: load, add up each year, divide twice, multiply. The product</a:t>
            </a:r>
          </a:p>
          <a:p>
            <a:r>
              <a:t>equals passed over enrolled, which notebook 02 checks a second way. Transition: the rules.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30 seconds. Ask the north-star set's first item aloud (exercises/unguided/</a:t>
            </a:r>
          </a:p>
          <a:p>
            <a:r>
              <a:t>C2_W04_D01_north_star_guardrails_set_STUDENT.md, Q1), take letters, then say the key and one reason.</a:t>
            </a:r>
          </a:p>
          <a:p>
            <a:r>
              <a:t>Transition: two companies whose headline number had to match what they were trying to do.</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Each company chose a headline number that matched what it was trying to do;</a:t>
            </a:r>
          </a:p>
          <a:p>
            <a:r>
              <a:t>neither letter says a number was used badly, so do not say it either. Swiggy's and Eternal's</a:t>
            </a:r>
          </a:p>
          <a:p>
            <a:r>
              <a:t>financial years start in April, so Q1 FY26 is the quarter to 30 June 2025 and Q1 FY27 the quarter to</a:t>
            </a:r>
          </a:p>
          <a:p>
            <a:r>
              <a:t>30 June 2026. Sources: Swiggy's Q1 FY26</a:t>
            </a:r>
          </a:p>
          <a:p>
            <a:r>
              <a:t>shareholder letter: https://www.swiggy.com/corporate/wp-content/uploads/2025/07/Q1-FY2026-Shareholder-letter.pdf</a:t>
            </a:r>
          </a:p>
          <a:p>
            <a:r>
              <a:t>(checked 13 October 2026); Eternal's Q1 FY26 letter for NOV = GOV minus discounts:</a:t>
            </a:r>
          </a:p>
          <a:p>
            <a:r>
              <a:t>https://drive.google.com/file/d/1VtoiLsA2OpKauFnkKIlhXRmnbvxL-6ha/view (checked 13 October 2026);</a:t>
            </a:r>
          </a:p>
          <a:p>
            <a:r>
              <a:t>its Q1 FY27 letter for the sunset:</a:t>
            </a:r>
          </a:p>
          <a:p>
            <a:r>
              <a:t>https://drive.google.com/file/d/1jb9KWd4Ap4RTKHFHxzEOO7jgQqVZEGcd/view (checked 13 October 2026),</a:t>
            </a:r>
          </a:p>
          <a:p>
            <a:r>
              <a:t>linked from https://www.eternal.com/blog/q1fy27/ (checked 13 October 2026). Transition: where the</a:t>
            </a:r>
          </a:p>
          <a:p>
            <a:r>
              <a:t>idea goes.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30 seconds. The idea joins the map. Transition: chapter 3, which number warns first.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30 seconds. Concept 3 of 6, 10 minutes. The example is a T20 chase whose every run is</a:t>
            </a:r>
          </a:p>
          <a:p>
            <a:r>
              <a:t>invented. Notebook 03 runs beside the chapter. Transition: who needs the answer.</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Read the two names. Cricket is chosen because the room already reads a required</a:t>
            </a:r>
          </a:p>
          <a:p>
            <a:r>
              <a:t>rate without being taught it, so the idea arrives on something they know. Transition: the prediction.</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30 seconds. Letters on paper. The plausible wrong answer is d: "you know a chase is</a:t>
            </a:r>
          </a:p>
          <a:p>
            <a:r>
              <a:t>lost when the last over ends". Transition: the answer, counted by hand.</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30 seconds, StatQuest: fill the table row by row aloud. The runs in overs 11 to 20</a:t>
            </a:r>
          </a:p>
          <a:p>
            <a:r>
              <a:t>are 7, 8, 9, 10, 8, 9, 10, 11, 9 and 6. Transition: the picture, and the names.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30 seconds. The words in Amplitude's article on north star metrics (Julia Sholtz,</a:t>
            </a:r>
          </a:p>
          <a:p>
            <a:r>
              <a:t>15 August 2024): "Some metrics tell you what has already happened to your business; these are</a:t>
            </a:r>
          </a:p>
          <a:p>
            <a:r>
              <a:t>lagging indicators", and "Revenue is a lagging indicator", with a good north star described as "a</a:t>
            </a:r>
          </a:p>
          <a:p>
            <a:r>
              <a:t>leading indicator of revenue": https://www.amplitude.com/blog/good-bad-north-star-metric.md (checked</a:t>
            </a:r>
          </a:p>
          <a:p>
            <a:r>
              <a:t>13 October 2026). Transition: the same count in code.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One sentence a line. Over 20 divides by zero overs left; notebook 03 stops the</a:t>
            </a:r>
          </a:p>
          <a:p>
            <a:r>
              <a:t>column at over 19, where the result takes over. Transition: the rules.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30 seconds. Ask the leading-lagging set's first item aloud: the eight Kalpa numbers,</a:t>
            </a:r>
          </a:p>
          <a:p>
            <a:r>
              <a:t>called leading or lagging by letter, then say the key and one reason; two learners defend one call</a:t>
            </a:r>
          </a:p>
          <a:p>
            <a:r>
              <a:t>each in a sentence, as the curriculum row asks</a:t>
            </a:r>
          </a:p>
          <a:p>
            <a:r>
              <a:t>(exercises/unguided/C2_W04_D01_leading_lagging_set_STUDENT.md, Q1). Explorer: scene M4 asks which</a:t>
            </a:r>
          </a:p>
          <a:p>
            <a:r>
              <a:t>line turns first; use it here, before S28 shows the turn, if it is on the projector. Transition: the</a:t>
            </a:r>
          </a:p>
          <a:p>
            <a:r>
              <a:t>same split on the case's own weeks.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The connected example, on the case's synthetic data: acceptance is guardrail 1 in</a:t>
            </a:r>
          </a:p>
          <a:p>
            <a:r>
              <a:t>chapter 9 and a leading number here, the job and the timing being two questions. Transition: where</a:t>
            </a:r>
          </a:p>
          <a:p>
            <a:r>
              <a:t>the idea goes.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30 seconds. The idea joins the map. Transition: chapter 4, the lines that pin a number down.</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30 seconds. Concept 4 of 6, 10 minutes. The example is one student's term register, every</a:t>
            </a:r>
          </a:p>
          <a:p>
            <a:r>
              <a:t>day of it invented; the programme's own attendance rule is not used. Notebook 04 runs beside the</a:t>
            </a:r>
          </a:p>
          <a:p>
            <a:r>
              <a:t>chapter. Transition: who needs the answer.</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Backward hook, said once: Week 1 Monday's numerator and denominator. Today adds the</a:t>
            </a:r>
          </a:p>
          <a:p>
            <a:r>
              <a:t>two lines Week 1 left implicit. Transition: the prediction.</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30 seconds. The misconception under a: "attendance is one number; everyone computes</a:t>
            </a:r>
          </a:p>
          <a:p>
            <a:r>
              <a:t>it the same way". Transition: the answer, counted by hand.</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30 seconds, StatQuest: divide each row aloud, one clerk a row. Every reading is</a:t>
            </a:r>
          </a:p>
          <a:p>
            <a:r>
              <a:t>honest; each answers a different question, and only a written definition says which one the</a:t>
            </a:r>
          </a:p>
          <a:p>
            <a:r>
              <a:t>certificate means. Transition: the</a:t>
            </a:r>
          </a:p>
          <a:p>
            <a:r>
              <a:t>picture, and the rule.</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30 seconds. The same four lines in a public specification: the US Centers for</a:t>
            </a:r>
          </a:p>
          <a:p>
            <a:r>
              <a:t>Medicare and Medicaid Services' Measures Management System lists a measure's denominator, its</a:t>
            </a:r>
          </a:p>
          <a:p>
            <a:r>
              <a:t>denominator exclusions, its numerator and its time interval, and says "Denominator exclusions refer</a:t>
            </a:r>
          </a:p>
          <a:p>
            <a:r>
              <a:t>to criteria that result in removal of patients or cases from the denominator before calculating the</a:t>
            </a:r>
          </a:p>
          <a:p>
            <a:r>
              <a:t>numerator": https://mmshub.cms.gov/measure-lifecycle/measure-specification/develop-specification and</a:t>
            </a:r>
          </a:p>
          <a:p>
            <a:r>
              <a:t>https://mmshub.cms.gov/measure-lifecycle/measure-specification/develop-specification/denominator-exclusions</a:t>
            </a:r>
          </a:p>
          <a:p>
            <a:r>
              <a:t>(both checked 13 October 2026). Explorer: scene M3 rebuilds a definition line by line on chapter</a:t>
            </a:r>
          </a:p>
          <a:p>
            <a:r>
              <a:t>7's six drivers; it belongs to chapter 9, which opens it at S81. Transition: the four lines in code.</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One sentence a line. Notebook 04 calls the same function five times and checks each</a:t>
            </a:r>
          </a:p>
          <a:p>
            <a:r>
              <a:t>result against a count made by filtering the table directly. Transition: the rules.</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30 seconds. Ask the definition-lines set's first item aloud</a:t>
            </a:r>
          </a:p>
          <a:p>
            <a:r>
              <a:t>(exercises/unguided/C2_W04_D01_four_definition_lines_set_STUDENT.md, Q1), take letters, then say the</a:t>
            </a:r>
          </a:p>
          <a:p>
            <a:r>
              <a:t>key and one reason. Transition: a company that writes its lines down.</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Read the two rows, naming numerator, denominator and window each time; the</a:t>
            </a:r>
          </a:p>
          <a:p>
            <a:r>
              <a:t>exclusions column is read from the filed words, since "completed" leaves out every order that was</a:t>
            </a:r>
          </a:p>
          <a:p>
            <a:r>
              <a:t>not. Source:</a:t>
            </a:r>
          </a:p>
          <a:p>
            <a:r>
              <a:t>Swiggy's Q2 FY25 shareholder letter, filed with BSE:</a:t>
            </a:r>
          </a:p>
          <a:p>
            <a:r>
              <a:t>https://www.bseindia.com/xml-data/corpfiling/AttachHis/2495f39b-e1d1-4018-8f69-6ff250345e98.pdf</a:t>
            </a:r>
          </a:p>
          <a:p>
            <a:r>
              <a:t>(checked 13 October 2026). Transition: where the idea goes.</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30 seconds. The idea joins the map, then Delhi Metro in one breath; chapter 8 meets the same</a:t>
            </a:r>
          </a:p>
          <a:p>
            <a:r>
              <a:t>lesson in offers against rider requests. PTI's copy gives February's "nearly 27 lakh commuters ...</a:t>
            </a:r>
          </a:p>
          <a:p>
            <a:r>
              <a:t>daily", the 29 May line utilisation, and that DMRC "did not share the daily average ridership</a:t>
            </a:r>
          </a:p>
          <a:p>
            <a:r>
              <a:t>figures" after the new section opened, ridership having "taken a hit after two fare hikes in 2017":</a:t>
            </a:r>
          </a:p>
          <a:p>
            <a:r>
              <a:t>a new count printed without the old one beside it, which is why chapter 5 dates every change. Sources:</a:t>
            </a:r>
          </a:p>
          <a:p>
            <a:r>
              <a:t>https://www.latestly.com/agency-news/dmrc-uses-new-count-metric-on-traffic-flow-doesnt-share-ridership-190870.html/amp</a:t>
            </a:r>
          </a:p>
          <a:p>
            <a:r>
              <a:t>(PTI's copy, checked 13 October 2026);</a:t>
            </a:r>
          </a:p>
          <a:p>
            <a:r>
              <a:t>https://www.deccanherald.com/india/delhi/delhi-metro-records-highest-ever-footfall-on-aug-29-2666561</a:t>
            </a:r>
          </a:p>
          <a:p>
            <a:r>
              <a:t>("Journey or line utilisation is calculated by the number of corridors passengers use to reach their</a:t>
            </a:r>
          </a:p>
          <a:p>
            <a:r>
              <a:t>destinations", checked 13 October 2026). Transition: chapter 5, what the lines must resist.</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30 seconds. Concept 5 of 6, 10 minutes. The example is Balaji Kirana, an invented corner shop</a:t>
            </a:r>
          </a:p>
          <a:p>
            <a:r>
              <a:t>in Hyderabad, and its four weeks of home deliveries. Notebook 05 runs beside the chapter.</a:t>
            </a:r>
          </a:p>
          <a:p>
            <a:r>
              <a:t>Transition: who needs the answer.</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Read the definition and its two kinds, false reporting and steered work; the people</a:t>
            </a:r>
          </a:p>
          <a:p>
            <a:r>
              <a:t>in the stories are ordinary.</a:t>
            </a:r>
          </a:p>
          <a:p>
            <a:r>
              <a:t>An OTP is the one-time code the customer reads out at the door. Transition: the prediction.</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30 seconds. The misconception under a: "if we pay per delivery, we get more deliveries".</a:t>
            </a:r>
          </a:p>
          <a:p>
            <a:r>
              <a:t>Transition: the answer, counted by hand.</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30 seconds. Read each row with its owner. Ask what the boy gains by typing the</a:t>
            </a:r>
          </a:p>
          <a:p>
            <a:r>
              <a:t>dispatch time late: every delivery reads on time. Transition: the picture, and the rule.</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30 seconds. The five properties are the programme's own summary of the four failures</a:t>
            </a:r>
          </a:p>
          <a:p>
            <a:r>
              <a:t>on the next slide, each taken from a written record: the SEC's 2020 order against Wells Fargo</a:t>
            </a:r>
          </a:p>
          <a:p>
            <a:r>
              <a:t>(Release 34-88257) and the VA inspector general's 2014 report, both re-read on 13 October 2026.</a:t>
            </a:r>
          </a:p>
          <a:p>
            <a:r>
              <a:t>Transition: the four ways, side by side.</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Read across each row. Wells Fargo: in the SEC's order, global remittance</a:t>
            </a:r>
          </a:p>
          <a:p>
            <a:r>
              <a:t>accounts joined the cross-sell count during 2013 without investors being told, giving 0.04 of that</a:t>
            </a:r>
          </a:p>
          <a:p>
            <a:r>
              <a:t>year's 0.11 rise. VA: after the inspector general's interim report the 14-day goal left employee</a:t>
            </a:r>
          </a:p>
          <a:p>
            <a:r>
              <a:t>performance contracts. Sources: https://www.sec.gov/files/litigation/admin/2020/34-88257.pdf</a:t>
            </a:r>
          </a:p>
          <a:p>
            <a:r>
              <a:t>(checked 13 October 2026); https://www.vaoig.gov/sites/default/files/reports/2014-08/VAOIG-14-02603-267.pdf</a:t>
            </a:r>
          </a:p>
          <a:p>
            <a:r>
              <a:t>(checked 13 October 2026). Transition: one condition in code.</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One sentence a line. Notebook 05 adds the second route: the 6 complaints matched to</a:t>
            </a:r>
          </a:p>
          <a:p>
            <a:r>
              <a:t>the 10 orders with no OTP. Transition: the rules.</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30 seconds. Ask the gaming set's first item aloud</a:t>
            </a:r>
          </a:p>
          <a:p>
            <a:r>
              <a:t>(exercises/unguided/C2_W04_D01_gaming_set_STUDENT.md, Q1), take letters, then say the key and one</a:t>
            </a:r>
          </a:p>
          <a:p>
            <a:r>
              <a:t>reason. Transition: where the idea goes.</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30 seconds. The idea joins the map. Transition: chapter 6, the page.</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30 seconds. Concept 6 of 6, 10 minutes, on the same invented shop as chapter 5. Notebook 06</a:t>
            </a:r>
          </a:p>
          <a:p>
            <a:r>
              <a:t>runs beside the chapter. Transition: who needs the answer.</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Read the definition and the four questions. Transition: the prediction.</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30 seconds. The misconception under d: "a metric is defined when it has a name and a</a:t>
            </a:r>
          </a:p>
          <a:p>
            <a:r>
              <a:t>target". Transition: the answer, and the skeleton.</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30 seconds. The skeleton before the instance: say the seven names, then point at the</a:t>
            </a:r>
          </a:p>
          <a:p>
            <a:r>
              <a:t>two the weak page fills. Transition: the same seven lines, filled for the shop.</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30 seconds. Fill each line with the room before showing it; ask which chapter each</a:t>
            </a:r>
          </a:p>
          <a:p>
            <a:r>
              <a:t>line comes from. Once the numerator needs an OTP, a press at the gate pays nothing, so complaints</a:t>
            </a:r>
          </a:p>
          <a:p>
            <a:r>
              <a:t>watch for the move that is left: the OTP taken over the phone. Transition: the weak page and the full one, week by week.</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The same lines in public: a US quality measure's specification lists its</a:t>
            </a:r>
          </a:p>
          <a:p>
            <a:r>
              <a:t>numerator, denominator, exclusions and time interval among its building blocks (CMS Measures Management</a:t>
            </a:r>
          </a:p>
          <a:p>
            <a:r>
              <a:t>System, https://mmshub.cms.gov/measure-lifecycle/measure-specification/develop-specification,</a:t>
            </a:r>
          </a:p>
          <a:p>
            <a:r>
              <a:t>checked 13 October 2026). The seven lines are assembled from the curriculum row's own words:</a:t>
            </a:r>
          </a:p>
          <a:p>
            <a:r>
              <a:t>numerator, denominator, window and exclusions, what it deliberately does not reward, the guardrails</a:t>
            </a:r>
          </a:p>
          <a:p>
            <a:r>
              <a:t>and the gaming note. Transition: the page in code.</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Notebook 06 holds both pages as dictionaries and flags a guardrail whose gaming</a:t>
            </a:r>
          </a:p>
          <a:p>
            <a:r>
              <a:t>note names nothing it catches. Transition: the rules.</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30 seconds. Ask the artifact set's first item aloud</a:t>
            </a:r>
          </a:p>
          <a:p>
            <a:r>
              <a:t>(exercises/unguided/C2_W04_D01_artifact_set_STUDENT.md, Q1), take letters, then say the key and one</a:t>
            </a:r>
          </a:p>
          <a:p>
            <a:r>
              <a:t>reason. Transition: the page goes to the case.</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30 seconds. The concept block is done: six boxes lit on the map from S4. Source: Uber's 10-K</a:t>
            </a:r>
          </a:p>
          <a:p>
            <a:r>
              <a:t>for 2025: https://www.sec.gov/Archives/edgar/data/1543151/000154315126000015/uber-20251231.htm</a:t>
            </a:r>
          </a:p>
          <a:p>
            <a:r>
              <a:t>(checked 13 October 2026). Then the break: 10 minutes. Transition: after the break, chapter 7 opens</a:t>
            </a:r>
          </a:p>
          <a:p>
            <a:r>
              <a:t>the case on its full ticket.</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30 seconds. The first case chapter, level L1, 32 minutes: the full ticket and round 1 of the</a:t>
            </a:r>
          </a:p>
          <a:p>
            <a:r>
              <a:t>war game (12), then the twelve rows by hand (20). No laptops until the hand count is on the board.</a:t>
            </a:r>
          </a:p>
          <a:p>
            <a:r>
              <a:t>Notebook 07 repeats the count in code. Styles: Brilliant (the question first), Veritasium (predict,</a:t>
            </a:r>
          </a:p>
          <a:p>
            <a:r>
              <a:t>then reveal), StatQuest (tiny numbers said aloud), the case method (three roles with partly-right</a:t>
            </a:r>
          </a:p>
          <a:p>
            <a:r>
              <a:t>numbers). Transition: what the chapter answers, and for whom.</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30 seconds. The room knows the proxy test from the canteen and the four lines from the register;</a:t>
            </a:r>
          </a:p>
          <a:p>
            <a:r>
              <a:t>here they meet the case's own rows. Transition: the ticket, read in full.</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Read the ticket top to bottom in the order it is written: company and surface,</a:t>
            </a:r>
          </a:p>
          <a:p>
            <a:r>
              <a:t>the table, the data, the ask, the caveats, the label line. Say the label line in full: the company</a:t>
            </a:r>
          </a:p>
          <a:p>
            <a:r>
              <a:t>is real, the situation and the data are synthetic, built for this class. Then return to the</a:t>
            </a:r>
          </a:p>
          <a:p>
            <a:r>
              <a:t>headline the room chose before chapter 1, "peak online hours up 24 percent", still on the board; the</a:t>
            </a:r>
          </a:p>
          <a:p>
            <a:r>
              <a:t>case's chapters decide whether that number deserves the headline.</a:t>
            </a:r>
          </a:p>
          <a:p>
            <a:r>
              <a:t>Transition: where today ends.</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Read the sentence with its blanks and the seven line names, which the room met on</a:t>
            </a:r>
          </a:p>
          <a:p>
            <a:r>
              <a:t>Balaji Kirana's page in chapter 6; nothing to write yet. Say: every blank gets a number from the</a:t>
            </a:r>
          </a:p>
          <a:p>
            <a:r>
              <a:t>data before lunch, and every line gets tested by three people this afternoon.</a:t>
            </a:r>
          </a:p>
          <a:p>
            <a:r>
              <a:t>Transition: the board the day fills, region by region.</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The board's question went up before chapter 1; add its three questions and the</a:t>
            </a:r>
          </a:p>
          <a:p>
            <a:r>
              <a:t>anchor now, and keep the board up all day; each case chapter's close adds its region. The finished</a:t>
            </a:r>
          </a:p>
          <a:p>
            <a:r>
              <a:t>board is the cheat sheet's second panel. Transition: the war game's first round.</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5 minutes, the war game's round 1 (run sheet: trainer/C2_W04_D01_war_game_TRAINER.md).</a:t>
            </a:r>
          </a:p>
          <a:p>
            <a:r>
              <a:t>The trainer voices the three role cards, or three learners read them. Each of the nine groups has</a:t>
            </a:r>
          </a:p>
          <a:p>
            <a:r>
              <a:t>two minutes to give one way to game each number, now with chapter 1's proxy test and chapter 5's</a:t>
            </a:r>
          </a:p>
          <a:p>
            <a:r>
              <a:t>four ways in hand, and its scorer holds the proxy-test card. Write the answers on the board under each</a:t>
            </a:r>
          </a:p>
          <a:p>
            <a:r>
              <a:t>role. Expect: hours rise if drivers stay logged in and idle; enrolled drivers rise if people sign up</a:t>
            </a:r>
          </a:p>
          <a:p>
            <a:r>
              <a:t>and never drive; top-up per trip falls if drivers take only short trips. Park "what would the data</a:t>
            </a:r>
          </a:p>
          <a:p>
            <a:r>
              <a:t>show" until chapter 8.</a:t>
            </a:r>
          </a:p>
          <a:p>
            <a:r>
              <a:t>When it stalls: recall the canteen's tokens from chapter 1 (who controls the count?), then ask who</a:t>
            </a:r>
          </a:p>
          <a:p>
            <a:r>
              <a:t>decides when the app is open; drivers E and F wait for S60.</a:t>
            </a:r>
          </a:p>
          <a:p>
            <a:r>
              <a:t>Transition: chapter 1's test, asked of an hour.</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a recall by name and straight to the data. Say: the driver controls the count, the</a:t>
            </a:r>
          </a:p>
          <a:p>
            <a:r>
              <a:t>first of chapter 5's four ways. Point back to the board's first question, what is it for. Name round</a:t>
            </a:r>
          </a:p>
          <a:p>
            <a:r>
              <a:t>2 once: chapters 7 to 9 answer each of round 1's attacks with the data, one board region at a time.</a:t>
            </a:r>
          </a:p>
          <a:p>
            <a:r>
              <a:t>Transition: six drivers from the case's own data.</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7 minutes, StatQuest: say each number aloud. Add the hours column for the before week (60)</a:t>
            </a:r>
          </a:p>
          <a:p>
            <a:r>
              <a:t>and the after week (74), then the trips (114 and 88), writing the four sums on the board. Point at</a:t>
            </a:r>
          </a:p>
          <a:p>
            <a:r>
              <a:t>E and F before saying anything about them: hours up, few offers because Shamshabad and</a:t>
            </a:r>
          </a:p>
          <a:p>
            <a:r>
              <a:t>Rajendranagar get few requests, and most of those offers declined.</a:t>
            </a:r>
          </a:p>
          <a:p>
            <a:r>
              <a:t>Transition: the prediction before the ratio.</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Everyone writes a letter. Most write b, because the ticket says 1.58.</a:t>
            </a:r>
          </a:p>
          <a:p>
            <a:r>
              <a:t>Transition: the hand count.</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6 minutes. Say the step aloud: for every ten hours online the six made 19 trips before and 12</a:t>
            </a:r>
          </a:p>
          <a:p>
            <a:r>
              <a:t>after. Then say why the six are not the city: the rows were picked so the mechanism shows in</a:t>
            </a:r>
          </a:p>
          <a:p>
            <a:r>
              <a:t>miniature. Watch for anyone averaging each driver's own ratio; chapter 8 shows what that average</a:t>
            </a:r>
          </a:p>
          <a:p>
            <a:r>
              <a:t>prints on the full data and why it misleads.</a:t>
            </a:r>
          </a:p>
          <a:p>
            <a:r>
              <a:t>Transition: the chapter's close.</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4 minutes. Add the region to the board: what is it for, and the first pitfall, the bank from</a:t>
            </a:r>
          </a:p>
          <a:p>
            <a:r>
              <a:t>chapter 1. Read the crux line twice; it is the line the cheat sheet repeats. The interview question</a:t>
            </a:r>
          </a:p>
          <a:p>
            <a:r>
              <a:t>the day earns, [S] how would you measure the success of a new feature, stays open until the</a:t>
            </a:r>
          </a:p>
          <a:p>
            <a:r>
              <a:t>afternoon. Transition: chapter 8, the full data.</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30 seconds. Levels 2 and 3, 30 minutes: the opener and map (2), the demand question (4), the</a:t>
            </a:r>
          </a:p>
          <a:p>
            <a:r>
              <a:t>twelve weeks and the groupby (7), the average that misleads (6), the idle tail (8), the close (3). Laptops open on</a:t>
            </a:r>
          </a:p>
          <a:p>
            <a:r>
              <a:t>notebooks/C2_W04_D01_08_denominators_on_full_data_STUDENT.ipynb. Styles: Krish Naik (one line of</a:t>
            </a:r>
          </a:p>
          <a:p>
            <a:r>
              <a:t>narration per cell), Veritasium (predict before each reveal), Brilliant (the question first),</a:t>
            </a:r>
          </a:p>
          <a:p>
            <a:r>
              <a:t>ByteByteGo (the board grows at the close). Transition: what the chapter answers.</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30 seconds. Read the Applies line: chapter 4's lines and chapter 5's first way are</a:t>
            </a:r>
          </a:p>
          <a:p>
            <a:r>
              <a:t>the two ideas the full data test. Transition: the first question of the chapter.</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Letters on paper. The trap the question guards against: "trips per hour fell</a:t>
            </a:r>
          </a:p>
          <a:p>
            <a:r>
              <a:t>because demand fell", said before anyone looked at demand.</a:t>
            </a:r>
          </a:p>
          <a:p>
            <a:r>
              <a:t>Transition: the answer, with the numbers.</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Read the three demand numbers, then the two stats. Ask what could make offers per</a:t>
            </a:r>
          </a:p>
          <a:p>
            <a:r>
              <a:t>request rise while requests barely moved: drivers declining, so each request is shown again.</a:t>
            </a:r>
          </a:p>
          <a:p>
            <a:r>
              <a:t>Transition: twelve weeks, one week at a time.</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The animated version, whiteboards/C2_W04_D01_drift_STUDENT.gif, draws the twelve</a:t>
            </a:r>
          </a:p>
          <a:p>
            <a:r>
              <a:t>weeks one at a time; play it on the projector and stop at the dashed line to ask what the next week</a:t>
            </a:r>
          </a:p>
          <a:p>
            <a:r>
              <a:t>will show. Then show this full picture and read the two ranges. Explorer scene M1 draws the same</a:t>
            </a:r>
          </a:p>
          <a:p>
            <a:r>
              <a:t>drift with drivers as dots; use it here if it is on the projector.</a:t>
            </a:r>
          </a:p>
          <a:p>
            <a:r>
              <a:t>Transition: the groupby that produced these totals.</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4 minutes, Krish Naik: scroll back to the notebook's totals cell, the first after its setup,</a:t>
            </a:r>
          </a:p>
          <a:p>
            <a:r>
              <a:t>and run it line by line, saying what each line is for; its numbers are the ticket's, so running it</a:t>
            </a:r>
          </a:p>
          <a:p>
            <a:r>
              <a:t>before S65 spoils nothing. The table is the cell's output, rounded as the ticket rounds it.</a:t>
            </a:r>
          </a:p>
          <a:p>
            <a:r>
              <a:t>Transition: a shortcut a colleague might take.</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Letters on paper. This is the chapter's first trap, the plausible wrong number.</a:t>
            </a:r>
          </a:p>
          <a:p>
            <a:r>
              <a:t>Transition: the answer, and why it is wrong.</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4 minutes. Work the invented pair aloud first, then return to 1.71 against 1.58. Week 1 met</a:t>
            </a:r>
          </a:p>
          <a:p>
            <a:r>
              <a:t>the same rule on Kalpa's orders: the city's rate is two sums divided once, and the mean of the rows</a:t>
            </a:r>
          </a:p>
          <a:p>
            <a:r>
              <a:t>answers another question, the typical driver-week.</a:t>
            </a:r>
          </a:p>
          <a:p>
            <a:r>
              <a:t>Transition: who is behind the fall.</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the your-turn cell of notebook 08. Everyone writes a letter, then types the four</a:t>
            </a:r>
          </a:p>
          <a:p>
            <a:r>
              <a:t>lines from the notebook's markdown into the empty cell and runs it. Wait until most of the room has</a:t>
            </a:r>
          </a:p>
          <a:p>
            <a:r>
              <a:t>a number before the reveal.</a:t>
            </a:r>
          </a:p>
          <a:p>
            <a:r>
              <a:t>Transition: the answer and the picture.</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5 minutes. Point at the cluster to the right of 30 hours with 25 to 35 trips: weeks online in</a:t>
            </a:r>
          </a:p>
          <a:p>
            <a:r>
              <a:t>almost every peak window with far fewer trips than the dotted line. Say what the data cannot say:</a:t>
            </a:r>
          </a:p>
          <a:p>
            <a:r>
              <a:t>why they did it. The likely reading is that the floor pays for being online and the outer zones are</a:t>
            </a:r>
          </a:p>
          <a:p>
            <a:r>
              <a:t>quiet, so a driver parked there earns the floor without a trip: chapter 5's first way, the paid</a:t>
            </a:r>
          </a:p>
          <a:p>
            <a:r>
              <a:t>person controls the count. A second route in the notebook finds the same 180 by acceptance alone.</a:t>
            </a:r>
          </a:p>
          <a:p>
            <a:r>
              <a:t>Watch for "these drivers are lazy": they are doing what the number pays for, as Wells Fargo's staff</a:t>
            </a:r>
          </a:p>
          <a:p>
            <a:r>
              <a:t>did in chapter 1.</a:t>
            </a:r>
          </a:p>
          <a:p>
            <a:r>
              <a:t>Transition: the chapter's close.</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Add the region to the board. Transition: chapter 9 asks what the scheme should pay</a:t>
            </a:r>
          </a:p>
          <a:p>
            <a:r>
              <a:t>for instead.</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30 seconds. Levels 3 and 4, 38 minutes: the opener and map (2), the opener question (4), the</a:t>
            </a:r>
          </a:p>
          <a:p>
            <a:r>
              <a:t>wrong memo and its cost (8), the tree and the inputs (4), the Uber page line by line, guided (11), the caveats (7), the</a:t>
            </a:r>
          </a:p>
          <a:p>
            <a:r>
              <a:t>close (2). Notebook: notebooks/C2_W04_D01_09_north_star_guardrails_cost_STUDENT.ipynb. Styles:</a:t>
            </a:r>
          </a:p>
          <a:p>
            <a:r>
              <a:t>Brilliant (question first), 3Blue1Brown (the tree built region by region), the case method,</a:t>
            </a:r>
          </a:p>
          <a:p>
            <a:r>
              <a:t>ByteByteGo (the finished board). Transition: what the chapter answers.</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30 seconds. Every idea in this chapter was taught on an invented example this morning; here</a:t>
            </a:r>
          </a:p>
          <a:p>
            <a:r>
              <a:t>each is recalled by name and goes straight to the data. Transition: the question that opens it.</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Letters on paper. Explorer scene M2 lets the room move the choice and watch the dots</a:t>
            </a:r>
          </a:p>
          <a:p>
            <a:r>
              <a:t>re-behave; use it after the vote if it is on the projector.</a:t>
            </a:r>
          </a:p>
          <a:p>
            <a:r>
              <a:t>Transition: the answer.</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Take each wrong letter in turn and say the gaming it invites; the room should hear</a:t>
            </a:r>
          </a:p>
          <a:p>
            <a:r>
              <a:t>that every wrong answer is a number someone would really propose.</a:t>
            </a:r>
          </a:p>
          <a:p>
            <a:r>
              <a:t>Transition: the memo that the celebrated number would have produced.</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Present the memo as the one a hurried analyst writes on Monday morning. Then the</a:t>
            </a:r>
          </a:p>
          <a:p>
            <a:r>
              <a:t>check, then the fix. The next slide prices what the memo would have kept buying.</a:t>
            </a:r>
          </a:p>
          <a:p>
            <a:r>
              <a:t>Transition: where the Rs 1.9 crore went.</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Letters on paper; notebook 09's first cell answers it.</a:t>
            </a:r>
          </a:p>
          <a:p>
            <a:r>
              <a:t>Transition: the answer.</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Say the behaviour line clearly, because the finance partner and every interviewer</a:t>
            </a:r>
          </a:p>
          <a:p>
            <a:r>
              <a:t>will ask it: a saving that assumes nobody changes is the most the redesign could save, and an honest</a:t>
            </a:r>
          </a:p>
          <a:p>
            <a:r>
              <a:t>saving says how drivers respond. Chapter 10, round 3 of the war game after lunch, prices the saving</a:t>
            </a:r>
          </a:p>
          <a:p>
            <a:r>
              <a:t>under a stated range, in notebook 10.</a:t>
            </a:r>
          </a:p>
          <a:p>
            <a:r>
              <a:t>Transition: the tree that replaces the single number.</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4 minutes, 3Blue1Brown: build it on the board one region at a time, first the north star</a:t>
            </a:r>
          </a:p>
          <a:p>
            <a:r>
              <a:t>alone, then each guardrail with the gaming it catches (a driver online and declining; trips so short</a:t>
            </a:r>
          </a:p>
          <a:p>
            <a:r>
              <a:t>or so cherry-picked that waits rise; a top-up that runs away), then the two inputs. Explorer scene</a:t>
            </a:r>
          </a:p>
          <a:p>
            <a:r>
              <a:t>M2, the seesaw, shows the north star against its guardrails. Tuesday's slide, Thursday's funnel and</a:t>
            </a:r>
          </a:p>
          <a:p>
            <a:r>
              <a:t>Friday's forecast all hang off this north star.</a:t>
            </a:r>
          </a:p>
          <a:p>
            <a:r>
              <a:t>Transition: the definition, line by line.</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11 minutes, guided: the room writes each line with the trainer (exercises/guided/</a:t>
            </a:r>
          </a:p>
          <a:p>
            <a:r>
              <a:t>C2_W04_D01_definition_STUDENT.md), the skeleton they filled for Balaji Kirana in chapter 6 now on the</a:t>
            </a:r>
          </a:p>
          <a:p>
            <a:r>
              <a:t>city. Pause after every line and ask which gaming it stops: the denominator's "online at least one</a:t>
            </a:r>
          </a:p>
          <a:p>
            <a:r>
              <a:t>peak hour" stops a sign-up who never drives from diluting the rate; "what it does not reward" names</a:t>
            </a:r>
          </a:p>
          <a:p>
            <a:r>
              <a:t>hours. Uber's 10-K counts an UberX Share ride with three paying riders as three trips and an UberX</a:t>
            </a:r>
          </a:p>
          <a:p>
            <a:r>
              <a:t>ride with three passengers as one, which is why the numerator says "per paying rider" (checked 13</a:t>
            </a:r>
          </a:p>
          <a:p>
            <a:r>
              <a:t>October 2026). The wait's clock starts at the rider's request, never at a time a driver sets,</a:t>
            </a:r>
          </a:p>
          <a:p>
            <a:r>
              <a:t>chapter 5's third way. Explorer scene M3 recomputes the metric as each line changes.</a:t>
            </a:r>
          </a:p>
          <a:p>
            <a:r>
              <a:t>Transition: what the data cannot show.</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The trap here is a caveat used as an excuse: "the new drivers explain it".</a:t>
            </a:r>
          </a:p>
          <a:p>
            <a:r>
              <a:t>Transition: the answer and the other cuts.</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5 minutes. Walk the six caveats in order, each with the fact that would settle it: data quality</a:t>
            </a:r>
          </a:p>
          <a:p>
            <a:r>
              <a:t>(online means the app is open; hours with no trip rose from 0.22 to 0.38), mix (new drivers: 1.58</a:t>
            </a:r>
          </a:p>
          <a:p>
            <a:r>
              <a:t>without them), seasonality (the three weeks with most requests: 1.60; last year's weeks are not in the data, so the</a:t>
            </a:r>
          </a:p>
          <a:p>
            <a:r>
              <a:t>caveat narrows and stays partly open), drivers on two apps (needs hourly data and the other app), who chose to</a:t>
            </a:r>
          </a:p>
          <a:p>
            <a:r>
              <a:t>enrol (needs the city's full driver list), cause (the tentative faculty block designs the test).</a:t>
            </a:r>
          </a:p>
          <a:p>
            <a:r>
              <a:t>Transition: the finished board.</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The board is finished; it is the cheat sheet's second panel. Read the crux line:</a:t>
            </a:r>
          </a:p>
          <a:p>
            <a:r>
              <a:t>paying for hours sent 61 percent of Rs 1.9 crore to driver-weeks that declined most of what they were</a:t>
            </a:r>
          </a:p>
          <a:p>
            <a:r>
              <a:t>offered. The pitfalls on its last row were each taught this morning: the bank in chapter 1, the</a:t>
            </a:r>
          </a:p>
          <a:p>
            <a:r>
              <a:t>units in chapter 4, the clock in chapter 5. The interview line the chapter earns: [F] north-star</a:t>
            </a:r>
          </a:p>
          <a:p>
            <a:r>
              <a:t>against guardrail, with one example pair, completed peak trips per enrolled driver, guarded by the</a:t>
            </a:r>
          </a:p>
          <a:p>
            <a:r>
              <a:t>share of offers accepted. Then lunch; the afternoon's running order is on the topics slide, S3.</a:t>
            </a:r>
          </a:p>
          <a:p>
            <a:r>
              <a:t>Transition: half two opens on chapter 10, round 3 of the war game.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2.xml"/><Relationship Id="rId5"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4.xml"/><Relationship Id="rId5"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image" Target="../media/image9.png"/><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10.png"/><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11.png"/><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14.xml"/><Relationship Id="rId5" Type="http://schemas.openxmlformats.org/officeDocument/2006/relationships/image" Target="../media/image1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12.png"/><Relationship Id="rId5" Type="http://schemas.openxmlformats.org/officeDocument/2006/relationships/image" Target="../media/image8.png"/><Relationship Id="rId6" Type="http://schemas.openxmlformats.org/officeDocument/2006/relationships/image" Target="../media/image14.png"/><Relationship Id="rId7" Type="http://schemas.openxmlformats.org/officeDocument/2006/relationships/image" Target="../media/image15.png"/><Relationship Id="rId8"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16.png"/><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11.png"/><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23.xml"/><Relationship Id="rId5" Type="http://schemas.openxmlformats.org/officeDocument/2006/relationships/image" Target="../media/image1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17.png"/><Relationship Id="rId5"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19.png"/><Relationship Id="rId5"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11.png"/><Relationship Id="rId5"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20.png"/><Relationship Id="rId5"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32.xml"/><Relationship Id="rId5" Type="http://schemas.openxmlformats.org/officeDocument/2006/relationships/image" Target="../media/image2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21.png"/><Relationship Id="rId5" Type="http://schemas.openxmlformats.org/officeDocument/2006/relationships/image" Target="../media/image23.png"/><Relationship Id="rId6"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24.png"/><Relationship Id="rId5"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11.png"/><Relationship Id="rId5"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41.xml"/><Relationship Id="rId5" Type="http://schemas.openxmlformats.org/officeDocument/2006/relationships/image" Target="../media/image26.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25.png"/><Relationship Id="rId5" Type="http://schemas.openxmlformats.org/officeDocument/2006/relationships/image" Target="../media/image27.png"/><Relationship Id="rId6" Type="http://schemas.openxmlformats.org/officeDocument/2006/relationships/image" Target="../media/image15.png"/><Relationship Id="rId7" Type="http://schemas.openxmlformats.org/officeDocument/2006/relationships/image" Target="../media/image23.png"/><Relationship Id="rId8"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28.png"/><Relationship Id="rId5"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11.png"/><Relationship Id="rId5"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50.xml"/><Relationship Id="rId5" Type="http://schemas.openxmlformats.org/officeDocument/2006/relationships/image" Target="../media/image30.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29.png"/><Relationship Id="rId5"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1.png"/><Relationship Id="rId5"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11.png"/><Relationship Id="rId5"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59.xml"/><Relationship Id="rId5" Type="http://schemas.openxmlformats.org/officeDocument/2006/relationships/image" Target="../media/image33.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64.xml"/><Relationship Id="rId5" Type="http://schemas.openxmlformats.org/officeDocument/2006/relationships/image" Target="../media/image34.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2.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66.xml"/><Relationship Id="rId5" Type="http://schemas.openxmlformats.org/officeDocument/2006/relationships/image" Target="../media/image38.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69.xml"/><Relationship Id="rId5" Type="http://schemas.openxmlformats.org/officeDocument/2006/relationships/image" Target="../media/image39.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70.xml"/><Relationship Id="rId5" Type="http://schemas.openxmlformats.org/officeDocument/2006/relationships/image" Target="../media/image40.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7.png"/><Relationship Id="rId5"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78.xml"/><Relationship Id="rId5" Type="http://schemas.openxmlformats.org/officeDocument/2006/relationships/image" Target="../media/image42.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41.png"/><Relationship Id="rId5"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81.xml"/><Relationship Id="rId5" Type="http://schemas.openxmlformats.org/officeDocument/2006/relationships/image" Target="../media/image44.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86.xml"/><Relationship Id="rId5" Type="http://schemas.openxmlformats.org/officeDocument/2006/relationships/image" Target="../media/image45.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43.png"/><Relationship Id="rId5"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89.xml"/><Relationship Id="rId5" Type="http://schemas.openxmlformats.org/officeDocument/2006/relationships/image" Target="../media/image47.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46.png"/><Relationship Id="rId5"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93.xml"/><Relationship Id="rId5" Type="http://schemas.openxmlformats.org/officeDocument/2006/relationships/image" Target="../media/image49.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MONDAY  ·  BUSINESS METRIC DESIGN  ·  UBER, HYDERABAD</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Business metric design: the number a plan chases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Which number should a plan chase, and what stops the people paid on it from gaming it?</a:t>
            </a:r>
          </a:p>
        </p:txBody>
      </p:sp>
      <p:sp>
        <p:nvSpPr>
          <p:cNvPr id="9" name="TextBox 8"/>
          <p:cNvSpPr txBox="1"/>
          <p:nvPr/>
        </p:nvSpPr>
        <p:spPr>
          <a:xfrm>
            <a:off x="530352" y="1956816"/>
            <a:ext cx="11130991" cy="1601216"/>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Monday answers one question with six topics: which single number should a plan chase, and what stops the people paid to raise it from raising it the wrong way? The topics come first, each taught on an everyday example whose numbers are invented and small enough to count by hand. Then Uber's Hyderabad driver app uses all six to judge a peak-hour earnings guarantee, an illustrative case: the company is real, the situation and the data are synthetic, built for this class.</a:t>
            </a:r>
          </a:p>
        </p:txBody>
      </p:sp>
      <p:sp>
        <p:nvSpPr>
          <p:cNvPr id="10" name="Rectangle 9"/>
          <p:cNvSpPr/>
          <p:nvPr/>
        </p:nvSpPr>
        <p:spPr>
          <a:xfrm>
            <a:off x="2324557" y="4252976"/>
            <a:ext cx="7542580" cy="18288"/>
          </a:xfrm>
          <a:prstGeom prst="rect">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530352" y="3686048"/>
            <a:ext cx="3588410" cy="168656"/>
          </a:xfrm>
          <a:prstGeom prst="rect">
            <a:avLst/>
          </a:prstGeom>
          <a:noFill/>
        </p:spPr>
        <p:txBody>
          <a:bodyPr wrap="square" anchor="t" lIns="0" rIns="0" tIns="0" bIns="0">
            <a:spAutoFit/>
          </a:bodyPr>
          <a:lstStyle/>
          <a:p>
            <a:pPr algn="ctr"/>
            <a:r>
              <a:rPr sz="800" b="1" i="0" spc="250">
                <a:solidFill>
                  <a:srgbClr val="5B3FD6"/>
                </a:solidFill>
                <a:latin typeface="Calibri"/>
              </a:rPr>
              <a:t>FIRST</a:t>
            </a:r>
          </a:p>
        </p:txBody>
      </p:sp>
      <p:sp>
        <p:nvSpPr>
          <p:cNvPr id="12" name="Oval 11"/>
          <p:cNvSpPr/>
          <p:nvPr/>
        </p:nvSpPr>
        <p:spPr>
          <a:xfrm>
            <a:off x="2223973" y="4161536"/>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ounded Rectangle 12"/>
          <p:cNvSpPr/>
          <p:nvPr/>
        </p:nvSpPr>
        <p:spPr>
          <a:xfrm>
            <a:off x="530352" y="4573016"/>
            <a:ext cx="3588410"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94944" y="4719320"/>
            <a:ext cx="3259226" cy="251205"/>
          </a:xfrm>
          <a:prstGeom prst="rect">
            <a:avLst/>
          </a:prstGeom>
          <a:noFill/>
        </p:spPr>
        <p:txBody>
          <a:bodyPr wrap="square" anchor="t" lIns="0" rIns="0" tIns="0" bIns="0">
            <a:spAutoFit/>
          </a:bodyPr>
          <a:lstStyle/>
          <a:p>
            <a:pPr algn="l"/>
            <a:r>
              <a:rPr sz="1300" b="1" i="0">
                <a:solidFill>
                  <a:srgbClr val="1A0F5C"/>
                </a:solidFill>
                <a:latin typeface="Calibri"/>
              </a:rPr>
              <a:t>Six topics</a:t>
            </a:r>
          </a:p>
        </p:txBody>
      </p:sp>
      <p:sp>
        <p:nvSpPr>
          <p:cNvPr id="15" name="TextBox 14"/>
          <p:cNvSpPr txBox="1"/>
          <p:nvPr/>
        </p:nvSpPr>
        <p:spPr>
          <a:xfrm>
            <a:off x="694944" y="5007102"/>
            <a:ext cx="3259226" cy="366776"/>
          </a:xfrm>
          <a:prstGeom prst="rect">
            <a:avLst/>
          </a:prstGeom>
          <a:noFill/>
        </p:spPr>
        <p:txBody>
          <a:bodyPr wrap="square" anchor="t" lIns="0" rIns="0" tIns="0" bIns="0">
            <a:spAutoFit/>
          </a:bodyPr>
          <a:lstStyle/>
          <a:p>
            <a:pPr algn="l"/>
            <a:r>
              <a:rPr sz="1000" b="0" i="0">
                <a:solidFill>
                  <a:srgbClr val="6B6690"/>
                </a:solidFill>
                <a:latin typeface="Calibri"/>
              </a:rPr>
              <a:t>A canteen, a driving school, a cricket chase, a register and a kirana shop, all invented.</a:t>
            </a:r>
          </a:p>
        </p:txBody>
      </p:sp>
      <p:sp>
        <p:nvSpPr>
          <p:cNvPr id="16" name="TextBox 15"/>
          <p:cNvSpPr txBox="1"/>
          <p:nvPr/>
        </p:nvSpPr>
        <p:spPr>
          <a:xfrm>
            <a:off x="4301642" y="3686048"/>
            <a:ext cx="3588410" cy="168656"/>
          </a:xfrm>
          <a:prstGeom prst="rect">
            <a:avLst/>
          </a:prstGeom>
          <a:noFill/>
        </p:spPr>
        <p:txBody>
          <a:bodyPr wrap="square" anchor="t" lIns="0" rIns="0" tIns="0" bIns="0">
            <a:spAutoFit/>
          </a:bodyPr>
          <a:lstStyle/>
          <a:p>
            <a:pPr algn="ctr"/>
            <a:r>
              <a:rPr sz="800" b="1" i="0" spc="250">
                <a:solidFill>
                  <a:srgbClr val="5B3FD6"/>
                </a:solidFill>
                <a:latin typeface="Calibri"/>
              </a:rPr>
              <a:t>THEN</a:t>
            </a:r>
          </a:p>
        </p:txBody>
      </p:sp>
      <p:sp>
        <p:nvSpPr>
          <p:cNvPr id="17" name="Oval 16"/>
          <p:cNvSpPr/>
          <p:nvPr/>
        </p:nvSpPr>
        <p:spPr>
          <a:xfrm>
            <a:off x="5995263" y="4161536"/>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ounded Rectangle 17"/>
          <p:cNvSpPr/>
          <p:nvPr/>
        </p:nvSpPr>
        <p:spPr>
          <a:xfrm>
            <a:off x="4301642" y="4573016"/>
            <a:ext cx="3588410"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4466234" y="4719320"/>
            <a:ext cx="3259226" cy="251205"/>
          </a:xfrm>
          <a:prstGeom prst="rect">
            <a:avLst/>
          </a:prstGeom>
          <a:noFill/>
        </p:spPr>
        <p:txBody>
          <a:bodyPr wrap="square" anchor="t" lIns="0" rIns="0" tIns="0" bIns="0">
            <a:spAutoFit/>
          </a:bodyPr>
          <a:lstStyle/>
          <a:p>
            <a:pPr algn="l"/>
            <a:r>
              <a:rPr sz="1300" b="1" i="0">
                <a:solidFill>
                  <a:srgbClr val="1A0F5C"/>
                </a:solidFill>
                <a:latin typeface="Calibri"/>
              </a:rPr>
              <a:t>The case</a:t>
            </a:r>
          </a:p>
        </p:txBody>
      </p:sp>
      <p:sp>
        <p:nvSpPr>
          <p:cNvPr id="20" name="TextBox 19"/>
          <p:cNvSpPr txBox="1"/>
          <p:nvPr/>
        </p:nvSpPr>
        <p:spPr>
          <a:xfrm>
            <a:off x="4466234" y="5007102"/>
            <a:ext cx="3259226" cy="366776"/>
          </a:xfrm>
          <a:prstGeom prst="rect">
            <a:avLst/>
          </a:prstGeom>
          <a:noFill/>
        </p:spPr>
        <p:txBody>
          <a:bodyPr wrap="square" anchor="t" lIns="0" rIns="0" tIns="0" bIns="0">
            <a:spAutoFit/>
          </a:bodyPr>
          <a:lstStyle/>
          <a:p>
            <a:pPr algn="l"/>
            <a:r>
              <a:rPr sz="1000" b="0" i="0">
                <a:solidFill>
                  <a:srgbClr val="6B6690"/>
                </a:solidFill>
                <a:latin typeface="Calibri"/>
              </a:rPr>
              <a:t>Uber's Hyderabad guarantee, paid on peak online hours.</a:t>
            </a:r>
          </a:p>
        </p:txBody>
      </p:sp>
      <p:sp>
        <p:nvSpPr>
          <p:cNvPr id="21" name="TextBox 20"/>
          <p:cNvSpPr txBox="1"/>
          <p:nvPr/>
        </p:nvSpPr>
        <p:spPr>
          <a:xfrm>
            <a:off x="8072932" y="3686048"/>
            <a:ext cx="3588410" cy="168656"/>
          </a:xfrm>
          <a:prstGeom prst="rect">
            <a:avLst/>
          </a:prstGeom>
          <a:noFill/>
        </p:spPr>
        <p:txBody>
          <a:bodyPr wrap="square" anchor="t" lIns="0" rIns="0" tIns="0" bIns="0">
            <a:spAutoFit/>
          </a:bodyPr>
          <a:lstStyle/>
          <a:p>
            <a:pPr algn="ctr"/>
            <a:r>
              <a:rPr sz="800" b="1" i="0" spc="250">
                <a:solidFill>
                  <a:srgbClr val="5B3FD6"/>
                </a:solidFill>
                <a:latin typeface="Calibri"/>
              </a:rPr>
              <a:t>IN THE LAB</a:t>
            </a:r>
          </a:p>
        </p:txBody>
      </p:sp>
      <p:sp>
        <p:nvSpPr>
          <p:cNvPr id="22" name="Oval 21"/>
          <p:cNvSpPr/>
          <p:nvPr/>
        </p:nvSpPr>
        <p:spPr>
          <a:xfrm>
            <a:off x="9766554" y="4161536"/>
            <a:ext cx="201168" cy="201168"/>
          </a:xfrm>
          <a:prstGeom prst="ellipse">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ounded Rectangle 22"/>
          <p:cNvSpPr/>
          <p:nvPr/>
        </p:nvSpPr>
        <p:spPr>
          <a:xfrm>
            <a:off x="8072932" y="4573016"/>
            <a:ext cx="3588410" cy="1076960"/>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8237524" y="4719320"/>
            <a:ext cx="3259226" cy="251205"/>
          </a:xfrm>
          <a:prstGeom prst="rect">
            <a:avLst/>
          </a:prstGeom>
          <a:noFill/>
        </p:spPr>
        <p:txBody>
          <a:bodyPr wrap="square" anchor="t" lIns="0" rIns="0" tIns="0" bIns="0">
            <a:spAutoFit/>
          </a:bodyPr>
          <a:lstStyle/>
          <a:p>
            <a:pPr algn="l"/>
            <a:r>
              <a:rPr sz="1300" b="1" i="0">
                <a:solidFill>
                  <a:srgbClr val="FFFFFF"/>
                </a:solidFill>
                <a:latin typeface="Calibri"/>
              </a:rPr>
              <a:t>Kalpa Retail</a:t>
            </a:r>
          </a:p>
        </p:txBody>
      </p:sp>
      <p:sp>
        <p:nvSpPr>
          <p:cNvPr id="25" name="TextBox 24"/>
          <p:cNvSpPr txBox="1"/>
          <p:nvPr/>
        </p:nvSpPr>
        <p:spPr>
          <a:xfrm>
            <a:off x="8237524" y="5007102"/>
            <a:ext cx="3259226" cy="366776"/>
          </a:xfrm>
          <a:prstGeom prst="rect">
            <a:avLst/>
          </a:prstGeom>
          <a:noFill/>
        </p:spPr>
        <p:txBody>
          <a:bodyPr wrap="square" anchor="t" lIns="0" rIns="0" tIns="0" bIns="0">
            <a:spAutoFit/>
          </a:bodyPr>
          <a:lstStyle/>
          <a:p>
            <a:pPr algn="l"/>
            <a:r>
              <a:rPr sz="1000" b="0" i="0">
                <a:solidFill>
                  <a:srgbClr val="CFC9EE"/>
                </a:solidFill>
                <a:latin typeface="Calibri"/>
              </a:rPr>
              <a:t>The number the head of Retail-Plus, Kalpa's paid membership tier, wants.</a:t>
            </a:r>
          </a:p>
        </p:txBody>
      </p:sp>
      <p:sp>
        <p:nvSpPr>
          <p:cNvPr id="26" name="Oval 25"/>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640080"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What is a number for?</a:t>
            </a:r>
          </a:p>
        </p:txBody>
      </p:sp>
      <p:sp>
        <p:nvSpPr>
          <p:cNvPr id="28" name="Oval 27"/>
          <p:cNvSpPr/>
          <p:nvPr/>
        </p:nvSpPr>
        <p:spPr>
          <a:xfrm>
            <a:off x="197196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2081688"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Which number to chase?</a:t>
            </a:r>
          </a:p>
        </p:txBody>
      </p:sp>
      <p:sp>
        <p:nvSpPr>
          <p:cNvPr id="30" name="Oval 29"/>
          <p:cNvSpPr/>
          <p:nvPr/>
        </p:nvSpPr>
        <p:spPr>
          <a:xfrm>
            <a:off x="345957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3569303"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Which number warns?</a:t>
            </a:r>
          </a:p>
        </p:txBody>
      </p:sp>
      <p:sp>
        <p:nvSpPr>
          <p:cNvPr id="32" name="Oval 31"/>
          <p:cNvSpPr/>
          <p:nvPr/>
        </p:nvSpPr>
        <p:spPr>
          <a:xfrm>
            <a:off x="480917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4918900"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Which four lines?</a:t>
            </a:r>
          </a:p>
        </p:txBody>
      </p:sp>
      <p:sp>
        <p:nvSpPr>
          <p:cNvPr id="34" name="Oval 33"/>
          <p:cNvSpPr/>
          <p:nvPr/>
        </p:nvSpPr>
        <p:spPr>
          <a:xfrm>
            <a:off x="606675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6176486"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How is a number gamed?</a:t>
            </a:r>
          </a:p>
        </p:txBody>
      </p:sp>
      <p:sp>
        <p:nvSpPr>
          <p:cNvPr id="36" name="Oval 35"/>
          <p:cNvSpPr/>
          <p:nvPr/>
        </p:nvSpPr>
        <p:spPr>
          <a:xfrm>
            <a:off x="755437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766410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the page hold?</a:t>
            </a:r>
          </a:p>
        </p:txBody>
      </p:sp>
      <p:sp>
        <p:nvSpPr>
          <p:cNvPr id="38" name="Oval 37"/>
          <p:cNvSpPr/>
          <p:nvPr/>
        </p:nvSpPr>
        <p:spPr>
          <a:xfrm>
            <a:off x="91339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9243726"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an hour count?</a:t>
            </a:r>
          </a:p>
        </p:txBody>
      </p:sp>
      <p:sp>
        <p:nvSpPr>
          <p:cNvPr id="40" name="TextBox 39"/>
          <p:cNvSpPr txBox="1"/>
          <p:nvPr/>
        </p:nvSpPr>
        <p:spPr>
          <a:xfrm>
            <a:off x="10713624" y="6437376"/>
            <a:ext cx="256032" cy="152146"/>
          </a:xfrm>
          <a:prstGeom prst="rect">
            <a:avLst/>
          </a:prstGeom>
          <a:noFill/>
        </p:spPr>
        <p:txBody>
          <a:bodyPr wrap="square" anchor="t" lIns="0" rIns="0" tIns="0" bIns="0">
            <a:spAutoFit/>
          </a:bodyPr>
          <a:lstStyle/>
          <a:p>
            <a:pPr algn="l"/>
            <a:r>
              <a:rPr sz="700" b="0" i="0">
                <a:solidFill>
                  <a:srgbClr val="6B6690"/>
                </a:solidFill>
                <a:latin typeface="Calibri"/>
              </a:rPr>
              <a:t>…</a:t>
            </a:r>
          </a:p>
        </p:txBody>
      </p:sp>
      <p:sp>
        <p:nvSpPr>
          <p:cNvPr id="41" name="TextBox 40"/>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  ·  1 / 93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MONDAY  ·  BUSINESS METRIC DESIGN  ·  UBER, HYDERABAD</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week: five tickets, one method a day</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Where does today's ticket sit among the week's five?</a:t>
            </a:r>
          </a:p>
        </p:txBody>
      </p:sp>
      <p:pic>
        <p:nvPicPr>
          <p:cNvPr id="9" name="mermaid diagram" descr="a2eda4e502f82a13.png"/>
          <p:cNvPicPr>
            <a:picLocks noChangeAspect="1"/>
          </p:cNvPicPr>
          <p:nvPr/>
        </p:nvPicPr>
        <p:blipFill>
          <a:blip r:embed="rId5"/>
          <a:stretch>
            <a:fillRect/>
          </a:stretch>
        </p:blipFill>
        <p:spPr>
          <a:xfrm>
            <a:off x="530352" y="1956816"/>
            <a:ext cx="11130991" cy="2876434"/>
          </a:xfrm>
          <a:prstGeom prst="rect">
            <a:avLst/>
          </a:prstGeom>
        </p:spPr>
      </p:pic>
      <p:sp>
        <p:nvSpPr>
          <p:cNvPr id="10" name="Oval 9"/>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40080"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What is a number for?</a:t>
            </a:r>
          </a:p>
        </p:txBody>
      </p:sp>
      <p:sp>
        <p:nvSpPr>
          <p:cNvPr id="12" name="Oval 11"/>
          <p:cNvSpPr/>
          <p:nvPr/>
        </p:nvSpPr>
        <p:spPr>
          <a:xfrm>
            <a:off x="197196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2081688"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Which number to chase?</a:t>
            </a:r>
          </a:p>
        </p:txBody>
      </p:sp>
      <p:sp>
        <p:nvSpPr>
          <p:cNvPr id="14" name="Oval 13"/>
          <p:cNvSpPr/>
          <p:nvPr/>
        </p:nvSpPr>
        <p:spPr>
          <a:xfrm>
            <a:off x="345957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3569303"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Which number warns?</a:t>
            </a:r>
          </a:p>
        </p:txBody>
      </p:sp>
      <p:sp>
        <p:nvSpPr>
          <p:cNvPr id="16" name="Oval 15"/>
          <p:cNvSpPr/>
          <p:nvPr/>
        </p:nvSpPr>
        <p:spPr>
          <a:xfrm>
            <a:off x="480917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4918900"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Which four lines?</a:t>
            </a:r>
          </a:p>
        </p:txBody>
      </p:sp>
      <p:sp>
        <p:nvSpPr>
          <p:cNvPr id="18" name="Oval 17"/>
          <p:cNvSpPr/>
          <p:nvPr/>
        </p:nvSpPr>
        <p:spPr>
          <a:xfrm>
            <a:off x="606675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6176486"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How is a number gamed?</a:t>
            </a:r>
          </a:p>
        </p:txBody>
      </p:sp>
      <p:sp>
        <p:nvSpPr>
          <p:cNvPr id="20" name="Oval 19"/>
          <p:cNvSpPr/>
          <p:nvPr/>
        </p:nvSpPr>
        <p:spPr>
          <a:xfrm>
            <a:off x="755437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766410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the page hold?</a:t>
            </a:r>
          </a:p>
        </p:txBody>
      </p:sp>
      <p:sp>
        <p:nvSpPr>
          <p:cNvPr id="22" name="Oval 21"/>
          <p:cNvSpPr/>
          <p:nvPr/>
        </p:nvSpPr>
        <p:spPr>
          <a:xfrm>
            <a:off x="91339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9243726"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an hour count?</a:t>
            </a:r>
          </a:p>
        </p:txBody>
      </p:sp>
      <p:sp>
        <p:nvSpPr>
          <p:cNvPr id="24" name="TextBox 23"/>
          <p:cNvSpPr txBox="1"/>
          <p:nvPr/>
        </p:nvSpPr>
        <p:spPr>
          <a:xfrm>
            <a:off x="10713624" y="6437376"/>
            <a:ext cx="256032" cy="152146"/>
          </a:xfrm>
          <a:prstGeom prst="rect">
            <a:avLst/>
          </a:prstGeom>
          <a:noFill/>
        </p:spPr>
        <p:txBody>
          <a:bodyPr wrap="square" anchor="t" lIns="0" rIns="0" tIns="0" bIns="0">
            <a:spAutoFit/>
          </a:bodyPr>
          <a:lstStyle/>
          <a:p>
            <a:pPr algn="l"/>
            <a:r>
              <a:rPr sz="700" b="0" i="0">
                <a:solidFill>
                  <a:srgbClr val="6B6690"/>
                </a:solidFill>
                <a:latin typeface="Calibri"/>
              </a:rPr>
              <a:t>…</a:t>
            </a:r>
          </a:p>
        </p:txBody>
      </p:sp>
      <p:sp>
        <p:nvSpPr>
          <p:cNvPr id="25" name="TextBox 24"/>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  ·  2 / 93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MONDAY  ·  BUSINESS METRIC DESIGN  ·  UBER, HYDERABAD</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Six topics, then the case that uses them</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Which topics does Monday teach, in which order, and where is each practised?</a:t>
            </a:r>
          </a:p>
        </p:txBody>
      </p:sp>
      <p:graphicFrame>
        <p:nvGraphicFramePr>
          <p:cNvPr id="9" name="Table 8"/>
          <p:cNvGraphicFramePr>
            <a:graphicFrameLocks noGrp="1"/>
          </p:cNvGraphicFramePr>
          <p:nvPr/>
        </p:nvGraphicFramePr>
        <p:xfrm>
          <a:off x="530352" y="1907032"/>
          <a:ext cx="11130990" cy="3108960"/>
        </p:xfrm>
        <a:graphic>
          <a:graphicData uri="http://schemas.openxmlformats.org/drawingml/2006/table">
            <a:tbl>
              <a:tblPr firstRow="0" bandRow="0">
                <a:tableStyleId>{2D5ABB26-0587-4C30-8999-92F81FD0307C}</a:tableStyleId>
              </a:tblPr>
              <a:tblGrid>
                <a:gridCol w="914400"/>
                <a:gridCol w="7381827"/>
                <a:gridCol w="1920363"/>
                <a:gridCol w="914400"/>
              </a:tblGrid>
              <a:tr h="310896">
                <a:tc>
                  <a:txBody>
                    <a:bodyPr/>
                    <a:lstStyle/>
                    <a:p>
                      <a:r>
                        <a:rPr sz="1050" b="1" i="0">
                          <a:solidFill>
                            <a:srgbClr val="FFFFFF"/>
                          </a:solidFill>
                          <a:latin typeface="Calibri"/>
                        </a:rPr>
                        <a:t>Chapter</a:t>
                      </a:r>
                    </a:p>
                  </a:txBody>
                  <a:tcPr marL="101600" marR="101600" marT="38100" marB="38100" anchor="ctr">
                    <a:solidFill>
                      <a:srgbClr val="1A0F5C"/>
                    </a:solidFill>
                  </a:tcPr>
                </a:tc>
                <a:tc>
                  <a:txBody>
                    <a:bodyPr/>
                    <a:lstStyle/>
                    <a:p>
                      <a:r>
                        <a:rPr sz="1050" b="1" i="0">
                          <a:solidFill>
                            <a:srgbClr val="FFFFFF"/>
                          </a:solidFill>
                          <a:latin typeface="Calibri"/>
                        </a:rPr>
                        <a:t>Topic, as the curriculum words it</a:t>
                      </a:r>
                    </a:p>
                  </a:txBody>
                  <a:tcPr marL="101600" marR="101600" marT="38100" marB="38100" anchor="ctr">
                    <a:solidFill>
                      <a:srgbClr val="1A0F5C"/>
                    </a:solidFill>
                  </a:tcPr>
                </a:tc>
                <a:tc>
                  <a:txBody>
                    <a:bodyPr/>
                    <a:lstStyle/>
                    <a:p>
                      <a:r>
                        <a:rPr sz="1050" b="1" i="0">
                          <a:solidFill>
                            <a:srgbClr val="FFFFFF"/>
                          </a:solidFill>
                          <a:latin typeface="Calibri"/>
                        </a:rPr>
                        <a:t>Minutes</a:t>
                      </a:r>
                    </a:p>
                  </a:txBody>
                  <a:tcPr marL="101600" marR="101600" marT="38100" marB="38100" anchor="ctr">
                    <a:solidFill>
                      <a:srgbClr val="1A0F5C"/>
                    </a:solidFill>
                  </a:tcPr>
                </a:tc>
                <a:tc>
                  <a:txBody>
                    <a:bodyPr/>
                    <a:lstStyle/>
                    <a:p>
                      <a:r>
                        <a:rPr sz="1050" b="1" i="0">
                          <a:solidFill>
                            <a:srgbClr val="FFFFFF"/>
                          </a:solidFill>
                          <a:latin typeface="Calibri"/>
                        </a:rPr>
                        <a:t>Notebook</a:t>
                      </a:r>
                    </a:p>
                  </a:txBody>
                  <a:tcPr marL="101600" marR="101600" marT="38100" marB="38100" anchor="ctr">
                    <a:solidFill>
                      <a:srgbClr val="1A0F5C"/>
                    </a:solidFill>
                  </a:tcPr>
                </a:tc>
              </a:tr>
              <a:tr h="310896">
                <a:tc>
                  <a:txBody>
                    <a:bodyPr/>
                    <a:lstStyle/>
                    <a:p>
                      <a:r>
                        <a:rPr sz="1000" b="0" i="0">
                          <a:solidFill>
                            <a:srgbClr val="1A1440"/>
                          </a:solidFill>
                          <a:latin typeface="Calibri"/>
                        </a:rPr>
                        <a:t>1</a:t>
                      </a:r>
                    </a:p>
                  </a:txBody>
                  <a:tcPr marL="101600" marR="101600" marT="38100" marB="38100" anchor="ctr">
                    <a:solidFill>
                      <a:srgbClr val="FFFFFF"/>
                    </a:solidFill>
                  </a:tcPr>
                </a:tc>
                <a:tc>
                  <a:txBody>
                    <a:bodyPr/>
                    <a:lstStyle/>
                    <a:p>
                      <a:r>
                        <a:rPr sz="1000" b="0" i="0">
                          <a:solidFill>
                            <a:srgbClr val="1A1440"/>
                          </a:solidFill>
                          <a:latin typeface="Calibri"/>
                        </a:rPr>
                        <a:t>What to measure and why; the proxy test</a:t>
                      </a:r>
                    </a:p>
                  </a:txBody>
                  <a:tcPr marL="101600" marR="101600" marT="38100" marB="38100" anchor="ctr">
                    <a:solidFill>
                      <a:srgbClr val="FFFFFF"/>
                    </a:solidFill>
                  </a:tcPr>
                </a:tc>
                <a:tc>
                  <a:txBody>
                    <a:bodyPr/>
                    <a:lstStyle/>
                    <a:p>
                      <a:r>
                        <a:rPr sz="1000" b="0" i="0">
                          <a:solidFill>
                            <a:srgbClr val="1A1440"/>
                          </a:solidFill>
                          <a:latin typeface="Calibri"/>
                        </a:rPr>
                        <a:t>13 minutes</a:t>
                      </a:r>
                    </a:p>
                  </a:txBody>
                  <a:tcPr marL="101600" marR="101600" marT="38100" marB="38100" anchor="ctr">
                    <a:solidFill>
                      <a:srgbClr val="FFFFFF"/>
                    </a:solidFill>
                  </a:tcPr>
                </a:tc>
                <a:tc>
                  <a:txBody>
                    <a:bodyPr/>
                    <a:lstStyle/>
                    <a:p>
                      <a:r>
                        <a:rPr sz="1000" b="0" i="0">
                          <a:solidFill>
                            <a:srgbClr val="1A1440"/>
                          </a:solidFill>
                          <a:latin typeface="Calibri"/>
                        </a:rPr>
                        <a:t>01</a:t>
                      </a:r>
                    </a:p>
                  </a:txBody>
                  <a:tcPr marL="101600" marR="101600" marT="38100" marB="38100" anchor="ctr">
                    <a:solidFill>
                      <a:srgbClr val="FFFFFF"/>
                    </a:solidFill>
                  </a:tcPr>
                </a:tc>
              </a:tr>
              <a:tr h="310896">
                <a:tc>
                  <a:txBody>
                    <a:bodyPr/>
                    <a:lstStyle/>
                    <a:p>
                      <a:r>
                        <a:rPr sz="1000" b="0" i="0">
                          <a:solidFill>
                            <a:srgbClr val="1A1440"/>
                          </a:solidFill>
                          <a:latin typeface="Calibri"/>
                        </a:rPr>
                        <a:t>2</a:t>
                      </a:r>
                    </a:p>
                  </a:txBody>
                  <a:tcPr marL="101600" marR="101600" marT="38100" marB="38100" anchor="ctr">
                    <a:solidFill>
                      <a:srgbClr val="F4F2FA"/>
                    </a:solidFill>
                  </a:tcPr>
                </a:tc>
                <a:tc>
                  <a:txBody>
                    <a:bodyPr/>
                    <a:lstStyle/>
                    <a:p>
                      <a:r>
                        <a:rPr sz="1000" b="0" i="0">
                          <a:solidFill>
                            <a:srgbClr val="1A1440"/>
                          </a:solidFill>
                          <a:latin typeface="Calibri"/>
                        </a:rPr>
                        <a:t>North-star and guardrail metrics</a:t>
                      </a:r>
                    </a:p>
                  </a:txBody>
                  <a:tcPr marL="101600" marR="101600" marT="38100" marB="38100" anchor="ctr">
                    <a:solidFill>
                      <a:srgbClr val="F4F2FA"/>
                    </a:solidFill>
                  </a:tcPr>
                </a:tc>
                <a:tc>
                  <a:txBody>
                    <a:bodyPr/>
                    <a:lstStyle/>
                    <a:p>
                      <a:r>
                        <a:rPr sz="1000" b="0" i="0">
                          <a:solidFill>
                            <a:srgbClr val="1A1440"/>
                          </a:solidFill>
                          <a:latin typeface="Calibri"/>
                        </a:rPr>
                        <a:t>10 minutes</a:t>
                      </a:r>
                    </a:p>
                  </a:txBody>
                  <a:tcPr marL="101600" marR="101600" marT="38100" marB="38100" anchor="ctr">
                    <a:solidFill>
                      <a:srgbClr val="F4F2FA"/>
                    </a:solidFill>
                  </a:tcPr>
                </a:tc>
                <a:tc>
                  <a:txBody>
                    <a:bodyPr/>
                    <a:lstStyle/>
                    <a:p>
                      <a:r>
                        <a:rPr sz="1000" b="0" i="0">
                          <a:solidFill>
                            <a:srgbClr val="1A1440"/>
                          </a:solidFill>
                          <a:latin typeface="Calibri"/>
                        </a:rPr>
                        <a:t>02</a:t>
                      </a:r>
                    </a:p>
                  </a:txBody>
                  <a:tcPr marL="101600" marR="101600" marT="38100" marB="38100" anchor="ctr">
                    <a:solidFill>
                      <a:srgbClr val="F4F2FA"/>
                    </a:solidFill>
                  </a:tcPr>
                </a:tc>
              </a:tr>
              <a:tr h="310896">
                <a:tc>
                  <a:txBody>
                    <a:bodyPr/>
                    <a:lstStyle/>
                    <a:p>
                      <a:r>
                        <a:rPr sz="1000" b="0" i="0">
                          <a:solidFill>
                            <a:srgbClr val="1A1440"/>
                          </a:solidFill>
                          <a:latin typeface="Calibri"/>
                        </a:rPr>
                        <a:t>3</a:t>
                      </a:r>
                    </a:p>
                  </a:txBody>
                  <a:tcPr marL="101600" marR="101600" marT="38100" marB="38100" anchor="ctr">
                    <a:solidFill>
                      <a:srgbClr val="FFFFFF"/>
                    </a:solidFill>
                  </a:tcPr>
                </a:tc>
                <a:tc>
                  <a:txBody>
                    <a:bodyPr/>
                    <a:lstStyle/>
                    <a:p>
                      <a:r>
                        <a:rPr sz="1000" b="0" i="0">
                          <a:solidFill>
                            <a:srgbClr val="1A1440"/>
                          </a:solidFill>
                          <a:latin typeface="Calibri"/>
                        </a:rPr>
                        <a:t>Leading against lagging indicators</a:t>
                      </a:r>
                    </a:p>
                  </a:txBody>
                  <a:tcPr marL="101600" marR="101600" marT="38100" marB="38100" anchor="ctr">
                    <a:solidFill>
                      <a:srgbClr val="FFFFFF"/>
                    </a:solidFill>
                  </a:tcPr>
                </a:tc>
                <a:tc>
                  <a:txBody>
                    <a:bodyPr/>
                    <a:lstStyle/>
                    <a:p>
                      <a:r>
                        <a:rPr sz="1000" b="0" i="0">
                          <a:solidFill>
                            <a:srgbClr val="1A1440"/>
                          </a:solidFill>
                          <a:latin typeface="Calibri"/>
                        </a:rPr>
                        <a:t>10 minutes</a:t>
                      </a:r>
                    </a:p>
                  </a:txBody>
                  <a:tcPr marL="101600" marR="101600" marT="38100" marB="38100" anchor="ctr">
                    <a:solidFill>
                      <a:srgbClr val="FFFFFF"/>
                    </a:solidFill>
                  </a:tcPr>
                </a:tc>
                <a:tc>
                  <a:txBody>
                    <a:bodyPr/>
                    <a:lstStyle/>
                    <a:p>
                      <a:r>
                        <a:rPr sz="1000" b="0" i="0">
                          <a:solidFill>
                            <a:srgbClr val="1A1440"/>
                          </a:solidFill>
                          <a:latin typeface="Calibri"/>
                        </a:rPr>
                        <a:t>03</a:t>
                      </a:r>
                    </a:p>
                  </a:txBody>
                  <a:tcPr marL="101600" marR="101600" marT="38100" marB="38100" anchor="ctr">
                    <a:solidFill>
                      <a:srgbClr val="FFFFFF"/>
                    </a:solidFill>
                  </a:tcPr>
                </a:tc>
              </a:tr>
              <a:tr h="310896">
                <a:tc>
                  <a:txBody>
                    <a:bodyPr/>
                    <a:lstStyle/>
                    <a:p>
                      <a:r>
                        <a:rPr sz="1000" b="0" i="0">
                          <a:solidFill>
                            <a:srgbClr val="1A1440"/>
                          </a:solidFill>
                          <a:latin typeface="Calibri"/>
                        </a:rPr>
                        <a:t>4</a:t>
                      </a:r>
                    </a:p>
                  </a:txBody>
                  <a:tcPr marL="101600" marR="101600" marT="38100" marB="38100" anchor="ctr">
                    <a:solidFill>
                      <a:srgbClr val="F4F2FA"/>
                    </a:solidFill>
                  </a:tcPr>
                </a:tc>
                <a:tc>
                  <a:txBody>
                    <a:bodyPr/>
                    <a:lstStyle/>
                    <a:p>
                      <a:r>
                        <a:rPr sz="1000" b="0" i="0">
                          <a:solidFill>
                            <a:srgbClr val="1A1440"/>
                          </a:solidFill>
                          <a:latin typeface="Calibri"/>
                        </a:rPr>
                        <a:t>Definitions: numerator, denominator, window, exclusions</a:t>
                      </a:r>
                    </a:p>
                  </a:txBody>
                  <a:tcPr marL="101600" marR="101600" marT="38100" marB="38100" anchor="ctr">
                    <a:solidFill>
                      <a:srgbClr val="F4F2FA"/>
                    </a:solidFill>
                  </a:tcPr>
                </a:tc>
                <a:tc>
                  <a:txBody>
                    <a:bodyPr/>
                    <a:lstStyle/>
                    <a:p>
                      <a:r>
                        <a:rPr sz="1000" b="0" i="0">
                          <a:solidFill>
                            <a:srgbClr val="1A1440"/>
                          </a:solidFill>
                          <a:latin typeface="Calibri"/>
                        </a:rPr>
                        <a:t>10 minutes</a:t>
                      </a:r>
                    </a:p>
                  </a:txBody>
                  <a:tcPr marL="101600" marR="101600" marT="38100" marB="38100" anchor="ctr">
                    <a:solidFill>
                      <a:srgbClr val="F4F2FA"/>
                    </a:solidFill>
                  </a:tcPr>
                </a:tc>
                <a:tc>
                  <a:txBody>
                    <a:bodyPr/>
                    <a:lstStyle/>
                    <a:p>
                      <a:r>
                        <a:rPr sz="1000" b="0" i="0">
                          <a:solidFill>
                            <a:srgbClr val="1A1440"/>
                          </a:solidFill>
                          <a:latin typeface="Calibri"/>
                        </a:rPr>
                        <a:t>04</a:t>
                      </a:r>
                    </a:p>
                  </a:txBody>
                  <a:tcPr marL="101600" marR="101600" marT="38100" marB="38100" anchor="ctr">
                    <a:solidFill>
                      <a:srgbClr val="F4F2FA"/>
                    </a:solidFill>
                  </a:tcPr>
                </a:tc>
              </a:tr>
              <a:tr h="310896">
                <a:tc>
                  <a:txBody>
                    <a:bodyPr/>
                    <a:lstStyle/>
                    <a:p>
                      <a:r>
                        <a:rPr sz="1000" b="0" i="0">
                          <a:solidFill>
                            <a:srgbClr val="1A1440"/>
                          </a:solidFill>
                          <a:latin typeface="Calibri"/>
                        </a:rPr>
                        <a:t>5</a:t>
                      </a:r>
                    </a:p>
                  </a:txBody>
                  <a:tcPr marL="101600" marR="101600" marT="38100" marB="38100" anchor="ctr">
                    <a:solidFill>
                      <a:srgbClr val="FFFFFF"/>
                    </a:solidFill>
                  </a:tcPr>
                </a:tc>
                <a:tc>
                  <a:txBody>
                    <a:bodyPr/>
                    <a:lstStyle/>
                    <a:p>
                      <a:r>
                        <a:rPr sz="1000" b="0" i="0">
                          <a:solidFill>
                            <a:srgbClr val="1A1440"/>
                          </a:solidFill>
                          <a:latin typeface="Calibri"/>
                        </a:rPr>
                        <a:t>Gaming, and definitions that resist it</a:t>
                      </a:r>
                    </a:p>
                  </a:txBody>
                  <a:tcPr marL="101600" marR="101600" marT="38100" marB="38100" anchor="ctr">
                    <a:solidFill>
                      <a:srgbClr val="FFFFFF"/>
                    </a:solidFill>
                  </a:tcPr>
                </a:tc>
                <a:tc>
                  <a:txBody>
                    <a:bodyPr/>
                    <a:lstStyle/>
                    <a:p>
                      <a:r>
                        <a:rPr sz="1000" b="0" i="0">
                          <a:solidFill>
                            <a:srgbClr val="1A1440"/>
                          </a:solidFill>
                          <a:latin typeface="Calibri"/>
                        </a:rPr>
                        <a:t>10 minutes</a:t>
                      </a:r>
                    </a:p>
                  </a:txBody>
                  <a:tcPr marL="101600" marR="101600" marT="38100" marB="38100" anchor="ctr">
                    <a:solidFill>
                      <a:srgbClr val="FFFFFF"/>
                    </a:solidFill>
                  </a:tcPr>
                </a:tc>
                <a:tc>
                  <a:txBody>
                    <a:bodyPr/>
                    <a:lstStyle/>
                    <a:p>
                      <a:r>
                        <a:rPr sz="1000" b="0" i="0">
                          <a:solidFill>
                            <a:srgbClr val="1A1440"/>
                          </a:solidFill>
                          <a:latin typeface="Calibri"/>
                        </a:rPr>
                        <a:t>05</a:t>
                      </a:r>
                    </a:p>
                  </a:txBody>
                  <a:tcPr marL="101600" marR="101600" marT="38100" marB="38100" anchor="ctr">
                    <a:solidFill>
                      <a:srgbClr val="FFFFFF"/>
                    </a:solidFill>
                  </a:tcPr>
                </a:tc>
              </a:tr>
              <a:tr h="310896">
                <a:tc>
                  <a:txBody>
                    <a:bodyPr/>
                    <a:lstStyle/>
                    <a:p>
                      <a:r>
                        <a:rPr sz="1000" b="0" i="0">
                          <a:solidFill>
                            <a:srgbClr val="1A1440"/>
                          </a:solidFill>
                          <a:latin typeface="Calibri"/>
                        </a:rPr>
                        <a:t>6</a:t>
                      </a:r>
                    </a:p>
                  </a:txBody>
                  <a:tcPr marL="101600" marR="101600" marT="38100" marB="38100" anchor="ctr">
                    <a:solidFill>
                      <a:srgbClr val="F4F2FA"/>
                    </a:solidFill>
                  </a:tcPr>
                </a:tc>
                <a:tc>
                  <a:txBody>
                    <a:bodyPr/>
                    <a:lstStyle/>
                    <a:p>
                      <a:r>
                        <a:rPr sz="1000" b="0" i="0">
                          <a:solidFill>
                            <a:srgbClr val="1A1440"/>
                          </a:solidFill>
                          <a:latin typeface="Calibri"/>
                        </a:rPr>
                        <a:t>The metric definition artifact</a:t>
                      </a:r>
                    </a:p>
                  </a:txBody>
                  <a:tcPr marL="101600" marR="101600" marT="38100" marB="38100" anchor="ctr">
                    <a:solidFill>
                      <a:srgbClr val="F4F2FA"/>
                    </a:solidFill>
                  </a:tcPr>
                </a:tc>
                <a:tc>
                  <a:txBody>
                    <a:bodyPr/>
                    <a:lstStyle/>
                    <a:p>
                      <a:r>
                        <a:rPr sz="1000" b="0" i="0">
                          <a:solidFill>
                            <a:srgbClr val="1A1440"/>
                          </a:solidFill>
                          <a:latin typeface="Calibri"/>
                        </a:rPr>
                        <a:t>10 minutes</a:t>
                      </a:r>
                    </a:p>
                  </a:txBody>
                  <a:tcPr marL="101600" marR="101600" marT="38100" marB="38100" anchor="ctr">
                    <a:solidFill>
                      <a:srgbClr val="F4F2FA"/>
                    </a:solidFill>
                  </a:tcPr>
                </a:tc>
                <a:tc>
                  <a:txBody>
                    <a:bodyPr/>
                    <a:lstStyle/>
                    <a:p>
                      <a:r>
                        <a:rPr sz="1000" b="0" i="0">
                          <a:solidFill>
                            <a:srgbClr val="1A1440"/>
                          </a:solidFill>
                          <a:latin typeface="Calibri"/>
                        </a:rPr>
                        <a:t>06</a:t>
                      </a:r>
                    </a:p>
                  </a:txBody>
                  <a:tcPr marL="101600" marR="101600" marT="38100" marB="38100" anchor="ctr">
                    <a:solidFill>
                      <a:srgbClr val="F4F2FA"/>
                    </a:solidFill>
                  </a:tcPr>
                </a:tc>
              </a:tr>
              <a:tr h="310896">
                <a:tc>
                  <a:txBody>
                    <a:bodyPr/>
                    <a:lstStyle/>
                    <a:p>
                      <a:r>
                        <a:rPr sz="1000" b="0" i="0">
                          <a:solidFill>
                            <a:srgbClr val="1A1440"/>
                          </a:solidFill>
                          <a:latin typeface="Calibri"/>
                        </a:rPr>
                        <a:t>7 to 9</a:t>
                      </a:r>
                    </a:p>
                  </a:txBody>
                  <a:tcPr marL="101600" marR="101600" marT="38100" marB="38100" anchor="ctr">
                    <a:solidFill>
                      <a:srgbClr val="FFFFFF"/>
                    </a:solidFill>
                  </a:tcPr>
                </a:tc>
                <a:tc>
                  <a:txBody>
                    <a:bodyPr/>
                    <a:lstStyle/>
                    <a:p>
                      <a:r>
                        <a:rPr sz="1000" b="0" i="0">
                          <a:solidFill>
                            <a:srgbClr val="1A1440"/>
                          </a:solidFill>
                          <a:latin typeface="Calibri"/>
                        </a:rPr>
                        <a:t>The case: Uber's Hyderabad peak-hour guarantee, after a 10-minute break</a:t>
                      </a:r>
                    </a:p>
                  </a:txBody>
                  <a:tcPr marL="101600" marR="101600" marT="38100" marB="38100" anchor="ctr">
                    <a:solidFill>
                      <a:srgbClr val="FFFFFF"/>
                    </a:solidFill>
                  </a:tcPr>
                </a:tc>
                <a:tc>
                  <a:txBody>
                    <a:bodyPr/>
                    <a:lstStyle/>
                    <a:p>
                      <a:r>
                        <a:rPr sz="1000" b="0" i="0">
                          <a:solidFill>
                            <a:srgbClr val="1A1440"/>
                          </a:solidFill>
                          <a:latin typeface="Calibri"/>
                        </a:rPr>
                        <a:t>100 minutes</a:t>
                      </a:r>
                    </a:p>
                  </a:txBody>
                  <a:tcPr marL="101600" marR="101600" marT="38100" marB="38100" anchor="ctr">
                    <a:solidFill>
                      <a:srgbClr val="FFFFFF"/>
                    </a:solidFill>
                  </a:tcPr>
                </a:tc>
                <a:tc>
                  <a:txBody>
                    <a:bodyPr/>
                    <a:lstStyle/>
                    <a:p>
                      <a:r>
                        <a:rPr sz="1000" b="0" i="0">
                          <a:solidFill>
                            <a:srgbClr val="1A1440"/>
                          </a:solidFill>
                          <a:latin typeface="Calibri"/>
                        </a:rPr>
                        <a:t>07 to 09</a:t>
                      </a:r>
                    </a:p>
                  </a:txBody>
                  <a:tcPr marL="101600" marR="101600" marT="38100" marB="38100" anchor="ctr">
                    <a:solidFill>
                      <a:srgbClr val="FFFFFF"/>
                    </a:solidFill>
                  </a:tcPr>
                </a:tc>
              </a:tr>
              <a:tr h="310896">
                <a:tc>
                  <a:txBody>
                    <a:bodyPr/>
                    <a:lstStyle/>
                    <a:p>
                      <a:r>
                        <a:rPr sz="1000" b="0" i="0">
                          <a:solidFill>
                            <a:srgbClr val="1A1440"/>
                          </a:solidFill>
                          <a:latin typeface="Calibri"/>
                        </a:rPr>
                        <a:t>10 and 11</a:t>
                      </a:r>
                    </a:p>
                  </a:txBody>
                  <a:tcPr marL="101600" marR="101600" marT="38100" marB="38100" anchor="ctr">
                    <a:solidFill>
                      <a:srgbClr val="F4F2FA"/>
                    </a:solidFill>
                  </a:tcPr>
                </a:tc>
                <a:tc>
                  <a:txBody>
                    <a:bodyPr/>
                    <a:lstStyle/>
                    <a:p>
                      <a:r>
                        <a:rPr sz="1000" b="0" i="0">
                          <a:solidFill>
                            <a:srgbClr val="1A1440"/>
                          </a:solidFill>
                          <a:latin typeface="Calibri"/>
                        </a:rPr>
                        <a:t>The case's last round and the interview room, after lunch</a:t>
                      </a:r>
                    </a:p>
                  </a:txBody>
                  <a:tcPr marL="101600" marR="101600" marT="38100" marB="38100" anchor="ctr">
                    <a:solidFill>
                      <a:srgbClr val="F4F2FA"/>
                    </a:solidFill>
                  </a:tcPr>
                </a:tc>
                <a:tc>
                  <a:txBody>
                    <a:bodyPr/>
                    <a:lstStyle/>
                    <a:p>
                      <a:r>
                        <a:rPr sz="1000" b="0" i="0">
                          <a:solidFill>
                            <a:srgbClr val="1A1440"/>
                          </a:solidFill>
                          <a:latin typeface="Calibri"/>
                        </a:rPr>
                        <a:t>40 minutes</a:t>
                      </a:r>
                    </a:p>
                  </a:txBody>
                  <a:tcPr marL="101600" marR="101600" marT="38100" marB="38100" anchor="ctr">
                    <a:solidFill>
                      <a:srgbClr val="F4F2FA"/>
                    </a:solidFill>
                  </a:tcPr>
                </a:tc>
                <a:tc>
                  <a:txBody>
                    <a:bodyPr/>
                    <a:lstStyle/>
                    <a:p>
                      <a:r>
                        <a:rPr sz="1000" b="0" i="0">
                          <a:solidFill>
                            <a:srgbClr val="1A1440"/>
                          </a:solidFill>
                          <a:latin typeface="Calibri"/>
                        </a:rPr>
                        <a:t>10 and 11</a:t>
                      </a:r>
                    </a:p>
                  </a:txBody>
                  <a:tcPr marL="101600" marR="101600" marT="38100" marB="38100" anchor="ctr">
                    <a:solidFill>
                      <a:srgbClr val="F4F2FA"/>
                    </a:solidFill>
                  </a:tcPr>
                </a:tc>
              </a:tr>
              <a:tr h="310896">
                <a:tc>
                  <a:txBody>
                    <a:bodyPr/>
                    <a:lstStyle/>
                    <a:p>
                      <a:r>
                        <a:rPr sz="1000" b="0" i="0">
                          <a:solidFill>
                            <a:srgbClr val="1A1440"/>
                          </a:solidFill>
                          <a:latin typeface="Calibri"/>
                        </a:rPr>
                        <a:t>Lab</a:t>
                      </a:r>
                    </a:p>
                  </a:txBody>
                  <a:tcPr marL="101600" marR="101600" marT="38100" marB="38100" anchor="ctr">
                    <a:solidFill>
                      <a:srgbClr val="FFFFFF"/>
                    </a:solidFill>
                  </a:tcPr>
                </a:tc>
                <a:tc>
                  <a:txBody>
                    <a:bodyPr/>
                    <a:lstStyle/>
                    <a:p>
                      <a:r>
                        <a:rPr sz="1000" b="0" i="0">
                          <a:solidFill>
                            <a:srgbClr val="1A1440"/>
                          </a:solidFill>
                          <a:latin typeface="Calibri"/>
                        </a:rPr>
                        <a:t>Kalpa Retail's growth plan, the same method, in the practice lab</a:t>
                      </a:r>
                    </a:p>
                  </a:txBody>
                  <a:tcPr marL="101600" marR="101600" marT="38100" marB="38100" anchor="ctr">
                    <a:solidFill>
                      <a:srgbClr val="FFFFFF"/>
                    </a:solidFill>
                  </a:tcPr>
                </a:tc>
                <a:tc>
                  <a:txBody>
                    <a:bodyPr/>
                    <a:lstStyle/>
                    <a:p>
                      <a:r>
                        <a:rPr sz="1000" b="0" i="0">
                          <a:solidFill>
                            <a:srgbClr val="1A1440"/>
                          </a:solidFill>
                          <a:latin typeface="Calibri"/>
                        </a:rPr>
                        <a:t>the lab's length</a:t>
                      </a:r>
                    </a:p>
                  </a:txBody>
                  <a:tcPr marL="101600" marR="101600" marT="38100" marB="38100" anchor="ctr">
                    <a:solidFill>
                      <a:srgbClr val="FFFFFF"/>
                    </a:solidFill>
                  </a:tcPr>
                </a:tc>
                <a:tc>
                  <a:txBody>
                    <a:bodyPr/>
                    <a:lstStyle/>
                    <a:p>
                      <a:r>
                        <a:rPr sz="1000" b="0" i="0">
                          <a:solidFill>
                            <a:srgbClr val="1A1440"/>
                          </a:solidFill>
                          <a:latin typeface="Calibri"/>
                        </a:rPr>
                        <a:t>12</a:t>
                      </a:r>
                    </a:p>
                  </a:txBody>
                  <a:tcPr marL="101600" marR="101600" marT="38100" marB="38100" anchor="ctr">
                    <a:solidFill>
                      <a:srgbClr val="FFFFFF"/>
                    </a:solidFill>
                  </a:tcPr>
                </a:tc>
              </a:tr>
            </a:tbl>
          </a:graphicData>
        </a:graphic>
      </p:graphicFrame>
      <p:sp>
        <p:nvSpPr>
          <p:cNvPr id="10" name="TextBox 9"/>
          <p:cNvSpPr txBox="1"/>
          <p:nvPr/>
        </p:nvSpPr>
        <p:spPr>
          <a:xfrm>
            <a:off x="530352" y="5272024"/>
            <a:ext cx="11130991" cy="703072"/>
          </a:xfrm>
          <a:prstGeom prst="rect">
            <a:avLst/>
          </a:prstGeom>
          <a:noFill/>
        </p:spPr>
        <p:txBody>
          <a:bodyPr wrap="square" anchor="t" lIns="0" rIns="0" tIns="0" bIns="0">
            <a:spAutoFit/>
          </a:bodyPr>
          <a:lstStyle/>
          <a:p>
            <a:pPr>
              <a:spcAft>
                <a:spcPts val="700"/>
              </a:spcAft>
            </a:pPr>
            <a:r>
              <a:rPr sz="1400" b="0" i="0">
                <a:solidFill>
                  <a:srgbClr val="1A1440"/>
                </a:solidFill>
                <a:latin typeface="Calibri"/>
              </a:rPr>
              <a:t>A 7-minute opening comes first; after chapter 11, 20 minutes hold the Kahoot, the handoff and the close, then the IITGN faculty session (tentative). Each notebook in notebooks/ carries its chapter's number and topic.</a:t>
            </a:r>
          </a:p>
        </p:txBody>
      </p:sp>
      <p:sp>
        <p:nvSpPr>
          <p:cNvPr id="11" name="Oval 10"/>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40080"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What is a number for?</a:t>
            </a:r>
          </a:p>
        </p:txBody>
      </p:sp>
      <p:sp>
        <p:nvSpPr>
          <p:cNvPr id="13" name="Oval 12"/>
          <p:cNvSpPr/>
          <p:nvPr/>
        </p:nvSpPr>
        <p:spPr>
          <a:xfrm>
            <a:off x="197196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2081688"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Which number to chase?</a:t>
            </a:r>
          </a:p>
        </p:txBody>
      </p:sp>
      <p:sp>
        <p:nvSpPr>
          <p:cNvPr id="15" name="Oval 14"/>
          <p:cNvSpPr/>
          <p:nvPr/>
        </p:nvSpPr>
        <p:spPr>
          <a:xfrm>
            <a:off x="345957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3569303"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Which number warns?</a:t>
            </a:r>
          </a:p>
        </p:txBody>
      </p:sp>
      <p:sp>
        <p:nvSpPr>
          <p:cNvPr id="17" name="Oval 16"/>
          <p:cNvSpPr/>
          <p:nvPr/>
        </p:nvSpPr>
        <p:spPr>
          <a:xfrm>
            <a:off x="480917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4918900"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Which four lines?</a:t>
            </a:r>
          </a:p>
        </p:txBody>
      </p:sp>
      <p:sp>
        <p:nvSpPr>
          <p:cNvPr id="19" name="Oval 18"/>
          <p:cNvSpPr/>
          <p:nvPr/>
        </p:nvSpPr>
        <p:spPr>
          <a:xfrm>
            <a:off x="606675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176486"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How is a number gamed?</a:t>
            </a:r>
          </a:p>
        </p:txBody>
      </p:sp>
      <p:sp>
        <p:nvSpPr>
          <p:cNvPr id="21" name="Oval 20"/>
          <p:cNvSpPr/>
          <p:nvPr/>
        </p:nvSpPr>
        <p:spPr>
          <a:xfrm>
            <a:off x="755437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766410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the page hold?</a:t>
            </a:r>
          </a:p>
        </p:txBody>
      </p:sp>
      <p:sp>
        <p:nvSpPr>
          <p:cNvPr id="23" name="Oval 22"/>
          <p:cNvSpPr/>
          <p:nvPr/>
        </p:nvSpPr>
        <p:spPr>
          <a:xfrm>
            <a:off x="91339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9243726"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an hour count?</a:t>
            </a:r>
          </a:p>
        </p:txBody>
      </p:sp>
      <p:sp>
        <p:nvSpPr>
          <p:cNvPr id="25" name="TextBox 24"/>
          <p:cNvSpPr txBox="1"/>
          <p:nvPr/>
        </p:nvSpPr>
        <p:spPr>
          <a:xfrm>
            <a:off x="10713624" y="6437376"/>
            <a:ext cx="256032" cy="152146"/>
          </a:xfrm>
          <a:prstGeom prst="rect">
            <a:avLst/>
          </a:prstGeom>
          <a:noFill/>
        </p:spPr>
        <p:txBody>
          <a:bodyPr wrap="square" anchor="t" lIns="0" rIns="0" tIns="0" bIns="0">
            <a:spAutoFit/>
          </a:bodyPr>
          <a:lstStyle/>
          <a:p>
            <a:pPr algn="l"/>
            <a:r>
              <a:rPr sz="700" b="0" i="0">
                <a:solidFill>
                  <a:srgbClr val="6B6690"/>
                </a:solidFill>
                <a:latin typeface="Calibri"/>
              </a:rPr>
              <a:t>…</a:t>
            </a:r>
          </a:p>
        </p:txBody>
      </p:sp>
      <p:sp>
        <p:nvSpPr>
          <p:cNvPr id="26" name="TextBox 25"/>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S3  ·  3 / 93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MONDAY  ·  BUSINESS METRIC DESIGN  ·  UBER, HYDERABAD</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Six topics: what each rests on and what it feeds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How do Monday's six topics connect to each other, to earlier weeks and to the case?</a:t>
            </a:r>
          </a:p>
        </p:txBody>
      </p:sp>
      <p:pic>
        <p:nvPicPr>
          <p:cNvPr id="9" name="mermaid diagram" descr="5b364d95f211d551.png"/>
          <p:cNvPicPr>
            <a:picLocks noChangeAspect="1"/>
          </p:cNvPicPr>
          <p:nvPr/>
        </p:nvPicPr>
        <p:blipFill>
          <a:blip r:embed="rId5"/>
          <a:stretch>
            <a:fillRect/>
          </a:stretch>
        </p:blipFill>
        <p:spPr>
          <a:xfrm>
            <a:off x="4211777" y="1682496"/>
            <a:ext cx="3768140" cy="4517136"/>
          </a:xfrm>
          <a:prstGeom prst="rect">
            <a:avLst/>
          </a:prstGeom>
        </p:spPr>
      </p:pic>
      <p:sp>
        <p:nvSpPr>
          <p:cNvPr id="10" name="Oval 9"/>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40080"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What is a number for?</a:t>
            </a:r>
          </a:p>
        </p:txBody>
      </p:sp>
      <p:sp>
        <p:nvSpPr>
          <p:cNvPr id="12" name="Oval 11"/>
          <p:cNvSpPr/>
          <p:nvPr/>
        </p:nvSpPr>
        <p:spPr>
          <a:xfrm>
            <a:off x="197196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2081688"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Which number to chase?</a:t>
            </a:r>
          </a:p>
        </p:txBody>
      </p:sp>
      <p:sp>
        <p:nvSpPr>
          <p:cNvPr id="14" name="Oval 13"/>
          <p:cNvSpPr/>
          <p:nvPr/>
        </p:nvSpPr>
        <p:spPr>
          <a:xfrm>
            <a:off x="345957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3569303"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Which number warns?</a:t>
            </a:r>
          </a:p>
        </p:txBody>
      </p:sp>
      <p:sp>
        <p:nvSpPr>
          <p:cNvPr id="16" name="Oval 15"/>
          <p:cNvSpPr/>
          <p:nvPr/>
        </p:nvSpPr>
        <p:spPr>
          <a:xfrm>
            <a:off x="480917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4918900"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Which four lines?</a:t>
            </a:r>
          </a:p>
        </p:txBody>
      </p:sp>
      <p:sp>
        <p:nvSpPr>
          <p:cNvPr id="18" name="Oval 17"/>
          <p:cNvSpPr/>
          <p:nvPr/>
        </p:nvSpPr>
        <p:spPr>
          <a:xfrm>
            <a:off x="606675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6176486"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How is a number gamed?</a:t>
            </a:r>
          </a:p>
        </p:txBody>
      </p:sp>
      <p:sp>
        <p:nvSpPr>
          <p:cNvPr id="20" name="Oval 19"/>
          <p:cNvSpPr/>
          <p:nvPr/>
        </p:nvSpPr>
        <p:spPr>
          <a:xfrm>
            <a:off x="755437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766410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the page hold?</a:t>
            </a:r>
          </a:p>
        </p:txBody>
      </p:sp>
      <p:sp>
        <p:nvSpPr>
          <p:cNvPr id="22" name="Oval 21"/>
          <p:cNvSpPr/>
          <p:nvPr/>
        </p:nvSpPr>
        <p:spPr>
          <a:xfrm>
            <a:off x="91339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9243726"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an hour count?</a:t>
            </a:r>
          </a:p>
        </p:txBody>
      </p:sp>
      <p:sp>
        <p:nvSpPr>
          <p:cNvPr id="24" name="TextBox 23"/>
          <p:cNvSpPr txBox="1"/>
          <p:nvPr/>
        </p:nvSpPr>
        <p:spPr>
          <a:xfrm>
            <a:off x="10713624" y="6437376"/>
            <a:ext cx="256032" cy="152146"/>
          </a:xfrm>
          <a:prstGeom prst="rect">
            <a:avLst/>
          </a:prstGeom>
          <a:noFill/>
        </p:spPr>
        <p:txBody>
          <a:bodyPr wrap="square" anchor="t" lIns="0" rIns="0" tIns="0" bIns="0">
            <a:spAutoFit/>
          </a:bodyPr>
          <a:lstStyle/>
          <a:p>
            <a:pPr algn="l"/>
            <a:r>
              <a:rPr sz="700" b="0" i="0">
                <a:solidFill>
                  <a:srgbClr val="6B6690"/>
                </a:solidFill>
                <a:latin typeface="Calibri"/>
              </a:rPr>
              <a:t>…</a:t>
            </a:r>
          </a:p>
        </p:txBody>
      </p:sp>
      <p:sp>
        <p:nvSpPr>
          <p:cNvPr id="25" name="TextBox 24"/>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S4  ·  4 / 93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MONDAY  ·  BUSINESS METRIC DESIGN  ·  UBER, HYDERABAD</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case: a guarantee paid on hours, six weeks on</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Where will the six topics be used, and what must the analyst hand in?</a:t>
            </a:r>
          </a:p>
        </p:txBody>
      </p:sp>
      <p:graphicFrame>
        <p:nvGraphicFramePr>
          <p:cNvPr id="9" name="Table 8"/>
          <p:cNvGraphicFramePr>
            <a:graphicFrameLocks noGrp="1"/>
          </p:cNvGraphicFramePr>
          <p:nvPr/>
        </p:nvGraphicFramePr>
        <p:xfrm>
          <a:off x="530352" y="1865884"/>
          <a:ext cx="11130990" cy="3462528"/>
        </p:xfrm>
        <a:graphic>
          <a:graphicData uri="http://schemas.openxmlformats.org/drawingml/2006/table">
            <a:tbl>
              <a:tblPr firstRow="0" bandRow="0">
                <a:tableStyleId>{2D5ABB26-0587-4C30-8999-92F81FD0307C}</a:tableStyleId>
              </a:tblPr>
              <a:tblGrid>
                <a:gridCol w="4012840"/>
                <a:gridCol w="7118150"/>
              </a:tblGrid>
              <a:tr h="335280">
                <a:tc>
                  <a:txBody>
                    <a:bodyPr/>
                    <a:lstStyle/>
                    <a:p>
                      <a:r>
                        <a:rPr sz="1250" b="1" i="0">
                          <a:solidFill>
                            <a:srgbClr val="FFFFFF"/>
                          </a:solidFill>
                          <a:latin typeface="Calibri"/>
                        </a:rPr>
                        <a:t>On the ticket</a:t>
                      </a:r>
                    </a:p>
                  </a:txBody>
                  <a:tcPr marL="101600" marR="101600" marT="38100" marB="38100" anchor="ctr">
                    <a:solidFill>
                      <a:srgbClr val="1A0F5C"/>
                    </a:solidFill>
                  </a:tcPr>
                </a:tc>
                <a:tc>
                  <a:txBody>
                    <a:bodyPr/>
                    <a:lstStyle/>
                    <a:p>
                      <a:r>
                        <a:rPr sz="1250" b="1" i="0">
                          <a:solidFill>
                            <a:srgbClr val="FFFFFF"/>
                          </a:solidFill>
                          <a:latin typeface="Calibri"/>
                        </a:rPr>
                        <a:t>What it says</a:t>
                      </a:r>
                    </a:p>
                  </a:txBody>
                  <a:tcPr marL="101600" marR="101600" marT="38100" marB="38100" anchor="ctr">
                    <a:solidFill>
                      <a:srgbClr val="1A0F5C"/>
                    </a:solidFill>
                  </a:tcPr>
                </a:tc>
              </a:tr>
              <a:tr h="957072">
                <a:tc>
                  <a:txBody>
                    <a:bodyPr/>
                    <a:lstStyle/>
                    <a:p>
                      <a:r>
                        <a:rPr sz="1200" b="0" i="0">
                          <a:solidFill>
                            <a:srgbClr val="1A1440"/>
                          </a:solidFill>
                          <a:latin typeface="Calibri"/>
                        </a:rPr>
                        <a:t>Company, city, surface</a:t>
                      </a:r>
                    </a:p>
                  </a:txBody>
                  <a:tcPr marL="101600" marR="101600" marT="38100" marB="38100" anchor="ctr">
                    <a:solidFill>
                      <a:srgbClr val="FFFFFF"/>
                    </a:solidFill>
                  </a:tcPr>
                </a:tc>
                <a:tc>
                  <a:txBody>
                    <a:bodyPr/>
                    <a:lstStyle/>
                    <a:p>
                      <a:r>
                        <a:rPr sz="1200" b="0" i="0">
                          <a:solidFill>
                            <a:srgbClr val="1A1440"/>
                          </a:solidFill>
                          <a:latin typeface="Calibri"/>
                        </a:rPr>
                        <a:t>Uber, Hyderabad, the driver app: from Monday 31 August 2026 an enrolled driver (one signed up for the scheme) online through a whole peak window (two a day, three hours each) is guaranteed Rs 300 per peak online hour, and Uber tops up the gap between the driver's trip earnings and that floor</a:t>
                      </a:r>
                    </a:p>
                  </a:txBody>
                  <a:tcPr marL="101600" marR="101600" marT="38100" marB="38100" anchor="ctr">
                    <a:solidFill>
                      <a:srgbClr val="FFFFFF"/>
                    </a:solidFill>
                  </a:tcPr>
                </a:tc>
              </a:tr>
              <a:tr h="749808">
                <a:tc>
                  <a:txBody>
                    <a:bodyPr/>
                    <a:lstStyle/>
                    <a:p>
                      <a:r>
                        <a:rPr sz="1200" b="0" i="0">
                          <a:solidFill>
                            <a:srgbClr val="1A1440"/>
                          </a:solidFill>
                          <a:latin typeface="Calibri"/>
                        </a:rPr>
                        <a:t>Before and after, six weeks each side</a:t>
                      </a:r>
                    </a:p>
                  </a:txBody>
                  <a:tcPr marL="101600" marR="101600" marT="38100" marB="38100" anchor="ctr">
                    <a:solidFill>
                      <a:srgbClr val="F4F2FA"/>
                    </a:solidFill>
                  </a:tcPr>
                </a:tc>
                <a:tc>
                  <a:txBody>
                    <a:bodyPr/>
                    <a:lstStyle/>
                    <a:p>
                      <a:r>
                        <a:rPr sz="1200" b="0" i="0">
                          <a:solidFill>
                            <a:srgbClr val="1A1440"/>
                          </a:solidFill>
                          <a:latin typeface="Calibri"/>
                        </a:rPr>
                        <a:t>Peak online hours 118,000 to 146,300, up 24 percent; completed peak trips 224,200 to 230,900, up 3 percent; trips per peak online hour 1.90 to 1.58; top-up Rs 0 to Rs 1.9 crore</a:t>
                      </a:r>
                    </a:p>
                  </a:txBody>
                  <a:tcPr marL="101600" marR="101600" marT="38100" marB="38100" anchor="ctr">
                    <a:solidFill>
                      <a:srgbClr val="F4F2FA"/>
                    </a:solidFill>
                  </a:tcPr>
                </a:tc>
              </a:tr>
              <a:tr h="542544">
                <a:tc>
                  <a:txBody>
                    <a:bodyPr/>
                    <a:lstStyle/>
                    <a:p>
                      <a:r>
                        <a:rPr sz="1200" b="0" i="0">
                          <a:solidFill>
                            <a:srgbClr val="1A1440"/>
                          </a:solidFill>
                          <a:latin typeface="Calibri"/>
                        </a:rPr>
                        <a:t>The data</a:t>
                      </a:r>
                    </a:p>
                  </a:txBody>
                  <a:tcPr marL="101600" marR="101600" marT="38100" marB="38100" anchor="ctr">
                    <a:solidFill>
                      <a:srgbClr val="FFFFFF"/>
                    </a:solidFill>
                  </a:tcPr>
                </a:tc>
                <a:tc>
                  <a:txBody>
                    <a:bodyPr/>
                    <a:lstStyle/>
                    <a:p>
                      <a:r>
                        <a:rPr sz="1200" b="0" i="0">
                          <a:solidFill>
                            <a:srgbClr val="1A1440"/>
                          </a:solidFill>
                          <a:latin typeface="Calibri"/>
                        </a:rPr>
                        <a:t>drivers, driver_weeks (one row per driver per week) and zone_weeks (rider requests and waits by zone)</a:t>
                      </a:r>
                    </a:p>
                  </a:txBody>
                  <a:tcPr marL="101600" marR="101600" marT="38100" marB="38100" anchor="ctr">
                    <a:solidFill>
                      <a:srgbClr val="FFFFFF"/>
                    </a:solidFill>
                  </a:tcPr>
                </a:tc>
              </a:tr>
              <a:tr h="335280">
                <a:tc>
                  <a:txBody>
                    <a:bodyPr/>
                    <a:lstStyle/>
                    <a:p>
                      <a:r>
                        <a:rPr sz="1200" b="0" i="0">
                          <a:solidFill>
                            <a:srgbClr val="1A1440"/>
                          </a:solidFill>
                          <a:latin typeface="Calibri"/>
                        </a:rPr>
                        <a:t>The ask, due Friday</a:t>
                      </a:r>
                    </a:p>
                  </a:txBody>
                  <a:tcPr marL="101600" marR="101600" marT="38100" marB="38100" anchor="ctr">
                    <a:solidFill>
                      <a:srgbClr val="F4F2FA"/>
                    </a:solidFill>
                  </a:tcPr>
                </a:tc>
                <a:tc>
                  <a:txBody>
                    <a:bodyPr/>
                    <a:lstStyle/>
                    <a:p>
                      <a:r>
                        <a:rPr sz="1200" b="0" i="0">
                          <a:solidFill>
                            <a:srgbClr val="1A1440"/>
                          </a:solidFill>
                          <a:latin typeface="Calibri"/>
                        </a:rPr>
                        <a:t>Is the scheme working, which number should it pay for, and is anyone gaming it?</a:t>
                      </a:r>
                    </a:p>
                  </a:txBody>
                  <a:tcPr marL="101600" marR="101600" marT="38100" marB="38100" anchor="ctr">
                    <a:solidFill>
                      <a:srgbClr val="F4F2FA"/>
                    </a:solidFill>
                  </a:tcPr>
                </a:tc>
              </a:tr>
              <a:tr h="542544">
                <a:tc>
                  <a:txBody>
                    <a:bodyPr/>
                    <a:lstStyle/>
                    <a:p>
                      <a:r>
                        <a:rPr sz="1200" b="0" i="0">
                          <a:solidFill>
                            <a:srgbClr val="1A1440"/>
                          </a:solidFill>
                          <a:latin typeface="Calibri"/>
                        </a:rPr>
                        <a:t>Caveats</a:t>
                      </a:r>
                    </a:p>
                  </a:txBody>
                  <a:tcPr marL="101600" marR="101600" marT="38100" marB="38100" anchor="ctr">
                    <a:solidFill>
                      <a:srgbClr val="FFFFFF"/>
                    </a:solidFill>
                  </a:tcPr>
                </a:tc>
                <a:tc>
                  <a:txBody>
                    <a:bodyPr/>
                    <a:lstStyle/>
                    <a:p>
                      <a:r>
                        <a:rPr sz="1200" b="0" i="0">
                          <a:solidFill>
                            <a:srgbClr val="1A1440"/>
                          </a:solidFill>
                          <a:latin typeface="Calibri"/>
                        </a:rPr>
                        <a:t>The monsoon ended mid-window; 140 drivers are new; online means the app is open; three outer zones get few requests</a:t>
                      </a:r>
                    </a:p>
                  </a:txBody>
                  <a:tcPr marL="101600" marR="101600" marT="38100" marB="38100" anchor="ctr">
                    <a:solidFill>
                      <a:srgbClr val="FFFFFF"/>
                    </a:solidFill>
                  </a:tcPr>
                </a:tc>
              </a:tr>
            </a:tbl>
          </a:graphicData>
        </a:graphic>
      </p:graphicFrame>
      <p:sp>
        <p:nvSpPr>
          <p:cNvPr id="10" name="Rounded Rectangle 9"/>
          <p:cNvSpPr/>
          <p:nvPr/>
        </p:nvSpPr>
        <p:spPr>
          <a:xfrm>
            <a:off x="530352" y="5584444"/>
            <a:ext cx="45720" cy="431800"/>
          </a:xfrm>
          <a:prstGeom prst="roundRect">
            <a:avLst>
              <a:gd name="adj" fmla="val 50000"/>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786384" y="5584444"/>
            <a:ext cx="10820095" cy="431800"/>
          </a:xfrm>
          <a:prstGeom prst="rect">
            <a:avLst/>
          </a:prstGeom>
          <a:noFill/>
        </p:spPr>
        <p:txBody>
          <a:bodyPr wrap="square" anchor="t" lIns="0" rIns="0" tIns="0" bIns="0">
            <a:spAutoFit/>
          </a:bodyPr>
          <a:lstStyle/>
          <a:p>
            <a:r>
              <a:rPr sz="1400" b="0" i="1">
                <a:solidFill>
                  <a:srgbClr val="1A0F5C"/>
                </a:solidFill>
                <a:latin typeface="Georgia"/>
              </a:rPr>
              <a:t>*Illustrative case: the company is real, the situation and the data are synthetic, built for this class.*</a:t>
            </a:r>
          </a:p>
        </p:txBody>
      </p:sp>
      <p:sp>
        <p:nvSpPr>
          <p:cNvPr id="12" name="Oval 11"/>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40080"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What is a number for?</a:t>
            </a:r>
          </a:p>
        </p:txBody>
      </p:sp>
      <p:sp>
        <p:nvSpPr>
          <p:cNvPr id="14" name="Oval 13"/>
          <p:cNvSpPr/>
          <p:nvPr/>
        </p:nvSpPr>
        <p:spPr>
          <a:xfrm>
            <a:off x="197196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2081688"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Which number to chase?</a:t>
            </a:r>
          </a:p>
        </p:txBody>
      </p:sp>
      <p:sp>
        <p:nvSpPr>
          <p:cNvPr id="16" name="Oval 15"/>
          <p:cNvSpPr/>
          <p:nvPr/>
        </p:nvSpPr>
        <p:spPr>
          <a:xfrm>
            <a:off x="345957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3569303"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Which number warns?</a:t>
            </a:r>
          </a:p>
        </p:txBody>
      </p:sp>
      <p:sp>
        <p:nvSpPr>
          <p:cNvPr id="18" name="Oval 17"/>
          <p:cNvSpPr/>
          <p:nvPr/>
        </p:nvSpPr>
        <p:spPr>
          <a:xfrm>
            <a:off x="480917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4918900"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Which four lines?</a:t>
            </a:r>
          </a:p>
        </p:txBody>
      </p:sp>
      <p:sp>
        <p:nvSpPr>
          <p:cNvPr id="20" name="Oval 19"/>
          <p:cNvSpPr/>
          <p:nvPr/>
        </p:nvSpPr>
        <p:spPr>
          <a:xfrm>
            <a:off x="606675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6176486"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How is a number gamed?</a:t>
            </a:r>
          </a:p>
        </p:txBody>
      </p:sp>
      <p:sp>
        <p:nvSpPr>
          <p:cNvPr id="22" name="Oval 21"/>
          <p:cNvSpPr/>
          <p:nvPr/>
        </p:nvSpPr>
        <p:spPr>
          <a:xfrm>
            <a:off x="755437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766410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the page hold?</a:t>
            </a:r>
          </a:p>
        </p:txBody>
      </p:sp>
      <p:sp>
        <p:nvSpPr>
          <p:cNvPr id="24" name="Oval 23"/>
          <p:cNvSpPr/>
          <p:nvPr/>
        </p:nvSpPr>
        <p:spPr>
          <a:xfrm>
            <a:off x="91339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9243726"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an hour count?</a:t>
            </a:r>
          </a:p>
        </p:txBody>
      </p:sp>
      <p:sp>
        <p:nvSpPr>
          <p:cNvPr id="26" name="TextBox 25"/>
          <p:cNvSpPr txBox="1"/>
          <p:nvPr/>
        </p:nvSpPr>
        <p:spPr>
          <a:xfrm>
            <a:off x="10713624" y="6437376"/>
            <a:ext cx="256032" cy="152146"/>
          </a:xfrm>
          <a:prstGeom prst="rect">
            <a:avLst/>
          </a:prstGeom>
          <a:noFill/>
        </p:spPr>
        <p:txBody>
          <a:bodyPr wrap="square" anchor="t" lIns="0" rIns="0" tIns="0" bIns="0">
            <a:spAutoFit/>
          </a:bodyPr>
          <a:lstStyle/>
          <a:p>
            <a:pPr algn="l"/>
            <a:r>
              <a:rPr sz="700" b="0" i="0">
                <a:solidFill>
                  <a:srgbClr val="6B6690"/>
                </a:solidFill>
                <a:latin typeface="Calibri"/>
              </a:rPr>
              <a:t>…</a:t>
            </a:r>
          </a:p>
        </p:txBody>
      </p:sp>
      <p:sp>
        <p:nvSpPr>
          <p:cNvPr id="27" name="TextBox 26"/>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S5  ·  5 / 93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dark.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FFFFFF"/>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CFC9EE"/>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CFC9EE"/>
                </a:solidFill>
                <a:latin typeface="Calibri"/>
              </a:rPr>
              <a:t>PG DIPLOMA IN AI-ML AND AGENTIC AI ENGINEERING  ·  COHORT 2</a:t>
            </a:r>
          </a:p>
        </p:txBody>
      </p:sp>
      <p:sp>
        <p:nvSpPr>
          <p:cNvPr id="7" name="TextBox 6"/>
          <p:cNvSpPr txBox="1"/>
          <p:nvPr/>
        </p:nvSpPr>
        <p:spPr>
          <a:xfrm>
            <a:off x="731519" y="1143000"/>
            <a:ext cx="3657600" cy="1371600"/>
          </a:xfrm>
          <a:prstGeom prst="rect">
            <a:avLst/>
          </a:prstGeom>
          <a:noFill/>
        </p:spPr>
        <p:txBody>
          <a:bodyPr wrap="square" anchor="t" lIns="0" rIns="0" tIns="0" bIns="0">
            <a:spAutoFit/>
          </a:bodyPr>
          <a:lstStyle/>
          <a:p>
            <a:pPr algn="l"/>
            <a:r>
              <a:rPr sz="9600" b="0" i="0">
                <a:solidFill>
                  <a:srgbClr val="D9A7FF"/>
                </a:solidFill>
                <a:latin typeface="Georgia"/>
              </a:rPr>
              <a:t>01</a:t>
            </a:r>
          </a:p>
        </p:txBody>
      </p:sp>
      <p:sp>
        <p:nvSpPr>
          <p:cNvPr id="8" name="TextBox 7"/>
          <p:cNvSpPr txBox="1"/>
          <p:nvPr/>
        </p:nvSpPr>
        <p:spPr>
          <a:xfrm>
            <a:off x="731519" y="2542032"/>
            <a:ext cx="10673791" cy="366776"/>
          </a:xfrm>
          <a:prstGeom prst="rect">
            <a:avLst/>
          </a:prstGeom>
          <a:noFill/>
        </p:spPr>
        <p:txBody>
          <a:bodyPr wrap="square" anchor="t" lIns="0" rIns="0" tIns="0" bIns="0">
            <a:spAutoFit/>
          </a:bodyPr>
          <a:lstStyle/>
          <a:p>
            <a:pPr algn="l"/>
            <a:r>
              <a:rPr sz="2000" b="1" i="0">
                <a:solidFill>
                  <a:srgbClr val="D9A7FF"/>
                </a:solidFill>
                <a:latin typeface="Calibri"/>
              </a:rPr>
              <a:t>What to measure and why; the proxy test</a:t>
            </a:r>
          </a:p>
        </p:txBody>
      </p:sp>
      <p:sp>
        <p:nvSpPr>
          <p:cNvPr id="9" name="TextBox 8"/>
          <p:cNvSpPr txBox="1"/>
          <p:nvPr/>
        </p:nvSpPr>
        <p:spPr>
          <a:xfrm>
            <a:off x="731519" y="3017520"/>
            <a:ext cx="10673791" cy="731520"/>
          </a:xfrm>
          <a:prstGeom prst="rect">
            <a:avLst/>
          </a:prstGeom>
          <a:noFill/>
        </p:spPr>
        <p:txBody>
          <a:bodyPr wrap="square" anchor="t" lIns="0" rIns="0" tIns="0" bIns="0">
            <a:spAutoFit/>
          </a:bodyPr>
          <a:lstStyle/>
          <a:p>
            <a:pPr algn="l"/>
            <a:r>
              <a:rPr sz="4000" b="0" i="0">
                <a:solidFill>
                  <a:srgbClr val="FFFFFF"/>
                </a:solidFill>
                <a:latin typeface="Georgia"/>
              </a:rPr>
              <a:t>What is a number for?</a:t>
            </a:r>
          </a:p>
        </p:txBody>
      </p:sp>
      <p:sp>
        <p:nvSpPr>
          <p:cNvPr id="10" name="TextBox 9"/>
          <p:cNvSpPr txBox="1"/>
          <p:nvPr/>
        </p:nvSpPr>
        <p:spPr>
          <a:xfrm>
            <a:off x="731519" y="3931920"/>
            <a:ext cx="9509760" cy="531876"/>
          </a:xfrm>
          <a:prstGeom prst="rect">
            <a:avLst/>
          </a:prstGeom>
          <a:noFill/>
        </p:spPr>
        <p:txBody>
          <a:bodyPr wrap="square" anchor="t" lIns="0" rIns="0" tIns="0" bIns="0">
            <a:spAutoFit/>
          </a:bodyPr>
          <a:lstStyle/>
          <a:p>
            <a:pPr algn="l"/>
            <a:r>
              <a:rPr sz="1500" b="0" i="0">
                <a:solidFill>
                  <a:srgbClr val="E4E1F1"/>
                </a:solidFill>
                <a:latin typeface="Calibri"/>
              </a:rPr>
              <a:t>Say what a number is for, and test whether a team could raise it while the thing it stands for got no better.</a:t>
            </a:r>
          </a:p>
        </p:txBody>
      </p:sp>
      <p:sp>
        <p:nvSpPr>
          <p:cNvPr id="11" name="Rounded Rectangle 10"/>
          <p:cNvSpPr/>
          <p:nvPr/>
        </p:nvSpPr>
        <p:spPr>
          <a:xfrm>
            <a:off x="731519" y="5074920"/>
            <a:ext cx="1082213" cy="310896"/>
          </a:xfrm>
          <a:prstGeom prst="roundRect">
            <a:avLst>
              <a:gd name="adj" fmla="val 50000"/>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1">
                <a:solidFill>
                  <a:srgbClr val="1A0F5C"/>
                </a:solidFill>
                <a:latin typeface="Calibri"/>
              </a:rPr>
              <a:t>What is a number for?</a:t>
            </a:r>
          </a:p>
        </p:txBody>
      </p:sp>
      <p:sp>
        <p:nvSpPr>
          <p:cNvPr id="12" name="Rounded Rectangle 11"/>
          <p:cNvSpPr/>
          <p:nvPr/>
        </p:nvSpPr>
        <p:spPr>
          <a:xfrm>
            <a:off x="1923461" y="5074920"/>
            <a:ext cx="1122034"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Which number to chase?</a:t>
            </a:r>
          </a:p>
        </p:txBody>
      </p:sp>
      <p:sp>
        <p:nvSpPr>
          <p:cNvPr id="13" name="Rounded Rectangle 12"/>
          <p:cNvSpPr/>
          <p:nvPr/>
        </p:nvSpPr>
        <p:spPr>
          <a:xfrm>
            <a:off x="3155223" y="5074920"/>
            <a:ext cx="1002570"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Which number warns?</a:t>
            </a:r>
          </a:p>
        </p:txBody>
      </p:sp>
      <p:sp>
        <p:nvSpPr>
          <p:cNvPr id="14" name="Rounded Rectangle 13"/>
          <p:cNvSpPr/>
          <p:nvPr/>
        </p:nvSpPr>
        <p:spPr>
          <a:xfrm>
            <a:off x="4267522" y="5074920"/>
            <a:ext cx="922927"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Which four lines?</a:t>
            </a:r>
          </a:p>
        </p:txBody>
      </p:sp>
      <p:sp>
        <p:nvSpPr>
          <p:cNvPr id="15" name="Rounded Rectangle 14"/>
          <p:cNvSpPr/>
          <p:nvPr/>
        </p:nvSpPr>
        <p:spPr>
          <a:xfrm>
            <a:off x="5300178" y="5074920"/>
            <a:ext cx="1122034"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How is a number gamed?</a:t>
            </a:r>
          </a:p>
        </p:txBody>
      </p:sp>
      <p:sp>
        <p:nvSpPr>
          <p:cNvPr id="16" name="Rounded Rectangle 15"/>
          <p:cNvSpPr/>
          <p:nvPr/>
        </p:nvSpPr>
        <p:spPr>
          <a:xfrm>
            <a:off x="6531940" y="5074920"/>
            <a:ext cx="1201677"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What does the page hold?</a:t>
            </a:r>
          </a:p>
        </p:txBody>
      </p:sp>
      <p:sp>
        <p:nvSpPr>
          <p:cNvPr id="17" name="Rounded Rectangle 16"/>
          <p:cNvSpPr/>
          <p:nvPr/>
        </p:nvSpPr>
        <p:spPr>
          <a:xfrm>
            <a:off x="7843346" y="5074920"/>
            <a:ext cx="1201677"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What does an hour count?</a:t>
            </a:r>
          </a:p>
        </p:txBody>
      </p:sp>
      <p:sp>
        <p:nvSpPr>
          <p:cNvPr id="18" name="Rounded Rectangle 17"/>
          <p:cNvSpPr/>
          <p:nvPr/>
        </p:nvSpPr>
        <p:spPr>
          <a:xfrm>
            <a:off x="9154751" y="5074920"/>
            <a:ext cx="1161855"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Where did the fall sit?</a:t>
            </a:r>
          </a:p>
        </p:txBody>
      </p:sp>
      <p:sp>
        <p:nvSpPr>
          <p:cNvPr id="19" name="Rounded Rectangle 18"/>
          <p:cNvSpPr/>
          <p:nvPr/>
        </p:nvSpPr>
        <p:spPr>
          <a:xfrm>
            <a:off x="10426335" y="5074920"/>
            <a:ext cx="1161855"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What should it pay for?</a:t>
            </a:r>
          </a:p>
        </p:txBody>
      </p:sp>
      <p:sp>
        <p:nvSpPr>
          <p:cNvPr id="20" name="TextBox 19"/>
          <p:cNvSpPr txBox="1"/>
          <p:nvPr/>
        </p:nvSpPr>
        <p:spPr>
          <a:xfrm>
            <a:off x="530352" y="6437376"/>
            <a:ext cx="9667951" cy="160401"/>
          </a:xfrm>
          <a:prstGeom prst="rect">
            <a:avLst/>
          </a:prstGeom>
          <a:noFill/>
        </p:spPr>
        <p:txBody>
          <a:bodyPr wrap="square" anchor="t" lIns="0" rIns="0" tIns="0" bIns="0">
            <a:spAutoFit/>
          </a:bodyPr>
          <a:lstStyle/>
          <a:p>
            <a:pPr algn="l"/>
            <a:r>
              <a:rPr sz="750" b="0" i="0">
                <a:solidFill>
                  <a:srgbClr val="CFC9EE"/>
                </a:solidFill>
                <a:latin typeface="Calibri"/>
              </a:rPr>
              <a:t>Week 4, Day 1. Business metric design: which number should the plan chase, and what stops it being gamed?</a:t>
            </a:r>
          </a:p>
        </p:txBody>
      </p:sp>
      <p:sp>
        <p:nvSpPr>
          <p:cNvPr id="21" name="TextBox 20"/>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CFC9EE"/>
                </a:solidFill>
                <a:latin typeface="Calibri"/>
              </a:rPr>
              <a:t>6 / 93</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MONDAY  ·  BUSINESS METRIC DESIGN  ·  UBER, HYDERABAD</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 metric is a number someone decides with</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Who needs the answer, and which questions lead to it?</a:t>
            </a:r>
          </a:p>
        </p:txBody>
      </p:sp>
      <p:sp>
        <p:nvSpPr>
          <p:cNvPr id="9" name="TextBox 8"/>
          <p:cNvSpPr txBox="1"/>
          <p:nvPr/>
        </p:nvSpPr>
        <p:spPr>
          <a:xfrm>
            <a:off x="530352" y="1682496"/>
            <a:ext cx="11130991" cy="1048512"/>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A </a:t>
            </a:r>
            <a:r>
              <a:rPr sz="1600" b="1" i="0">
                <a:solidFill>
                  <a:srgbClr val="1A1440"/>
                </a:solidFill>
                <a:latin typeface="Calibri"/>
              </a:rPr>
              <a:t>metric</a:t>
            </a:r>
            <a:r>
              <a:rPr sz="1600" b="0" i="0">
                <a:solidFill>
                  <a:srgbClr val="1A1440"/>
                </a:solidFill>
                <a:latin typeface="Calibri"/>
              </a:rPr>
              <a:t> is a number a person watches in order to decide something: how much rice to cook, whom to pay, whether to keep a scheme. A </a:t>
            </a:r>
            <a:r>
              <a:rPr sz="1600" b="1" i="0">
                <a:solidFill>
                  <a:srgbClr val="1A1440"/>
                </a:solidFill>
                <a:latin typeface="Calibri"/>
              </a:rPr>
              <a:t>target</a:t>
            </a:r>
            <a:r>
              <a:rPr sz="1600" b="0" i="0">
                <a:solidFill>
                  <a:srgbClr val="1A1440"/>
                </a:solidFill>
                <a:latin typeface="Calibri"/>
              </a:rPr>
              <a:t> is a metric with a value somebody is asked to hit, and a person paid on a target works to hit it.</a:t>
            </a:r>
          </a:p>
        </p:txBody>
      </p:sp>
      <p:sp>
        <p:nvSpPr>
          <p:cNvPr id="10" name="Rounded Rectangle 9"/>
          <p:cNvSpPr/>
          <p:nvPr/>
        </p:nvSpPr>
        <p:spPr>
          <a:xfrm>
            <a:off x="530352" y="2859024"/>
            <a:ext cx="11130991" cy="10744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676656" y="2987040"/>
            <a:ext cx="45720" cy="8183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7824" y="2977896"/>
            <a:ext cx="10564063" cy="891540"/>
          </a:xfrm>
          <a:prstGeom prst="rect">
            <a:avLst/>
          </a:prstGeom>
          <a:noFill/>
        </p:spPr>
        <p:txBody>
          <a:bodyPr wrap="square" anchor="ctr" lIns="0" rIns="0" tIns="0" bIns="0">
            <a:spAutoFit/>
          </a:bodyPr>
          <a:lstStyle/>
          <a:p>
            <a:r>
              <a:rPr sz="1500" b="1">
                <a:solidFill>
                  <a:srgbClr val="5B3FD6"/>
                </a:solidFill>
                <a:latin typeface="Calibri"/>
              </a:rPr>
              <a:t>Who needs the answer. </a:t>
            </a:r>
            <a:r>
              <a:rPr sz="1500" b="0" i="0">
                <a:solidFill>
                  <a:srgbClr val="1A1440"/>
                </a:solidFill>
                <a:latin typeface="Calibri"/>
              </a:rPr>
              <a:t>A school canteen's owner (invented), whose kitchen cooks rice to the count of tokens the counter hands out and who pays the servers by the same count: a count that drifts from the plates wastes rice and money every day.</a:t>
            </a:r>
          </a:p>
        </p:txBody>
      </p:sp>
      <p:sp>
        <p:nvSpPr>
          <p:cNvPr id="13" name="Rectangle 12"/>
          <p:cNvSpPr/>
          <p:nvPr/>
        </p:nvSpPr>
        <p:spPr>
          <a:xfrm>
            <a:off x="1853145" y="4664964"/>
            <a:ext cx="8485403" cy="18288"/>
          </a:xfrm>
          <a:prstGeom prst="rect">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530352" y="4098036"/>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THE JOB</a:t>
            </a:r>
          </a:p>
        </p:txBody>
      </p:sp>
      <p:sp>
        <p:nvSpPr>
          <p:cNvPr id="15" name="Oval 14"/>
          <p:cNvSpPr/>
          <p:nvPr/>
        </p:nvSpPr>
        <p:spPr>
          <a:xfrm>
            <a:off x="1752561" y="4573524"/>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ounded Rectangle 15"/>
          <p:cNvSpPr/>
          <p:nvPr/>
        </p:nvSpPr>
        <p:spPr>
          <a:xfrm>
            <a:off x="530352" y="4985004"/>
            <a:ext cx="2645587"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694944" y="5131308"/>
            <a:ext cx="2316403" cy="251205"/>
          </a:xfrm>
          <a:prstGeom prst="rect">
            <a:avLst/>
          </a:prstGeom>
          <a:noFill/>
        </p:spPr>
        <p:txBody>
          <a:bodyPr wrap="square" anchor="t" lIns="0" rIns="0" tIns="0" bIns="0">
            <a:spAutoFit/>
          </a:bodyPr>
          <a:lstStyle/>
          <a:p>
            <a:pPr algn="l"/>
            <a:r>
              <a:rPr sz="1300" b="1" i="0">
                <a:solidFill>
                  <a:srgbClr val="1A0F5C"/>
                </a:solidFill>
                <a:latin typeface="Calibri"/>
              </a:rPr>
              <a:t>What is it for?</a:t>
            </a:r>
          </a:p>
        </p:txBody>
      </p:sp>
      <p:sp>
        <p:nvSpPr>
          <p:cNvPr id="18" name="TextBox 17"/>
          <p:cNvSpPr txBox="1"/>
          <p:nvPr/>
        </p:nvSpPr>
        <p:spPr>
          <a:xfrm>
            <a:off x="694944" y="5419090"/>
            <a:ext cx="2316403" cy="366776"/>
          </a:xfrm>
          <a:prstGeom prst="rect">
            <a:avLst/>
          </a:prstGeom>
          <a:noFill/>
        </p:spPr>
        <p:txBody>
          <a:bodyPr wrap="square" anchor="t" lIns="0" rIns="0" tIns="0" bIns="0">
            <a:spAutoFit/>
          </a:bodyPr>
          <a:lstStyle/>
          <a:p>
            <a:pPr algn="l"/>
            <a:r>
              <a:rPr sz="1000" b="0" i="0">
                <a:solidFill>
                  <a:srgbClr val="6B6690"/>
                </a:solidFill>
                <a:latin typeface="Calibri"/>
              </a:rPr>
              <a:t>The decision it feeds, and who makes it.</a:t>
            </a:r>
          </a:p>
        </p:txBody>
      </p:sp>
      <p:sp>
        <p:nvSpPr>
          <p:cNvPr id="19" name="TextBox 18"/>
          <p:cNvSpPr txBox="1"/>
          <p:nvPr/>
        </p:nvSpPr>
        <p:spPr>
          <a:xfrm>
            <a:off x="3358819" y="4098036"/>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THE PULL</a:t>
            </a:r>
          </a:p>
        </p:txBody>
      </p:sp>
      <p:sp>
        <p:nvSpPr>
          <p:cNvPr id="20" name="Oval 19"/>
          <p:cNvSpPr/>
          <p:nvPr/>
        </p:nvSpPr>
        <p:spPr>
          <a:xfrm>
            <a:off x="4581029" y="4573524"/>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ounded Rectangle 20"/>
          <p:cNvSpPr/>
          <p:nvPr/>
        </p:nvSpPr>
        <p:spPr>
          <a:xfrm>
            <a:off x="3358819" y="4985004"/>
            <a:ext cx="2645587"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3523411" y="5131308"/>
            <a:ext cx="2316403" cy="251205"/>
          </a:xfrm>
          <a:prstGeom prst="rect">
            <a:avLst/>
          </a:prstGeom>
          <a:noFill/>
        </p:spPr>
        <p:txBody>
          <a:bodyPr wrap="square" anchor="t" lIns="0" rIns="0" tIns="0" bIns="0">
            <a:spAutoFit/>
          </a:bodyPr>
          <a:lstStyle/>
          <a:p>
            <a:pPr algn="l"/>
            <a:r>
              <a:rPr sz="1300" b="1" i="0">
                <a:solidFill>
                  <a:srgbClr val="1A0F5C"/>
                </a:solidFill>
                <a:latin typeface="Calibri"/>
              </a:rPr>
              <a:t>What did pay change?</a:t>
            </a:r>
          </a:p>
        </p:txBody>
      </p:sp>
      <p:sp>
        <p:nvSpPr>
          <p:cNvPr id="23" name="TextBox 22"/>
          <p:cNvSpPr txBox="1"/>
          <p:nvPr/>
        </p:nvSpPr>
        <p:spPr>
          <a:xfrm>
            <a:off x="3523411" y="5419090"/>
            <a:ext cx="2316403" cy="201676"/>
          </a:xfrm>
          <a:prstGeom prst="rect">
            <a:avLst/>
          </a:prstGeom>
          <a:noFill/>
        </p:spPr>
        <p:txBody>
          <a:bodyPr wrap="square" anchor="t" lIns="0" rIns="0" tIns="0" bIns="0">
            <a:spAutoFit/>
          </a:bodyPr>
          <a:lstStyle/>
          <a:p>
            <a:pPr algn="l"/>
            <a:r>
              <a:rPr sz="1000" b="0" i="0">
                <a:solidFill>
                  <a:srgbClr val="6B6690"/>
                </a:solidFill>
                <a:latin typeface="Calibri"/>
              </a:rPr>
              <a:t>The count the servers were paid on.</a:t>
            </a:r>
          </a:p>
        </p:txBody>
      </p:sp>
      <p:sp>
        <p:nvSpPr>
          <p:cNvPr id="24" name="TextBox 23"/>
          <p:cNvSpPr txBox="1"/>
          <p:nvPr/>
        </p:nvSpPr>
        <p:spPr>
          <a:xfrm>
            <a:off x="6187287" y="4098036"/>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THE COST</a:t>
            </a:r>
          </a:p>
        </p:txBody>
      </p:sp>
      <p:sp>
        <p:nvSpPr>
          <p:cNvPr id="25" name="Oval 24"/>
          <p:cNvSpPr/>
          <p:nvPr/>
        </p:nvSpPr>
        <p:spPr>
          <a:xfrm>
            <a:off x="7409497" y="4573524"/>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ounded Rectangle 25"/>
          <p:cNvSpPr/>
          <p:nvPr/>
        </p:nvSpPr>
        <p:spPr>
          <a:xfrm>
            <a:off x="6187287" y="4985004"/>
            <a:ext cx="2645587"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6351879" y="5131308"/>
            <a:ext cx="2316403" cy="251205"/>
          </a:xfrm>
          <a:prstGeom prst="rect">
            <a:avLst/>
          </a:prstGeom>
          <a:noFill/>
        </p:spPr>
        <p:txBody>
          <a:bodyPr wrap="square" anchor="t" lIns="0" rIns="0" tIns="0" bIns="0">
            <a:spAutoFit/>
          </a:bodyPr>
          <a:lstStyle/>
          <a:p>
            <a:pPr algn="l"/>
            <a:r>
              <a:rPr sz="1300" b="1" i="0">
                <a:solidFill>
                  <a:srgbClr val="1A0F5C"/>
                </a:solidFill>
                <a:latin typeface="Calibri"/>
              </a:rPr>
              <a:t>What did it cost?</a:t>
            </a:r>
          </a:p>
        </p:txBody>
      </p:sp>
      <p:sp>
        <p:nvSpPr>
          <p:cNvPr id="28" name="TextBox 27"/>
          <p:cNvSpPr txBox="1"/>
          <p:nvPr/>
        </p:nvSpPr>
        <p:spPr>
          <a:xfrm>
            <a:off x="6351879" y="5419090"/>
            <a:ext cx="2316403" cy="201676"/>
          </a:xfrm>
          <a:prstGeom prst="rect">
            <a:avLst/>
          </a:prstGeom>
          <a:noFill/>
        </p:spPr>
        <p:txBody>
          <a:bodyPr wrap="square" anchor="t" lIns="0" rIns="0" tIns="0" bIns="0">
            <a:spAutoFit/>
          </a:bodyPr>
          <a:lstStyle/>
          <a:p>
            <a:pPr algn="l"/>
            <a:r>
              <a:rPr sz="1000" b="0" i="0">
                <a:solidFill>
                  <a:srgbClr val="6B6690"/>
                </a:solidFill>
                <a:latin typeface="Calibri"/>
              </a:rPr>
              <a:t>Rice cooked from the wrong count.</a:t>
            </a:r>
          </a:p>
        </p:txBody>
      </p:sp>
      <p:sp>
        <p:nvSpPr>
          <p:cNvPr id="29" name="TextBox 28"/>
          <p:cNvSpPr txBox="1"/>
          <p:nvPr/>
        </p:nvSpPr>
        <p:spPr>
          <a:xfrm>
            <a:off x="9015755" y="4098036"/>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THE TEST</a:t>
            </a:r>
          </a:p>
        </p:txBody>
      </p:sp>
      <p:sp>
        <p:nvSpPr>
          <p:cNvPr id="30" name="Oval 29"/>
          <p:cNvSpPr/>
          <p:nvPr/>
        </p:nvSpPr>
        <p:spPr>
          <a:xfrm>
            <a:off x="10237965" y="4573524"/>
            <a:ext cx="201168" cy="201168"/>
          </a:xfrm>
          <a:prstGeom prst="ellipse">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ounded Rectangle 30"/>
          <p:cNvSpPr/>
          <p:nvPr/>
        </p:nvSpPr>
        <p:spPr>
          <a:xfrm>
            <a:off x="9015755" y="4985004"/>
            <a:ext cx="2645587" cy="1076960"/>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9180347" y="5131308"/>
            <a:ext cx="2316403" cy="251205"/>
          </a:xfrm>
          <a:prstGeom prst="rect">
            <a:avLst/>
          </a:prstGeom>
          <a:noFill/>
        </p:spPr>
        <p:txBody>
          <a:bodyPr wrap="square" anchor="t" lIns="0" rIns="0" tIns="0" bIns="0">
            <a:spAutoFit/>
          </a:bodyPr>
          <a:lstStyle/>
          <a:p>
            <a:pPr algn="l"/>
            <a:r>
              <a:rPr sz="1300" b="1" i="0">
                <a:solidFill>
                  <a:srgbClr val="FFFFFF"/>
                </a:solidFill>
                <a:latin typeface="Calibri"/>
              </a:rPr>
              <a:t>Is it safe to pay for?</a:t>
            </a:r>
          </a:p>
        </p:txBody>
      </p:sp>
      <p:sp>
        <p:nvSpPr>
          <p:cNvPr id="33" name="TextBox 32"/>
          <p:cNvSpPr txBox="1"/>
          <p:nvPr/>
        </p:nvSpPr>
        <p:spPr>
          <a:xfrm>
            <a:off x="9180347" y="5419090"/>
            <a:ext cx="2316403" cy="366776"/>
          </a:xfrm>
          <a:prstGeom prst="rect">
            <a:avLst/>
          </a:prstGeom>
          <a:noFill/>
        </p:spPr>
        <p:txBody>
          <a:bodyPr wrap="square" anchor="t" lIns="0" rIns="0" tIns="0" bIns="0">
            <a:spAutoFit/>
          </a:bodyPr>
          <a:lstStyle/>
          <a:p>
            <a:pPr algn="l"/>
            <a:r>
              <a:rPr sz="1000" b="0" i="0">
                <a:solidFill>
                  <a:srgbClr val="CFC9EE"/>
                </a:solidFill>
                <a:latin typeface="Calibri"/>
              </a:rPr>
              <a:t>Could a team raise it while the goal got no better?</a:t>
            </a:r>
          </a:p>
        </p:txBody>
      </p:sp>
      <p:sp>
        <p:nvSpPr>
          <p:cNvPr id="34" name="Oval 33"/>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640080" y="6437376"/>
            <a:ext cx="1240440" cy="152146"/>
          </a:xfrm>
          <a:prstGeom prst="rect">
            <a:avLst/>
          </a:prstGeom>
          <a:noFill/>
        </p:spPr>
        <p:txBody>
          <a:bodyPr wrap="square" anchor="t" lIns="0" rIns="0" tIns="0" bIns="0">
            <a:spAutoFit/>
          </a:bodyPr>
          <a:lstStyle/>
          <a:p>
            <a:pPr algn="l"/>
            <a:r>
              <a:rPr sz="700" b="1" i="0">
                <a:solidFill>
                  <a:srgbClr val="5B3FD6"/>
                </a:solidFill>
                <a:latin typeface="Calibri"/>
              </a:rPr>
              <a:t>What is a number for?</a:t>
            </a:r>
          </a:p>
        </p:txBody>
      </p:sp>
      <p:sp>
        <p:nvSpPr>
          <p:cNvPr id="36" name="Oval 35"/>
          <p:cNvSpPr/>
          <p:nvPr/>
        </p:nvSpPr>
        <p:spPr>
          <a:xfrm>
            <a:off x="197196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2081688"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Which number to chase?</a:t>
            </a:r>
          </a:p>
        </p:txBody>
      </p:sp>
      <p:sp>
        <p:nvSpPr>
          <p:cNvPr id="38" name="Oval 37"/>
          <p:cNvSpPr/>
          <p:nvPr/>
        </p:nvSpPr>
        <p:spPr>
          <a:xfrm>
            <a:off x="345957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3569303"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Which number warns?</a:t>
            </a:r>
          </a:p>
        </p:txBody>
      </p:sp>
      <p:sp>
        <p:nvSpPr>
          <p:cNvPr id="40" name="Oval 39"/>
          <p:cNvSpPr/>
          <p:nvPr/>
        </p:nvSpPr>
        <p:spPr>
          <a:xfrm>
            <a:off x="480917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4918900"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Which four lines?</a:t>
            </a:r>
          </a:p>
        </p:txBody>
      </p:sp>
      <p:sp>
        <p:nvSpPr>
          <p:cNvPr id="42" name="Oval 41"/>
          <p:cNvSpPr/>
          <p:nvPr/>
        </p:nvSpPr>
        <p:spPr>
          <a:xfrm>
            <a:off x="606675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TextBox 42"/>
          <p:cNvSpPr txBox="1"/>
          <p:nvPr/>
        </p:nvSpPr>
        <p:spPr>
          <a:xfrm>
            <a:off x="6176486"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How is a number gamed?</a:t>
            </a:r>
          </a:p>
        </p:txBody>
      </p:sp>
      <p:sp>
        <p:nvSpPr>
          <p:cNvPr id="44" name="Oval 43"/>
          <p:cNvSpPr/>
          <p:nvPr/>
        </p:nvSpPr>
        <p:spPr>
          <a:xfrm>
            <a:off x="755437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TextBox 44"/>
          <p:cNvSpPr txBox="1"/>
          <p:nvPr/>
        </p:nvSpPr>
        <p:spPr>
          <a:xfrm>
            <a:off x="766410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the page hold?</a:t>
            </a:r>
          </a:p>
        </p:txBody>
      </p:sp>
      <p:sp>
        <p:nvSpPr>
          <p:cNvPr id="46" name="Oval 45"/>
          <p:cNvSpPr/>
          <p:nvPr/>
        </p:nvSpPr>
        <p:spPr>
          <a:xfrm>
            <a:off x="91339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TextBox 46"/>
          <p:cNvSpPr txBox="1"/>
          <p:nvPr/>
        </p:nvSpPr>
        <p:spPr>
          <a:xfrm>
            <a:off x="9243726"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an hour count?</a:t>
            </a:r>
          </a:p>
        </p:txBody>
      </p:sp>
      <p:sp>
        <p:nvSpPr>
          <p:cNvPr id="48" name="TextBox 47"/>
          <p:cNvSpPr txBox="1"/>
          <p:nvPr/>
        </p:nvSpPr>
        <p:spPr>
          <a:xfrm>
            <a:off x="10713624" y="6437376"/>
            <a:ext cx="256032" cy="152146"/>
          </a:xfrm>
          <a:prstGeom prst="rect">
            <a:avLst/>
          </a:prstGeom>
          <a:noFill/>
        </p:spPr>
        <p:txBody>
          <a:bodyPr wrap="square" anchor="t" lIns="0" rIns="0" tIns="0" bIns="0">
            <a:spAutoFit/>
          </a:bodyPr>
          <a:lstStyle/>
          <a:p>
            <a:pPr algn="l"/>
            <a:r>
              <a:rPr sz="700" b="0" i="0">
                <a:solidFill>
                  <a:srgbClr val="6B6690"/>
                </a:solidFill>
                <a:latin typeface="Calibri"/>
              </a:rPr>
              <a:t>…</a:t>
            </a:r>
          </a:p>
        </p:txBody>
      </p:sp>
      <p:sp>
        <p:nvSpPr>
          <p:cNvPr id="49" name="TextBox 48"/>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S6  ·  7 / 93</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MONDAY  ·  BUSINESS METRIC DESIGN  ·  UBER, HYDERABAD</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Which teacher number can rise as children learn less?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A principal (invented) proposes three numbers to judge teachers by. Which could a teacher raise while the children learned less?</a:t>
            </a:r>
          </a:p>
        </p:txBody>
      </p:sp>
      <p:sp>
        <p:nvSpPr>
          <p:cNvPr id="9" name="Rounded Rectangle 8"/>
          <p:cNvSpPr/>
          <p:nvPr/>
        </p:nvSpPr>
        <p:spPr>
          <a:xfrm>
            <a:off x="530352" y="1956816"/>
            <a:ext cx="2645587" cy="1964436"/>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731519"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1" name="Picture 10" descr="clipboard-check_5363c6961e3d.png"/>
          <p:cNvPicPr>
            <a:picLocks noChangeAspect="1"/>
          </p:cNvPicPr>
          <p:nvPr/>
        </p:nvPicPr>
        <p:blipFill>
          <a:blip r:embed="rId4"/>
          <a:stretch>
            <a:fillRect/>
          </a:stretch>
        </p:blipFill>
        <p:spPr>
          <a:xfrm>
            <a:off x="841247" y="2267712"/>
            <a:ext cx="237744" cy="237744"/>
          </a:xfrm>
          <a:prstGeom prst="rect">
            <a:avLst/>
          </a:prstGeom>
        </p:spPr>
      </p:pic>
      <p:sp>
        <p:nvSpPr>
          <p:cNvPr id="12" name="TextBox 11"/>
          <p:cNvSpPr txBox="1"/>
          <p:nvPr/>
        </p:nvSpPr>
        <p:spPr>
          <a:xfrm>
            <a:off x="731519" y="2724912"/>
            <a:ext cx="2243251" cy="160401"/>
          </a:xfrm>
          <a:prstGeom prst="rect">
            <a:avLst/>
          </a:prstGeom>
          <a:noFill/>
        </p:spPr>
        <p:txBody>
          <a:bodyPr wrap="square" anchor="t" lIns="0" rIns="0" tIns="0" bIns="0">
            <a:spAutoFit/>
          </a:bodyPr>
          <a:lstStyle/>
          <a:p>
            <a:pPr algn="l"/>
            <a:r>
              <a:rPr sz="750" b="1" i="0" spc="250">
                <a:solidFill>
                  <a:srgbClr val="5B3FD6"/>
                </a:solidFill>
                <a:latin typeface="Calibri"/>
              </a:rPr>
              <a:t>A</a:t>
            </a:r>
          </a:p>
        </p:txBody>
      </p:sp>
      <p:sp>
        <p:nvSpPr>
          <p:cNvPr id="13" name="TextBox 12"/>
          <p:cNvSpPr txBox="1"/>
          <p:nvPr/>
        </p:nvSpPr>
        <p:spPr>
          <a:xfrm>
            <a:off x="731519" y="2962656"/>
            <a:ext cx="2243251" cy="267716"/>
          </a:xfrm>
          <a:prstGeom prst="rect">
            <a:avLst/>
          </a:prstGeom>
          <a:noFill/>
        </p:spPr>
        <p:txBody>
          <a:bodyPr wrap="square" anchor="t" lIns="0" rIns="0" tIns="0" bIns="0">
            <a:spAutoFit/>
          </a:bodyPr>
          <a:lstStyle/>
          <a:p>
            <a:pPr algn="l"/>
            <a:r>
              <a:rPr sz="1400" b="1" i="0">
                <a:solidFill>
                  <a:srgbClr val="1A0F5C"/>
                </a:solidFill>
                <a:latin typeface="Calibri"/>
              </a:rPr>
              <a:t>Attendance marked</a:t>
            </a:r>
          </a:p>
        </p:txBody>
      </p:sp>
      <p:sp>
        <p:nvSpPr>
          <p:cNvPr id="14" name="TextBox 13"/>
          <p:cNvSpPr txBox="1"/>
          <p:nvPr/>
        </p:nvSpPr>
        <p:spPr>
          <a:xfrm>
            <a:off x="731519" y="3303524"/>
            <a:ext cx="2243251" cy="399796"/>
          </a:xfrm>
          <a:prstGeom prst="rect">
            <a:avLst/>
          </a:prstGeom>
          <a:noFill/>
        </p:spPr>
        <p:txBody>
          <a:bodyPr wrap="square" anchor="t" lIns="0" rIns="0" tIns="0" bIns="0">
            <a:spAutoFit/>
          </a:bodyPr>
          <a:lstStyle/>
          <a:p>
            <a:pPr algn="l"/>
            <a:r>
              <a:rPr sz="1100" b="0" i="0">
                <a:solidFill>
                  <a:srgbClr val="6B6690"/>
                </a:solidFill>
                <a:latin typeface="Calibri"/>
              </a:rPr>
              <a:t>Only the share of children marked present.</a:t>
            </a:r>
          </a:p>
        </p:txBody>
      </p:sp>
      <p:sp>
        <p:nvSpPr>
          <p:cNvPr id="15" name="Rounded Rectangle 14"/>
          <p:cNvSpPr/>
          <p:nvPr/>
        </p:nvSpPr>
        <p:spPr>
          <a:xfrm>
            <a:off x="3358819" y="1956816"/>
            <a:ext cx="2645587" cy="1964436"/>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Oval 15"/>
          <p:cNvSpPr/>
          <p:nvPr/>
        </p:nvSpPr>
        <p:spPr>
          <a:xfrm>
            <a:off x="3559987"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7" name="Picture 16" descr="book-open_a730d506939d.png"/>
          <p:cNvPicPr>
            <a:picLocks noChangeAspect="1"/>
          </p:cNvPicPr>
          <p:nvPr/>
        </p:nvPicPr>
        <p:blipFill>
          <a:blip r:embed="rId5"/>
          <a:stretch>
            <a:fillRect/>
          </a:stretch>
        </p:blipFill>
        <p:spPr>
          <a:xfrm>
            <a:off x="3669715" y="2267712"/>
            <a:ext cx="237744" cy="237744"/>
          </a:xfrm>
          <a:prstGeom prst="rect">
            <a:avLst/>
          </a:prstGeom>
        </p:spPr>
      </p:pic>
      <p:sp>
        <p:nvSpPr>
          <p:cNvPr id="18" name="TextBox 17"/>
          <p:cNvSpPr txBox="1"/>
          <p:nvPr/>
        </p:nvSpPr>
        <p:spPr>
          <a:xfrm>
            <a:off x="3559987" y="2724912"/>
            <a:ext cx="2243251" cy="160401"/>
          </a:xfrm>
          <a:prstGeom prst="rect">
            <a:avLst/>
          </a:prstGeom>
          <a:noFill/>
        </p:spPr>
        <p:txBody>
          <a:bodyPr wrap="square" anchor="t" lIns="0" rIns="0" tIns="0" bIns="0">
            <a:spAutoFit/>
          </a:bodyPr>
          <a:lstStyle/>
          <a:p>
            <a:pPr algn="l"/>
            <a:r>
              <a:rPr sz="750" b="1" i="0" spc="250">
                <a:solidFill>
                  <a:srgbClr val="5B3FD6"/>
                </a:solidFill>
                <a:latin typeface="Calibri"/>
              </a:rPr>
              <a:t>B</a:t>
            </a:r>
          </a:p>
        </p:txBody>
      </p:sp>
      <p:sp>
        <p:nvSpPr>
          <p:cNvPr id="19" name="TextBox 18"/>
          <p:cNvSpPr txBox="1"/>
          <p:nvPr/>
        </p:nvSpPr>
        <p:spPr>
          <a:xfrm>
            <a:off x="3559987" y="2962656"/>
            <a:ext cx="2243251" cy="267716"/>
          </a:xfrm>
          <a:prstGeom prst="rect">
            <a:avLst/>
          </a:prstGeom>
          <a:noFill/>
        </p:spPr>
        <p:txBody>
          <a:bodyPr wrap="square" anchor="t" lIns="0" rIns="0" tIns="0" bIns="0">
            <a:spAutoFit/>
          </a:bodyPr>
          <a:lstStyle/>
          <a:p>
            <a:pPr algn="l"/>
            <a:r>
              <a:rPr sz="1400" b="1" i="0">
                <a:solidFill>
                  <a:srgbClr val="1A0F5C"/>
                </a:solidFill>
                <a:latin typeface="Calibri"/>
              </a:rPr>
              <a:t>Homework collected</a:t>
            </a:r>
          </a:p>
        </p:txBody>
      </p:sp>
      <p:sp>
        <p:nvSpPr>
          <p:cNvPr id="20" name="TextBox 19"/>
          <p:cNvSpPr txBox="1"/>
          <p:nvPr/>
        </p:nvSpPr>
        <p:spPr>
          <a:xfrm>
            <a:off x="3559987" y="3303524"/>
            <a:ext cx="2243251" cy="399796"/>
          </a:xfrm>
          <a:prstGeom prst="rect">
            <a:avLst/>
          </a:prstGeom>
          <a:noFill/>
        </p:spPr>
        <p:txBody>
          <a:bodyPr wrap="square" anchor="t" lIns="0" rIns="0" tIns="0" bIns="0">
            <a:spAutoFit/>
          </a:bodyPr>
          <a:lstStyle/>
          <a:p>
            <a:pPr algn="l"/>
            <a:r>
              <a:rPr sz="1100" b="0" i="0">
                <a:solidFill>
                  <a:srgbClr val="6B6690"/>
                </a:solidFill>
                <a:latin typeface="Calibri"/>
              </a:rPr>
              <a:t>Only the notebooks handed in each week.</a:t>
            </a:r>
          </a:p>
        </p:txBody>
      </p:sp>
      <p:sp>
        <p:nvSpPr>
          <p:cNvPr id="21" name="Rounded Rectangle 20"/>
          <p:cNvSpPr/>
          <p:nvPr/>
        </p:nvSpPr>
        <p:spPr>
          <a:xfrm>
            <a:off x="6187287" y="1956816"/>
            <a:ext cx="2645587" cy="1964436"/>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Oval 21"/>
          <p:cNvSpPr/>
          <p:nvPr/>
        </p:nvSpPr>
        <p:spPr>
          <a:xfrm>
            <a:off x="6388455"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3" name="Picture 22" descr="file-text_5c86fecc2881.png"/>
          <p:cNvPicPr>
            <a:picLocks noChangeAspect="1"/>
          </p:cNvPicPr>
          <p:nvPr/>
        </p:nvPicPr>
        <p:blipFill>
          <a:blip r:embed="rId6"/>
          <a:stretch>
            <a:fillRect/>
          </a:stretch>
        </p:blipFill>
        <p:spPr>
          <a:xfrm>
            <a:off x="6498183" y="2267712"/>
            <a:ext cx="237744" cy="237744"/>
          </a:xfrm>
          <a:prstGeom prst="rect">
            <a:avLst/>
          </a:prstGeom>
        </p:spPr>
      </p:pic>
      <p:sp>
        <p:nvSpPr>
          <p:cNvPr id="24" name="TextBox 23"/>
          <p:cNvSpPr txBox="1"/>
          <p:nvPr/>
        </p:nvSpPr>
        <p:spPr>
          <a:xfrm>
            <a:off x="6388455" y="2724912"/>
            <a:ext cx="2243251" cy="160401"/>
          </a:xfrm>
          <a:prstGeom prst="rect">
            <a:avLst/>
          </a:prstGeom>
          <a:noFill/>
        </p:spPr>
        <p:txBody>
          <a:bodyPr wrap="square" anchor="t" lIns="0" rIns="0" tIns="0" bIns="0">
            <a:spAutoFit/>
          </a:bodyPr>
          <a:lstStyle/>
          <a:p>
            <a:pPr algn="l"/>
            <a:r>
              <a:rPr sz="750" b="1" i="0" spc="250">
                <a:solidFill>
                  <a:srgbClr val="5B3FD6"/>
                </a:solidFill>
                <a:latin typeface="Calibri"/>
              </a:rPr>
              <a:t>C</a:t>
            </a:r>
          </a:p>
        </p:txBody>
      </p:sp>
      <p:sp>
        <p:nvSpPr>
          <p:cNvPr id="25" name="TextBox 24"/>
          <p:cNvSpPr txBox="1"/>
          <p:nvPr/>
        </p:nvSpPr>
        <p:spPr>
          <a:xfrm>
            <a:off x="6388455" y="2962656"/>
            <a:ext cx="2243251" cy="267716"/>
          </a:xfrm>
          <a:prstGeom prst="rect">
            <a:avLst/>
          </a:prstGeom>
          <a:noFill/>
        </p:spPr>
        <p:txBody>
          <a:bodyPr wrap="square" anchor="t" lIns="0" rIns="0" tIns="0" bIns="0">
            <a:spAutoFit/>
          </a:bodyPr>
          <a:lstStyle/>
          <a:p>
            <a:pPr algn="l"/>
            <a:r>
              <a:rPr sz="1400" b="1" i="0">
                <a:solidFill>
                  <a:srgbClr val="1A0F5C"/>
                </a:solidFill>
                <a:latin typeface="Calibri"/>
              </a:rPr>
              <a:t>Term exam average</a:t>
            </a:r>
          </a:p>
        </p:txBody>
      </p:sp>
      <p:sp>
        <p:nvSpPr>
          <p:cNvPr id="26" name="TextBox 25"/>
          <p:cNvSpPr txBox="1"/>
          <p:nvPr/>
        </p:nvSpPr>
        <p:spPr>
          <a:xfrm>
            <a:off x="6388455" y="3303524"/>
            <a:ext cx="2243251" cy="399796"/>
          </a:xfrm>
          <a:prstGeom prst="rect">
            <a:avLst/>
          </a:prstGeom>
          <a:noFill/>
        </p:spPr>
        <p:txBody>
          <a:bodyPr wrap="square" anchor="t" lIns="0" rIns="0" tIns="0" bIns="0">
            <a:spAutoFit/>
          </a:bodyPr>
          <a:lstStyle/>
          <a:p>
            <a:pPr algn="l"/>
            <a:r>
              <a:rPr sz="1100" b="0" i="0">
                <a:solidFill>
                  <a:srgbClr val="6B6690"/>
                </a:solidFill>
                <a:latin typeface="Calibri"/>
              </a:rPr>
              <a:t>Only the class's average mark in the exam.</a:t>
            </a:r>
          </a:p>
        </p:txBody>
      </p:sp>
      <p:sp>
        <p:nvSpPr>
          <p:cNvPr id="27" name="Rounded Rectangle 26"/>
          <p:cNvSpPr/>
          <p:nvPr/>
        </p:nvSpPr>
        <p:spPr>
          <a:xfrm>
            <a:off x="9015755" y="1956816"/>
            <a:ext cx="2645587" cy="1964436"/>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Oval 27"/>
          <p:cNvSpPr/>
          <p:nvPr/>
        </p:nvSpPr>
        <p:spPr>
          <a:xfrm>
            <a:off x="9216923"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9" name="Picture 28" descr="layers_f8ca12c3f279.png"/>
          <p:cNvPicPr>
            <a:picLocks noChangeAspect="1"/>
          </p:cNvPicPr>
          <p:nvPr/>
        </p:nvPicPr>
        <p:blipFill>
          <a:blip r:embed="rId7"/>
          <a:stretch>
            <a:fillRect/>
          </a:stretch>
        </p:blipFill>
        <p:spPr>
          <a:xfrm>
            <a:off x="9326651" y="2267712"/>
            <a:ext cx="237744" cy="237744"/>
          </a:xfrm>
          <a:prstGeom prst="rect">
            <a:avLst/>
          </a:prstGeom>
        </p:spPr>
      </p:pic>
      <p:sp>
        <p:nvSpPr>
          <p:cNvPr id="30" name="TextBox 29"/>
          <p:cNvSpPr txBox="1"/>
          <p:nvPr/>
        </p:nvSpPr>
        <p:spPr>
          <a:xfrm>
            <a:off x="9216923" y="2724912"/>
            <a:ext cx="2243251" cy="160401"/>
          </a:xfrm>
          <a:prstGeom prst="rect">
            <a:avLst/>
          </a:prstGeom>
          <a:noFill/>
        </p:spPr>
        <p:txBody>
          <a:bodyPr wrap="square" anchor="t" lIns="0" rIns="0" tIns="0" bIns="0">
            <a:spAutoFit/>
          </a:bodyPr>
          <a:lstStyle/>
          <a:p>
            <a:pPr algn="l"/>
            <a:r>
              <a:rPr sz="750" b="1" i="0" spc="250">
                <a:solidFill>
                  <a:srgbClr val="5B3FD6"/>
                </a:solidFill>
                <a:latin typeface="Calibri"/>
              </a:rPr>
              <a:t>D</a:t>
            </a:r>
          </a:p>
        </p:txBody>
      </p:sp>
      <p:sp>
        <p:nvSpPr>
          <p:cNvPr id="31" name="TextBox 30"/>
          <p:cNvSpPr txBox="1"/>
          <p:nvPr/>
        </p:nvSpPr>
        <p:spPr>
          <a:xfrm>
            <a:off x="9216923" y="2962656"/>
            <a:ext cx="2243251" cy="267716"/>
          </a:xfrm>
          <a:prstGeom prst="rect">
            <a:avLst/>
          </a:prstGeom>
          <a:noFill/>
        </p:spPr>
        <p:txBody>
          <a:bodyPr wrap="square" anchor="t" lIns="0" rIns="0" tIns="0" bIns="0">
            <a:spAutoFit/>
          </a:bodyPr>
          <a:lstStyle/>
          <a:p>
            <a:pPr algn="l"/>
            <a:r>
              <a:rPr sz="1400" b="1" i="0">
                <a:solidFill>
                  <a:srgbClr val="1A0F5C"/>
                </a:solidFill>
                <a:latin typeface="Calibri"/>
              </a:rPr>
              <a:t>All three of them</a:t>
            </a:r>
          </a:p>
        </p:txBody>
      </p:sp>
      <p:sp>
        <p:nvSpPr>
          <p:cNvPr id="32" name="TextBox 31"/>
          <p:cNvSpPr txBox="1"/>
          <p:nvPr/>
        </p:nvSpPr>
        <p:spPr>
          <a:xfrm>
            <a:off x="9216923" y="3303524"/>
            <a:ext cx="2243251" cy="399796"/>
          </a:xfrm>
          <a:prstGeom prst="rect">
            <a:avLst/>
          </a:prstGeom>
          <a:noFill/>
        </p:spPr>
        <p:txBody>
          <a:bodyPr wrap="square" anchor="t" lIns="0" rIns="0" tIns="0" bIns="0">
            <a:spAutoFit/>
          </a:bodyPr>
          <a:lstStyle/>
          <a:p>
            <a:pPr algn="l"/>
            <a:r>
              <a:rPr sz="1100" b="0" i="0">
                <a:solidFill>
                  <a:srgbClr val="6B6690"/>
                </a:solidFill>
                <a:latin typeface="Calibri"/>
              </a:rPr>
              <a:t>Attendance, homework and the exam average.</a:t>
            </a:r>
          </a:p>
        </p:txBody>
      </p:sp>
      <p:sp>
        <p:nvSpPr>
          <p:cNvPr id="33" name="Oval 32"/>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640080" y="6437376"/>
            <a:ext cx="1240440" cy="152146"/>
          </a:xfrm>
          <a:prstGeom prst="rect">
            <a:avLst/>
          </a:prstGeom>
          <a:noFill/>
        </p:spPr>
        <p:txBody>
          <a:bodyPr wrap="square" anchor="t" lIns="0" rIns="0" tIns="0" bIns="0">
            <a:spAutoFit/>
          </a:bodyPr>
          <a:lstStyle/>
          <a:p>
            <a:pPr algn="l"/>
            <a:r>
              <a:rPr sz="700" b="1" i="0">
                <a:solidFill>
                  <a:srgbClr val="5B3FD6"/>
                </a:solidFill>
                <a:latin typeface="Calibri"/>
              </a:rPr>
              <a:t>What is a number for?</a:t>
            </a:r>
          </a:p>
        </p:txBody>
      </p:sp>
      <p:sp>
        <p:nvSpPr>
          <p:cNvPr id="35" name="Oval 34"/>
          <p:cNvSpPr/>
          <p:nvPr/>
        </p:nvSpPr>
        <p:spPr>
          <a:xfrm>
            <a:off x="197196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2081688"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Which number to chase?</a:t>
            </a:r>
          </a:p>
        </p:txBody>
      </p:sp>
      <p:sp>
        <p:nvSpPr>
          <p:cNvPr id="37" name="Oval 36"/>
          <p:cNvSpPr/>
          <p:nvPr/>
        </p:nvSpPr>
        <p:spPr>
          <a:xfrm>
            <a:off x="345957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3569303"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Which number warns?</a:t>
            </a:r>
          </a:p>
        </p:txBody>
      </p:sp>
      <p:sp>
        <p:nvSpPr>
          <p:cNvPr id="39" name="Oval 38"/>
          <p:cNvSpPr/>
          <p:nvPr/>
        </p:nvSpPr>
        <p:spPr>
          <a:xfrm>
            <a:off x="480917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4918900"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Which four lines?</a:t>
            </a:r>
          </a:p>
        </p:txBody>
      </p:sp>
      <p:sp>
        <p:nvSpPr>
          <p:cNvPr id="41" name="Oval 40"/>
          <p:cNvSpPr/>
          <p:nvPr/>
        </p:nvSpPr>
        <p:spPr>
          <a:xfrm>
            <a:off x="606675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6176486"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How is a number gamed?</a:t>
            </a:r>
          </a:p>
        </p:txBody>
      </p:sp>
      <p:sp>
        <p:nvSpPr>
          <p:cNvPr id="43" name="Oval 42"/>
          <p:cNvSpPr/>
          <p:nvPr/>
        </p:nvSpPr>
        <p:spPr>
          <a:xfrm>
            <a:off x="755437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766410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the page hold?</a:t>
            </a:r>
          </a:p>
        </p:txBody>
      </p:sp>
      <p:sp>
        <p:nvSpPr>
          <p:cNvPr id="45" name="Oval 44"/>
          <p:cNvSpPr/>
          <p:nvPr/>
        </p:nvSpPr>
        <p:spPr>
          <a:xfrm>
            <a:off x="91339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TextBox 45"/>
          <p:cNvSpPr txBox="1"/>
          <p:nvPr/>
        </p:nvSpPr>
        <p:spPr>
          <a:xfrm>
            <a:off x="9243726"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an hour count?</a:t>
            </a:r>
          </a:p>
        </p:txBody>
      </p:sp>
      <p:sp>
        <p:nvSpPr>
          <p:cNvPr id="47" name="TextBox 46"/>
          <p:cNvSpPr txBox="1"/>
          <p:nvPr/>
        </p:nvSpPr>
        <p:spPr>
          <a:xfrm>
            <a:off x="10713624" y="6437376"/>
            <a:ext cx="256032" cy="152146"/>
          </a:xfrm>
          <a:prstGeom prst="rect">
            <a:avLst/>
          </a:prstGeom>
          <a:noFill/>
        </p:spPr>
        <p:txBody>
          <a:bodyPr wrap="square" anchor="t" lIns="0" rIns="0" tIns="0" bIns="0">
            <a:spAutoFit/>
          </a:bodyPr>
          <a:lstStyle/>
          <a:p>
            <a:pPr algn="l"/>
            <a:r>
              <a:rPr sz="700" b="0" i="0">
                <a:solidFill>
                  <a:srgbClr val="6B6690"/>
                </a:solidFill>
                <a:latin typeface="Calibri"/>
              </a:rPr>
              <a:t>…</a:t>
            </a:r>
          </a:p>
        </p:txBody>
      </p:sp>
      <p:sp>
        <p:nvSpPr>
          <p:cNvPr id="48" name="TextBox 47"/>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S7  ·  8 / 93</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MONDAY  ·  BUSINESS METRIC DESIGN  ·  UBER, HYDERABAD</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Answer: d, all three can rise with no extra learning</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How could each number rise, and what does that make each of them?</a:t>
            </a:r>
          </a:p>
        </p:txBody>
      </p:sp>
      <p:graphicFrame>
        <p:nvGraphicFramePr>
          <p:cNvPr id="9" name="Table 8"/>
          <p:cNvGraphicFramePr>
            <a:graphicFrameLocks noGrp="1"/>
          </p:cNvGraphicFramePr>
          <p:nvPr/>
        </p:nvGraphicFramePr>
        <p:xfrm>
          <a:off x="530352" y="1956816"/>
          <a:ext cx="11130990" cy="1721104"/>
        </p:xfrm>
        <a:graphic>
          <a:graphicData uri="http://schemas.openxmlformats.org/drawingml/2006/table">
            <a:tbl>
              <a:tblPr firstRow="0" bandRow="0">
                <a:tableStyleId>{2D5ABB26-0587-4C30-8999-92F81FD0307C}</a:tableStyleId>
              </a:tblPr>
              <a:tblGrid>
                <a:gridCol w="2805744"/>
                <a:gridCol w="8325246"/>
              </a:tblGrid>
              <a:tr h="369824">
                <a:tc>
                  <a:txBody>
                    <a:bodyPr/>
                    <a:lstStyle/>
                    <a:p>
                      <a:r>
                        <a:rPr sz="1450" b="1" i="0">
                          <a:solidFill>
                            <a:srgbClr val="FFFFFF"/>
                          </a:solidFill>
                          <a:latin typeface="Calibri"/>
                        </a:rPr>
                        <a:t>The number</a:t>
                      </a:r>
                    </a:p>
                  </a:txBody>
                  <a:tcPr marL="101600" marR="101600" marT="38100" marB="38100" anchor="ctr">
                    <a:solidFill>
                      <a:srgbClr val="1A0F5C"/>
                    </a:solidFill>
                  </a:tcPr>
                </a:tc>
                <a:tc>
                  <a:txBody>
                    <a:bodyPr/>
                    <a:lstStyle/>
                    <a:p>
                      <a:r>
                        <a:rPr sz="1450" b="1" i="0">
                          <a:solidFill>
                            <a:srgbClr val="FFFFFF"/>
                          </a:solidFill>
                          <a:latin typeface="Calibri"/>
                        </a:rPr>
                        <a:t>How a teacher could raise it while the children learned less</a:t>
                      </a:r>
                    </a:p>
                  </a:txBody>
                  <a:tcPr marL="101600" marR="101600" marT="38100" marB="38100" anchor="ctr">
                    <a:solidFill>
                      <a:srgbClr val="1A0F5C"/>
                    </a:solidFill>
                  </a:tcPr>
                </a:tc>
              </a:tr>
              <a:tr h="369824">
                <a:tc>
                  <a:txBody>
                    <a:bodyPr/>
                    <a:lstStyle/>
                    <a:p>
                      <a:r>
                        <a:rPr sz="1400" b="0" i="0">
                          <a:solidFill>
                            <a:srgbClr val="1A1440"/>
                          </a:solidFill>
                          <a:latin typeface="Calibri"/>
                        </a:rPr>
                        <a:t>Attendance marked</a:t>
                      </a:r>
                    </a:p>
                  </a:txBody>
                  <a:tcPr marL="101600" marR="101600" marT="38100" marB="38100" anchor="ctr">
                    <a:solidFill>
                      <a:srgbClr val="FFFFFF"/>
                    </a:solidFill>
                  </a:tcPr>
                </a:tc>
                <a:tc>
                  <a:txBody>
                    <a:bodyPr/>
                    <a:lstStyle/>
                    <a:p>
                      <a:r>
                        <a:rPr sz="1400" b="0" i="0">
                          <a:solidFill>
                            <a:srgbClr val="1A1440"/>
                          </a:solidFill>
                          <a:latin typeface="Calibri"/>
                        </a:rPr>
                        <a:t>Mark a child present who is not in the room: the register is the teacher's own</a:t>
                      </a:r>
                    </a:p>
                  </a:txBody>
                  <a:tcPr marL="101600" marR="101600" marT="38100" marB="38100" anchor="ctr">
                    <a:solidFill>
                      <a:srgbClr val="FFFFFF"/>
                    </a:solidFill>
                  </a:tcPr>
                </a:tc>
              </a:tr>
              <a:tr h="369824">
                <a:tc>
                  <a:txBody>
                    <a:bodyPr/>
                    <a:lstStyle/>
                    <a:p>
                      <a:r>
                        <a:rPr sz="1400" b="0" i="0">
                          <a:solidFill>
                            <a:srgbClr val="1A1440"/>
                          </a:solidFill>
                          <a:latin typeface="Calibri"/>
                        </a:rPr>
                        <a:t>Homework collected</a:t>
                      </a:r>
                    </a:p>
                  </a:txBody>
                  <a:tcPr marL="101600" marR="101600" marT="38100" marB="38100" anchor="ctr">
                    <a:solidFill>
                      <a:srgbClr val="F4F2FA"/>
                    </a:solidFill>
                  </a:tcPr>
                </a:tc>
                <a:tc>
                  <a:txBody>
                    <a:bodyPr/>
                    <a:lstStyle/>
                    <a:p>
                      <a:r>
                        <a:rPr sz="1400" b="0" i="0">
                          <a:solidFill>
                            <a:srgbClr val="1A1440"/>
                          </a:solidFill>
                          <a:latin typeface="Calibri"/>
                        </a:rPr>
                        <a:t>Collect every notebook and never read one</a:t>
                      </a:r>
                    </a:p>
                  </a:txBody>
                  <a:tcPr marL="101600" marR="101600" marT="38100" marB="38100" anchor="ctr">
                    <a:solidFill>
                      <a:srgbClr val="F4F2FA"/>
                    </a:solidFill>
                  </a:tcPr>
                </a:tc>
              </a:tr>
              <a:tr h="611632">
                <a:tc>
                  <a:txBody>
                    <a:bodyPr/>
                    <a:lstStyle/>
                    <a:p>
                      <a:r>
                        <a:rPr sz="1400" b="0" i="0">
                          <a:solidFill>
                            <a:srgbClr val="1A1440"/>
                          </a:solidFill>
                          <a:latin typeface="Calibri"/>
                        </a:rPr>
                        <a:t>Term exam average</a:t>
                      </a:r>
                    </a:p>
                  </a:txBody>
                  <a:tcPr marL="101600" marR="101600" marT="38100" marB="38100" anchor="ctr">
                    <a:solidFill>
                      <a:srgbClr val="FFFFFF"/>
                    </a:solidFill>
                  </a:tcPr>
                </a:tc>
                <a:tc>
                  <a:txBody>
                    <a:bodyPr/>
                    <a:lstStyle/>
                    <a:p>
                      <a:r>
                        <a:rPr sz="1400" b="0" i="0">
                          <a:solidFill>
                            <a:srgbClr val="1A1440"/>
                          </a:solidFill>
                          <a:latin typeface="Calibri"/>
                        </a:rPr>
                        <a:t>Teach only the questions the paper repeats, or keep the weakest children away from the exam</a:t>
                      </a:r>
                    </a:p>
                  </a:txBody>
                  <a:tcPr marL="101600" marR="101600" marT="38100" marB="38100" anchor="ctr">
                    <a:solidFill>
                      <a:srgbClr val="FFFFFF"/>
                    </a:solidFill>
                  </a:tcPr>
                </a:tc>
              </a:tr>
            </a:tbl>
          </a:graphicData>
        </a:graphic>
      </p:graphicFrame>
      <p:sp>
        <p:nvSpPr>
          <p:cNvPr id="10" name="TextBox 9"/>
          <p:cNvSpPr txBox="1"/>
          <p:nvPr/>
        </p:nvSpPr>
        <p:spPr>
          <a:xfrm>
            <a:off x="530352" y="3933952"/>
            <a:ext cx="11130991" cy="1048512"/>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Each number stands in for the children's learning, which nobody can count directly. A </a:t>
            </a:r>
            <a:r>
              <a:rPr sz="1600" b="1" i="0">
                <a:solidFill>
                  <a:srgbClr val="1A1440"/>
                </a:solidFill>
                <a:latin typeface="Calibri"/>
              </a:rPr>
              <a:t>proxy</a:t>
            </a:r>
            <a:r>
              <a:rPr sz="1600" b="0" i="0">
                <a:solidFill>
                  <a:srgbClr val="1A1440"/>
                </a:solidFill>
                <a:latin typeface="Calibri"/>
              </a:rPr>
              <a:t> is a number that stands in for the thing somebody wants. The belief the vote tested is the common one: if the number goes up, the thing it stands for has improved.</a:t>
            </a:r>
          </a:p>
        </p:txBody>
      </p:sp>
      <p:sp>
        <p:nvSpPr>
          <p:cNvPr id="11" name="Oval 10"/>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40080" y="6437376"/>
            <a:ext cx="1240440" cy="152146"/>
          </a:xfrm>
          <a:prstGeom prst="rect">
            <a:avLst/>
          </a:prstGeom>
          <a:noFill/>
        </p:spPr>
        <p:txBody>
          <a:bodyPr wrap="square" anchor="t" lIns="0" rIns="0" tIns="0" bIns="0">
            <a:spAutoFit/>
          </a:bodyPr>
          <a:lstStyle/>
          <a:p>
            <a:pPr algn="l"/>
            <a:r>
              <a:rPr sz="700" b="1" i="0">
                <a:solidFill>
                  <a:srgbClr val="5B3FD6"/>
                </a:solidFill>
                <a:latin typeface="Calibri"/>
              </a:rPr>
              <a:t>What is a number for?</a:t>
            </a:r>
          </a:p>
        </p:txBody>
      </p:sp>
      <p:sp>
        <p:nvSpPr>
          <p:cNvPr id="13" name="Oval 12"/>
          <p:cNvSpPr/>
          <p:nvPr/>
        </p:nvSpPr>
        <p:spPr>
          <a:xfrm>
            <a:off x="197196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2081688"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Which number to chase?</a:t>
            </a:r>
          </a:p>
        </p:txBody>
      </p:sp>
      <p:sp>
        <p:nvSpPr>
          <p:cNvPr id="15" name="Oval 14"/>
          <p:cNvSpPr/>
          <p:nvPr/>
        </p:nvSpPr>
        <p:spPr>
          <a:xfrm>
            <a:off x="345957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3569303"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Which number warns?</a:t>
            </a:r>
          </a:p>
        </p:txBody>
      </p:sp>
      <p:sp>
        <p:nvSpPr>
          <p:cNvPr id="17" name="Oval 16"/>
          <p:cNvSpPr/>
          <p:nvPr/>
        </p:nvSpPr>
        <p:spPr>
          <a:xfrm>
            <a:off x="480917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4918900"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Which four lines?</a:t>
            </a:r>
          </a:p>
        </p:txBody>
      </p:sp>
      <p:sp>
        <p:nvSpPr>
          <p:cNvPr id="19" name="Oval 18"/>
          <p:cNvSpPr/>
          <p:nvPr/>
        </p:nvSpPr>
        <p:spPr>
          <a:xfrm>
            <a:off x="606675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176486"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How is a number gamed?</a:t>
            </a:r>
          </a:p>
        </p:txBody>
      </p:sp>
      <p:sp>
        <p:nvSpPr>
          <p:cNvPr id="21" name="Oval 20"/>
          <p:cNvSpPr/>
          <p:nvPr/>
        </p:nvSpPr>
        <p:spPr>
          <a:xfrm>
            <a:off x="755437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766410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the page hold?</a:t>
            </a:r>
          </a:p>
        </p:txBody>
      </p:sp>
      <p:sp>
        <p:nvSpPr>
          <p:cNvPr id="23" name="Oval 22"/>
          <p:cNvSpPr/>
          <p:nvPr/>
        </p:nvSpPr>
        <p:spPr>
          <a:xfrm>
            <a:off x="91339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9243726"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an hour count?</a:t>
            </a:r>
          </a:p>
        </p:txBody>
      </p:sp>
      <p:sp>
        <p:nvSpPr>
          <p:cNvPr id="25" name="TextBox 24"/>
          <p:cNvSpPr txBox="1"/>
          <p:nvPr/>
        </p:nvSpPr>
        <p:spPr>
          <a:xfrm>
            <a:off x="10713624" y="6437376"/>
            <a:ext cx="256032" cy="152146"/>
          </a:xfrm>
          <a:prstGeom prst="rect">
            <a:avLst/>
          </a:prstGeom>
          <a:noFill/>
        </p:spPr>
        <p:txBody>
          <a:bodyPr wrap="square" anchor="t" lIns="0" rIns="0" tIns="0" bIns="0">
            <a:spAutoFit/>
          </a:bodyPr>
          <a:lstStyle/>
          <a:p>
            <a:pPr algn="l"/>
            <a:r>
              <a:rPr sz="700" b="0" i="0">
                <a:solidFill>
                  <a:srgbClr val="6B6690"/>
                </a:solidFill>
                <a:latin typeface="Calibri"/>
              </a:rPr>
              <a:t>…</a:t>
            </a:r>
          </a:p>
        </p:txBody>
      </p:sp>
      <p:sp>
        <p:nvSpPr>
          <p:cNvPr id="26" name="TextBox 25"/>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S8  ·  9 / 93</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MONDAY  ·  BUSINESS METRIC DESIGN  ·  UBER, HYDERABAD</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Tokens doubled once servers were paid per token</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did ten days of a school canteen's counts do when pay followed tokens (invented)?</a:t>
            </a:r>
          </a:p>
        </p:txBody>
      </p:sp>
      <p:graphicFrame>
        <p:nvGraphicFramePr>
          <p:cNvPr id="9" name="Table 8"/>
          <p:cNvGraphicFramePr>
            <a:graphicFrameLocks noGrp="1"/>
          </p:cNvGraphicFramePr>
          <p:nvPr/>
        </p:nvGraphicFramePr>
        <p:xfrm>
          <a:off x="530352" y="1956816"/>
          <a:ext cx="11130988" cy="1005840"/>
        </p:xfrm>
        <a:graphic>
          <a:graphicData uri="http://schemas.openxmlformats.org/drawingml/2006/table">
            <a:tbl>
              <a:tblPr firstRow="0" bandRow="0">
                <a:tableStyleId>{2D5ABB26-0587-4C30-8999-92F81FD0307C}</a:tableStyleId>
              </a:tblPr>
              <a:tblGrid>
                <a:gridCol w="914400"/>
                <a:gridCol w="3569673"/>
                <a:gridCol w="2028875"/>
                <a:gridCol w="2028875"/>
                <a:gridCol w="2589165"/>
              </a:tblGrid>
              <a:tr h="335280">
                <a:tc>
                  <a:txBody>
                    <a:bodyPr/>
                    <a:lstStyle/>
                    <a:p>
                      <a:r>
                        <a:rPr sz="1250" b="1" i="0">
                          <a:solidFill>
                            <a:srgbClr val="FFFFFF"/>
                          </a:solidFill>
                          <a:latin typeface="Calibri"/>
                        </a:rPr>
                        <a:t>Days</a:t>
                      </a:r>
                    </a:p>
                  </a:txBody>
                  <a:tcPr marL="101600" marR="101600" marT="38100" marB="38100" anchor="ctr">
                    <a:solidFill>
                      <a:srgbClr val="1A0F5C"/>
                    </a:solidFill>
                  </a:tcPr>
                </a:tc>
                <a:tc>
                  <a:txBody>
                    <a:bodyPr/>
                    <a:lstStyle/>
                    <a:p>
                      <a:r>
                        <a:rPr sz="1250" b="1" i="0">
                          <a:solidFill>
                            <a:srgbClr val="FFFFFF"/>
                          </a:solidFill>
                          <a:latin typeface="Calibri"/>
                        </a:rPr>
                        <a:t>Servers paid per token?</a:t>
                      </a:r>
                    </a:p>
                  </a:txBody>
                  <a:tcPr marL="101600" marR="101600" marT="38100" marB="38100" anchor="ctr">
                    <a:solidFill>
                      <a:srgbClr val="1A0F5C"/>
                    </a:solidFill>
                  </a:tcPr>
                </a:tc>
                <a:tc>
                  <a:txBody>
                    <a:bodyPr/>
                    <a:lstStyle/>
                    <a:p>
                      <a:r>
                        <a:rPr sz="1250" b="1" i="0">
                          <a:solidFill>
                            <a:srgbClr val="FFFFFF"/>
                          </a:solidFill>
                          <a:latin typeface="Calibri"/>
                        </a:rPr>
                        <a:t>Tokens a day</a:t>
                      </a:r>
                    </a:p>
                  </a:txBody>
                  <a:tcPr marL="101600" marR="101600" marT="38100" marB="38100" anchor="ctr">
                    <a:solidFill>
                      <a:srgbClr val="1A0F5C"/>
                    </a:solidFill>
                  </a:tcPr>
                </a:tc>
                <a:tc>
                  <a:txBody>
                    <a:bodyPr/>
                    <a:lstStyle/>
                    <a:p>
                      <a:r>
                        <a:rPr sz="1250" b="1" i="0">
                          <a:solidFill>
                            <a:srgbClr val="FFFFFF"/>
                          </a:solidFill>
                          <a:latin typeface="Calibri"/>
                        </a:rPr>
                        <a:t>Plates a day</a:t>
                      </a:r>
                    </a:p>
                  </a:txBody>
                  <a:tcPr marL="101600" marR="101600" marT="38100" marB="38100" anchor="ctr">
                    <a:solidFill>
                      <a:srgbClr val="1A0F5C"/>
                    </a:solidFill>
                  </a:tcPr>
                </a:tc>
                <a:tc>
                  <a:txBody>
                    <a:bodyPr/>
                    <a:lstStyle/>
                    <a:p>
                      <a:r>
                        <a:rPr sz="1250" b="1" i="0">
                          <a:solidFill>
                            <a:srgbClr val="FFFFFF"/>
                          </a:solidFill>
                          <a:latin typeface="Calibri"/>
                        </a:rPr>
                        <a:t>Tokens per plate</a:t>
                      </a:r>
                    </a:p>
                  </a:txBody>
                  <a:tcPr marL="101600" marR="101600" marT="38100" marB="38100" anchor="ctr">
                    <a:solidFill>
                      <a:srgbClr val="1A0F5C"/>
                    </a:solidFill>
                  </a:tcPr>
                </a:tc>
              </a:tr>
              <a:tr h="335280">
                <a:tc>
                  <a:txBody>
                    <a:bodyPr/>
                    <a:lstStyle/>
                    <a:p>
                      <a:r>
                        <a:rPr sz="1200" b="0" i="0">
                          <a:solidFill>
                            <a:srgbClr val="1A1440"/>
                          </a:solidFill>
                          <a:latin typeface="Calibri"/>
                        </a:rPr>
                        <a:t>1 to 5</a:t>
                      </a:r>
                    </a:p>
                  </a:txBody>
                  <a:tcPr marL="101600" marR="101600" marT="38100" marB="38100" anchor="ctr">
                    <a:solidFill>
                      <a:srgbClr val="FFFFFF"/>
                    </a:solidFill>
                  </a:tcPr>
                </a:tc>
                <a:tc>
                  <a:txBody>
                    <a:bodyPr/>
                    <a:lstStyle/>
                    <a:p>
                      <a:r>
                        <a:rPr sz="1200" b="0" i="0">
                          <a:solidFill>
                            <a:srgbClr val="1A1440"/>
                          </a:solidFill>
                          <a:latin typeface="Calibri"/>
                        </a:rPr>
                        <a:t>no</a:t>
                      </a:r>
                    </a:p>
                  </a:txBody>
                  <a:tcPr marL="101600" marR="101600" marT="38100" marB="38100" anchor="ctr">
                    <a:solidFill>
                      <a:srgbClr val="FFFFFF"/>
                    </a:solidFill>
                  </a:tcPr>
                </a:tc>
                <a:tc>
                  <a:txBody>
                    <a:bodyPr/>
                    <a:lstStyle/>
                    <a:p>
                      <a:r>
                        <a:rPr sz="1200" b="0" i="0">
                          <a:solidFill>
                            <a:srgbClr val="1A1440"/>
                          </a:solidFill>
                          <a:latin typeface="Calibri"/>
                        </a:rPr>
                        <a:t>200</a:t>
                      </a:r>
                    </a:p>
                  </a:txBody>
                  <a:tcPr marL="101600" marR="101600" marT="38100" marB="38100" anchor="ctr">
                    <a:solidFill>
                      <a:srgbClr val="FFFFFF"/>
                    </a:solidFill>
                  </a:tcPr>
                </a:tc>
                <a:tc>
                  <a:txBody>
                    <a:bodyPr/>
                    <a:lstStyle/>
                    <a:p>
                      <a:r>
                        <a:rPr sz="1200" b="0" i="0">
                          <a:solidFill>
                            <a:srgbClr val="1A1440"/>
                          </a:solidFill>
                          <a:latin typeface="Calibri"/>
                        </a:rPr>
                        <a:t>200</a:t>
                      </a:r>
                    </a:p>
                  </a:txBody>
                  <a:tcPr marL="101600" marR="101600" marT="38100" marB="38100" anchor="ctr">
                    <a:solidFill>
                      <a:srgbClr val="FFFFFF"/>
                    </a:solidFill>
                  </a:tcPr>
                </a:tc>
                <a:tc>
                  <a:txBody>
                    <a:bodyPr/>
                    <a:lstStyle/>
                    <a:p>
                      <a:r>
                        <a:rPr sz="1200" b="0" i="0">
                          <a:solidFill>
                            <a:srgbClr val="1A1440"/>
                          </a:solidFill>
                          <a:latin typeface="Calibri"/>
                        </a:rPr>
                        <a:t>200 / 200 = 1.0</a:t>
                      </a:r>
                    </a:p>
                  </a:txBody>
                  <a:tcPr marL="101600" marR="101600" marT="38100" marB="38100" anchor="ctr">
                    <a:solidFill>
                      <a:srgbClr val="FFFFFF"/>
                    </a:solidFill>
                  </a:tcPr>
                </a:tc>
              </a:tr>
              <a:tr h="335280">
                <a:tc>
                  <a:txBody>
                    <a:bodyPr/>
                    <a:lstStyle/>
                    <a:p>
                      <a:r>
                        <a:rPr sz="1200" b="0" i="0">
                          <a:solidFill>
                            <a:srgbClr val="1A1440"/>
                          </a:solidFill>
                          <a:latin typeface="Calibri"/>
                        </a:rPr>
                        <a:t>6 to 10</a:t>
                      </a:r>
                    </a:p>
                  </a:txBody>
                  <a:tcPr marL="101600" marR="101600" marT="38100" marB="38100" anchor="ctr">
                    <a:solidFill>
                      <a:srgbClr val="F4F2FA"/>
                    </a:solidFill>
                  </a:tcPr>
                </a:tc>
                <a:tc>
                  <a:txBody>
                    <a:bodyPr/>
                    <a:lstStyle/>
                    <a:p>
                      <a:r>
                        <a:rPr sz="1200" b="0" i="0">
                          <a:solidFill>
                            <a:srgbClr val="1A1440"/>
                          </a:solidFill>
                          <a:latin typeface="Calibri"/>
                        </a:rPr>
                        <a:t>yes</a:t>
                      </a:r>
                    </a:p>
                  </a:txBody>
                  <a:tcPr marL="101600" marR="101600" marT="38100" marB="38100" anchor="ctr">
                    <a:solidFill>
                      <a:srgbClr val="F4F2FA"/>
                    </a:solidFill>
                  </a:tcPr>
                </a:tc>
                <a:tc>
                  <a:txBody>
                    <a:bodyPr/>
                    <a:lstStyle/>
                    <a:p>
                      <a:r>
                        <a:rPr sz="1200" b="0" i="0">
                          <a:solidFill>
                            <a:srgbClr val="1A1440"/>
                          </a:solidFill>
                          <a:latin typeface="Calibri"/>
                        </a:rPr>
                        <a:t>400</a:t>
                      </a:r>
                    </a:p>
                  </a:txBody>
                  <a:tcPr marL="101600" marR="101600" marT="38100" marB="38100" anchor="ctr">
                    <a:solidFill>
                      <a:srgbClr val="F4F2FA"/>
                    </a:solidFill>
                  </a:tcPr>
                </a:tc>
                <a:tc>
                  <a:txBody>
                    <a:bodyPr/>
                    <a:lstStyle/>
                    <a:p>
                      <a:r>
                        <a:rPr sz="1200" b="0" i="0">
                          <a:solidFill>
                            <a:srgbClr val="1A1440"/>
                          </a:solidFill>
                          <a:latin typeface="Calibri"/>
                        </a:rPr>
                        <a:t>200</a:t>
                      </a:r>
                    </a:p>
                  </a:txBody>
                  <a:tcPr marL="101600" marR="101600" marT="38100" marB="38100" anchor="ctr">
                    <a:solidFill>
                      <a:srgbClr val="F4F2FA"/>
                    </a:solidFill>
                  </a:tcPr>
                </a:tc>
                <a:tc>
                  <a:txBody>
                    <a:bodyPr/>
                    <a:lstStyle/>
                    <a:p>
                      <a:r>
                        <a:rPr sz="1200" b="0" i="0">
                          <a:solidFill>
                            <a:srgbClr val="1A1440"/>
                          </a:solidFill>
                          <a:latin typeface="Calibri"/>
                        </a:rPr>
                        <a:t>400 / 200 = 2.0</a:t>
                      </a:r>
                    </a:p>
                  </a:txBody>
                  <a:tcPr marL="101600" marR="101600" marT="38100" marB="38100" anchor="ctr">
                    <a:solidFill>
                      <a:srgbClr val="F4F2FA"/>
                    </a:solidFill>
                  </a:tcPr>
                </a:tc>
              </a:tr>
            </a:tbl>
          </a:graphicData>
        </a:graphic>
      </p:graphicFrame>
      <p:sp>
        <p:nvSpPr>
          <p:cNvPr id="10" name="Rounded Rectangle 9"/>
          <p:cNvSpPr/>
          <p:nvPr/>
        </p:nvSpPr>
        <p:spPr>
          <a:xfrm>
            <a:off x="530352" y="3218688"/>
            <a:ext cx="11130991" cy="13411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676656" y="3346704"/>
            <a:ext cx="45720" cy="10850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7824" y="3337560"/>
            <a:ext cx="10564063" cy="1158240"/>
          </a:xfrm>
          <a:prstGeom prst="rect">
            <a:avLst/>
          </a:prstGeom>
          <a:noFill/>
        </p:spPr>
        <p:txBody>
          <a:bodyPr wrap="square" anchor="ctr" lIns="0" rIns="0" tIns="0" bIns="0">
            <a:spAutoFit/>
          </a:bodyPr>
          <a:lstStyle/>
          <a:p>
            <a:r>
              <a:rPr sz="1500" b="1">
                <a:solidFill>
                  <a:srgbClr val="5B3FD6"/>
                </a:solidFill>
                <a:latin typeface="Calibri"/>
              </a:rPr>
              <a:t>Counted by hand. </a:t>
            </a:r>
            <a:r>
              <a:rPr sz="1500" b="0" i="0">
                <a:solidFill>
                  <a:srgbClr val="1A1440"/>
                </a:solidFill>
                <a:latin typeface="Calibri"/>
              </a:rPr>
              <a:t>The kitchen cooks 150 g of rice for every token the counter hands out, batch by batch through lunch. From the plates: 200 x 0.15 = 30 kg. From the tokens on day 6: 400 x 0.15 = 60 kg, so 30 kg is thrown away that day, Rs 1,500 a day at Rs 50 a kg and Rs 7,500 over the five paid days. Every number here is invented.</a:t>
            </a:r>
          </a:p>
        </p:txBody>
      </p:sp>
      <p:sp>
        <p:nvSpPr>
          <p:cNvPr id="13" name="Oval 12"/>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40080" y="6437376"/>
            <a:ext cx="1240440" cy="152146"/>
          </a:xfrm>
          <a:prstGeom prst="rect">
            <a:avLst/>
          </a:prstGeom>
          <a:noFill/>
        </p:spPr>
        <p:txBody>
          <a:bodyPr wrap="square" anchor="t" lIns="0" rIns="0" tIns="0" bIns="0">
            <a:spAutoFit/>
          </a:bodyPr>
          <a:lstStyle/>
          <a:p>
            <a:pPr algn="l"/>
            <a:r>
              <a:rPr sz="700" b="1" i="0">
                <a:solidFill>
                  <a:srgbClr val="5B3FD6"/>
                </a:solidFill>
                <a:latin typeface="Calibri"/>
              </a:rPr>
              <a:t>What is a number for?</a:t>
            </a:r>
          </a:p>
        </p:txBody>
      </p:sp>
      <p:sp>
        <p:nvSpPr>
          <p:cNvPr id="15" name="Oval 14"/>
          <p:cNvSpPr/>
          <p:nvPr/>
        </p:nvSpPr>
        <p:spPr>
          <a:xfrm>
            <a:off x="197196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2081688"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Which number to chase?</a:t>
            </a:r>
          </a:p>
        </p:txBody>
      </p:sp>
      <p:sp>
        <p:nvSpPr>
          <p:cNvPr id="17" name="Oval 16"/>
          <p:cNvSpPr/>
          <p:nvPr/>
        </p:nvSpPr>
        <p:spPr>
          <a:xfrm>
            <a:off x="345957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569303"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Which number warns?</a:t>
            </a:r>
          </a:p>
        </p:txBody>
      </p:sp>
      <p:sp>
        <p:nvSpPr>
          <p:cNvPr id="19" name="Oval 18"/>
          <p:cNvSpPr/>
          <p:nvPr/>
        </p:nvSpPr>
        <p:spPr>
          <a:xfrm>
            <a:off x="480917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4918900"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Which four lines?</a:t>
            </a:r>
          </a:p>
        </p:txBody>
      </p:sp>
      <p:sp>
        <p:nvSpPr>
          <p:cNvPr id="21" name="Oval 20"/>
          <p:cNvSpPr/>
          <p:nvPr/>
        </p:nvSpPr>
        <p:spPr>
          <a:xfrm>
            <a:off x="606675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6176486"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How is a number gamed?</a:t>
            </a:r>
          </a:p>
        </p:txBody>
      </p:sp>
      <p:sp>
        <p:nvSpPr>
          <p:cNvPr id="23" name="Oval 22"/>
          <p:cNvSpPr/>
          <p:nvPr/>
        </p:nvSpPr>
        <p:spPr>
          <a:xfrm>
            <a:off x="755437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766410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the page hold?</a:t>
            </a:r>
          </a:p>
        </p:txBody>
      </p:sp>
      <p:sp>
        <p:nvSpPr>
          <p:cNvPr id="25" name="Oval 24"/>
          <p:cNvSpPr/>
          <p:nvPr/>
        </p:nvSpPr>
        <p:spPr>
          <a:xfrm>
            <a:off x="91339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9243726"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an hour count?</a:t>
            </a:r>
          </a:p>
        </p:txBody>
      </p:sp>
      <p:sp>
        <p:nvSpPr>
          <p:cNvPr id="27" name="TextBox 26"/>
          <p:cNvSpPr txBox="1"/>
          <p:nvPr/>
        </p:nvSpPr>
        <p:spPr>
          <a:xfrm>
            <a:off x="10713624" y="6437376"/>
            <a:ext cx="256032" cy="152146"/>
          </a:xfrm>
          <a:prstGeom prst="rect">
            <a:avLst/>
          </a:prstGeom>
          <a:noFill/>
        </p:spPr>
        <p:txBody>
          <a:bodyPr wrap="square" anchor="t" lIns="0" rIns="0" tIns="0" bIns="0">
            <a:spAutoFit/>
          </a:bodyPr>
          <a:lstStyle/>
          <a:p>
            <a:pPr algn="l"/>
            <a:r>
              <a:rPr sz="700" b="0" i="0">
                <a:solidFill>
                  <a:srgbClr val="6B6690"/>
                </a:solidFill>
                <a:latin typeface="Calibri"/>
              </a:rPr>
              <a:t>…</a:t>
            </a:r>
          </a:p>
        </p:txBody>
      </p:sp>
      <p:sp>
        <p:nvSpPr>
          <p:cNvPr id="28" name="TextBox 27"/>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S9  ·  10 / 93</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MONDAY  ·  BUSINESS METRIC DESIGN  ·  UBER, HYDERABAD</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paid count drifted from the plates it stood for</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does the picture show, and what is the rule called?</a:t>
            </a:r>
          </a:p>
        </p:txBody>
      </p:sp>
      <p:pic>
        <p:nvPicPr>
          <p:cNvPr id="9" name="mermaid diagram" descr="C2_W04_D01_canteen_tokens_STUDENT.png"/>
          <p:cNvPicPr>
            <a:picLocks noChangeAspect="1"/>
          </p:cNvPicPr>
          <p:nvPr/>
        </p:nvPicPr>
        <p:blipFill>
          <a:blip r:embed="rId4"/>
          <a:stretch>
            <a:fillRect/>
          </a:stretch>
        </p:blipFill>
        <p:spPr>
          <a:xfrm>
            <a:off x="2715666" y="1664208"/>
            <a:ext cx="6760362" cy="2939288"/>
          </a:xfrm>
          <a:prstGeom prst="rect">
            <a:avLst/>
          </a:prstGeom>
        </p:spPr>
      </p:pic>
      <p:sp>
        <p:nvSpPr>
          <p:cNvPr id="10" name="picture caption"/>
          <p:cNvSpPr txBox="1"/>
          <p:nvPr/>
        </p:nvSpPr>
        <p:spPr>
          <a:xfrm>
            <a:off x="530352" y="4640072"/>
            <a:ext cx="11130991" cy="316992"/>
          </a:xfrm>
          <a:prstGeom prst="rect">
            <a:avLst/>
          </a:prstGeom>
          <a:noFill/>
        </p:spPr>
        <p:txBody>
          <a:bodyPr wrap="square" anchor="t" lIns="0" rIns="0" tIns="0" bIns="0">
            <a:spAutoFit/>
          </a:bodyPr>
          <a:lstStyle/>
          <a:p>
            <a:pPr algn="ctr"/>
            <a:r>
              <a:rPr sz="1200" b="0" i="0">
                <a:solidFill>
                  <a:srgbClr val="6B6690"/>
                </a:solidFill>
                <a:latin typeface="Calibri"/>
              </a:rPr>
              <a:t>Ten days at a school canteen (invented): tokens doubled on day 6, plates stayed at 200</a:t>
            </a:r>
          </a:p>
        </p:txBody>
      </p:sp>
      <p:sp>
        <p:nvSpPr>
          <p:cNvPr id="11" name="TextBox 10"/>
          <p:cNvSpPr txBox="1"/>
          <p:nvPr/>
        </p:nvSpPr>
        <p:spPr>
          <a:xfrm>
            <a:off x="530352" y="4966208"/>
            <a:ext cx="11130991" cy="1233424"/>
          </a:xfrm>
          <a:prstGeom prst="rect">
            <a:avLst/>
          </a:prstGeom>
          <a:noFill/>
        </p:spPr>
        <p:txBody>
          <a:bodyPr wrap="square" anchor="t" lIns="0" rIns="0" tIns="0" bIns="0">
            <a:spAutoFit/>
          </a:bodyPr>
          <a:lstStyle/>
          <a:p>
            <a:r>
              <a:rPr sz="1600" b="0" i="0">
                <a:solidFill>
                  <a:srgbClr val="1A1440"/>
                </a:solidFill>
                <a:latin typeface="Calibri"/>
              </a:rPr>
              <a:t>The tokens stood in for plates until the servers were paid on them; from day 6 the paid number doubled and the plates stayed flat. Named last: the </a:t>
            </a:r>
            <a:r>
              <a:rPr sz="1600" b="1" i="0">
                <a:solidFill>
                  <a:srgbClr val="1A1440"/>
                </a:solidFill>
                <a:latin typeface="Calibri"/>
              </a:rPr>
              <a:t>proxy test</a:t>
            </a:r>
            <a:r>
              <a:rPr sz="1600" b="0" i="0">
                <a:solidFill>
                  <a:srgbClr val="1A1440"/>
                </a:solidFill>
                <a:latin typeface="Calibri"/>
              </a:rPr>
              <a:t> asks whether a team could hit this number while the thing it stands for got worse or stayed the same. Tokens fail it, and the curriculum's rule says why: any target bends behaviour toward itself.</a:t>
            </a:r>
          </a:p>
        </p:txBody>
      </p:sp>
      <p:sp>
        <p:nvSpPr>
          <p:cNvPr id="12" name="Oval 11"/>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40080" y="6437376"/>
            <a:ext cx="1240440" cy="152146"/>
          </a:xfrm>
          <a:prstGeom prst="rect">
            <a:avLst/>
          </a:prstGeom>
          <a:noFill/>
        </p:spPr>
        <p:txBody>
          <a:bodyPr wrap="square" anchor="t" lIns="0" rIns="0" tIns="0" bIns="0">
            <a:spAutoFit/>
          </a:bodyPr>
          <a:lstStyle/>
          <a:p>
            <a:pPr algn="l"/>
            <a:r>
              <a:rPr sz="700" b="1" i="0">
                <a:solidFill>
                  <a:srgbClr val="5B3FD6"/>
                </a:solidFill>
                <a:latin typeface="Calibri"/>
              </a:rPr>
              <a:t>What is a number for?</a:t>
            </a:r>
          </a:p>
        </p:txBody>
      </p:sp>
      <p:sp>
        <p:nvSpPr>
          <p:cNvPr id="14" name="Oval 13"/>
          <p:cNvSpPr/>
          <p:nvPr/>
        </p:nvSpPr>
        <p:spPr>
          <a:xfrm>
            <a:off x="197196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2081688"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Which number to chase?</a:t>
            </a:r>
          </a:p>
        </p:txBody>
      </p:sp>
      <p:sp>
        <p:nvSpPr>
          <p:cNvPr id="16" name="Oval 15"/>
          <p:cNvSpPr/>
          <p:nvPr/>
        </p:nvSpPr>
        <p:spPr>
          <a:xfrm>
            <a:off x="345957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3569303"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Which number warns?</a:t>
            </a:r>
          </a:p>
        </p:txBody>
      </p:sp>
      <p:sp>
        <p:nvSpPr>
          <p:cNvPr id="18" name="Oval 17"/>
          <p:cNvSpPr/>
          <p:nvPr/>
        </p:nvSpPr>
        <p:spPr>
          <a:xfrm>
            <a:off x="480917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4918900"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Which four lines?</a:t>
            </a:r>
          </a:p>
        </p:txBody>
      </p:sp>
      <p:sp>
        <p:nvSpPr>
          <p:cNvPr id="20" name="Oval 19"/>
          <p:cNvSpPr/>
          <p:nvPr/>
        </p:nvSpPr>
        <p:spPr>
          <a:xfrm>
            <a:off x="606675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6176486"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How is a number gamed?</a:t>
            </a:r>
          </a:p>
        </p:txBody>
      </p:sp>
      <p:sp>
        <p:nvSpPr>
          <p:cNvPr id="22" name="Oval 21"/>
          <p:cNvSpPr/>
          <p:nvPr/>
        </p:nvSpPr>
        <p:spPr>
          <a:xfrm>
            <a:off x="755437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766410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the page hold?</a:t>
            </a:r>
          </a:p>
        </p:txBody>
      </p:sp>
      <p:sp>
        <p:nvSpPr>
          <p:cNvPr id="24" name="Oval 23"/>
          <p:cNvSpPr/>
          <p:nvPr/>
        </p:nvSpPr>
        <p:spPr>
          <a:xfrm>
            <a:off x="91339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9243726"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an hour count?</a:t>
            </a:r>
          </a:p>
        </p:txBody>
      </p:sp>
      <p:sp>
        <p:nvSpPr>
          <p:cNvPr id="26" name="TextBox 25"/>
          <p:cNvSpPr txBox="1"/>
          <p:nvPr/>
        </p:nvSpPr>
        <p:spPr>
          <a:xfrm>
            <a:off x="10713624" y="6437376"/>
            <a:ext cx="256032" cy="152146"/>
          </a:xfrm>
          <a:prstGeom prst="rect">
            <a:avLst/>
          </a:prstGeom>
          <a:noFill/>
        </p:spPr>
        <p:txBody>
          <a:bodyPr wrap="square" anchor="t" lIns="0" rIns="0" tIns="0" bIns="0">
            <a:spAutoFit/>
          </a:bodyPr>
          <a:lstStyle/>
          <a:p>
            <a:pPr algn="l"/>
            <a:r>
              <a:rPr sz="700" b="0" i="0">
                <a:solidFill>
                  <a:srgbClr val="6B6690"/>
                </a:solidFill>
                <a:latin typeface="Calibri"/>
              </a:rPr>
              <a:t>…</a:t>
            </a:r>
          </a:p>
        </p:txBody>
      </p:sp>
      <p:sp>
        <p:nvSpPr>
          <p:cNvPr id="27" name="TextBox 26"/>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S10  ·  11 / 93</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MONDAY  ·  BUSINESS METRIC DESIGN  ·  UBER, HYDERABAD</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Five lines of pandas run the proxy test</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How does code reproduce the count and the test?</a:t>
            </a:r>
          </a:p>
        </p:txBody>
      </p:sp>
      <p:sp>
        <p:nvSpPr>
          <p:cNvPr id="9" name="Rounded Rectangle 8"/>
          <p:cNvSpPr/>
          <p:nvPr/>
        </p:nvSpPr>
        <p:spPr>
          <a:xfrm>
            <a:off x="530352" y="1956816"/>
            <a:ext cx="11130991" cy="1719580"/>
          </a:xfrm>
          <a:prstGeom prst="roundRect">
            <a:avLst>
              <a:gd name="adj" fmla="val 3500"/>
            </a:avLst>
          </a:prstGeom>
          <a:solidFill>
            <a:srgbClr val="1A1440"/>
          </a:soli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713232" y="2084832"/>
            <a:ext cx="91440" cy="91440"/>
          </a:xfrm>
          <a:prstGeom prst="ellipse">
            <a:avLst/>
          </a:prstGeom>
          <a:solidFill>
            <a:srgbClr val="D63A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868680" y="2084832"/>
            <a:ext cx="91440" cy="91440"/>
          </a:xfrm>
          <a:prstGeom prst="ellipse">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Oval 11"/>
          <p:cNvSpPr/>
          <p:nvPr/>
        </p:nvSpPr>
        <p:spPr>
          <a:xfrm>
            <a:off x="1024128" y="2084832"/>
            <a:ext cx="91440" cy="91440"/>
          </a:xfrm>
          <a:prstGeom prst="ellipse">
            <a:avLst/>
          </a:prstGeom>
          <a:solidFill>
            <a:srgbClr val="1F8A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804671" y="2286000"/>
            <a:ext cx="10673791" cy="1317244"/>
          </a:xfrm>
          <a:prstGeom prst="rect">
            <a:avLst/>
          </a:prstGeom>
          <a:noFill/>
        </p:spPr>
        <p:txBody>
          <a:bodyPr wrap="square" anchor="t" lIns="0" rIns="0" tIns="0" bIns="0">
            <a:spAutoFit/>
          </a:bodyPr>
          <a:lstStyle/>
          <a:p>
            <a:pPr>
              <a:spcAft>
                <a:spcPts val="200"/>
              </a:spcAft>
            </a:pPr>
            <a:r>
              <a:rPr sz="1400" b="0" i="0">
                <a:solidFill>
                  <a:srgbClr val="E4E1F1"/>
                </a:solidFill>
                <a:latin typeface="Consolas"/>
              </a:rPr>
              <a:t>days = pd.read_csv("../data/C2_W04_D01_canteen_days_STUDENT.csv")  # ten invented days</a:t>
            </a:r>
          </a:p>
          <a:p>
            <a:pPr>
              <a:spcAft>
                <a:spcPts val="200"/>
              </a:spcAft>
            </a:pPr>
            <a:r>
              <a:rPr sz="1400" b="0" i="0">
                <a:solidFill>
                  <a:srgbClr val="E4E1F1"/>
                </a:solidFill>
                <a:latin typeface="Consolas"/>
              </a:rPr>
              <a:t>days["per_plate"] = days["tokens"] / days["plates"]   # 1.0, then 2.0</a:t>
            </a:r>
          </a:p>
          <a:p>
            <a:pPr>
              <a:spcAft>
                <a:spcPts val="200"/>
              </a:spcAft>
            </a:pPr>
            <a:r>
              <a:rPr sz="1400" b="0" i="0">
                <a:solidFill>
                  <a:srgbClr val="E4E1F1"/>
                </a:solidFill>
                <a:latin typeface="Consolas"/>
              </a:rPr>
              <a:t>days["rice_kg"] = days["tokens"] * 0.15               # what the kitchen cooks from tokens</a:t>
            </a:r>
          </a:p>
          <a:p>
            <a:pPr>
              <a:spcAft>
                <a:spcPts val="200"/>
              </a:spcAft>
            </a:pPr>
            <a:r>
              <a:rPr sz="1400" b="0" i="0">
                <a:solidFill>
                  <a:srgbClr val="E4E1F1"/>
                </a:solidFill>
                <a:latin typeface="Consolas"/>
              </a:rPr>
              <a:t>first, last = days.iloc[0], days.iloc[-1]</a:t>
            </a:r>
          </a:p>
          <a:p>
            <a:pPr>
              <a:spcAft>
                <a:spcPts val="200"/>
              </a:spcAft>
            </a:pPr>
            <a:r>
              <a:rPr sz="1400" b="0" i="0">
                <a:solidFill>
                  <a:srgbClr val="E4E1F1"/>
                </a:solidFill>
                <a:latin typeface="Consolas"/>
              </a:rPr>
              <a:t>drifted = last.tokens &gt; first.tokens and last.plates &lt;= first.plates   # True</a:t>
            </a:r>
          </a:p>
        </p:txBody>
      </p:sp>
      <p:sp>
        <p:nvSpPr>
          <p:cNvPr id="14" name="TextBox 13"/>
          <p:cNvSpPr txBox="1"/>
          <p:nvPr/>
        </p:nvSpPr>
        <p:spPr>
          <a:xfrm>
            <a:off x="530352" y="3840988"/>
            <a:ext cx="11130991" cy="1048512"/>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drifted prints True: the paid number rose and the thing it stands for did not. Notebook 01 runs the same lines on the ten days, draws the picture and tries the test on a second number, a school bus driver's kilometres (invented).</a:t>
            </a:r>
          </a:p>
        </p:txBody>
      </p:sp>
      <p:sp>
        <p:nvSpPr>
          <p:cNvPr id="15" name="Oval 14"/>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40080" y="6437376"/>
            <a:ext cx="1240440" cy="152146"/>
          </a:xfrm>
          <a:prstGeom prst="rect">
            <a:avLst/>
          </a:prstGeom>
          <a:noFill/>
        </p:spPr>
        <p:txBody>
          <a:bodyPr wrap="square" anchor="t" lIns="0" rIns="0" tIns="0" bIns="0">
            <a:spAutoFit/>
          </a:bodyPr>
          <a:lstStyle/>
          <a:p>
            <a:pPr algn="l"/>
            <a:r>
              <a:rPr sz="700" b="1" i="0">
                <a:solidFill>
                  <a:srgbClr val="5B3FD6"/>
                </a:solidFill>
                <a:latin typeface="Calibri"/>
              </a:rPr>
              <a:t>What is a number for?</a:t>
            </a:r>
          </a:p>
        </p:txBody>
      </p:sp>
      <p:sp>
        <p:nvSpPr>
          <p:cNvPr id="17" name="Oval 16"/>
          <p:cNvSpPr/>
          <p:nvPr/>
        </p:nvSpPr>
        <p:spPr>
          <a:xfrm>
            <a:off x="197196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2081688"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Which number to chase?</a:t>
            </a:r>
          </a:p>
        </p:txBody>
      </p:sp>
      <p:sp>
        <p:nvSpPr>
          <p:cNvPr id="19" name="Oval 18"/>
          <p:cNvSpPr/>
          <p:nvPr/>
        </p:nvSpPr>
        <p:spPr>
          <a:xfrm>
            <a:off x="345957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3569303"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Which number warns?</a:t>
            </a:r>
          </a:p>
        </p:txBody>
      </p:sp>
      <p:sp>
        <p:nvSpPr>
          <p:cNvPr id="21" name="Oval 20"/>
          <p:cNvSpPr/>
          <p:nvPr/>
        </p:nvSpPr>
        <p:spPr>
          <a:xfrm>
            <a:off x="480917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4918900"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Which four lines?</a:t>
            </a:r>
          </a:p>
        </p:txBody>
      </p:sp>
      <p:sp>
        <p:nvSpPr>
          <p:cNvPr id="23" name="Oval 22"/>
          <p:cNvSpPr/>
          <p:nvPr/>
        </p:nvSpPr>
        <p:spPr>
          <a:xfrm>
            <a:off x="606675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6176486"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How is a number gamed?</a:t>
            </a:r>
          </a:p>
        </p:txBody>
      </p:sp>
      <p:sp>
        <p:nvSpPr>
          <p:cNvPr id="25" name="Oval 24"/>
          <p:cNvSpPr/>
          <p:nvPr/>
        </p:nvSpPr>
        <p:spPr>
          <a:xfrm>
            <a:off x="755437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766410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the page hold?</a:t>
            </a:r>
          </a:p>
        </p:txBody>
      </p:sp>
      <p:sp>
        <p:nvSpPr>
          <p:cNvPr id="27" name="Oval 26"/>
          <p:cNvSpPr/>
          <p:nvPr/>
        </p:nvSpPr>
        <p:spPr>
          <a:xfrm>
            <a:off x="91339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9243726"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an hour count?</a:t>
            </a:r>
          </a:p>
        </p:txBody>
      </p:sp>
      <p:sp>
        <p:nvSpPr>
          <p:cNvPr id="29" name="TextBox 28"/>
          <p:cNvSpPr txBox="1"/>
          <p:nvPr/>
        </p:nvSpPr>
        <p:spPr>
          <a:xfrm>
            <a:off x="10713624" y="6437376"/>
            <a:ext cx="256032" cy="152146"/>
          </a:xfrm>
          <a:prstGeom prst="rect">
            <a:avLst/>
          </a:prstGeom>
          <a:noFill/>
        </p:spPr>
        <p:txBody>
          <a:bodyPr wrap="square" anchor="t" lIns="0" rIns="0" tIns="0" bIns="0">
            <a:spAutoFit/>
          </a:bodyPr>
          <a:lstStyle/>
          <a:p>
            <a:pPr algn="l"/>
            <a:r>
              <a:rPr sz="700" b="0" i="0">
                <a:solidFill>
                  <a:srgbClr val="6B6690"/>
                </a:solidFill>
                <a:latin typeface="Calibri"/>
              </a:rPr>
              <a:t>…</a:t>
            </a:r>
          </a:p>
        </p:txBody>
      </p:sp>
      <p:sp>
        <p:nvSpPr>
          <p:cNvPr id="30" name="TextBox 29"/>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S11  ·  12 / 93</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MONDAY  ·  BUSINESS METRIC DESIGN  ·  UBER, HYDERABAD</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Four rules for choosing what to measure</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Which rules does the chapter leave, and what does an interviewer ask?</a:t>
            </a:r>
          </a:p>
        </p:txBody>
      </p:sp>
      <p:sp>
        <p:nvSpPr>
          <p:cNvPr id="9" name="TextBox 8"/>
          <p:cNvSpPr txBox="1"/>
          <p:nvPr/>
        </p:nvSpPr>
        <p:spPr>
          <a:xfrm>
            <a:off x="530352" y="1920240"/>
            <a:ext cx="502920" cy="333756"/>
          </a:xfrm>
          <a:prstGeom prst="rect">
            <a:avLst/>
          </a:prstGeom>
          <a:noFill/>
        </p:spPr>
        <p:txBody>
          <a:bodyPr wrap="square" anchor="t" lIns="0" rIns="0" tIns="0" bIns="0">
            <a:spAutoFit/>
          </a:bodyPr>
          <a:lstStyle/>
          <a:p>
            <a:pPr algn="l"/>
            <a:r>
              <a:rPr sz="1800" b="0" i="0">
                <a:solidFill>
                  <a:srgbClr val="5B3FD6"/>
                </a:solidFill>
                <a:latin typeface="Georgia"/>
              </a:rPr>
              <a:t>01</a:t>
            </a:r>
          </a:p>
        </p:txBody>
      </p:sp>
      <p:sp>
        <p:nvSpPr>
          <p:cNvPr id="10" name="TextBox 9"/>
          <p:cNvSpPr txBox="1"/>
          <p:nvPr/>
        </p:nvSpPr>
        <p:spPr>
          <a:xfrm>
            <a:off x="1097280" y="1956816"/>
            <a:ext cx="10564063" cy="368808"/>
          </a:xfrm>
          <a:prstGeom prst="rect">
            <a:avLst/>
          </a:prstGeom>
          <a:noFill/>
        </p:spPr>
        <p:txBody>
          <a:bodyPr wrap="square" anchor="t" lIns="0" rIns="0" tIns="0" bIns="0">
            <a:spAutoFit/>
          </a:bodyPr>
          <a:lstStyle/>
          <a:p>
            <a:r>
              <a:rPr sz="1500" b="0" i="0">
                <a:solidFill>
                  <a:srgbClr val="1A1440"/>
                </a:solidFill>
                <a:latin typeface="Calibri"/>
              </a:rPr>
              <a:t>Name the decision a number feeds before you count it.</a:t>
            </a:r>
          </a:p>
        </p:txBody>
      </p:sp>
      <p:sp>
        <p:nvSpPr>
          <p:cNvPr id="11" name="TextBox 10"/>
          <p:cNvSpPr txBox="1"/>
          <p:nvPr/>
        </p:nvSpPr>
        <p:spPr>
          <a:xfrm>
            <a:off x="530352" y="2362200"/>
            <a:ext cx="502920" cy="333756"/>
          </a:xfrm>
          <a:prstGeom prst="rect">
            <a:avLst/>
          </a:prstGeom>
          <a:noFill/>
        </p:spPr>
        <p:txBody>
          <a:bodyPr wrap="square" anchor="t" lIns="0" rIns="0" tIns="0" bIns="0">
            <a:spAutoFit/>
          </a:bodyPr>
          <a:lstStyle/>
          <a:p>
            <a:pPr algn="l"/>
            <a:r>
              <a:rPr sz="1800" b="0" i="0">
                <a:solidFill>
                  <a:srgbClr val="5B3FD6"/>
                </a:solidFill>
                <a:latin typeface="Georgia"/>
              </a:rPr>
              <a:t>02</a:t>
            </a:r>
          </a:p>
        </p:txBody>
      </p:sp>
      <p:sp>
        <p:nvSpPr>
          <p:cNvPr id="12" name="TextBox 11"/>
          <p:cNvSpPr txBox="1"/>
          <p:nvPr/>
        </p:nvSpPr>
        <p:spPr>
          <a:xfrm>
            <a:off x="1097280" y="2398776"/>
            <a:ext cx="10564063" cy="368808"/>
          </a:xfrm>
          <a:prstGeom prst="rect">
            <a:avLst/>
          </a:prstGeom>
          <a:noFill/>
        </p:spPr>
        <p:txBody>
          <a:bodyPr wrap="square" anchor="t" lIns="0" rIns="0" tIns="0" bIns="0">
            <a:spAutoFit/>
          </a:bodyPr>
          <a:lstStyle/>
          <a:p>
            <a:r>
              <a:rPr sz="1500" b="0" i="0">
                <a:solidFill>
                  <a:srgbClr val="1A1440"/>
                </a:solidFill>
                <a:latin typeface="Calibri"/>
              </a:rPr>
              <a:t>A proxy stands in for the thing wanted, and nearly every number on a dashboard is one.</a:t>
            </a:r>
          </a:p>
        </p:txBody>
      </p:sp>
      <p:sp>
        <p:nvSpPr>
          <p:cNvPr id="13" name="TextBox 12"/>
          <p:cNvSpPr txBox="1"/>
          <p:nvPr/>
        </p:nvSpPr>
        <p:spPr>
          <a:xfrm>
            <a:off x="530352" y="2804160"/>
            <a:ext cx="502920" cy="333756"/>
          </a:xfrm>
          <a:prstGeom prst="rect">
            <a:avLst/>
          </a:prstGeom>
          <a:noFill/>
        </p:spPr>
        <p:txBody>
          <a:bodyPr wrap="square" anchor="t" lIns="0" rIns="0" tIns="0" bIns="0">
            <a:spAutoFit/>
          </a:bodyPr>
          <a:lstStyle/>
          <a:p>
            <a:pPr algn="l"/>
            <a:r>
              <a:rPr sz="1800" b="0" i="0">
                <a:solidFill>
                  <a:srgbClr val="5B3FD6"/>
                </a:solidFill>
                <a:latin typeface="Georgia"/>
              </a:rPr>
              <a:t>03</a:t>
            </a:r>
          </a:p>
        </p:txBody>
      </p:sp>
      <p:sp>
        <p:nvSpPr>
          <p:cNvPr id="14" name="TextBox 13"/>
          <p:cNvSpPr txBox="1"/>
          <p:nvPr/>
        </p:nvSpPr>
        <p:spPr>
          <a:xfrm>
            <a:off x="1097280" y="2840736"/>
            <a:ext cx="10564063" cy="368808"/>
          </a:xfrm>
          <a:prstGeom prst="rect">
            <a:avLst/>
          </a:prstGeom>
          <a:noFill/>
        </p:spPr>
        <p:txBody>
          <a:bodyPr wrap="square" anchor="t" lIns="0" rIns="0" tIns="0" bIns="0">
            <a:spAutoFit/>
          </a:bodyPr>
          <a:lstStyle/>
          <a:p>
            <a:r>
              <a:rPr sz="1500" b="0" i="0">
                <a:solidFill>
                  <a:srgbClr val="1A1440"/>
                </a:solidFill>
                <a:latin typeface="Calibri"/>
              </a:rPr>
              <a:t>Before anyone is paid on a number, ask whether a team could raise it while the goal got no better.</a:t>
            </a:r>
          </a:p>
        </p:txBody>
      </p:sp>
      <p:sp>
        <p:nvSpPr>
          <p:cNvPr id="15" name="TextBox 14"/>
          <p:cNvSpPr txBox="1"/>
          <p:nvPr/>
        </p:nvSpPr>
        <p:spPr>
          <a:xfrm>
            <a:off x="530352" y="3246120"/>
            <a:ext cx="502920" cy="333756"/>
          </a:xfrm>
          <a:prstGeom prst="rect">
            <a:avLst/>
          </a:prstGeom>
          <a:noFill/>
        </p:spPr>
        <p:txBody>
          <a:bodyPr wrap="square" anchor="t" lIns="0" rIns="0" tIns="0" bIns="0">
            <a:spAutoFit/>
          </a:bodyPr>
          <a:lstStyle/>
          <a:p>
            <a:pPr algn="l"/>
            <a:r>
              <a:rPr sz="1800" b="0" i="0">
                <a:solidFill>
                  <a:srgbClr val="5B3FD6"/>
                </a:solidFill>
                <a:latin typeface="Georgia"/>
              </a:rPr>
              <a:t>04</a:t>
            </a:r>
          </a:p>
        </p:txBody>
      </p:sp>
      <p:sp>
        <p:nvSpPr>
          <p:cNvPr id="16" name="TextBox 15"/>
          <p:cNvSpPr txBox="1"/>
          <p:nvPr/>
        </p:nvSpPr>
        <p:spPr>
          <a:xfrm>
            <a:off x="1097280" y="3282696"/>
            <a:ext cx="10564063" cy="368808"/>
          </a:xfrm>
          <a:prstGeom prst="rect">
            <a:avLst/>
          </a:prstGeom>
          <a:noFill/>
        </p:spPr>
        <p:txBody>
          <a:bodyPr wrap="square" anchor="t" lIns="0" rIns="0" tIns="0" bIns="0">
            <a:spAutoFit/>
          </a:bodyPr>
          <a:lstStyle/>
          <a:p>
            <a:r>
              <a:rPr sz="1500" b="0" i="0">
                <a:solidFill>
                  <a:srgbClr val="1A1440"/>
                </a:solidFill>
                <a:latin typeface="Calibri"/>
              </a:rPr>
              <a:t>Any target bends behaviour toward itself, so read a paid number beside the thing it stands for.</a:t>
            </a:r>
          </a:p>
        </p:txBody>
      </p:sp>
      <p:sp>
        <p:nvSpPr>
          <p:cNvPr id="17" name="Rounded Rectangle 16"/>
          <p:cNvSpPr/>
          <p:nvPr/>
        </p:nvSpPr>
        <p:spPr>
          <a:xfrm>
            <a:off x="530352" y="3834384"/>
            <a:ext cx="11130991" cy="862584"/>
          </a:xfrm>
          <a:prstGeom prst="roundRect">
            <a:avLst>
              <a:gd name="adj" fmla="val 5000"/>
            </a:avLst>
          </a:prstGeom>
          <a:solidFill>
            <a:srgbClr val="F7F5FD"/>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Oval 17"/>
          <p:cNvSpPr/>
          <p:nvPr/>
        </p:nvSpPr>
        <p:spPr>
          <a:xfrm>
            <a:off x="758952" y="4037076"/>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9" name="Picture 18" descr="mic_caee7398c80d.png"/>
          <p:cNvPicPr>
            <a:picLocks noChangeAspect="1"/>
          </p:cNvPicPr>
          <p:nvPr/>
        </p:nvPicPr>
        <p:blipFill>
          <a:blip r:embed="rId4"/>
          <a:stretch>
            <a:fillRect/>
          </a:stretch>
        </p:blipFill>
        <p:spPr>
          <a:xfrm>
            <a:off x="868680" y="4146804"/>
            <a:ext cx="237744" cy="237744"/>
          </a:xfrm>
          <a:prstGeom prst="rect">
            <a:avLst/>
          </a:prstGeom>
        </p:spPr>
      </p:pic>
      <p:sp>
        <p:nvSpPr>
          <p:cNvPr id="20" name="TextBox 19"/>
          <p:cNvSpPr txBox="1"/>
          <p:nvPr/>
        </p:nvSpPr>
        <p:spPr>
          <a:xfrm>
            <a:off x="1399031" y="3980688"/>
            <a:ext cx="9987991" cy="160401"/>
          </a:xfrm>
          <a:prstGeom prst="rect">
            <a:avLst/>
          </a:prstGeom>
          <a:noFill/>
        </p:spPr>
        <p:txBody>
          <a:bodyPr wrap="square" anchor="t" lIns="0" rIns="0" tIns="0" bIns="0">
            <a:spAutoFit/>
          </a:bodyPr>
          <a:lstStyle/>
          <a:p>
            <a:pPr algn="l"/>
            <a:r>
              <a:rPr sz="750" b="1" i="0" spc="250">
                <a:solidFill>
                  <a:srgbClr val="5B3FD6"/>
                </a:solidFill>
                <a:latin typeface="Calibri"/>
              </a:rPr>
              <a:t>IN THE INTERVIEW</a:t>
            </a:r>
          </a:p>
        </p:txBody>
      </p:sp>
      <p:sp>
        <p:nvSpPr>
          <p:cNvPr id="21" name="TextBox 20"/>
          <p:cNvSpPr txBox="1"/>
          <p:nvPr/>
        </p:nvSpPr>
        <p:spPr>
          <a:xfrm>
            <a:off x="1399031" y="4200144"/>
            <a:ext cx="9987991" cy="423672"/>
          </a:xfrm>
          <a:prstGeom prst="rect">
            <a:avLst/>
          </a:prstGeom>
          <a:noFill/>
        </p:spPr>
        <p:txBody>
          <a:bodyPr wrap="square" anchor="t" lIns="0" rIns="0" tIns="0" bIns="0">
            <a:spAutoFit/>
          </a:bodyPr>
          <a:lstStyle/>
          <a:p>
            <a:r>
              <a:rPr sz="1500" b="0" i="0">
                <a:solidFill>
                  <a:srgbClr val="1A1440"/>
                </a:solidFill>
                <a:latin typeface="Calibri"/>
              </a:rPr>
              <a:t>[S] How would you measure the success of a new feature?</a:t>
            </a:r>
          </a:p>
        </p:txBody>
      </p:sp>
      <p:sp>
        <p:nvSpPr>
          <p:cNvPr id="22" name="TextBox 21"/>
          <p:cNvSpPr txBox="1"/>
          <p:nvPr/>
        </p:nvSpPr>
        <p:spPr>
          <a:xfrm>
            <a:off x="530352" y="4861560"/>
            <a:ext cx="11130991" cy="1048512"/>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*Each interview line carries a tag: [S] is asked everywhere, [F] often in product screens and in global capability centres (GCCs, the offices global companies run in India), and [D] sets a strong candidate apart.*</a:t>
            </a:r>
          </a:p>
        </p:txBody>
      </p:sp>
      <p:sp>
        <p:nvSpPr>
          <p:cNvPr id="23" name="Oval 22"/>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640080" y="6437376"/>
            <a:ext cx="1240440" cy="152146"/>
          </a:xfrm>
          <a:prstGeom prst="rect">
            <a:avLst/>
          </a:prstGeom>
          <a:noFill/>
        </p:spPr>
        <p:txBody>
          <a:bodyPr wrap="square" anchor="t" lIns="0" rIns="0" tIns="0" bIns="0">
            <a:spAutoFit/>
          </a:bodyPr>
          <a:lstStyle/>
          <a:p>
            <a:pPr algn="l"/>
            <a:r>
              <a:rPr sz="700" b="1" i="0">
                <a:solidFill>
                  <a:srgbClr val="5B3FD6"/>
                </a:solidFill>
                <a:latin typeface="Calibri"/>
              </a:rPr>
              <a:t>What is a number for?</a:t>
            </a:r>
          </a:p>
        </p:txBody>
      </p:sp>
      <p:sp>
        <p:nvSpPr>
          <p:cNvPr id="25" name="Oval 24"/>
          <p:cNvSpPr/>
          <p:nvPr/>
        </p:nvSpPr>
        <p:spPr>
          <a:xfrm>
            <a:off x="197196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2081688"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Which number to chase?</a:t>
            </a:r>
          </a:p>
        </p:txBody>
      </p:sp>
      <p:sp>
        <p:nvSpPr>
          <p:cNvPr id="27" name="Oval 26"/>
          <p:cNvSpPr/>
          <p:nvPr/>
        </p:nvSpPr>
        <p:spPr>
          <a:xfrm>
            <a:off x="345957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3569303"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Which number warns?</a:t>
            </a:r>
          </a:p>
        </p:txBody>
      </p:sp>
      <p:sp>
        <p:nvSpPr>
          <p:cNvPr id="29" name="Oval 28"/>
          <p:cNvSpPr/>
          <p:nvPr/>
        </p:nvSpPr>
        <p:spPr>
          <a:xfrm>
            <a:off x="480917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4918900"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Which four lines?</a:t>
            </a:r>
          </a:p>
        </p:txBody>
      </p:sp>
      <p:sp>
        <p:nvSpPr>
          <p:cNvPr id="31" name="Oval 30"/>
          <p:cNvSpPr/>
          <p:nvPr/>
        </p:nvSpPr>
        <p:spPr>
          <a:xfrm>
            <a:off x="606675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6176486"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How is a number gamed?</a:t>
            </a:r>
          </a:p>
        </p:txBody>
      </p:sp>
      <p:sp>
        <p:nvSpPr>
          <p:cNvPr id="33" name="Oval 32"/>
          <p:cNvSpPr/>
          <p:nvPr/>
        </p:nvSpPr>
        <p:spPr>
          <a:xfrm>
            <a:off x="755437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766410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the page hold?</a:t>
            </a:r>
          </a:p>
        </p:txBody>
      </p:sp>
      <p:sp>
        <p:nvSpPr>
          <p:cNvPr id="35" name="Oval 34"/>
          <p:cNvSpPr/>
          <p:nvPr/>
        </p:nvSpPr>
        <p:spPr>
          <a:xfrm>
            <a:off x="91339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9243726"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an hour count?</a:t>
            </a:r>
          </a:p>
        </p:txBody>
      </p:sp>
      <p:sp>
        <p:nvSpPr>
          <p:cNvPr id="37" name="TextBox 36"/>
          <p:cNvSpPr txBox="1"/>
          <p:nvPr/>
        </p:nvSpPr>
        <p:spPr>
          <a:xfrm>
            <a:off x="10713624" y="6437376"/>
            <a:ext cx="256032" cy="152146"/>
          </a:xfrm>
          <a:prstGeom prst="rect">
            <a:avLst/>
          </a:prstGeom>
          <a:noFill/>
        </p:spPr>
        <p:txBody>
          <a:bodyPr wrap="square" anchor="t" lIns="0" rIns="0" tIns="0" bIns="0">
            <a:spAutoFit/>
          </a:bodyPr>
          <a:lstStyle/>
          <a:p>
            <a:pPr algn="l"/>
            <a:r>
              <a:rPr sz="700" b="0" i="0">
                <a:solidFill>
                  <a:srgbClr val="6B6690"/>
                </a:solidFill>
                <a:latin typeface="Calibri"/>
              </a:rPr>
              <a:t>…</a:t>
            </a:r>
          </a:p>
        </p:txBody>
      </p:sp>
      <p:sp>
        <p:nvSpPr>
          <p:cNvPr id="38" name="TextBox 37"/>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S12  ·  13 / 93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MONDAY  ·  BUSINESS METRIC DESIGN  ·  UBER, HYDERABAD</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proxy test feeds chapter 2 and the case's hours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Where did the idea come from, and where does it go next?</a:t>
            </a:r>
          </a:p>
        </p:txBody>
      </p:sp>
      <p:pic>
        <p:nvPicPr>
          <p:cNvPr id="9" name="mermaid diagram" descr="2a9707e4d20fba64.png"/>
          <p:cNvPicPr>
            <a:picLocks noChangeAspect="1"/>
          </p:cNvPicPr>
          <p:nvPr/>
        </p:nvPicPr>
        <p:blipFill>
          <a:blip r:embed="rId5"/>
          <a:stretch>
            <a:fillRect/>
          </a:stretch>
        </p:blipFill>
        <p:spPr>
          <a:xfrm>
            <a:off x="2939323" y="1664208"/>
            <a:ext cx="6313047" cy="2450592"/>
          </a:xfrm>
          <a:prstGeom prst="rect">
            <a:avLst/>
          </a:prstGeom>
        </p:spPr>
      </p:pic>
      <p:sp>
        <p:nvSpPr>
          <p:cNvPr id="10" name="Rounded Rectangle 9"/>
          <p:cNvSpPr/>
          <p:nvPr/>
        </p:nvSpPr>
        <p:spPr>
          <a:xfrm>
            <a:off x="530352" y="4160520"/>
            <a:ext cx="11130991" cy="1874519"/>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676656" y="4288536"/>
            <a:ext cx="45720" cy="1618487"/>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7824" y="4279392"/>
            <a:ext cx="10564063" cy="1691639"/>
          </a:xfrm>
          <a:prstGeom prst="rect">
            <a:avLst/>
          </a:prstGeom>
          <a:noFill/>
        </p:spPr>
        <p:txBody>
          <a:bodyPr wrap="square" anchor="ctr" lIns="0" rIns="0" tIns="0" bIns="0">
            <a:spAutoFit/>
          </a:bodyPr>
          <a:lstStyle/>
          <a:p>
            <a:r>
              <a:rPr sz="1500" b="1">
                <a:solidFill>
                  <a:srgbClr val="5B3FD6"/>
                </a:solidFill>
                <a:latin typeface="Calibri"/>
              </a:rPr>
              <a:t>The same test failed at a bank. </a:t>
            </a:r>
            <a:r>
              <a:rPr sz="1500" b="0" i="0">
                <a:solidFill>
                  <a:srgbClr val="1A1440"/>
                </a:solidFill>
                <a:latin typeface="Calibri"/>
              </a:rPr>
              <a:t>Cross-selling is selling an existing customer one more product, such as a credit card to someone with a savings account. Wells Fargo judged branch staff on products sold, through sales targets and bonuses, and showed investors a cross-sell number, products per household; staff opened accounts customers never asked for or used, and both counts rose. It paid USD 185 million in penalties in 2016 (100 to the US consumer-finance regulator, 35 to a US bank regulator, 50 to Los Angeles) and USD 3 billion in 2020.</a:t>
            </a:r>
          </a:p>
        </p:txBody>
      </p:sp>
      <p:sp>
        <p:nvSpPr>
          <p:cNvPr id="13" name="Oval 12"/>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40080" y="6437376"/>
            <a:ext cx="1240440" cy="152146"/>
          </a:xfrm>
          <a:prstGeom prst="rect">
            <a:avLst/>
          </a:prstGeom>
          <a:noFill/>
        </p:spPr>
        <p:txBody>
          <a:bodyPr wrap="square" anchor="t" lIns="0" rIns="0" tIns="0" bIns="0">
            <a:spAutoFit/>
          </a:bodyPr>
          <a:lstStyle/>
          <a:p>
            <a:pPr algn="l"/>
            <a:r>
              <a:rPr sz="700" b="1" i="0">
                <a:solidFill>
                  <a:srgbClr val="5B3FD6"/>
                </a:solidFill>
                <a:latin typeface="Calibri"/>
              </a:rPr>
              <a:t>What is a number for?</a:t>
            </a:r>
          </a:p>
        </p:txBody>
      </p:sp>
      <p:sp>
        <p:nvSpPr>
          <p:cNvPr id="15" name="Oval 14"/>
          <p:cNvSpPr/>
          <p:nvPr/>
        </p:nvSpPr>
        <p:spPr>
          <a:xfrm>
            <a:off x="197196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2081688"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Which number to chase?</a:t>
            </a:r>
          </a:p>
        </p:txBody>
      </p:sp>
      <p:sp>
        <p:nvSpPr>
          <p:cNvPr id="17" name="Oval 16"/>
          <p:cNvSpPr/>
          <p:nvPr/>
        </p:nvSpPr>
        <p:spPr>
          <a:xfrm>
            <a:off x="345957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569303"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Which number warns?</a:t>
            </a:r>
          </a:p>
        </p:txBody>
      </p:sp>
      <p:sp>
        <p:nvSpPr>
          <p:cNvPr id="19" name="Oval 18"/>
          <p:cNvSpPr/>
          <p:nvPr/>
        </p:nvSpPr>
        <p:spPr>
          <a:xfrm>
            <a:off x="480917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4918900"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Which four lines?</a:t>
            </a:r>
          </a:p>
        </p:txBody>
      </p:sp>
      <p:sp>
        <p:nvSpPr>
          <p:cNvPr id="21" name="Oval 20"/>
          <p:cNvSpPr/>
          <p:nvPr/>
        </p:nvSpPr>
        <p:spPr>
          <a:xfrm>
            <a:off x="606675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6176486"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How is a number gamed?</a:t>
            </a:r>
          </a:p>
        </p:txBody>
      </p:sp>
      <p:sp>
        <p:nvSpPr>
          <p:cNvPr id="23" name="Oval 22"/>
          <p:cNvSpPr/>
          <p:nvPr/>
        </p:nvSpPr>
        <p:spPr>
          <a:xfrm>
            <a:off x="755437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766410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the page hold?</a:t>
            </a:r>
          </a:p>
        </p:txBody>
      </p:sp>
      <p:sp>
        <p:nvSpPr>
          <p:cNvPr id="25" name="Oval 24"/>
          <p:cNvSpPr/>
          <p:nvPr/>
        </p:nvSpPr>
        <p:spPr>
          <a:xfrm>
            <a:off x="91339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9243726"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an hour count?</a:t>
            </a:r>
          </a:p>
        </p:txBody>
      </p:sp>
      <p:sp>
        <p:nvSpPr>
          <p:cNvPr id="27" name="TextBox 26"/>
          <p:cNvSpPr txBox="1"/>
          <p:nvPr/>
        </p:nvSpPr>
        <p:spPr>
          <a:xfrm>
            <a:off x="10713624" y="6437376"/>
            <a:ext cx="256032" cy="152146"/>
          </a:xfrm>
          <a:prstGeom prst="rect">
            <a:avLst/>
          </a:prstGeom>
          <a:noFill/>
        </p:spPr>
        <p:txBody>
          <a:bodyPr wrap="square" anchor="t" lIns="0" rIns="0" tIns="0" bIns="0">
            <a:spAutoFit/>
          </a:bodyPr>
          <a:lstStyle/>
          <a:p>
            <a:pPr algn="l"/>
            <a:r>
              <a:rPr sz="700" b="0" i="0">
                <a:solidFill>
                  <a:srgbClr val="6B6690"/>
                </a:solidFill>
                <a:latin typeface="Calibri"/>
              </a:rPr>
              <a:t>…</a:t>
            </a:r>
          </a:p>
        </p:txBody>
      </p:sp>
      <p:sp>
        <p:nvSpPr>
          <p:cNvPr id="28" name="TextBox 27"/>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S13  ·  14 / 93</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dark.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FFFFFF"/>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CFC9EE"/>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CFC9EE"/>
                </a:solidFill>
                <a:latin typeface="Calibri"/>
              </a:rPr>
              <a:t>PG DIPLOMA IN AI-ML AND AGENTIC AI ENGINEERING  ·  COHORT 2</a:t>
            </a:r>
          </a:p>
        </p:txBody>
      </p:sp>
      <p:sp>
        <p:nvSpPr>
          <p:cNvPr id="7" name="TextBox 6"/>
          <p:cNvSpPr txBox="1"/>
          <p:nvPr/>
        </p:nvSpPr>
        <p:spPr>
          <a:xfrm>
            <a:off x="731519" y="1143000"/>
            <a:ext cx="3657600" cy="1371600"/>
          </a:xfrm>
          <a:prstGeom prst="rect">
            <a:avLst/>
          </a:prstGeom>
          <a:noFill/>
        </p:spPr>
        <p:txBody>
          <a:bodyPr wrap="square" anchor="t" lIns="0" rIns="0" tIns="0" bIns="0">
            <a:spAutoFit/>
          </a:bodyPr>
          <a:lstStyle/>
          <a:p>
            <a:pPr algn="l"/>
            <a:r>
              <a:rPr sz="9600" b="0" i="0">
                <a:solidFill>
                  <a:srgbClr val="D9A7FF"/>
                </a:solidFill>
                <a:latin typeface="Georgia"/>
              </a:rPr>
              <a:t>02</a:t>
            </a:r>
          </a:p>
        </p:txBody>
      </p:sp>
      <p:sp>
        <p:nvSpPr>
          <p:cNvPr id="8" name="TextBox 7"/>
          <p:cNvSpPr txBox="1"/>
          <p:nvPr/>
        </p:nvSpPr>
        <p:spPr>
          <a:xfrm>
            <a:off x="731519" y="2542032"/>
            <a:ext cx="10673791" cy="366776"/>
          </a:xfrm>
          <a:prstGeom prst="rect">
            <a:avLst/>
          </a:prstGeom>
          <a:noFill/>
        </p:spPr>
        <p:txBody>
          <a:bodyPr wrap="square" anchor="t" lIns="0" rIns="0" tIns="0" bIns="0">
            <a:spAutoFit/>
          </a:bodyPr>
          <a:lstStyle/>
          <a:p>
            <a:pPr algn="l"/>
            <a:r>
              <a:rPr sz="2000" b="1" i="0">
                <a:solidFill>
                  <a:srgbClr val="D9A7FF"/>
                </a:solidFill>
                <a:latin typeface="Calibri"/>
              </a:rPr>
              <a:t>North-star and guardrail metrics</a:t>
            </a:r>
          </a:p>
        </p:txBody>
      </p:sp>
      <p:sp>
        <p:nvSpPr>
          <p:cNvPr id="9" name="TextBox 8"/>
          <p:cNvSpPr txBox="1"/>
          <p:nvPr/>
        </p:nvSpPr>
        <p:spPr>
          <a:xfrm>
            <a:off x="731519" y="3017520"/>
            <a:ext cx="10673791" cy="731520"/>
          </a:xfrm>
          <a:prstGeom prst="rect">
            <a:avLst/>
          </a:prstGeom>
          <a:noFill/>
        </p:spPr>
        <p:txBody>
          <a:bodyPr wrap="square" anchor="t" lIns="0" rIns="0" tIns="0" bIns="0">
            <a:spAutoFit/>
          </a:bodyPr>
          <a:lstStyle/>
          <a:p>
            <a:pPr algn="l"/>
            <a:r>
              <a:rPr sz="4000" b="0" i="0">
                <a:solidFill>
                  <a:srgbClr val="FFFFFF"/>
                </a:solidFill>
                <a:latin typeface="Georgia"/>
              </a:rPr>
              <a:t>Which number to chase?</a:t>
            </a:r>
          </a:p>
        </p:txBody>
      </p:sp>
      <p:sp>
        <p:nvSpPr>
          <p:cNvPr id="10" name="TextBox 9"/>
          <p:cNvSpPr txBox="1"/>
          <p:nvPr/>
        </p:nvSpPr>
        <p:spPr>
          <a:xfrm>
            <a:off x="731519" y="3931920"/>
            <a:ext cx="9509760" cy="284226"/>
          </a:xfrm>
          <a:prstGeom prst="rect">
            <a:avLst/>
          </a:prstGeom>
          <a:noFill/>
        </p:spPr>
        <p:txBody>
          <a:bodyPr wrap="square" anchor="t" lIns="0" rIns="0" tIns="0" bIns="0">
            <a:spAutoFit/>
          </a:bodyPr>
          <a:lstStyle/>
          <a:p>
            <a:pPr algn="l"/>
            <a:r>
              <a:rPr sz="1500" b="0" i="0">
                <a:solidFill>
                  <a:srgbClr val="E4E1F1"/>
                </a:solidFill>
                <a:latin typeface="Calibri"/>
              </a:rPr>
              <a:t>Pick the one number a plan chases, and the numbers that must not fall while it rises.</a:t>
            </a:r>
          </a:p>
        </p:txBody>
      </p:sp>
      <p:sp>
        <p:nvSpPr>
          <p:cNvPr id="11" name="Rounded Rectangle 10"/>
          <p:cNvSpPr/>
          <p:nvPr/>
        </p:nvSpPr>
        <p:spPr>
          <a:xfrm>
            <a:off x="731519" y="5074920"/>
            <a:ext cx="1082213"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What is a number for?</a:t>
            </a:r>
          </a:p>
        </p:txBody>
      </p:sp>
      <p:sp>
        <p:nvSpPr>
          <p:cNvPr id="12" name="Rounded Rectangle 11"/>
          <p:cNvSpPr/>
          <p:nvPr/>
        </p:nvSpPr>
        <p:spPr>
          <a:xfrm>
            <a:off x="1923461" y="5074920"/>
            <a:ext cx="1122034" cy="310896"/>
          </a:xfrm>
          <a:prstGeom prst="roundRect">
            <a:avLst>
              <a:gd name="adj" fmla="val 50000"/>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1">
                <a:solidFill>
                  <a:srgbClr val="1A0F5C"/>
                </a:solidFill>
                <a:latin typeface="Calibri"/>
              </a:rPr>
              <a:t>Which number to chase?</a:t>
            </a:r>
          </a:p>
        </p:txBody>
      </p:sp>
      <p:sp>
        <p:nvSpPr>
          <p:cNvPr id="13" name="Rounded Rectangle 12"/>
          <p:cNvSpPr/>
          <p:nvPr/>
        </p:nvSpPr>
        <p:spPr>
          <a:xfrm>
            <a:off x="3155223" y="5074920"/>
            <a:ext cx="1002570"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Which number warns?</a:t>
            </a:r>
          </a:p>
        </p:txBody>
      </p:sp>
      <p:sp>
        <p:nvSpPr>
          <p:cNvPr id="14" name="Rounded Rectangle 13"/>
          <p:cNvSpPr/>
          <p:nvPr/>
        </p:nvSpPr>
        <p:spPr>
          <a:xfrm>
            <a:off x="4267522" y="5074920"/>
            <a:ext cx="922927"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Which four lines?</a:t>
            </a:r>
          </a:p>
        </p:txBody>
      </p:sp>
      <p:sp>
        <p:nvSpPr>
          <p:cNvPr id="15" name="Rounded Rectangle 14"/>
          <p:cNvSpPr/>
          <p:nvPr/>
        </p:nvSpPr>
        <p:spPr>
          <a:xfrm>
            <a:off x="5300178" y="5074920"/>
            <a:ext cx="1122034"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How is a number gamed?</a:t>
            </a:r>
          </a:p>
        </p:txBody>
      </p:sp>
      <p:sp>
        <p:nvSpPr>
          <p:cNvPr id="16" name="Rounded Rectangle 15"/>
          <p:cNvSpPr/>
          <p:nvPr/>
        </p:nvSpPr>
        <p:spPr>
          <a:xfrm>
            <a:off x="6531940" y="5074920"/>
            <a:ext cx="1201677"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What does the page hold?</a:t>
            </a:r>
          </a:p>
        </p:txBody>
      </p:sp>
      <p:sp>
        <p:nvSpPr>
          <p:cNvPr id="17" name="Rounded Rectangle 16"/>
          <p:cNvSpPr/>
          <p:nvPr/>
        </p:nvSpPr>
        <p:spPr>
          <a:xfrm>
            <a:off x="7843346" y="5074920"/>
            <a:ext cx="1201677"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What does an hour count?</a:t>
            </a:r>
          </a:p>
        </p:txBody>
      </p:sp>
      <p:sp>
        <p:nvSpPr>
          <p:cNvPr id="18" name="Rounded Rectangle 17"/>
          <p:cNvSpPr/>
          <p:nvPr/>
        </p:nvSpPr>
        <p:spPr>
          <a:xfrm>
            <a:off x="9154751" y="5074920"/>
            <a:ext cx="1161855"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Where did the fall sit?</a:t>
            </a:r>
          </a:p>
        </p:txBody>
      </p:sp>
      <p:sp>
        <p:nvSpPr>
          <p:cNvPr id="19" name="Rounded Rectangle 18"/>
          <p:cNvSpPr/>
          <p:nvPr/>
        </p:nvSpPr>
        <p:spPr>
          <a:xfrm>
            <a:off x="10426335" y="5074920"/>
            <a:ext cx="1161855"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What should it pay for?</a:t>
            </a:r>
          </a:p>
        </p:txBody>
      </p:sp>
      <p:sp>
        <p:nvSpPr>
          <p:cNvPr id="20" name="TextBox 19"/>
          <p:cNvSpPr txBox="1"/>
          <p:nvPr/>
        </p:nvSpPr>
        <p:spPr>
          <a:xfrm>
            <a:off x="530352" y="6437376"/>
            <a:ext cx="9667951" cy="160401"/>
          </a:xfrm>
          <a:prstGeom prst="rect">
            <a:avLst/>
          </a:prstGeom>
          <a:noFill/>
        </p:spPr>
        <p:txBody>
          <a:bodyPr wrap="square" anchor="t" lIns="0" rIns="0" tIns="0" bIns="0">
            <a:spAutoFit/>
          </a:bodyPr>
          <a:lstStyle/>
          <a:p>
            <a:pPr algn="l"/>
            <a:r>
              <a:rPr sz="750" b="0" i="0">
                <a:solidFill>
                  <a:srgbClr val="CFC9EE"/>
                </a:solidFill>
                <a:latin typeface="Calibri"/>
              </a:rPr>
              <a:t>Week 4, Day 1. Business metric design: which number should the plan chase, and what stops it being gamed?</a:t>
            </a:r>
          </a:p>
        </p:txBody>
      </p:sp>
      <p:sp>
        <p:nvSpPr>
          <p:cNvPr id="21" name="TextBox 20"/>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CFC9EE"/>
                </a:solidFill>
                <a:latin typeface="Calibri"/>
              </a:rPr>
              <a:t>15 / 93</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MONDAY  ·  BUSINESS METRIC DESIGN  ·  UBER, HYDERABAD</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 plan chases one number and watches others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Who needs the answer, and which questions lead to it?</a:t>
            </a:r>
          </a:p>
        </p:txBody>
      </p:sp>
      <p:sp>
        <p:nvSpPr>
          <p:cNvPr id="9" name="TextBox 8"/>
          <p:cNvSpPr txBox="1"/>
          <p:nvPr/>
        </p:nvSpPr>
        <p:spPr>
          <a:xfrm>
            <a:off x="530352" y="1889506"/>
            <a:ext cx="11130991" cy="772160"/>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When a plan has many numbers, a team needs one it chases and a few it watches so the chase does no harm. The one it chases is the </a:t>
            </a:r>
            <a:r>
              <a:rPr sz="1600" b="1" i="0">
                <a:solidFill>
                  <a:srgbClr val="1A1440"/>
                </a:solidFill>
                <a:latin typeface="Calibri"/>
              </a:rPr>
              <a:t>north star</a:t>
            </a:r>
            <a:r>
              <a:rPr sz="1600" b="0" i="0">
                <a:solidFill>
                  <a:srgbClr val="1A1440"/>
                </a:solidFill>
                <a:latin typeface="Calibri"/>
              </a:rPr>
              <a:t>; the ones that must not get worse while it rises are the </a:t>
            </a:r>
            <a:r>
              <a:rPr sz="1600" b="1" i="0">
                <a:solidFill>
                  <a:srgbClr val="1A1440"/>
                </a:solidFill>
                <a:latin typeface="Calibri"/>
              </a:rPr>
              <a:t>guardrails</a:t>
            </a:r>
            <a:r>
              <a:rPr sz="1600" b="0" i="0">
                <a:solidFill>
                  <a:srgbClr val="1A1440"/>
                </a:solidFill>
                <a:latin typeface="Calibri"/>
              </a:rPr>
              <a:t>.</a:t>
            </a:r>
          </a:p>
        </p:txBody>
      </p:sp>
      <p:sp>
        <p:nvSpPr>
          <p:cNvPr id="10" name="Rounded Rectangle 9"/>
          <p:cNvSpPr/>
          <p:nvPr/>
        </p:nvSpPr>
        <p:spPr>
          <a:xfrm>
            <a:off x="530352" y="2789682"/>
            <a:ext cx="11130991" cy="10744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676656" y="2917698"/>
            <a:ext cx="45720" cy="8183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7824" y="2908554"/>
            <a:ext cx="10564063" cy="891540"/>
          </a:xfrm>
          <a:prstGeom prst="rect">
            <a:avLst/>
          </a:prstGeom>
          <a:noFill/>
        </p:spPr>
        <p:txBody>
          <a:bodyPr wrap="square" anchor="ctr" lIns="0" rIns="0" tIns="0" bIns="0">
            <a:spAutoFit/>
          </a:bodyPr>
          <a:lstStyle/>
          <a:p>
            <a:r>
              <a:rPr sz="1500" b="1">
                <a:solidFill>
                  <a:srgbClr val="5B3FD6"/>
                </a:solidFill>
                <a:latin typeface="Calibri"/>
              </a:rPr>
              <a:t>Who needs the answer. </a:t>
            </a:r>
            <a:r>
              <a:rPr sz="1500" b="0" i="0">
                <a:solidFill>
                  <a:srgbClr val="1A1440"/>
                </a:solidFill>
                <a:latin typeface="Calibri"/>
              </a:rPr>
              <a:t>A family choosing a driving school (invented) from its hoarding, and the owner who pays instructors on the hoarding's number: a rate read alone can sell a year in which fewer learners got a licence.</a:t>
            </a:r>
          </a:p>
        </p:txBody>
      </p:sp>
      <p:sp>
        <p:nvSpPr>
          <p:cNvPr id="13" name="Rectangle 12"/>
          <p:cNvSpPr/>
          <p:nvPr/>
        </p:nvSpPr>
        <p:spPr>
          <a:xfrm>
            <a:off x="1853145" y="4595621"/>
            <a:ext cx="8485403" cy="18288"/>
          </a:xfrm>
          <a:prstGeom prst="rect">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530352" y="4028693"/>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THE CLAIM</a:t>
            </a:r>
          </a:p>
        </p:txBody>
      </p:sp>
      <p:sp>
        <p:nvSpPr>
          <p:cNvPr id="15" name="Oval 14"/>
          <p:cNvSpPr/>
          <p:nvPr/>
        </p:nvSpPr>
        <p:spPr>
          <a:xfrm>
            <a:off x="1752561" y="4504181"/>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ounded Rectangle 15"/>
          <p:cNvSpPr/>
          <p:nvPr/>
        </p:nvSpPr>
        <p:spPr>
          <a:xfrm>
            <a:off x="530352" y="4915661"/>
            <a:ext cx="2645587"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694944" y="5061966"/>
            <a:ext cx="2316403" cy="465836"/>
          </a:xfrm>
          <a:prstGeom prst="rect">
            <a:avLst/>
          </a:prstGeom>
          <a:noFill/>
        </p:spPr>
        <p:txBody>
          <a:bodyPr wrap="square" anchor="t" lIns="0" rIns="0" tIns="0" bIns="0">
            <a:spAutoFit/>
          </a:bodyPr>
          <a:lstStyle/>
          <a:p>
            <a:pPr algn="l"/>
            <a:r>
              <a:rPr sz="1300" b="1" i="0">
                <a:solidFill>
                  <a:srgbClr val="1A0F5C"/>
                </a:solidFill>
                <a:latin typeface="Calibri"/>
              </a:rPr>
              <a:t>What does the hoarding count?</a:t>
            </a:r>
          </a:p>
        </p:txBody>
      </p:sp>
      <p:sp>
        <p:nvSpPr>
          <p:cNvPr id="18" name="TextBox 17"/>
          <p:cNvSpPr txBox="1"/>
          <p:nvPr/>
        </p:nvSpPr>
        <p:spPr>
          <a:xfrm>
            <a:off x="694944" y="5564377"/>
            <a:ext cx="2316403" cy="366776"/>
          </a:xfrm>
          <a:prstGeom prst="rect">
            <a:avLst/>
          </a:prstGeom>
          <a:noFill/>
        </p:spPr>
        <p:txBody>
          <a:bodyPr wrap="square" anchor="t" lIns="0" rIns="0" tIns="0" bIns="0">
            <a:spAutoFit/>
          </a:bodyPr>
          <a:lstStyle/>
          <a:p>
            <a:pPr algn="l"/>
            <a:r>
              <a:rPr sz="1000" b="0" i="0">
                <a:solidFill>
                  <a:srgbClr val="6B6690"/>
                </a:solidFill>
                <a:latin typeface="Calibri"/>
              </a:rPr>
              <a:t>Passes over learners who took the test.</a:t>
            </a:r>
          </a:p>
        </p:txBody>
      </p:sp>
      <p:sp>
        <p:nvSpPr>
          <p:cNvPr id="19" name="TextBox 18"/>
          <p:cNvSpPr txBox="1"/>
          <p:nvPr/>
        </p:nvSpPr>
        <p:spPr>
          <a:xfrm>
            <a:off x="3358819" y="4028693"/>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THE MOVE</a:t>
            </a:r>
          </a:p>
        </p:txBody>
      </p:sp>
      <p:sp>
        <p:nvSpPr>
          <p:cNvPr id="20" name="Oval 19"/>
          <p:cNvSpPr/>
          <p:nvPr/>
        </p:nvSpPr>
        <p:spPr>
          <a:xfrm>
            <a:off x="4581029" y="4504181"/>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ounded Rectangle 20"/>
          <p:cNvSpPr/>
          <p:nvPr/>
        </p:nvSpPr>
        <p:spPr>
          <a:xfrm>
            <a:off x="3358819" y="4915661"/>
            <a:ext cx="2645587"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3523411" y="5061966"/>
            <a:ext cx="2316403" cy="251205"/>
          </a:xfrm>
          <a:prstGeom prst="rect">
            <a:avLst/>
          </a:prstGeom>
          <a:noFill/>
        </p:spPr>
        <p:txBody>
          <a:bodyPr wrap="square" anchor="t" lIns="0" rIns="0" tIns="0" bIns="0">
            <a:spAutoFit/>
          </a:bodyPr>
          <a:lstStyle/>
          <a:p>
            <a:pPr algn="l"/>
            <a:r>
              <a:rPr sz="1300" b="1" i="0">
                <a:solidFill>
                  <a:srgbClr val="1A0F5C"/>
                </a:solidFill>
                <a:latin typeface="Calibri"/>
              </a:rPr>
              <a:t>What else changed?</a:t>
            </a:r>
          </a:p>
        </p:txBody>
      </p:sp>
      <p:sp>
        <p:nvSpPr>
          <p:cNvPr id="23" name="TextBox 22"/>
          <p:cNvSpPr txBox="1"/>
          <p:nvPr/>
        </p:nvSpPr>
        <p:spPr>
          <a:xfrm>
            <a:off x="3523411" y="5349748"/>
            <a:ext cx="2316403" cy="201676"/>
          </a:xfrm>
          <a:prstGeom prst="rect">
            <a:avLst/>
          </a:prstGeom>
          <a:noFill/>
        </p:spPr>
        <p:txBody>
          <a:bodyPr wrap="square" anchor="t" lIns="0" rIns="0" tIns="0" bIns="0">
            <a:spAutoFit/>
          </a:bodyPr>
          <a:lstStyle/>
          <a:p>
            <a:pPr algn="l"/>
            <a:r>
              <a:rPr sz="1000" b="0" i="0">
                <a:solidFill>
                  <a:srgbClr val="6B6690"/>
                </a:solidFill>
                <a:latin typeface="Calibri"/>
              </a:rPr>
              <a:t>How many took the test.</a:t>
            </a:r>
          </a:p>
        </p:txBody>
      </p:sp>
      <p:sp>
        <p:nvSpPr>
          <p:cNvPr id="24" name="TextBox 23"/>
          <p:cNvSpPr txBox="1"/>
          <p:nvPr/>
        </p:nvSpPr>
        <p:spPr>
          <a:xfrm>
            <a:off x="6187287" y="4028693"/>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THE OUTCOME</a:t>
            </a:r>
          </a:p>
        </p:txBody>
      </p:sp>
      <p:sp>
        <p:nvSpPr>
          <p:cNvPr id="25" name="Oval 24"/>
          <p:cNvSpPr/>
          <p:nvPr/>
        </p:nvSpPr>
        <p:spPr>
          <a:xfrm>
            <a:off x="7409497" y="4504181"/>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ounded Rectangle 25"/>
          <p:cNvSpPr/>
          <p:nvPr/>
        </p:nvSpPr>
        <p:spPr>
          <a:xfrm>
            <a:off x="6187287" y="4915661"/>
            <a:ext cx="2645587"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6351879" y="5061966"/>
            <a:ext cx="2316403" cy="251205"/>
          </a:xfrm>
          <a:prstGeom prst="rect">
            <a:avLst/>
          </a:prstGeom>
          <a:noFill/>
        </p:spPr>
        <p:txBody>
          <a:bodyPr wrap="square" anchor="t" lIns="0" rIns="0" tIns="0" bIns="0">
            <a:spAutoFit/>
          </a:bodyPr>
          <a:lstStyle/>
          <a:p>
            <a:pPr algn="l"/>
            <a:r>
              <a:rPr sz="1300" b="1" i="0">
                <a:solidFill>
                  <a:srgbClr val="1A0F5C"/>
                </a:solidFill>
                <a:latin typeface="Calibri"/>
              </a:rPr>
              <a:t>What did learners pay for?</a:t>
            </a:r>
          </a:p>
        </p:txBody>
      </p:sp>
      <p:sp>
        <p:nvSpPr>
          <p:cNvPr id="28" name="TextBox 27"/>
          <p:cNvSpPr txBox="1"/>
          <p:nvPr/>
        </p:nvSpPr>
        <p:spPr>
          <a:xfrm>
            <a:off x="6351879" y="5349748"/>
            <a:ext cx="2316403" cy="366776"/>
          </a:xfrm>
          <a:prstGeom prst="rect">
            <a:avLst/>
          </a:prstGeom>
          <a:noFill/>
        </p:spPr>
        <p:txBody>
          <a:bodyPr wrap="square" anchor="t" lIns="0" rIns="0" tIns="0" bIns="0">
            <a:spAutoFit/>
          </a:bodyPr>
          <a:lstStyle/>
          <a:p>
            <a:pPr algn="l"/>
            <a:r>
              <a:rPr sz="1000" b="0" i="0">
                <a:solidFill>
                  <a:srgbClr val="6B6690"/>
                </a:solidFill>
                <a:latin typeface="Calibri"/>
              </a:rPr>
              <a:t>A licence, per learner who enrolled.</a:t>
            </a:r>
          </a:p>
        </p:txBody>
      </p:sp>
      <p:sp>
        <p:nvSpPr>
          <p:cNvPr id="29" name="TextBox 28"/>
          <p:cNvSpPr txBox="1"/>
          <p:nvPr/>
        </p:nvSpPr>
        <p:spPr>
          <a:xfrm>
            <a:off x="9015755" y="4028693"/>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THE GUARD</a:t>
            </a:r>
          </a:p>
        </p:txBody>
      </p:sp>
      <p:sp>
        <p:nvSpPr>
          <p:cNvPr id="30" name="Oval 29"/>
          <p:cNvSpPr/>
          <p:nvPr/>
        </p:nvSpPr>
        <p:spPr>
          <a:xfrm>
            <a:off x="10237965" y="4504181"/>
            <a:ext cx="201168" cy="201168"/>
          </a:xfrm>
          <a:prstGeom prst="ellipse">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ounded Rectangle 30"/>
          <p:cNvSpPr/>
          <p:nvPr/>
        </p:nvSpPr>
        <p:spPr>
          <a:xfrm>
            <a:off x="9015755" y="4915661"/>
            <a:ext cx="2645587" cy="1076960"/>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9180347" y="5061966"/>
            <a:ext cx="2316403" cy="251205"/>
          </a:xfrm>
          <a:prstGeom prst="rect">
            <a:avLst/>
          </a:prstGeom>
          <a:noFill/>
        </p:spPr>
        <p:txBody>
          <a:bodyPr wrap="square" anchor="t" lIns="0" rIns="0" tIns="0" bIns="0">
            <a:spAutoFit/>
          </a:bodyPr>
          <a:lstStyle/>
          <a:p>
            <a:pPr algn="l"/>
            <a:r>
              <a:rPr sz="1300" b="1" i="0">
                <a:solidFill>
                  <a:srgbClr val="FFFFFF"/>
                </a:solidFill>
                <a:latin typeface="Calibri"/>
              </a:rPr>
              <a:t>What must not fall?</a:t>
            </a:r>
          </a:p>
        </p:txBody>
      </p:sp>
      <p:sp>
        <p:nvSpPr>
          <p:cNvPr id="33" name="TextBox 32"/>
          <p:cNvSpPr txBox="1"/>
          <p:nvPr/>
        </p:nvSpPr>
        <p:spPr>
          <a:xfrm>
            <a:off x="9180347" y="5349748"/>
            <a:ext cx="2316403" cy="201676"/>
          </a:xfrm>
          <a:prstGeom prst="rect">
            <a:avLst/>
          </a:prstGeom>
          <a:noFill/>
        </p:spPr>
        <p:txBody>
          <a:bodyPr wrap="square" anchor="t" lIns="0" rIns="0" tIns="0" bIns="0">
            <a:spAutoFit/>
          </a:bodyPr>
          <a:lstStyle/>
          <a:p>
            <a:pPr algn="l"/>
            <a:r>
              <a:rPr sz="1000" b="0" i="0">
                <a:solidFill>
                  <a:srgbClr val="CFC9EE"/>
                </a:solidFill>
                <a:latin typeface="Calibri"/>
              </a:rPr>
              <a:t>The share who got to take the test.</a:t>
            </a:r>
          </a:p>
        </p:txBody>
      </p:sp>
      <p:sp>
        <p:nvSpPr>
          <p:cNvPr id="34" name="Oval 33"/>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640080"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What is a number for?</a:t>
            </a:r>
          </a:p>
        </p:txBody>
      </p:sp>
      <p:sp>
        <p:nvSpPr>
          <p:cNvPr id="36" name="Oval 35"/>
          <p:cNvSpPr/>
          <p:nvPr/>
        </p:nvSpPr>
        <p:spPr>
          <a:xfrm>
            <a:off x="1971960"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2081688" y="6437376"/>
            <a:ext cx="1286446" cy="152146"/>
          </a:xfrm>
          <a:prstGeom prst="rect">
            <a:avLst/>
          </a:prstGeom>
          <a:noFill/>
        </p:spPr>
        <p:txBody>
          <a:bodyPr wrap="square" anchor="t" lIns="0" rIns="0" tIns="0" bIns="0">
            <a:spAutoFit/>
          </a:bodyPr>
          <a:lstStyle/>
          <a:p>
            <a:pPr algn="l"/>
            <a:r>
              <a:rPr sz="700" b="1" i="0">
                <a:solidFill>
                  <a:srgbClr val="5B3FD6"/>
                </a:solidFill>
                <a:latin typeface="Calibri"/>
              </a:rPr>
              <a:t>Which number to chase?</a:t>
            </a:r>
          </a:p>
        </p:txBody>
      </p:sp>
      <p:sp>
        <p:nvSpPr>
          <p:cNvPr id="38" name="Oval 37"/>
          <p:cNvSpPr/>
          <p:nvPr/>
        </p:nvSpPr>
        <p:spPr>
          <a:xfrm>
            <a:off x="345957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3569303"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Which number warns?</a:t>
            </a:r>
          </a:p>
        </p:txBody>
      </p:sp>
      <p:sp>
        <p:nvSpPr>
          <p:cNvPr id="40" name="Oval 39"/>
          <p:cNvSpPr/>
          <p:nvPr/>
        </p:nvSpPr>
        <p:spPr>
          <a:xfrm>
            <a:off x="480917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4918900"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Which four lines?</a:t>
            </a:r>
          </a:p>
        </p:txBody>
      </p:sp>
      <p:sp>
        <p:nvSpPr>
          <p:cNvPr id="42" name="Oval 41"/>
          <p:cNvSpPr/>
          <p:nvPr/>
        </p:nvSpPr>
        <p:spPr>
          <a:xfrm>
            <a:off x="606675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TextBox 42"/>
          <p:cNvSpPr txBox="1"/>
          <p:nvPr/>
        </p:nvSpPr>
        <p:spPr>
          <a:xfrm>
            <a:off x="6176486"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How is a number gamed?</a:t>
            </a:r>
          </a:p>
        </p:txBody>
      </p:sp>
      <p:sp>
        <p:nvSpPr>
          <p:cNvPr id="44" name="Oval 43"/>
          <p:cNvSpPr/>
          <p:nvPr/>
        </p:nvSpPr>
        <p:spPr>
          <a:xfrm>
            <a:off x="755437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TextBox 44"/>
          <p:cNvSpPr txBox="1"/>
          <p:nvPr/>
        </p:nvSpPr>
        <p:spPr>
          <a:xfrm>
            <a:off x="766410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the page hold?</a:t>
            </a:r>
          </a:p>
        </p:txBody>
      </p:sp>
      <p:sp>
        <p:nvSpPr>
          <p:cNvPr id="46" name="Oval 45"/>
          <p:cNvSpPr/>
          <p:nvPr/>
        </p:nvSpPr>
        <p:spPr>
          <a:xfrm>
            <a:off x="91339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TextBox 46"/>
          <p:cNvSpPr txBox="1"/>
          <p:nvPr/>
        </p:nvSpPr>
        <p:spPr>
          <a:xfrm>
            <a:off x="9243726"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an hour count?</a:t>
            </a:r>
          </a:p>
        </p:txBody>
      </p:sp>
      <p:sp>
        <p:nvSpPr>
          <p:cNvPr id="48" name="TextBox 47"/>
          <p:cNvSpPr txBox="1"/>
          <p:nvPr/>
        </p:nvSpPr>
        <p:spPr>
          <a:xfrm>
            <a:off x="10713624" y="6437376"/>
            <a:ext cx="256032" cy="152146"/>
          </a:xfrm>
          <a:prstGeom prst="rect">
            <a:avLst/>
          </a:prstGeom>
          <a:noFill/>
        </p:spPr>
        <p:txBody>
          <a:bodyPr wrap="square" anchor="t" lIns="0" rIns="0" tIns="0" bIns="0">
            <a:spAutoFit/>
          </a:bodyPr>
          <a:lstStyle/>
          <a:p>
            <a:pPr algn="l"/>
            <a:r>
              <a:rPr sz="700" b="0" i="0">
                <a:solidFill>
                  <a:srgbClr val="6B6690"/>
                </a:solidFill>
                <a:latin typeface="Calibri"/>
              </a:rPr>
              <a:t>…</a:t>
            </a:r>
          </a:p>
        </p:txBody>
      </p:sp>
      <p:sp>
        <p:nvSpPr>
          <p:cNvPr id="49" name="TextBox 48"/>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S14  ·  16 / 93</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MONDAY  ·  BUSINESS METRIC DESIGN  ·  UBER, HYDERABAD</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 pass rate rose from 60 to 90 percent: why?</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A driving school (invented) prints "90 percent pass the licence test" on its hoarding; last year it printed 60. What most likely happened?</a:t>
            </a:r>
          </a:p>
        </p:txBody>
      </p:sp>
      <p:sp>
        <p:nvSpPr>
          <p:cNvPr id="9" name="Rounded Rectangle 8"/>
          <p:cNvSpPr/>
          <p:nvPr/>
        </p:nvSpPr>
        <p:spPr>
          <a:xfrm>
            <a:off x="530352" y="1956816"/>
            <a:ext cx="2645587" cy="1964436"/>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731519"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1" name="Picture 10" descr="graduation-cap_be08922649ea.png"/>
          <p:cNvPicPr>
            <a:picLocks noChangeAspect="1"/>
          </p:cNvPicPr>
          <p:nvPr/>
        </p:nvPicPr>
        <p:blipFill>
          <a:blip r:embed="rId4"/>
          <a:stretch>
            <a:fillRect/>
          </a:stretch>
        </p:blipFill>
        <p:spPr>
          <a:xfrm>
            <a:off x="841247" y="2267712"/>
            <a:ext cx="237744" cy="237744"/>
          </a:xfrm>
          <a:prstGeom prst="rect">
            <a:avLst/>
          </a:prstGeom>
        </p:spPr>
      </p:pic>
      <p:sp>
        <p:nvSpPr>
          <p:cNvPr id="12" name="TextBox 11"/>
          <p:cNvSpPr txBox="1"/>
          <p:nvPr/>
        </p:nvSpPr>
        <p:spPr>
          <a:xfrm>
            <a:off x="731519" y="2724912"/>
            <a:ext cx="2243251" cy="160401"/>
          </a:xfrm>
          <a:prstGeom prst="rect">
            <a:avLst/>
          </a:prstGeom>
          <a:noFill/>
        </p:spPr>
        <p:txBody>
          <a:bodyPr wrap="square" anchor="t" lIns="0" rIns="0" tIns="0" bIns="0">
            <a:spAutoFit/>
          </a:bodyPr>
          <a:lstStyle/>
          <a:p>
            <a:pPr algn="l"/>
            <a:r>
              <a:rPr sz="750" b="1" i="0" spc="250">
                <a:solidFill>
                  <a:srgbClr val="5B3FD6"/>
                </a:solidFill>
                <a:latin typeface="Calibri"/>
              </a:rPr>
              <a:t>A</a:t>
            </a:r>
          </a:p>
        </p:txBody>
      </p:sp>
      <p:sp>
        <p:nvSpPr>
          <p:cNvPr id="13" name="TextBox 12"/>
          <p:cNvSpPr txBox="1"/>
          <p:nvPr/>
        </p:nvSpPr>
        <p:spPr>
          <a:xfrm>
            <a:off x="731519" y="2962656"/>
            <a:ext cx="2243251" cy="267716"/>
          </a:xfrm>
          <a:prstGeom prst="rect">
            <a:avLst/>
          </a:prstGeom>
          <a:noFill/>
        </p:spPr>
        <p:txBody>
          <a:bodyPr wrap="square" anchor="t" lIns="0" rIns="0" tIns="0" bIns="0">
            <a:spAutoFit/>
          </a:bodyPr>
          <a:lstStyle/>
          <a:p>
            <a:pPr algn="l"/>
            <a:r>
              <a:rPr sz="1400" b="1" i="0">
                <a:solidFill>
                  <a:srgbClr val="1A0F5C"/>
                </a:solidFill>
                <a:latin typeface="Calibri"/>
              </a:rPr>
              <a:t>Better teaching</a:t>
            </a:r>
          </a:p>
        </p:txBody>
      </p:sp>
      <p:sp>
        <p:nvSpPr>
          <p:cNvPr id="14" name="TextBox 13"/>
          <p:cNvSpPr txBox="1"/>
          <p:nvPr/>
        </p:nvSpPr>
        <p:spPr>
          <a:xfrm>
            <a:off x="731519" y="3303524"/>
            <a:ext cx="2243251" cy="399796"/>
          </a:xfrm>
          <a:prstGeom prst="rect">
            <a:avLst/>
          </a:prstGeom>
          <a:noFill/>
        </p:spPr>
        <p:txBody>
          <a:bodyPr wrap="square" anchor="t" lIns="0" rIns="0" tIns="0" bIns="0">
            <a:spAutoFit/>
          </a:bodyPr>
          <a:lstStyle/>
          <a:p>
            <a:pPr algn="l"/>
            <a:r>
              <a:rPr sz="1100" b="0" i="0">
                <a:solidFill>
                  <a:srgbClr val="6B6690"/>
                </a:solidFill>
                <a:latin typeface="Calibri"/>
              </a:rPr>
              <a:t>Instructors taught more this year.</a:t>
            </a:r>
          </a:p>
        </p:txBody>
      </p:sp>
      <p:sp>
        <p:nvSpPr>
          <p:cNvPr id="15" name="Rounded Rectangle 14"/>
          <p:cNvSpPr/>
          <p:nvPr/>
        </p:nvSpPr>
        <p:spPr>
          <a:xfrm>
            <a:off x="3358819" y="1956816"/>
            <a:ext cx="2645587" cy="1964436"/>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Oval 15"/>
          <p:cNvSpPr/>
          <p:nvPr/>
        </p:nvSpPr>
        <p:spPr>
          <a:xfrm>
            <a:off x="3559987"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7" name="Picture 16" descr="file-text_5c86fecc2881.png"/>
          <p:cNvPicPr>
            <a:picLocks noChangeAspect="1"/>
          </p:cNvPicPr>
          <p:nvPr/>
        </p:nvPicPr>
        <p:blipFill>
          <a:blip r:embed="rId5"/>
          <a:stretch>
            <a:fillRect/>
          </a:stretch>
        </p:blipFill>
        <p:spPr>
          <a:xfrm>
            <a:off x="3669715" y="2267712"/>
            <a:ext cx="237744" cy="237744"/>
          </a:xfrm>
          <a:prstGeom prst="rect">
            <a:avLst/>
          </a:prstGeom>
        </p:spPr>
      </p:pic>
      <p:sp>
        <p:nvSpPr>
          <p:cNvPr id="18" name="TextBox 17"/>
          <p:cNvSpPr txBox="1"/>
          <p:nvPr/>
        </p:nvSpPr>
        <p:spPr>
          <a:xfrm>
            <a:off x="3559987" y="2724912"/>
            <a:ext cx="2243251" cy="160401"/>
          </a:xfrm>
          <a:prstGeom prst="rect">
            <a:avLst/>
          </a:prstGeom>
          <a:noFill/>
        </p:spPr>
        <p:txBody>
          <a:bodyPr wrap="square" anchor="t" lIns="0" rIns="0" tIns="0" bIns="0">
            <a:spAutoFit/>
          </a:bodyPr>
          <a:lstStyle/>
          <a:p>
            <a:pPr algn="l"/>
            <a:r>
              <a:rPr sz="750" b="1" i="0" spc="250">
                <a:solidFill>
                  <a:srgbClr val="5B3FD6"/>
                </a:solidFill>
                <a:latin typeface="Calibri"/>
              </a:rPr>
              <a:t>B</a:t>
            </a:r>
          </a:p>
        </p:txBody>
      </p:sp>
      <p:sp>
        <p:nvSpPr>
          <p:cNvPr id="19" name="TextBox 18"/>
          <p:cNvSpPr txBox="1"/>
          <p:nvPr/>
        </p:nvSpPr>
        <p:spPr>
          <a:xfrm>
            <a:off x="3559987" y="2962656"/>
            <a:ext cx="2243251" cy="267716"/>
          </a:xfrm>
          <a:prstGeom prst="rect">
            <a:avLst/>
          </a:prstGeom>
          <a:noFill/>
        </p:spPr>
        <p:txBody>
          <a:bodyPr wrap="square" anchor="t" lIns="0" rIns="0" tIns="0" bIns="0">
            <a:spAutoFit/>
          </a:bodyPr>
          <a:lstStyle/>
          <a:p>
            <a:pPr algn="l"/>
            <a:r>
              <a:rPr sz="1400" b="1" i="0">
                <a:solidFill>
                  <a:srgbClr val="1A0F5C"/>
                </a:solidFill>
                <a:latin typeface="Calibri"/>
              </a:rPr>
              <a:t>An easier test</a:t>
            </a:r>
          </a:p>
        </p:txBody>
      </p:sp>
      <p:sp>
        <p:nvSpPr>
          <p:cNvPr id="20" name="TextBox 19"/>
          <p:cNvSpPr txBox="1"/>
          <p:nvPr/>
        </p:nvSpPr>
        <p:spPr>
          <a:xfrm>
            <a:off x="3559987" y="3303524"/>
            <a:ext cx="2243251" cy="399796"/>
          </a:xfrm>
          <a:prstGeom prst="rect">
            <a:avLst/>
          </a:prstGeom>
          <a:noFill/>
        </p:spPr>
        <p:txBody>
          <a:bodyPr wrap="square" anchor="t" lIns="0" rIns="0" tIns="0" bIns="0">
            <a:spAutoFit/>
          </a:bodyPr>
          <a:lstStyle/>
          <a:p>
            <a:pPr algn="l"/>
            <a:r>
              <a:rPr sz="1100" b="0" i="0">
                <a:solidFill>
                  <a:srgbClr val="6B6690"/>
                </a:solidFill>
                <a:latin typeface="Calibri"/>
              </a:rPr>
              <a:t>The transport office made it simpler.</a:t>
            </a:r>
          </a:p>
        </p:txBody>
      </p:sp>
      <p:sp>
        <p:nvSpPr>
          <p:cNvPr id="21" name="Rounded Rectangle 20"/>
          <p:cNvSpPr/>
          <p:nvPr/>
        </p:nvSpPr>
        <p:spPr>
          <a:xfrm>
            <a:off x="6187287" y="1956816"/>
            <a:ext cx="2645587" cy="1964436"/>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Oval 21"/>
          <p:cNvSpPr/>
          <p:nvPr/>
        </p:nvSpPr>
        <p:spPr>
          <a:xfrm>
            <a:off x="6388455"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3" name="Picture 22" descr="users_11340fce0adc.png"/>
          <p:cNvPicPr>
            <a:picLocks noChangeAspect="1"/>
          </p:cNvPicPr>
          <p:nvPr/>
        </p:nvPicPr>
        <p:blipFill>
          <a:blip r:embed="rId6"/>
          <a:stretch>
            <a:fillRect/>
          </a:stretch>
        </p:blipFill>
        <p:spPr>
          <a:xfrm>
            <a:off x="6498183" y="2267712"/>
            <a:ext cx="237744" cy="237744"/>
          </a:xfrm>
          <a:prstGeom prst="rect">
            <a:avLst/>
          </a:prstGeom>
        </p:spPr>
      </p:pic>
      <p:sp>
        <p:nvSpPr>
          <p:cNvPr id="24" name="TextBox 23"/>
          <p:cNvSpPr txBox="1"/>
          <p:nvPr/>
        </p:nvSpPr>
        <p:spPr>
          <a:xfrm>
            <a:off x="6388455" y="2724912"/>
            <a:ext cx="2243251" cy="160401"/>
          </a:xfrm>
          <a:prstGeom prst="rect">
            <a:avLst/>
          </a:prstGeom>
          <a:noFill/>
        </p:spPr>
        <p:txBody>
          <a:bodyPr wrap="square" anchor="t" lIns="0" rIns="0" tIns="0" bIns="0">
            <a:spAutoFit/>
          </a:bodyPr>
          <a:lstStyle/>
          <a:p>
            <a:pPr algn="l"/>
            <a:r>
              <a:rPr sz="750" b="1" i="0" spc="250">
                <a:solidFill>
                  <a:srgbClr val="5B3FD6"/>
                </a:solidFill>
                <a:latin typeface="Calibri"/>
              </a:rPr>
              <a:t>C</a:t>
            </a:r>
          </a:p>
        </p:txBody>
      </p:sp>
      <p:sp>
        <p:nvSpPr>
          <p:cNvPr id="25" name="TextBox 24"/>
          <p:cNvSpPr txBox="1"/>
          <p:nvPr/>
        </p:nvSpPr>
        <p:spPr>
          <a:xfrm>
            <a:off x="6388455" y="2962656"/>
            <a:ext cx="2243251" cy="267716"/>
          </a:xfrm>
          <a:prstGeom prst="rect">
            <a:avLst/>
          </a:prstGeom>
          <a:noFill/>
        </p:spPr>
        <p:txBody>
          <a:bodyPr wrap="square" anchor="t" lIns="0" rIns="0" tIns="0" bIns="0">
            <a:spAutoFit/>
          </a:bodyPr>
          <a:lstStyle/>
          <a:p>
            <a:pPr algn="l"/>
            <a:r>
              <a:rPr sz="1400" b="1" i="0">
                <a:solidFill>
                  <a:srgbClr val="1A0F5C"/>
                </a:solidFill>
                <a:latin typeface="Calibri"/>
              </a:rPr>
              <a:t>Fewer took the test</a:t>
            </a:r>
          </a:p>
        </p:txBody>
      </p:sp>
      <p:sp>
        <p:nvSpPr>
          <p:cNvPr id="26" name="TextBox 25"/>
          <p:cNvSpPr txBox="1"/>
          <p:nvPr/>
        </p:nvSpPr>
        <p:spPr>
          <a:xfrm>
            <a:off x="6388455" y="3303524"/>
            <a:ext cx="2243251" cy="399796"/>
          </a:xfrm>
          <a:prstGeom prst="rect">
            <a:avLst/>
          </a:prstGeom>
          <a:noFill/>
        </p:spPr>
        <p:txBody>
          <a:bodyPr wrap="square" anchor="t" lIns="0" rIns="0" tIns="0" bIns="0">
            <a:spAutoFit/>
          </a:bodyPr>
          <a:lstStyle/>
          <a:p>
            <a:pPr algn="l"/>
            <a:r>
              <a:rPr sz="1100" b="0" i="0">
                <a:solidFill>
                  <a:srgbClr val="6B6690"/>
                </a:solidFill>
                <a:latin typeface="Calibri"/>
              </a:rPr>
              <a:t>Instructors booked it only for their surest learners.</a:t>
            </a:r>
          </a:p>
        </p:txBody>
      </p:sp>
      <p:sp>
        <p:nvSpPr>
          <p:cNvPr id="27" name="Rounded Rectangle 26"/>
          <p:cNvSpPr/>
          <p:nvPr/>
        </p:nvSpPr>
        <p:spPr>
          <a:xfrm>
            <a:off x="9015755" y="1956816"/>
            <a:ext cx="2645587" cy="1964436"/>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Oval 27"/>
          <p:cNvSpPr/>
          <p:nvPr/>
        </p:nvSpPr>
        <p:spPr>
          <a:xfrm>
            <a:off x="9216923"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9" name="Picture 28" descr="trending-up_0f9f07881489.png"/>
          <p:cNvPicPr>
            <a:picLocks noChangeAspect="1"/>
          </p:cNvPicPr>
          <p:nvPr/>
        </p:nvPicPr>
        <p:blipFill>
          <a:blip r:embed="rId7"/>
          <a:stretch>
            <a:fillRect/>
          </a:stretch>
        </p:blipFill>
        <p:spPr>
          <a:xfrm>
            <a:off x="9326651" y="2267712"/>
            <a:ext cx="237744" cy="237744"/>
          </a:xfrm>
          <a:prstGeom prst="rect">
            <a:avLst/>
          </a:prstGeom>
        </p:spPr>
      </p:pic>
      <p:sp>
        <p:nvSpPr>
          <p:cNvPr id="30" name="TextBox 29"/>
          <p:cNvSpPr txBox="1"/>
          <p:nvPr/>
        </p:nvSpPr>
        <p:spPr>
          <a:xfrm>
            <a:off x="9216923" y="2724912"/>
            <a:ext cx="2243251" cy="160401"/>
          </a:xfrm>
          <a:prstGeom prst="rect">
            <a:avLst/>
          </a:prstGeom>
          <a:noFill/>
        </p:spPr>
        <p:txBody>
          <a:bodyPr wrap="square" anchor="t" lIns="0" rIns="0" tIns="0" bIns="0">
            <a:spAutoFit/>
          </a:bodyPr>
          <a:lstStyle/>
          <a:p>
            <a:pPr algn="l"/>
            <a:r>
              <a:rPr sz="750" b="1" i="0" spc="250">
                <a:solidFill>
                  <a:srgbClr val="5B3FD6"/>
                </a:solidFill>
                <a:latin typeface="Calibri"/>
              </a:rPr>
              <a:t>D</a:t>
            </a:r>
          </a:p>
        </p:txBody>
      </p:sp>
      <p:sp>
        <p:nvSpPr>
          <p:cNvPr id="31" name="TextBox 30"/>
          <p:cNvSpPr txBox="1"/>
          <p:nvPr/>
        </p:nvSpPr>
        <p:spPr>
          <a:xfrm>
            <a:off x="9216923" y="2962656"/>
            <a:ext cx="2243251" cy="267716"/>
          </a:xfrm>
          <a:prstGeom prst="rect">
            <a:avLst/>
          </a:prstGeom>
          <a:noFill/>
        </p:spPr>
        <p:txBody>
          <a:bodyPr wrap="square" anchor="t" lIns="0" rIns="0" tIns="0" bIns="0">
            <a:spAutoFit/>
          </a:bodyPr>
          <a:lstStyle/>
          <a:p>
            <a:pPr algn="l"/>
            <a:r>
              <a:rPr sz="1400" b="1" i="0">
                <a:solidFill>
                  <a:srgbClr val="1A0F5C"/>
                </a:solidFill>
                <a:latin typeface="Calibri"/>
              </a:rPr>
              <a:t>More enrolled</a:t>
            </a:r>
          </a:p>
        </p:txBody>
      </p:sp>
      <p:sp>
        <p:nvSpPr>
          <p:cNvPr id="32" name="TextBox 31"/>
          <p:cNvSpPr txBox="1"/>
          <p:nvPr/>
        </p:nvSpPr>
        <p:spPr>
          <a:xfrm>
            <a:off x="9216923" y="3303524"/>
            <a:ext cx="2243251" cy="399796"/>
          </a:xfrm>
          <a:prstGeom prst="rect">
            <a:avLst/>
          </a:prstGeom>
          <a:noFill/>
        </p:spPr>
        <p:txBody>
          <a:bodyPr wrap="square" anchor="t" lIns="0" rIns="0" tIns="0" bIns="0">
            <a:spAutoFit/>
          </a:bodyPr>
          <a:lstStyle/>
          <a:p>
            <a:pPr algn="l"/>
            <a:r>
              <a:rPr sz="1100" b="0" i="0">
                <a:solidFill>
                  <a:srgbClr val="6B6690"/>
                </a:solidFill>
                <a:latin typeface="Calibri"/>
              </a:rPr>
              <a:t>A bigger intake lifted the rate.</a:t>
            </a:r>
          </a:p>
        </p:txBody>
      </p:sp>
      <p:sp>
        <p:nvSpPr>
          <p:cNvPr id="33" name="Oval 32"/>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640080"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What is a number for?</a:t>
            </a:r>
          </a:p>
        </p:txBody>
      </p:sp>
      <p:sp>
        <p:nvSpPr>
          <p:cNvPr id="35" name="Oval 34"/>
          <p:cNvSpPr/>
          <p:nvPr/>
        </p:nvSpPr>
        <p:spPr>
          <a:xfrm>
            <a:off x="1971960"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2081688" y="6437376"/>
            <a:ext cx="1286446" cy="152146"/>
          </a:xfrm>
          <a:prstGeom prst="rect">
            <a:avLst/>
          </a:prstGeom>
          <a:noFill/>
        </p:spPr>
        <p:txBody>
          <a:bodyPr wrap="square" anchor="t" lIns="0" rIns="0" tIns="0" bIns="0">
            <a:spAutoFit/>
          </a:bodyPr>
          <a:lstStyle/>
          <a:p>
            <a:pPr algn="l"/>
            <a:r>
              <a:rPr sz="700" b="1" i="0">
                <a:solidFill>
                  <a:srgbClr val="5B3FD6"/>
                </a:solidFill>
                <a:latin typeface="Calibri"/>
              </a:rPr>
              <a:t>Which number to chase?</a:t>
            </a:r>
          </a:p>
        </p:txBody>
      </p:sp>
      <p:sp>
        <p:nvSpPr>
          <p:cNvPr id="37" name="Oval 36"/>
          <p:cNvSpPr/>
          <p:nvPr/>
        </p:nvSpPr>
        <p:spPr>
          <a:xfrm>
            <a:off x="345957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3569303"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Which number warns?</a:t>
            </a:r>
          </a:p>
        </p:txBody>
      </p:sp>
      <p:sp>
        <p:nvSpPr>
          <p:cNvPr id="39" name="Oval 38"/>
          <p:cNvSpPr/>
          <p:nvPr/>
        </p:nvSpPr>
        <p:spPr>
          <a:xfrm>
            <a:off x="480917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4918900"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Which four lines?</a:t>
            </a:r>
          </a:p>
        </p:txBody>
      </p:sp>
      <p:sp>
        <p:nvSpPr>
          <p:cNvPr id="41" name="Oval 40"/>
          <p:cNvSpPr/>
          <p:nvPr/>
        </p:nvSpPr>
        <p:spPr>
          <a:xfrm>
            <a:off x="606675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6176486"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How is a number gamed?</a:t>
            </a:r>
          </a:p>
        </p:txBody>
      </p:sp>
      <p:sp>
        <p:nvSpPr>
          <p:cNvPr id="43" name="Oval 42"/>
          <p:cNvSpPr/>
          <p:nvPr/>
        </p:nvSpPr>
        <p:spPr>
          <a:xfrm>
            <a:off x="755437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766410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the page hold?</a:t>
            </a:r>
          </a:p>
        </p:txBody>
      </p:sp>
      <p:sp>
        <p:nvSpPr>
          <p:cNvPr id="45" name="Oval 44"/>
          <p:cNvSpPr/>
          <p:nvPr/>
        </p:nvSpPr>
        <p:spPr>
          <a:xfrm>
            <a:off x="91339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TextBox 45"/>
          <p:cNvSpPr txBox="1"/>
          <p:nvPr/>
        </p:nvSpPr>
        <p:spPr>
          <a:xfrm>
            <a:off x="9243726"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an hour count?</a:t>
            </a:r>
          </a:p>
        </p:txBody>
      </p:sp>
      <p:sp>
        <p:nvSpPr>
          <p:cNvPr id="47" name="TextBox 46"/>
          <p:cNvSpPr txBox="1"/>
          <p:nvPr/>
        </p:nvSpPr>
        <p:spPr>
          <a:xfrm>
            <a:off x="10713624" y="6437376"/>
            <a:ext cx="256032" cy="152146"/>
          </a:xfrm>
          <a:prstGeom prst="rect">
            <a:avLst/>
          </a:prstGeom>
          <a:noFill/>
        </p:spPr>
        <p:txBody>
          <a:bodyPr wrap="square" anchor="t" lIns="0" rIns="0" tIns="0" bIns="0">
            <a:spAutoFit/>
          </a:bodyPr>
          <a:lstStyle/>
          <a:p>
            <a:pPr algn="l"/>
            <a:r>
              <a:rPr sz="700" b="0" i="0">
                <a:solidFill>
                  <a:srgbClr val="6B6690"/>
                </a:solidFill>
                <a:latin typeface="Calibri"/>
              </a:rPr>
              <a:t>…</a:t>
            </a:r>
          </a:p>
        </p:txBody>
      </p:sp>
      <p:sp>
        <p:nvSpPr>
          <p:cNvPr id="48" name="TextBox 47"/>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S15  ·  17 / 93</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MONDAY  ·  BUSINESS METRIC DESIGN  ·  UBER, HYDERABAD</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Answer: c, 40 took the test where 100 had</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How do the school's counts show it, counted by hand?</a:t>
            </a:r>
          </a:p>
        </p:txBody>
      </p:sp>
      <p:graphicFrame>
        <p:nvGraphicFramePr>
          <p:cNvPr id="9" name="Table 8"/>
          <p:cNvGraphicFramePr>
            <a:graphicFrameLocks noGrp="1"/>
          </p:cNvGraphicFramePr>
          <p:nvPr/>
        </p:nvGraphicFramePr>
        <p:xfrm>
          <a:off x="530352" y="1956816"/>
          <a:ext cx="11130989" cy="1005840"/>
        </p:xfrm>
        <a:graphic>
          <a:graphicData uri="http://schemas.openxmlformats.org/drawingml/2006/table">
            <a:tbl>
              <a:tblPr firstRow="0" bandRow="0">
                <a:tableStyleId>{2D5ABB26-0587-4C30-8999-92F81FD0307C}</a:tableStyleId>
              </a:tblPr>
              <a:tblGrid>
                <a:gridCol w="914400"/>
                <a:gridCol w="1243632"/>
                <a:gridCol w="1836714"/>
                <a:gridCol w="914400"/>
                <a:gridCol w="1836714"/>
                <a:gridCol w="2073948"/>
                <a:gridCol w="2311181"/>
              </a:tblGrid>
              <a:tr h="335280">
                <a:tc>
                  <a:txBody>
                    <a:bodyPr/>
                    <a:lstStyle/>
                    <a:p>
                      <a:r>
                        <a:rPr sz="1250" b="1" i="0">
                          <a:solidFill>
                            <a:srgbClr val="FFFFFF"/>
                          </a:solidFill>
                          <a:latin typeface="Calibri"/>
                        </a:rPr>
                        <a:t>Year</a:t>
                      </a:r>
                    </a:p>
                  </a:txBody>
                  <a:tcPr marL="101600" marR="101600" marT="38100" marB="38100" anchor="ctr">
                    <a:solidFill>
                      <a:srgbClr val="1A0F5C"/>
                    </a:solidFill>
                  </a:tcPr>
                </a:tc>
                <a:tc>
                  <a:txBody>
                    <a:bodyPr/>
                    <a:lstStyle/>
                    <a:p>
                      <a:r>
                        <a:rPr sz="1250" b="1" i="0">
                          <a:solidFill>
                            <a:srgbClr val="FFFFFF"/>
                          </a:solidFill>
                          <a:latin typeface="Calibri"/>
                        </a:rPr>
                        <a:t>Enrolled</a:t>
                      </a:r>
                    </a:p>
                  </a:txBody>
                  <a:tcPr marL="101600" marR="101600" marT="38100" marB="38100" anchor="ctr">
                    <a:solidFill>
                      <a:srgbClr val="1A0F5C"/>
                    </a:solidFill>
                  </a:tcPr>
                </a:tc>
                <a:tc>
                  <a:txBody>
                    <a:bodyPr/>
                    <a:lstStyle/>
                    <a:p>
                      <a:r>
                        <a:rPr sz="1250" b="1" i="0">
                          <a:solidFill>
                            <a:srgbClr val="FFFFFF"/>
                          </a:solidFill>
                          <a:latin typeface="Calibri"/>
                        </a:rPr>
                        <a:t>Took the test</a:t>
                      </a:r>
                    </a:p>
                  </a:txBody>
                  <a:tcPr marL="101600" marR="101600" marT="38100" marB="38100" anchor="ctr">
                    <a:solidFill>
                      <a:srgbClr val="1A0F5C"/>
                    </a:solidFill>
                  </a:tcPr>
                </a:tc>
                <a:tc>
                  <a:txBody>
                    <a:bodyPr/>
                    <a:lstStyle/>
                    <a:p>
                      <a:r>
                        <a:rPr sz="1250" b="1" i="0">
                          <a:solidFill>
                            <a:srgbClr val="FFFFFF"/>
                          </a:solidFill>
                          <a:latin typeface="Calibri"/>
                        </a:rPr>
                        <a:t>Passed</a:t>
                      </a:r>
                    </a:p>
                  </a:txBody>
                  <a:tcPr marL="101600" marR="101600" marT="38100" marB="38100" anchor="ctr">
                    <a:solidFill>
                      <a:srgbClr val="1A0F5C"/>
                    </a:solidFill>
                  </a:tcPr>
                </a:tc>
                <a:tc>
                  <a:txBody>
                    <a:bodyPr/>
                    <a:lstStyle/>
                    <a:p>
                      <a:r>
                        <a:rPr sz="1250" b="1" i="0">
                          <a:solidFill>
                            <a:srgbClr val="FFFFFF"/>
                          </a:solidFill>
                          <a:latin typeface="Calibri"/>
                        </a:rPr>
                        <a:t>Passed / took</a:t>
                      </a:r>
                    </a:p>
                  </a:txBody>
                  <a:tcPr marL="101600" marR="101600" marT="38100" marB="38100" anchor="ctr">
                    <a:solidFill>
                      <a:srgbClr val="1A0F5C"/>
                    </a:solidFill>
                  </a:tcPr>
                </a:tc>
                <a:tc>
                  <a:txBody>
                    <a:bodyPr/>
                    <a:lstStyle/>
                    <a:p>
                      <a:r>
                        <a:rPr sz="1250" b="1" i="0">
                          <a:solidFill>
                            <a:srgbClr val="FFFFFF"/>
                          </a:solidFill>
                          <a:latin typeface="Calibri"/>
                        </a:rPr>
                        <a:t>Took / enrolled</a:t>
                      </a:r>
                    </a:p>
                  </a:txBody>
                  <a:tcPr marL="101600" marR="101600" marT="38100" marB="38100" anchor="ctr">
                    <a:solidFill>
                      <a:srgbClr val="1A0F5C"/>
                    </a:solidFill>
                  </a:tcPr>
                </a:tc>
                <a:tc>
                  <a:txBody>
                    <a:bodyPr/>
                    <a:lstStyle/>
                    <a:p>
                      <a:r>
                        <a:rPr sz="1250" b="1" i="0">
                          <a:solidFill>
                            <a:srgbClr val="FFFFFF"/>
                          </a:solidFill>
                          <a:latin typeface="Calibri"/>
                        </a:rPr>
                        <a:t>Passed / enrolled</a:t>
                      </a:r>
                    </a:p>
                  </a:txBody>
                  <a:tcPr marL="101600" marR="101600" marT="38100" marB="38100" anchor="ctr">
                    <a:solidFill>
                      <a:srgbClr val="1A0F5C"/>
                    </a:solidFill>
                  </a:tcPr>
                </a:tc>
              </a:tr>
              <a:tr h="335280">
                <a:tc>
                  <a:txBody>
                    <a:bodyPr/>
                    <a:lstStyle/>
                    <a:p>
                      <a:r>
                        <a:rPr sz="1200" b="0" i="0">
                          <a:solidFill>
                            <a:srgbClr val="1A1440"/>
                          </a:solidFill>
                          <a:latin typeface="Calibri"/>
                        </a:rPr>
                        <a:t>2025</a:t>
                      </a:r>
                    </a:p>
                  </a:txBody>
                  <a:tcPr marL="101600" marR="101600" marT="38100" marB="38100" anchor="ctr">
                    <a:solidFill>
                      <a:srgbClr val="FFFFFF"/>
                    </a:solidFill>
                  </a:tcPr>
                </a:tc>
                <a:tc>
                  <a:txBody>
                    <a:bodyPr/>
                    <a:lstStyle/>
                    <a:p>
                      <a:r>
                        <a:rPr sz="1200" b="0" i="0">
                          <a:solidFill>
                            <a:srgbClr val="1A1440"/>
                          </a:solidFill>
                          <a:latin typeface="Calibri"/>
                        </a:rPr>
                        <a:t>100</a:t>
                      </a:r>
                    </a:p>
                  </a:txBody>
                  <a:tcPr marL="101600" marR="101600" marT="38100" marB="38100" anchor="ctr">
                    <a:solidFill>
                      <a:srgbClr val="FFFFFF"/>
                    </a:solidFill>
                  </a:tcPr>
                </a:tc>
                <a:tc>
                  <a:txBody>
                    <a:bodyPr/>
                    <a:lstStyle/>
                    <a:p>
                      <a:r>
                        <a:rPr sz="1200" b="0" i="0">
                          <a:solidFill>
                            <a:srgbClr val="1A1440"/>
                          </a:solidFill>
                          <a:latin typeface="Calibri"/>
                        </a:rPr>
                        <a:t>100</a:t>
                      </a:r>
                    </a:p>
                  </a:txBody>
                  <a:tcPr marL="101600" marR="101600" marT="38100" marB="38100" anchor="ctr">
                    <a:solidFill>
                      <a:srgbClr val="FFFFFF"/>
                    </a:solidFill>
                  </a:tcPr>
                </a:tc>
                <a:tc>
                  <a:txBody>
                    <a:bodyPr/>
                    <a:lstStyle/>
                    <a:p>
                      <a:r>
                        <a:rPr sz="1200" b="0" i="0">
                          <a:solidFill>
                            <a:srgbClr val="1A1440"/>
                          </a:solidFill>
                          <a:latin typeface="Calibri"/>
                        </a:rPr>
                        <a:t>60</a:t>
                      </a:r>
                    </a:p>
                  </a:txBody>
                  <a:tcPr marL="101600" marR="101600" marT="38100" marB="38100" anchor="ctr">
                    <a:solidFill>
                      <a:srgbClr val="FFFFFF"/>
                    </a:solidFill>
                  </a:tcPr>
                </a:tc>
                <a:tc>
                  <a:txBody>
                    <a:bodyPr/>
                    <a:lstStyle/>
                    <a:p>
                      <a:r>
                        <a:rPr sz="1200" b="0" i="0">
                          <a:solidFill>
                            <a:srgbClr val="1A1440"/>
                          </a:solidFill>
                          <a:latin typeface="Calibri"/>
                        </a:rPr>
                        <a:t>0.60</a:t>
                      </a:r>
                    </a:p>
                  </a:txBody>
                  <a:tcPr marL="101600" marR="101600" marT="38100" marB="38100" anchor="ctr">
                    <a:solidFill>
                      <a:srgbClr val="FFFFFF"/>
                    </a:solidFill>
                  </a:tcPr>
                </a:tc>
                <a:tc>
                  <a:txBody>
                    <a:bodyPr/>
                    <a:lstStyle/>
                    <a:p>
                      <a:r>
                        <a:rPr sz="1200" b="0" i="0">
                          <a:solidFill>
                            <a:srgbClr val="1A1440"/>
                          </a:solidFill>
                          <a:latin typeface="Calibri"/>
                        </a:rPr>
                        <a:t>1.00</a:t>
                      </a:r>
                    </a:p>
                  </a:txBody>
                  <a:tcPr marL="101600" marR="101600" marT="38100" marB="38100" anchor="ctr">
                    <a:solidFill>
                      <a:srgbClr val="FFFFFF"/>
                    </a:solidFill>
                  </a:tcPr>
                </a:tc>
                <a:tc>
                  <a:txBody>
                    <a:bodyPr/>
                    <a:lstStyle/>
                    <a:p>
                      <a:r>
                        <a:rPr sz="1200" b="0" i="0">
                          <a:solidFill>
                            <a:srgbClr val="1A1440"/>
                          </a:solidFill>
                          <a:latin typeface="Calibri"/>
                        </a:rPr>
                        <a:t>0.60</a:t>
                      </a:r>
                    </a:p>
                  </a:txBody>
                  <a:tcPr marL="101600" marR="101600" marT="38100" marB="38100" anchor="ctr">
                    <a:solidFill>
                      <a:srgbClr val="FFFFFF"/>
                    </a:solidFill>
                  </a:tcPr>
                </a:tc>
              </a:tr>
              <a:tr h="335280">
                <a:tc>
                  <a:txBody>
                    <a:bodyPr/>
                    <a:lstStyle/>
                    <a:p>
                      <a:r>
                        <a:rPr sz="1200" b="0" i="0">
                          <a:solidFill>
                            <a:srgbClr val="1A1440"/>
                          </a:solidFill>
                          <a:latin typeface="Calibri"/>
                        </a:rPr>
                        <a:t>2026</a:t>
                      </a:r>
                    </a:p>
                  </a:txBody>
                  <a:tcPr marL="101600" marR="101600" marT="38100" marB="38100" anchor="ctr">
                    <a:solidFill>
                      <a:srgbClr val="F4F2FA"/>
                    </a:solidFill>
                  </a:tcPr>
                </a:tc>
                <a:tc>
                  <a:txBody>
                    <a:bodyPr/>
                    <a:lstStyle/>
                    <a:p>
                      <a:r>
                        <a:rPr sz="1200" b="0" i="0">
                          <a:solidFill>
                            <a:srgbClr val="1A1440"/>
                          </a:solidFill>
                          <a:latin typeface="Calibri"/>
                        </a:rPr>
                        <a:t>100</a:t>
                      </a:r>
                    </a:p>
                  </a:txBody>
                  <a:tcPr marL="101600" marR="101600" marT="38100" marB="38100" anchor="ctr">
                    <a:solidFill>
                      <a:srgbClr val="F4F2FA"/>
                    </a:solidFill>
                  </a:tcPr>
                </a:tc>
                <a:tc>
                  <a:txBody>
                    <a:bodyPr/>
                    <a:lstStyle/>
                    <a:p>
                      <a:r>
                        <a:rPr sz="1200" b="0" i="0">
                          <a:solidFill>
                            <a:srgbClr val="1A1440"/>
                          </a:solidFill>
                          <a:latin typeface="Calibri"/>
                        </a:rPr>
                        <a:t>40</a:t>
                      </a:r>
                    </a:p>
                  </a:txBody>
                  <a:tcPr marL="101600" marR="101600" marT="38100" marB="38100" anchor="ctr">
                    <a:solidFill>
                      <a:srgbClr val="F4F2FA"/>
                    </a:solidFill>
                  </a:tcPr>
                </a:tc>
                <a:tc>
                  <a:txBody>
                    <a:bodyPr/>
                    <a:lstStyle/>
                    <a:p>
                      <a:r>
                        <a:rPr sz="1200" b="0" i="0">
                          <a:solidFill>
                            <a:srgbClr val="1A1440"/>
                          </a:solidFill>
                          <a:latin typeface="Calibri"/>
                        </a:rPr>
                        <a:t>36</a:t>
                      </a:r>
                    </a:p>
                  </a:txBody>
                  <a:tcPr marL="101600" marR="101600" marT="38100" marB="38100" anchor="ctr">
                    <a:solidFill>
                      <a:srgbClr val="F4F2FA"/>
                    </a:solidFill>
                  </a:tcPr>
                </a:tc>
                <a:tc>
                  <a:txBody>
                    <a:bodyPr/>
                    <a:lstStyle/>
                    <a:p>
                      <a:r>
                        <a:rPr sz="1200" b="0" i="0">
                          <a:solidFill>
                            <a:srgbClr val="1A1440"/>
                          </a:solidFill>
                          <a:latin typeface="Calibri"/>
                        </a:rPr>
                        <a:t>0.90</a:t>
                      </a:r>
                    </a:p>
                  </a:txBody>
                  <a:tcPr marL="101600" marR="101600" marT="38100" marB="38100" anchor="ctr">
                    <a:solidFill>
                      <a:srgbClr val="F4F2FA"/>
                    </a:solidFill>
                  </a:tcPr>
                </a:tc>
                <a:tc>
                  <a:txBody>
                    <a:bodyPr/>
                    <a:lstStyle/>
                    <a:p>
                      <a:r>
                        <a:rPr sz="1200" b="0" i="0">
                          <a:solidFill>
                            <a:srgbClr val="1A1440"/>
                          </a:solidFill>
                          <a:latin typeface="Calibri"/>
                        </a:rPr>
                        <a:t>0.40</a:t>
                      </a:r>
                    </a:p>
                  </a:txBody>
                  <a:tcPr marL="101600" marR="101600" marT="38100" marB="38100" anchor="ctr">
                    <a:solidFill>
                      <a:srgbClr val="F4F2FA"/>
                    </a:solidFill>
                  </a:tcPr>
                </a:tc>
                <a:tc>
                  <a:txBody>
                    <a:bodyPr/>
                    <a:lstStyle/>
                    <a:p>
                      <a:r>
                        <a:rPr sz="1200" b="0" i="0">
                          <a:solidFill>
                            <a:srgbClr val="1A1440"/>
                          </a:solidFill>
                          <a:latin typeface="Calibri"/>
                        </a:rPr>
                        <a:t>0.36</a:t>
                      </a:r>
                    </a:p>
                  </a:txBody>
                  <a:tcPr marL="101600" marR="101600" marT="38100" marB="38100" anchor="ctr">
                    <a:solidFill>
                      <a:srgbClr val="F4F2FA"/>
                    </a:solidFill>
                  </a:tcPr>
                </a:tc>
              </a:tr>
            </a:tbl>
          </a:graphicData>
        </a:graphic>
      </p:graphicFrame>
      <p:sp>
        <p:nvSpPr>
          <p:cNvPr id="10" name="Rounded Rectangle 9"/>
          <p:cNvSpPr/>
          <p:nvPr/>
        </p:nvSpPr>
        <p:spPr>
          <a:xfrm>
            <a:off x="530352" y="3218688"/>
            <a:ext cx="11130991" cy="10744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676656" y="3346704"/>
            <a:ext cx="45720" cy="8183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7824" y="3337560"/>
            <a:ext cx="10564063" cy="891540"/>
          </a:xfrm>
          <a:prstGeom prst="rect">
            <a:avLst/>
          </a:prstGeom>
          <a:noFill/>
        </p:spPr>
        <p:txBody>
          <a:bodyPr wrap="square" anchor="ctr" lIns="0" rIns="0" tIns="0" bIns="0">
            <a:spAutoFit/>
          </a:bodyPr>
          <a:lstStyle/>
          <a:p>
            <a:r>
              <a:rPr sz="1500" b="1">
                <a:solidFill>
                  <a:srgbClr val="5B3FD6"/>
                </a:solidFill>
                <a:latin typeface="Calibri"/>
              </a:rPr>
              <a:t>Counted by hand, invented numbers. </a:t>
            </a:r>
            <a:r>
              <a:rPr sz="1500" b="0" i="0">
                <a:solidFill>
                  <a:srgbClr val="1A1440"/>
                </a:solidFill>
                <a:latin typeface="Calibri"/>
              </a:rPr>
              <a:t>In 2025 all 100 learners took the test and 60 passed: 60 / 100 = 0.60. In 2026 each instructor booked the test only for the learners they were surest of, 40 in all, and 36 passed: 36 / 40 = 0.90. Licences per learner who enrolled fell from 60 / 100 = 0.60 to 36 / 100 = 0.36.</a:t>
            </a:r>
          </a:p>
        </p:txBody>
      </p:sp>
      <p:sp>
        <p:nvSpPr>
          <p:cNvPr id="13" name="Oval 12"/>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40080"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What is a number for?</a:t>
            </a:r>
          </a:p>
        </p:txBody>
      </p:sp>
      <p:sp>
        <p:nvSpPr>
          <p:cNvPr id="15" name="Oval 14"/>
          <p:cNvSpPr/>
          <p:nvPr/>
        </p:nvSpPr>
        <p:spPr>
          <a:xfrm>
            <a:off x="1971960"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2081688" y="6437376"/>
            <a:ext cx="1286446" cy="152146"/>
          </a:xfrm>
          <a:prstGeom prst="rect">
            <a:avLst/>
          </a:prstGeom>
          <a:noFill/>
        </p:spPr>
        <p:txBody>
          <a:bodyPr wrap="square" anchor="t" lIns="0" rIns="0" tIns="0" bIns="0">
            <a:spAutoFit/>
          </a:bodyPr>
          <a:lstStyle/>
          <a:p>
            <a:pPr algn="l"/>
            <a:r>
              <a:rPr sz="700" b="1" i="0">
                <a:solidFill>
                  <a:srgbClr val="5B3FD6"/>
                </a:solidFill>
                <a:latin typeface="Calibri"/>
              </a:rPr>
              <a:t>Which number to chase?</a:t>
            </a:r>
          </a:p>
        </p:txBody>
      </p:sp>
      <p:sp>
        <p:nvSpPr>
          <p:cNvPr id="17" name="Oval 16"/>
          <p:cNvSpPr/>
          <p:nvPr/>
        </p:nvSpPr>
        <p:spPr>
          <a:xfrm>
            <a:off x="345957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569303"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Which number warns?</a:t>
            </a:r>
          </a:p>
        </p:txBody>
      </p:sp>
      <p:sp>
        <p:nvSpPr>
          <p:cNvPr id="19" name="Oval 18"/>
          <p:cNvSpPr/>
          <p:nvPr/>
        </p:nvSpPr>
        <p:spPr>
          <a:xfrm>
            <a:off x="480917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4918900"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Which four lines?</a:t>
            </a:r>
          </a:p>
        </p:txBody>
      </p:sp>
      <p:sp>
        <p:nvSpPr>
          <p:cNvPr id="21" name="Oval 20"/>
          <p:cNvSpPr/>
          <p:nvPr/>
        </p:nvSpPr>
        <p:spPr>
          <a:xfrm>
            <a:off x="606675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6176486"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How is a number gamed?</a:t>
            </a:r>
          </a:p>
        </p:txBody>
      </p:sp>
      <p:sp>
        <p:nvSpPr>
          <p:cNvPr id="23" name="Oval 22"/>
          <p:cNvSpPr/>
          <p:nvPr/>
        </p:nvSpPr>
        <p:spPr>
          <a:xfrm>
            <a:off x="755437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766410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the page hold?</a:t>
            </a:r>
          </a:p>
        </p:txBody>
      </p:sp>
      <p:sp>
        <p:nvSpPr>
          <p:cNvPr id="25" name="Oval 24"/>
          <p:cNvSpPr/>
          <p:nvPr/>
        </p:nvSpPr>
        <p:spPr>
          <a:xfrm>
            <a:off x="91339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9243726"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an hour count?</a:t>
            </a:r>
          </a:p>
        </p:txBody>
      </p:sp>
      <p:sp>
        <p:nvSpPr>
          <p:cNvPr id="27" name="TextBox 26"/>
          <p:cNvSpPr txBox="1"/>
          <p:nvPr/>
        </p:nvSpPr>
        <p:spPr>
          <a:xfrm>
            <a:off x="10713624" y="6437376"/>
            <a:ext cx="256032" cy="152146"/>
          </a:xfrm>
          <a:prstGeom prst="rect">
            <a:avLst/>
          </a:prstGeom>
          <a:noFill/>
        </p:spPr>
        <p:txBody>
          <a:bodyPr wrap="square" anchor="t" lIns="0" rIns="0" tIns="0" bIns="0">
            <a:spAutoFit/>
          </a:bodyPr>
          <a:lstStyle/>
          <a:p>
            <a:pPr algn="l"/>
            <a:r>
              <a:rPr sz="700" b="0" i="0">
                <a:solidFill>
                  <a:srgbClr val="6B6690"/>
                </a:solidFill>
                <a:latin typeface="Calibri"/>
              </a:rPr>
              <a:t>…</a:t>
            </a:r>
          </a:p>
        </p:txBody>
      </p:sp>
      <p:sp>
        <p:nvSpPr>
          <p:cNvPr id="28" name="TextBox 27"/>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S16  ·  18 / 93</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MONDAY  ·  BUSINESS METRIC DESIGN  ·  UBER, HYDERABAD</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pass rate rose because its denominator shrank</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does the picture show, and what are the two numbers called?</a:t>
            </a:r>
          </a:p>
        </p:txBody>
      </p:sp>
      <p:pic>
        <p:nvPicPr>
          <p:cNvPr id="9" name="mermaid diagram" descr="C2_W04_D01_driving_seesaw_STUDENT.png"/>
          <p:cNvPicPr>
            <a:picLocks noChangeAspect="1"/>
          </p:cNvPicPr>
          <p:nvPr/>
        </p:nvPicPr>
        <p:blipFill>
          <a:blip r:embed="rId4"/>
          <a:stretch>
            <a:fillRect/>
          </a:stretch>
        </p:blipFill>
        <p:spPr>
          <a:xfrm>
            <a:off x="2800959" y="1664208"/>
            <a:ext cx="6589776" cy="3008376"/>
          </a:xfrm>
          <a:prstGeom prst="rect">
            <a:avLst/>
          </a:prstGeom>
        </p:spPr>
      </p:pic>
      <p:sp>
        <p:nvSpPr>
          <p:cNvPr id="10" name="picture caption"/>
          <p:cNvSpPr txBox="1"/>
          <p:nvPr/>
        </p:nvSpPr>
        <p:spPr>
          <a:xfrm>
            <a:off x="530352" y="4709160"/>
            <a:ext cx="11130991" cy="316992"/>
          </a:xfrm>
          <a:prstGeom prst="rect">
            <a:avLst/>
          </a:prstGeom>
          <a:noFill/>
        </p:spPr>
        <p:txBody>
          <a:bodyPr wrap="square" anchor="t" lIns="0" rIns="0" tIns="0" bIns="0">
            <a:spAutoFit/>
          </a:bodyPr>
          <a:lstStyle/>
          <a:p>
            <a:pPr algn="ctr"/>
            <a:r>
              <a:rPr sz="1200" b="0" i="0">
                <a:solidFill>
                  <a:srgbClr val="6B6690"/>
                </a:solidFill>
                <a:latin typeface="Calibri"/>
              </a:rPr>
              <a:t>A driving school (invented): the pass rate rose as the share who took the test fell</a:t>
            </a:r>
          </a:p>
        </p:txBody>
      </p:sp>
      <p:sp>
        <p:nvSpPr>
          <p:cNvPr id="11" name="TextBox 10"/>
          <p:cNvSpPr txBox="1"/>
          <p:nvPr/>
        </p:nvSpPr>
        <p:spPr>
          <a:xfrm>
            <a:off x="530352" y="5035296"/>
            <a:ext cx="11130991" cy="1164336"/>
          </a:xfrm>
          <a:prstGeom prst="rect">
            <a:avLst/>
          </a:prstGeom>
          <a:noFill/>
        </p:spPr>
        <p:txBody>
          <a:bodyPr wrap="square" anchor="t" lIns="0" rIns="0" tIns="0" bIns="0">
            <a:spAutoFit/>
          </a:bodyPr>
          <a:lstStyle/>
          <a:p>
            <a:r>
              <a:rPr sz="1200" b="0" i="0">
                <a:solidFill>
                  <a:srgbClr val="1A1440"/>
                </a:solidFill>
                <a:latin typeface="Calibri"/>
              </a:rPr>
              <a:t>The hoarding's rate rose because the share who took the test fell: a </a:t>
            </a:r>
            <a:r>
              <a:rPr sz="1200" b="1" i="0">
                <a:solidFill>
                  <a:srgbClr val="1A1440"/>
                </a:solidFill>
                <a:latin typeface="Calibri"/>
              </a:rPr>
              <a:t>seesaw</a:t>
            </a:r>
            <a:r>
              <a:rPr sz="1200" b="0" i="0">
                <a:solidFill>
                  <a:srgbClr val="1A1440"/>
                </a:solidFill>
                <a:latin typeface="Calibri"/>
              </a:rPr>
              <a:t>, one side up because the other went down. Named last: a </a:t>
            </a:r>
            <a:r>
              <a:rPr sz="1200" b="1" i="0">
                <a:solidFill>
                  <a:srgbClr val="1A1440"/>
                </a:solidFill>
                <a:latin typeface="Calibri"/>
              </a:rPr>
              <a:t>north star</a:t>
            </a:r>
            <a:r>
              <a:rPr sz="1200" b="0" i="0">
                <a:solidFill>
                  <a:srgbClr val="1A1440"/>
                </a:solidFill>
                <a:latin typeface="Calibri"/>
              </a:rPr>
              <a:t> is the one number that best captures the value the people served get; here it is licences per enrolled learner, 0.60 then 0.36, which no instructor can raise by holding learners back. The hoarding chased the pass rate instead. A </a:t>
            </a:r>
            <a:r>
              <a:rPr sz="1200" b="1" i="0">
                <a:solidFill>
                  <a:srgbClr val="1A1440"/>
                </a:solidFill>
                <a:latin typeface="Calibri"/>
              </a:rPr>
              <a:t>guardrail</a:t>
            </a:r>
            <a:r>
              <a:rPr sz="1200" b="0" i="0">
                <a:solidFill>
                  <a:srgbClr val="1A1440"/>
                </a:solidFill>
                <a:latin typeface="Calibri"/>
              </a:rPr>
              <a:t> is a number watched beside the number being chased, so that hitting it does no hidden harm: beside the pass rate, the share who took the test, 1.00 then 0.40, catches this school's move.</a:t>
            </a:r>
          </a:p>
        </p:txBody>
      </p:sp>
      <p:sp>
        <p:nvSpPr>
          <p:cNvPr id="12" name="Oval 11"/>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40080"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What is a number for?</a:t>
            </a:r>
          </a:p>
        </p:txBody>
      </p:sp>
      <p:sp>
        <p:nvSpPr>
          <p:cNvPr id="14" name="Oval 13"/>
          <p:cNvSpPr/>
          <p:nvPr/>
        </p:nvSpPr>
        <p:spPr>
          <a:xfrm>
            <a:off x="1971960"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2081688" y="6437376"/>
            <a:ext cx="1286446" cy="152146"/>
          </a:xfrm>
          <a:prstGeom prst="rect">
            <a:avLst/>
          </a:prstGeom>
          <a:noFill/>
        </p:spPr>
        <p:txBody>
          <a:bodyPr wrap="square" anchor="t" lIns="0" rIns="0" tIns="0" bIns="0">
            <a:spAutoFit/>
          </a:bodyPr>
          <a:lstStyle/>
          <a:p>
            <a:pPr algn="l"/>
            <a:r>
              <a:rPr sz="700" b="1" i="0">
                <a:solidFill>
                  <a:srgbClr val="5B3FD6"/>
                </a:solidFill>
                <a:latin typeface="Calibri"/>
              </a:rPr>
              <a:t>Which number to chase?</a:t>
            </a:r>
          </a:p>
        </p:txBody>
      </p:sp>
      <p:sp>
        <p:nvSpPr>
          <p:cNvPr id="16" name="Oval 15"/>
          <p:cNvSpPr/>
          <p:nvPr/>
        </p:nvSpPr>
        <p:spPr>
          <a:xfrm>
            <a:off x="345957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3569303"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Which number warns?</a:t>
            </a:r>
          </a:p>
        </p:txBody>
      </p:sp>
      <p:sp>
        <p:nvSpPr>
          <p:cNvPr id="18" name="Oval 17"/>
          <p:cNvSpPr/>
          <p:nvPr/>
        </p:nvSpPr>
        <p:spPr>
          <a:xfrm>
            <a:off x="480917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4918900"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Which four lines?</a:t>
            </a:r>
          </a:p>
        </p:txBody>
      </p:sp>
      <p:sp>
        <p:nvSpPr>
          <p:cNvPr id="20" name="Oval 19"/>
          <p:cNvSpPr/>
          <p:nvPr/>
        </p:nvSpPr>
        <p:spPr>
          <a:xfrm>
            <a:off x="606675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6176486"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How is a number gamed?</a:t>
            </a:r>
          </a:p>
        </p:txBody>
      </p:sp>
      <p:sp>
        <p:nvSpPr>
          <p:cNvPr id="22" name="Oval 21"/>
          <p:cNvSpPr/>
          <p:nvPr/>
        </p:nvSpPr>
        <p:spPr>
          <a:xfrm>
            <a:off x="755437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766410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the page hold?</a:t>
            </a:r>
          </a:p>
        </p:txBody>
      </p:sp>
      <p:sp>
        <p:nvSpPr>
          <p:cNvPr id="24" name="Oval 23"/>
          <p:cNvSpPr/>
          <p:nvPr/>
        </p:nvSpPr>
        <p:spPr>
          <a:xfrm>
            <a:off x="91339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9243726"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an hour count?</a:t>
            </a:r>
          </a:p>
        </p:txBody>
      </p:sp>
      <p:sp>
        <p:nvSpPr>
          <p:cNvPr id="26" name="TextBox 25"/>
          <p:cNvSpPr txBox="1"/>
          <p:nvPr/>
        </p:nvSpPr>
        <p:spPr>
          <a:xfrm>
            <a:off x="10713624" y="6437376"/>
            <a:ext cx="256032" cy="152146"/>
          </a:xfrm>
          <a:prstGeom prst="rect">
            <a:avLst/>
          </a:prstGeom>
          <a:noFill/>
        </p:spPr>
        <p:txBody>
          <a:bodyPr wrap="square" anchor="t" lIns="0" rIns="0" tIns="0" bIns="0">
            <a:spAutoFit/>
          </a:bodyPr>
          <a:lstStyle/>
          <a:p>
            <a:pPr algn="l"/>
            <a:r>
              <a:rPr sz="700" b="0" i="0">
                <a:solidFill>
                  <a:srgbClr val="6B6690"/>
                </a:solidFill>
                <a:latin typeface="Calibri"/>
              </a:rPr>
              <a:t>…</a:t>
            </a:r>
          </a:p>
        </p:txBody>
      </p:sp>
      <p:sp>
        <p:nvSpPr>
          <p:cNvPr id="27" name="TextBox 26"/>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S17  ·  19 / 93</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MONDAY  ·  BUSINESS METRIC DESIGN  ·  UBER, HYDERABAD</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Five lines of pandas split the rate in two</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How does code reproduce the count?</a:t>
            </a:r>
          </a:p>
        </p:txBody>
      </p:sp>
      <p:sp>
        <p:nvSpPr>
          <p:cNvPr id="9" name="Rounded Rectangle 8"/>
          <p:cNvSpPr/>
          <p:nvPr/>
        </p:nvSpPr>
        <p:spPr>
          <a:xfrm>
            <a:off x="530352" y="1956816"/>
            <a:ext cx="11130991" cy="1719580"/>
          </a:xfrm>
          <a:prstGeom prst="roundRect">
            <a:avLst>
              <a:gd name="adj" fmla="val 3500"/>
            </a:avLst>
          </a:prstGeom>
          <a:solidFill>
            <a:srgbClr val="1A1440"/>
          </a:soli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713232" y="2084832"/>
            <a:ext cx="91440" cy="91440"/>
          </a:xfrm>
          <a:prstGeom prst="ellipse">
            <a:avLst/>
          </a:prstGeom>
          <a:solidFill>
            <a:srgbClr val="D63A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868680" y="2084832"/>
            <a:ext cx="91440" cy="91440"/>
          </a:xfrm>
          <a:prstGeom prst="ellipse">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Oval 11"/>
          <p:cNvSpPr/>
          <p:nvPr/>
        </p:nvSpPr>
        <p:spPr>
          <a:xfrm>
            <a:off x="1024128" y="2084832"/>
            <a:ext cx="91440" cy="91440"/>
          </a:xfrm>
          <a:prstGeom prst="ellipse">
            <a:avLst/>
          </a:prstGeom>
          <a:solidFill>
            <a:srgbClr val="1F8A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804671" y="2286000"/>
            <a:ext cx="10673791" cy="1317244"/>
          </a:xfrm>
          <a:prstGeom prst="rect">
            <a:avLst/>
          </a:prstGeom>
          <a:noFill/>
        </p:spPr>
        <p:txBody>
          <a:bodyPr wrap="square" anchor="t" lIns="0" rIns="0" tIns="0" bIns="0">
            <a:spAutoFit/>
          </a:bodyPr>
          <a:lstStyle/>
          <a:p>
            <a:pPr>
              <a:spcAft>
                <a:spcPts val="200"/>
              </a:spcAft>
            </a:pPr>
            <a:r>
              <a:rPr sz="1400" b="0" i="0">
                <a:solidFill>
                  <a:srgbClr val="E4E1F1"/>
                </a:solidFill>
                <a:latin typeface="Consolas"/>
              </a:rPr>
              <a:t>school = pd.read_csv("../data/C2_W04_D01_driving_school_STUDENT.csv")  # invented</a:t>
            </a:r>
          </a:p>
          <a:p>
            <a:pPr>
              <a:spcAft>
                <a:spcPts val="200"/>
              </a:spcAft>
            </a:pPr>
            <a:r>
              <a:rPr sz="1400" b="0" i="0">
                <a:solidFill>
                  <a:srgbClr val="E4E1F1"/>
                </a:solidFill>
                <a:latin typeface="Consolas"/>
              </a:rPr>
              <a:t>year = school.groupby("year")[["enrolled", "took_test", "passed"]].sum()</a:t>
            </a:r>
          </a:p>
          <a:p>
            <a:pPr>
              <a:spcAft>
                <a:spcPts val="200"/>
              </a:spcAft>
            </a:pPr>
            <a:r>
              <a:rPr sz="1400" b="0" i="0">
                <a:solidFill>
                  <a:srgbClr val="E4E1F1"/>
                </a:solidFill>
                <a:latin typeface="Consolas"/>
              </a:rPr>
              <a:t>year["pass_rate"] = year["passed"] / year["took_test"]       # 0.60, 0.90</a:t>
            </a:r>
          </a:p>
          <a:p>
            <a:pPr>
              <a:spcAft>
                <a:spcPts val="200"/>
              </a:spcAft>
            </a:pPr>
            <a:r>
              <a:rPr sz="1400" b="0" i="0">
                <a:solidFill>
                  <a:srgbClr val="E4E1F1"/>
                </a:solidFill>
                <a:latin typeface="Consolas"/>
              </a:rPr>
              <a:t>year["took_share"] = year["took_test"] / year["enrolled"]    # 1.00, 0.40</a:t>
            </a:r>
          </a:p>
          <a:p>
            <a:pPr>
              <a:spcAft>
                <a:spcPts val="200"/>
              </a:spcAft>
            </a:pPr>
            <a:r>
              <a:rPr sz="1400" b="0" i="0">
                <a:solidFill>
                  <a:srgbClr val="E4E1F1"/>
                </a:solidFill>
                <a:latin typeface="Consolas"/>
              </a:rPr>
              <a:t>year["per_learner"] = year["pass_rate"] * year["took_share"] # 0.60, 0.36</a:t>
            </a:r>
          </a:p>
        </p:txBody>
      </p:sp>
      <p:sp>
        <p:nvSpPr>
          <p:cNvPr id="14" name="TextBox 13"/>
          <p:cNvSpPr txBox="1"/>
          <p:nvPr/>
        </p:nvSpPr>
        <p:spPr>
          <a:xfrm>
            <a:off x="530352" y="3840988"/>
            <a:ext cx="11130991" cy="772160"/>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The last line multiplies the hoarding's rate by its guardrail and gives licences per learner who enrolled, the number the families wanted.</a:t>
            </a:r>
          </a:p>
        </p:txBody>
      </p:sp>
      <p:sp>
        <p:nvSpPr>
          <p:cNvPr id="15" name="Oval 14"/>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40080"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What is a number for?</a:t>
            </a:r>
          </a:p>
        </p:txBody>
      </p:sp>
      <p:sp>
        <p:nvSpPr>
          <p:cNvPr id="17" name="Oval 16"/>
          <p:cNvSpPr/>
          <p:nvPr/>
        </p:nvSpPr>
        <p:spPr>
          <a:xfrm>
            <a:off x="1971960"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2081688" y="6437376"/>
            <a:ext cx="1286446" cy="152146"/>
          </a:xfrm>
          <a:prstGeom prst="rect">
            <a:avLst/>
          </a:prstGeom>
          <a:noFill/>
        </p:spPr>
        <p:txBody>
          <a:bodyPr wrap="square" anchor="t" lIns="0" rIns="0" tIns="0" bIns="0">
            <a:spAutoFit/>
          </a:bodyPr>
          <a:lstStyle/>
          <a:p>
            <a:pPr algn="l"/>
            <a:r>
              <a:rPr sz="700" b="1" i="0">
                <a:solidFill>
                  <a:srgbClr val="5B3FD6"/>
                </a:solidFill>
                <a:latin typeface="Calibri"/>
              </a:rPr>
              <a:t>Which number to chase?</a:t>
            </a:r>
          </a:p>
        </p:txBody>
      </p:sp>
      <p:sp>
        <p:nvSpPr>
          <p:cNvPr id="19" name="Oval 18"/>
          <p:cNvSpPr/>
          <p:nvPr/>
        </p:nvSpPr>
        <p:spPr>
          <a:xfrm>
            <a:off x="345957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3569303"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Which number warns?</a:t>
            </a:r>
          </a:p>
        </p:txBody>
      </p:sp>
      <p:sp>
        <p:nvSpPr>
          <p:cNvPr id="21" name="Oval 20"/>
          <p:cNvSpPr/>
          <p:nvPr/>
        </p:nvSpPr>
        <p:spPr>
          <a:xfrm>
            <a:off x="480917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4918900"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Which four lines?</a:t>
            </a:r>
          </a:p>
        </p:txBody>
      </p:sp>
      <p:sp>
        <p:nvSpPr>
          <p:cNvPr id="23" name="Oval 22"/>
          <p:cNvSpPr/>
          <p:nvPr/>
        </p:nvSpPr>
        <p:spPr>
          <a:xfrm>
            <a:off x="606675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6176486"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How is a number gamed?</a:t>
            </a:r>
          </a:p>
        </p:txBody>
      </p:sp>
      <p:sp>
        <p:nvSpPr>
          <p:cNvPr id="25" name="Oval 24"/>
          <p:cNvSpPr/>
          <p:nvPr/>
        </p:nvSpPr>
        <p:spPr>
          <a:xfrm>
            <a:off x="755437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766410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the page hold?</a:t>
            </a:r>
          </a:p>
        </p:txBody>
      </p:sp>
      <p:sp>
        <p:nvSpPr>
          <p:cNvPr id="27" name="Oval 26"/>
          <p:cNvSpPr/>
          <p:nvPr/>
        </p:nvSpPr>
        <p:spPr>
          <a:xfrm>
            <a:off x="91339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9243726"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an hour count?</a:t>
            </a:r>
          </a:p>
        </p:txBody>
      </p:sp>
      <p:sp>
        <p:nvSpPr>
          <p:cNvPr id="29" name="TextBox 28"/>
          <p:cNvSpPr txBox="1"/>
          <p:nvPr/>
        </p:nvSpPr>
        <p:spPr>
          <a:xfrm>
            <a:off x="10713624" y="6437376"/>
            <a:ext cx="256032" cy="152146"/>
          </a:xfrm>
          <a:prstGeom prst="rect">
            <a:avLst/>
          </a:prstGeom>
          <a:noFill/>
        </p:spPr>
        <p:txBody>
          <a:bodyPr wrap="square" anchor="t" lIns="0" rIns="0" tIns="0" bIns="0">
            <a:spAutoFit/>
          </a:bodyPr>
          <a:lstStyle/>
          <a:p>
            <a:pPr algn="l"/>
            <a:r>
              <a:rPr sz="700" b="0" i="0">
                <a:solidFill>
                  <a:srgbClr val="6B6690"/>
                </a:solidFill>
                <a:latin typeface="Calibri"/>
              </a:rPr>
              <a:t>…</a:t>
            </a:r>
          </a:p>
        </p:txBody>
      </p:sp>
      <p:sp>
        <p:nvSpPr>
          <p:cNvPr id="30" name="TextBox 29"/>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S18  ·  20 / 93</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MONDAY  ·  BUSINESS METRIC DESIGN  ·  UBER, HYDERABAD</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Four rules for a north star and its guardrails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Which rules does the chapter leave, and what does an interviewer ask?</a:t>
            </a:r>
          </a:p>
        </p:txBody>
      </p:sp>
      <p:sp>
        <p:nvSpPr>
          <p:cNvPr id="9" name="TextBox 8"/>
          <p:cNvSpPr txBox="1"/>
          <p:nvPr/>
        </p:nvSpPr>
        <p:spPr>
          <a:xfrm>
            <a:off x="530352" y="1920240"/>
            <a:ext cx="502920" cy="333756"/>
          </a:xfrm>
          <a:prstGeom prst="rect">
            <a:avLst/>
          </a:prstGeom>
          <a:noFill/>
        </p:spPr>
        <p:txBody>
          <a:bodyPr wrap="square" anchor="t" lIns="0" rIns="0" tIns="0" bIns="0">
            <a:spAutoFit/>
          </a:bodyPr>
          <a:lstStyle/>
          <a:p>
            <a:pPr algn="l"/>
            <a:r>
              <a:rPr sz="1800" b="0" i="0">
                <a:solidFill>
                  <a:srgbClr val="5B3FD6"/>
                </a:solidFill>
                <a:latin typeface="Georgia"/>
              </a:rPr>
              <a:t>01</a:t>
            </a:r>
          </a:p>
        </p:txBody>
      </p:sp>
      <p:sp>
        <p:nvSpPr>
          <p:cNvPr id="10" name="TextBox 9"/>
          <p:cNvSpPr txBox="1"/>
          <p:nvPr/>
        </p:nvSpPr>
        <p:spPr>
          <a:xfrm>
            <a:off x="1097280" y="1956816"/>
            <a:ext cx="10564063" cy="368808"/>
          </a:xfrm>
          <a:prstGeom prst="rect">
            <a:avLst/>
          </a:prstGeom>
          <a:noFill/>
        </p:spPr>
        <p:txBody>
          <a:bodyPr wrap="square" anchor="t" lIns="0" rIns="0" tIns="0" bIns="0">
            <a:spAutoFit/>
          </a:bodyPr>
          <a:lstStyle/>
          <a:p>
            <a:r>
              <a:rPr sz="1500" b="0" i="0">
                <a:solidFill>
                  <a:srgbClr val="1A1440"/>
                </a:solidFill>
                <a:latin typeface="Calibri"/>
              </a:rPr>
              <a:t>Chase one number: the one that best captures the value the people served get.</a:t>
            </a:r>
          </a:p>
        </p:txBody>
      </p:sp>
      <p:sp>
        <p:nvSpPr>
          <p:cNvPr id="11" name="TextBox 10"/>
          <p:cNvSpPr txBox="1"/>
          <p:nvPr/>
        </p:nvSpPr>
        <p:spPr>
          <a:xfrm>
            <a:off x="530352" y="2362200"/>
            <a:ext cx="502920" cy="333756"/>
          </a:xfrm>
          <a:prstGeom prst="rect">
            <a:avLst/>
          </a:prstGeom>
          <a:noFill/>
        </p:spPr>
        <p:txBody>
          <a:bodyPr wrap="square" anchor="t" lIns="0" rIns="0" tIns="0" bIns="0">
            <a:spAutoFit/>
          </a:bodyPr>
          <a:lstStyle/>
          <a:p>
            <a:pPr algn="l"/>
            <a:r>
              <a:rPr sz="1800" b="0" i="0">
                <a:solidFill>
                  <a:srgbClr val="5B3FD6"/>
                </a:solidFill>
                <a:latin typeface="Georgia"/>
              </a:rPr>
              <a:t>02</a:t>
            </a:r>
          </a:p>
        </p:txBody>
      </p:sp>
      <p:sp>
        <p:nvSpPr>
          <p:cNvPr id="12" name="TextBox 11"/>
          <p:cNvSpPr txBox="1"/>
          <p:nvPr/>
        </p:nvSpPr>
        <p:spPr>
          <a:xfrm>
            <a:off x="1097280" y="2398776"/>
            <a:ext cx="10564063" cy="368808"/>
          </a:xfrm>
          <a:prstGeom prst="rect">
            <a:avLst/>
          </a:prstGeom>
          <a:noFill/>
        </p:spPr>
        <p:txBody>
          <a:bodyPr wrap="square" anchor="t" lIns="0" rIns="0" tIns="0" bIns="0">
            <a:spAutoFit/>
          </a:bodyPr>
          <a:lstStyle/>
          <a:p>
            <a:r>
              <a:rPr sz="1500" b="0" i="0">
                <a:solidFill>
                  <a:srgbClr val="1A1440"/>
                </a:solidFill>
                <a:latin typeface="Calibri"/>
              </a:rPr>
              <a:t>Read the number a plan chases beside a guardrail that catches a harmful way of hitting it.</a:t>
            </a:r>
          </a:p>
        </p:txBody>
      </p:sp>
      <p:sp>
        <p:nvSpPr>
          <p:cNvPr id="13" name="TextBox 12"/>
          <p:cNvSpPr txBox="1"/>
          <p:nvPr/>
        </p:nvSpPr>
        <p:spPr>
          <a:xfrm>
            <a:off x="530352" y="2804160"/>
            <a:ext cx="502920" cy="333756"/>
          </a:xfrm>
          <a:prstGeom prst="rect">
            <a:avLst/>
          </a:prstGeom>
          <a:noFill/>
        </p:spPr>
        <p:txBody>
          <a:bodyPr wrap="square" anchor="t" lIns="0" rIns="0" tIns="0" bIns="0">
            <a:spAutoFit/>
          </a:bodyPr>
          <a:lstStyle/>
          <a:p>
            <a:pPr algn="l"/>
            <a:r>
              <a:rPr sz="1800" b="0" i="0">
                <a:solidFill>
                  <a:srgbClr val="5B3FD6"/>
                </a:solidFill>
                <a:latin typeface="Georgia"/>
              </a:rPr>
              <a:t>03</a:t>
            </a:r>
          </a:p>
        </p:txBody>
      </p:sp>
      <p:sp>
        <p:nvSpPr>
          <p:cNvPr id="14" name="TextBox 13"/>
          <p:cNvSpPr txBox="1"/>
          <p:nvPr/>
        </p:nvSpPr>
        <p:spPr>
          <a:xfrm>
            <a:off x="1097280" y="2840736"/>
            <a:ext cx="10564063" cy="627888"/>
          </a:xfrm>
          <a:prstGeom prst="rect">
            <a:avLst/>
          </a:prstGeom>
          <a:noFill/>
        </p:spPr>
        <p:txBody>
          <a:bodyPr wrap="square" anchor="t" lIns="0" rIns="0" tIns="0" bIns="0">
            <a:spAutoFit/>
          </a:bodyPr>
          <a:lstStyle/>
          <a:p>
            <a:r>
              <a:rPr sz="1500" b="0" i="0">
                <a:solidFill>
                  <a:srgbClr val="1A1440"/>
                </a:solidFill>
                <a:latin typeface="Calibri"/>
              </a:rPr>
              <a:t>Choose a guardrail by the harm or gaming it catches: a second growth target, such as "orders up 20 percent", is one more number to chase and catches none.</a:t>
            </a:r>
          </a:p>
        </p:txBody>
      </p:sp>
      <p:sp>
        <p:nvSpPr>
          <p:cNvPr id="15" name="TextBox 14"/>
          <p:cNvSpPr txBox="1"/>
          <p:nvPr/>
        </p:nvSpPr>
        <p:spPr>
          <a:xfrm>
            <a:off x="530352" y="3505200"/>
            <a:ext cx="502920" cy="333756"/>
          </a:xfrm>
          <a:prstGeom prst="rect">
            <a:avLst/>
          </a:prstGeom>
          <a:noFill/>
        </p:spPr>
        <p:txBody>
          <a:bodyPr wrap="square" anchor="t" lIns="0" rIns="0" tIns="0" bIns="0">
            <a:spAutoFit/>
          </a:bodyPr>
          <a:lstStyle/>
          <a:p>
            <a:pPr algn="l"/>
            <a:r>
              <a:rPr sz="1800" b="0" i="0">
                <a:solidFill>
                  <a:srgbClr val="5B3FD6"/>
                </a:solidFill>
                <a:latin typeface="Georgia"/>
              </a:rPr>
              <a:t>04</a:t>
            </a:r>
          </a:p>
        </p:txBody>
      </p:sp>
      <p:sp>
        <p:nvSpPr>
          <p:cNvPr id="16" name="TextBox 15"/>
          <p:cNvSpPr txBox="1"/>
          <p:nvPr/>
        </p:nvSpPr>
        <p:spPr>
          <a:xfrm>
            <a:off x="1097280" y="3541776"/>
            <a:ext cx="10564063" cy="368808"/>
          </a:xfrm>
          <a:prstGeom prst="rect">
            <a:avLst/>
          </a:prstGeom>
          <a:noFill/>
        </p:spPr>
        <p:txBody>
          <a:bodyPr wrap="square" anchor="t" lIns="0" rIns="0" tIns="0" bIns="0">
            <a:spAutoFit/>
          </a:bodyPr>
          <a:lstStyle/>
          <a:p>
            <a:r>
              <a:rPr sz="1500" b="0" i="0">
                <a:solidFill>
                  <a:srgbClr val="1A1440"/>
                </a:solidFill>
                <a:latin typeface="Calibri"/>
              </a:rPr>
              <a:t>A rate can rise because its denominator shrank, so print the count beside the rate.</a:t>
            </a:r>
          </a:p>
        </p:txBody>
      </p:sp>
      <p:sp>
        <p:nvSpPr>
          <p:cNvPr id="17" name="Rounded Rectangle 16"/>
          <p:cNvSpPr/>
          <p:nvPr/>
        </p:nvSpPr>
        <p:spPr>
          <a:xfrm>
            <a:off x="530352" y="4093464"/>
            <a:ext cx="11130991" cy="862584"/>
          </a:xfrm>
          <a:prstGeom prst="roundRect">
            <a:avLst>
              <a:gd name="adj" fmla="val 5000"/>
            </a:avLst>
          </a:prstGeom>
          <a:solidFill>
            <a:srgbClr val="F7F5FD"/>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Oval 17"/>
          <p:cNvSpPr/>
          <p:nvPr/>
        </p:nvSpPr>
        <p:spPr>
          <a:xfrm>
            <a:off x="758952" y="4296156"/>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9" name="Picture 18" descr="mic_caee7398c80d.png"/>
          <p:cNvPicPr>
            <a:picLocks noChangeAspect="1"/>
          </p:cNvPicPr>
          <p:nvPr/>
        </p:nvPicPr>
        <p:blipFill>
          <a:blip r:embed="rId4"/>
          <a:stretch>
            <a:fillRect/>
          </a:stretch>
        </p:blipFill>
        <p:spPr>
          <a:xfrm>
            <a:off x="868680" y="4405884"/>
            <a:ext cx="237744" cy="237744"/>
          </a:xfrm>
          <a:prstGeom prst="rect">
            <a:avLst/>
          </a:prstGeom>
        </p:spPr>
      </p:pic>
      <p:sp>
        <p:nvSpPr>
          <p:cNvPr id="20" name="TextBox 19"/>
          <p:cNvSpPr txBox="1"/>
          <p:nvPr/>
        </p:nvSpPr>
        <p:spPr>
          <a:xfrm>
            <a:off x="1399031" y="4239768"/>
            <a:ext cx="9987991" cy="160401"/>
          </a:xfrm>
          <a:prstGeom prst="rect">
            <a:avLst/>
          </a:prstGeom>
          <a:noFill/>
        </p:spPr>
        <p:txBody>
          <a:bodyPr wrap="square" anchor="t" lIns="0" rIns="0" tIns="0" bIns="0">
            <a:spAutoFit/>
          </a:bodyPr>
          <a:lstStyle/>
          <a:p>
            <a:pPr algn="l"/>
            <a:r>
              <a:rPr sz="750" b="1" i="0" spc="250">
                <a:solidFill>
                  <a:srgbClr val="5B3FD6"/>
                </a:solidFill>
                <a:latin typeface="Calibri"/>
              </a:rPr>
              <a:t>IN THE INTERVIEW</a:t>
            </a:r>
          </a:p>
        </p:txBody>
      </p:sp>
      <p:sp>
        <p:nvSpPr>
          <p:cNvPr id="21" name="TextBox 20"/>
          <p:cNvSpPr txBox="1"/>
          <p:nvPr/>
        </p:nvSpPr>
        <p:spPr>
          <a:xfrm>
            <a:off x="1399031" y="4459224"/>
            <a:ext cx="9987991" cy="423672"/>
          </a:xfrm>
          <a:prstGeom prst="rect">
            <a:avLst/>
          </a:prstGeom>
          <a:noFill/>
        </p:spPr>
        <p:txBody>
          <a:bodyPr wrap="square" anchor="t" lIns="0" rIns="0" tIns="0" bIns="0">
            <a:spAutoFit/>
          </a:bodyPr>
          <a:lstStyle/>
          <a:p>
            <a:r>
              <a:rPr sz="1500" b="0" i="0">
                <a:solidFill>
                  <a:srgbClr val="1A1440"/>
                </a:solidFill>
                <a:latin typeface="Calibri"/>
              </a:rPr>
              <a:t>[F] North-star against guardrail, with one example pair.</a:t>
            </a:r>
          </a:p>
        </p:txBody>
      </p:sp>
      <p:sp>
        <p:nvSpPr>
          <p:cNvPr id="22" name="Oval 21"/>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640080"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What is a number for?</a:t>
            </a:r>
          </a:p>
        </p:txBody>
      </p:sp>
      <p:sp>
        <p:nvSpPr>
          <p:cNvPr id="24" name="Oval 23"/>
          <p:cNvSpPr/>
          <p:nvPr/>
        </p:nvSpPr>
        <p:spPr>
          <a:xfrm>
            <a:off x="1971960"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2081688" y="6437376"/>
            <a:ext cx="1286446" cy="152146"/>
          </a:xfrm>
          <a:prstGeom prst="rect">
            <a:avLst/>
          </a:prstGeom>
          <a:noFill/>
        </p:spPr>
        <p:txBody>
          <a:bodyPr wrap="square" anchor="t" lIns="0" rIns="0" tIns="0" bIns="0">
            <a:spAutoFit/>
          </a:bodyPr>
          <a:lstStyle/>
          <a:p>
            <a:pPr algn="l"/>
            <a:r>
              <a:rPr sz="700" b="1" i="0">
                <a:solidFill>
                  <a:srgbClr val="5B3FD6"/>
                </a:solidFill>
                <a:latin typeface="Calibri"/>
              </a:rPr>
              <a:t>Which number to chase?</a:t>
            </a:r>
          </a:p>
        </p:txBody>
      </p:sp>
      <p:sp>
        <p:nvSpPr>
          <p:cNvPr id="26" name="Oval 25"/>
          <p:cNvSpPr/>
          <p:nvPr/>
        </p:nvSpPr>
        <p:spPr>
          <a:xfrm>
            <a:off x="345957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3569303"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Which number warns?</a:t>
            </a:r>
          </a:p>
        </p:txBody>
      </p:sp>
      <p:sp>
        <p:nvSpPr>
          <p:cNvPr id="28" name="Oval 27"/>
          <p:cNvSpPr/>
          <p:nvPr/>
        </p:nvSpPr>
        <p:spPr>
          <a:xfrm>
            <a:off x="480917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4918900"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Which four lines?</a:t>
            </a:r>
          </a:p>
        </p:txBody>
      </p:sp>
      <p:sp>
        <p:nvSpPr>
          <p:cNvPr id="30" name="Oval 29"/>
          <p:cNvSpPr/>
          <p:nvPr/>
        </p:nvSpPr>
        <p:spPr>
          <a:xfrm>
            <a:off x="606675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6176486"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How is a number gamed?</a:t>
            </a:r>
          </a:p>
        </p:txBody>
      </p:sp>
      <p:sp>
        <p:nvSpPr>
          <p:cNvPr id="32" name="Oval 31"/>
          <p:cNvSpPr/>
          <p:nvPr/>
        </p:nvSpPr>
        <p:spPr>
          <a:xfrm>
            <a:off x="755437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766410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the page hold?</a:t>
            </a:r>
          </a:p>
        </p:txBody>
      </p:sp>
      <p:sp>
        <p:nvSpPr>
          <p:cNvPr id="34" name="Oval 33"/>
          <p:cNvSpPr/>
          <p:nvPr/>
        </p:nvSpPr>
        <p:spPr>
          <a:xfrm>
            <a:off x="91339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9243726"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an hour count?</a:t>
            </a:r>
          </a:p>
        </p:txBody>
      </p:sp>
      <p:sp>
        <p:nvSpPr>
          <p:cNvPr id="36" name="TextBox 35"/>
          <p:cNvSpPr txBox="1"/>
          <p:nvPr/>
        </p:nvSpPr>
        <p:spPr>
          <a:xfrm>
            <a:off x="10713624" y="6437376"/>
            <a:ext cx="256032" cy="152146"/>
          </a:xfrm>
          <a:prstGeom prst="rect">
            <a:avLst/>
          </a:prstGeom>
          <a:noFill/>
        </p:spPr>
        <p:txBody>
          <a:bodyPr wrap="square" anchor="t" lIns="0" rIns="0" tIns="0" bIns="0">
            <a:spAutoFit/>
          </a:bodyPr>
          <a:lstStyle/>
          <a:p>
            <a:pPr algn="l"/>
            <a:r>
              <a:rPr sz="700" b="0" i="0">
                <a:solidFill>
                  <a:srgbClr val="6B6690"/>
                </a:solidFill>
                <a:latin typeface="Calibri"/>
              </a:rPr>
              <a:t>…</a:t>
            </a:r>
          </a:p>
        </p:txBody>
      </p:sp>
      <p:sp>
        <p:nvSpPr>
          <p:cNvPr id="37" name="TextBox 36"/>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S19  ·  21 / 93</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MONDAY  ·  BUSINESS METRIC DESIGN  ·  UBER, HYDERABAD</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Orders per user would have read a success as a fall</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happens when a north star counts the wrong thing for what the business is trying to do?</a:t>
            </a:r>
          </a:p>
        </p:txBody>
      </p:sp>
      <p:sp>
        <p:nvSpPr>
          <p:cNvPr id="9" name="TextBox 8"/>
          <p:cNvSpPr txBox="1"/>
          <p:nvPr/>
        </p:nvSpPr>
        <p:spPr>
          <a:xfrm>
            <a:off x="530352" y="1956816"/>
            <a:ext cx="3527450" cy="698500"/>
          </a:xfrm>
          <a:prstGeom prst="rect">
            <a:avLst/>
          </a:prstGeom>
          <a:noFill/>
        </p:spPr>
        <p:txBody>
          <a:bodyPr wrap="square" anchor="t" lIns="0" rIns="0" tIns="0" bIns="0">
            <a:spAutoFit/>
          </a:bodyPr>
          <a:lstStyle/>
          <a:p>
            <a:pPr algn="l"/>
            <a:r>
              <a:rPr sz="4400" b="0" i="0">
                <a:solidFill>
                  <a:srgbClr val="5B3FD6"/>
                </a:solidFill>
                <a:latin typeface="Georgia"/>
              </a:rPr>
              <a:t>over 28%</a:t>
            </a:r>
          </a:p>
        </p:txBody>
      </p:sp>
      <p:sp>
        <p:nvSpPr>
          <p:cNvPr id="10" name="TextBox 9"/>
          <p:cNvSpPr txBox="1"/>
          <p:nvPr/>
        </p:nvSpPr>
        <p:spPr>
          <a:xfrm>
            <a:off x="530352" y="26918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OF MTUS, IN SWIGGY'S WORDS</a:t>
            </a:r>
          </a:p>
        </p:txBody>
      </p:sp>
      <p:sp>
        <p:nvSpPr>
          <p:cNvPr id="11" name="TextBox 10"/>
          <p:cNvSpPr txBox="1"/>
          <p:nvPr/>
        </p:nvSpPr>
        <p:spPr>
          <a:xfrm>
            <a:off x="530352" y="2893060"/>
            <a:ext cx="3527450" cy="350266"/>
          </a:xfrm>
          <a:prstGeom prst="rect">
            <a:avLst/>
          </a:prstGeom>
          <a:noFill/>
        </p:spPr>
        <p:txBody>
          <a:bodyPr wrap="square" anchor="t" lIns="0" rIns="0" tIns="0" bIns="0">
            <a:spAutoFit/>
          </a:bodyPr>
          <a:lstStyle/>
          <a:p>
            <a:pPr algn="l"/>
            <a:r>
              <a:rPr sz="950" b="0" i="0">
                <a:solidFill>
                  <a:srgbClr val="6B6690"/>
                </a:solidFill>
                <a:latin typeface="Calibri"/>
              </a:rPr>
              <a:t>monthly transacting users on Maxxsaver, April to June 2025</a:t>
            </a:r>
          </a:p>
        </p:txBody>
      </p:sp>
      <p:sp>
        <p:nvSpPr>
          <p:cNvPr id="12" name="Rectangle 11"/>
          <p:cNvSpPr/>
          <p:nvPr/>
        </p:nvSpPr>
        <p:spPr>
          <a:xfrm>
            <a:off x="53035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4332122" y="1956816"/>
            <a:ext cx="3527450" cy="698500"/>
          </a:xfrm>
          <a:prstGeom prst="rect">
            <a:avLst/>
          </a:prstGeom>
          <a:noFill/>
        </p:spPr>
        <p:txBody>
          <a:bodyPr wrap="square" anchor="t" lIns="0" rIns="0" tIns="0" bIns="0">
            <a:spAutoFit/>
          </a:bodyPr>
          <a:lstStyle/>
          <a:p>
            <a:pPr algn="l"/>
            <a:r>
              <a:rPr sz="4400" b="0" i="0">
                <a:solidFill>
                  <a:srgbClr val="5B3FD6"/>
                </a:solidFill>
                <a:latin typeface="Georgia"/>
              </a:rPr>
              <a:t>Rs 612</a:t>
            </a:r>
          </a:p>
        </p:txBody>
      </p:sp>
      <p:sp>
        <p:nvSpPr>
          <p:cNvPr id="14" name="TextBox 13"/>
          <p:cNvSpPr txBox="1"/>
          <p:nvPr/>
        </p:nvSpPr>
        <p:spPr>
          <a:xfrm>
            <a:off x="4332122" y="26918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AVERAGE ORDER VALUE</a:t>
            </a:r>
          </a:p>
        </p:txBody>
      </p:sp>
      <p:sp>
        <p:nvSpPr>
          <p:cNvPr id="15" name="TextBox 14"/>
          <p:cNvSpPr txBox="1"/>
          <p:nvPr/>
        </p:nvSpPr>
        <p:spPr>
          <a:xfrm>
            <a:off x="4332122" y="2893060"/>
            <a:ext cx="3527450" cy="193421"/>
          </a:xfrm>
          <a:prstGeom prst="rect">
            <a:avLst/>
          </a:prstGeom>
          <a:noFill/>
        </p:spPr>
        <p:txBody>
          <a:bodyPr wrap="square" anchor="t" lIns="0" rIns="0" tIns="0" bIns="0">
            <a:spAutoFit/>
          </a:bodyPr>
          <a:lstStyle/>
          <a:p>
            <a:pPr algn="l"/>
            <a:r>
              <a:rPr sz="950" b="0" i="0">
                <a:solidFill>
                  <a:srgbClr val="6B6690"/>
                </a:solidFill>
                <a:latin typeface="Calibri"/>
              </a:rPr>
              <a:t>up 16 percent on the quarter: selection and Maxxsaver</a:t>
            </a:r>
          </a:p>
        </p:txBody>
      </p:sp>
      <p:sp>
        <p:nvSpPr>
          <p:cNvPr id="16" name="Rectangle 15"/>
          <p:cNvSpPr/>
          <p:nvPr/>
        </p:nvSpPr>
        <p:spPr>
          <a:xfrm>
            <a:off x="433212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8133892" y="1956816"/>
            <a:ext cx="3527450" cy="698500"/>
          </a:xfrm>
          <a:prstGeom prst="rect">
            <a:avLst/>
          </a:prstGeom>
          <a:noFill/>
        </p:spPr>
        <p:txBody>
          <a:bodyPr wrap="square" anchor="t" lIns="0" rIns="0" tIns="0" bIns="0">
            <a:spAutoFit/>
          </a:bodyPr>
          <a:lstStyle/>
          <a:p>
            <a:pPr algn="l"/>
            <a:r>
              <a:rPr sz="4400" b="0" i="0">
                <a:solidFill>
                  <a:srgbClr val="5B3FD6"/>
                </a:solidFill>
                <a:latin typeface="Georgia"/>
              </a:rPr>
              <a:t>NOV</a:t>
            </a:r>
          </a:p>
        </p:txBody>
      </p:sp>
      <p:sp>
        <p:nvSpPr>
          <p:cNvPr id="18" name="TextBox 17"/>
          <p:cNvSpPr txBox="1"/>
          <p:nvPr/>
        </p:nvSpPr>
        <p:spPr>
          <a:xfrm>
            <a:off x="8133892" y="26918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ETERNAL'S HEADLINE</a:t>
            </a:r>
          </a:p>
        </p:txBody>
      </p:sp>
      <p:sp>
        <p:nvSpPr>
          <p:cNvPr id="19" name="TextBox 18"/>
          <p:cNvSpPr txBox="1"/>
          <p:nvPr/>
        </p:nvSpPr>
        <p:spPr>
          <a:xfrm>
            <a:off x="8133892" y="2893060"/>
            <a:ext cx="3527450" cy="193421"/>
          </a:xfrm>
          <a:prstGeom prst="rect">
            <a:avLst/>
          </a:prstGeom>
          <a:noFill/>
        </p:spPr>
        <p:txBody>
          <a:bodyPr wrap="square" anchor="t" lIns="0" rIns="0" tIns="0" bIns="0">
            <a:spAutoFit/>
          </a:bodyPr>
          <a:lstStyle/>
          <a:p>
            <a:pPr algn="l"/>
            <a:r>
              <a:rPr sz="950" b="0" i="0">
                <a:solidFill>
                  <a:srgbClr val="6B6690"/>
                </a:solidFill>
                <a:latin typeface="Calibri"/>
              </a:rPr>
              <a:t>net order value: gross order value minus discounts</a:t>
            </a:r>
          </a:p>
        </p:txBody>
      </p:sp>
      <p:sp>
        <p:nvSpPr>
          <p:cNvPr id="20" name="Rectangle 19"/>
          <p:cNvSpPr/>
          <p:nvPr/>
        </p:nvSpPr>
        <p:spPr>
          <a:xfrm>
            <a:off x="813389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530352" y="3419856"/>
            <a:ext cx="11130991" cy="2153920"/>
          </a:xfrm>
          <a:prstGeom prst="rect">
            <a:avLst/>
          </a:prstGeom>
          <a:noFill/>
        </p:spPr>
        <p:txBody>
          <a:bodyPr wrap="square" anchor="t" lIns="0" rIns="0" tIns="0" bIns="0">
            <a:spAutoFit/>
          </a:bodyPr>
          <a:lstStyle/>
          <a:p>
            <a:pPr>
              <a:spcAft>
                <a:spcPts val="800"/>
              </a:spcAft>
            </a:pPr>
            <a:r>
              <a:rPr sz="1600" b="1" i="0">
                <a:solidFill>
                  <a:srgbClr val="1A1440"/>
                </a:solidFill>
                <a:latin typeface="Calibri"/>
              </a:rPr>
              <a:t>Swiggy Instamart's Maxxsaver</a:t>
            </a:r>
            <a:r>
              <a:rPr sz="1600" b="0" i="0">
                <a:solidFill>
                  <a:srgbClr val="1A1440"/>
                </a:solidFill>
                <a:latin typeface="Calibri"/>
              </a:rPr>
              <a:t> unlocks extra discounts once a cart passes a threshold, so some users put more into fewer orders. Swiggy puts the slower order growth down to that and to letting go of some low-value orders and unprofitable users: orders per user alone would read the quarter as a fall, and the letter adds that the ramp-up kept contribution flat. </a:t>
            </a:r>
            <a:r>
              <a:rPr sz="1600" b="1" i="0">
                <a:solidFill>
                  <a:srgbClr val="1A1440"/>
                </a:solidFill>
                <a:latin typeface="Calibri"/>
              </a:rPr>
              <a:t>Eternal</a:t>
            </a:r>
            <a:r>
              <a:rPr sz="1600" b="0" i="0">
                <a:solidFill>
                  <a:srgbClr val="1A1440"/>
                </a:solidFill>
                <a:latin typeface="Calibri"/>
              </a:rPr>
              <a:t>, whose businesses include Zomato and Blinkit, stopped disclosing gross order value from its letter for the quarter to 30 June 2026, saying in its food delivery line that "NOV more accurately reflects underlying performance": a discount is value handed back to the customer, which gross order value still counts.</a:t>
            </a:r>
          </a:p>
        </p:txBody>
      </p:sp>
      <p:sp>
        <p:nvSpPr>
          <p:cNvPr id="22" name="Oval 21"/>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640080"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What is a number for?</a:t>
            </a:r>
          </a:p>
        </p:txBody>
      </p:sp>
      <p:sp>
        <p:nvSpPr>
          <p:cNvPr id="24" name="Oval 23"/>
          <p:cNvSpPr/>
          <p:nvPr/>
        </p:nvSpPr>
        <p:spPr>
          <a:xfrm>
            <a:off x="1971960"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2081688" y="6437376"/>
            <a:ext cx="1286446" cy="152146"/>
          </a:xfrm>
          <a:prstGeom prst="rect">
            <a:avLst/>
          </a:prstGeom>
          <a:noFill/>
        </p:spPr>
        <p:txBody>
          <a:bodyPr wrap="square" anchor="t" lIns="0" rIns="0" tIns="0" bIns="0">
            <a:spAutoFit/>
          </a:bodyPr>
          <a:lstStyle/>
          <a:p>
            <a:pPr algn="l"/>
            <a:r>
              <a:rPr sz="700" b="1" i="0">
                <a:solidFill>
                  <a:srgbClr val="5B3FD6"/>
                </a:solidFill>
                <a:latin typeface="Calibri"/>
              </a:rPr>
              <a:t>Which number to chase?</a:t>
            </a:r>
          </a:p>
        </p:txBody>
      </p:sp>
      <p:sp>
        <p:nvSpPr>
          <p:cNvPr id="26" name="Oval 25"/>
          <p:cNvSpPr/>
          <p:nvPr/>
        </p:nvSpPr>
        <p:spPr>
          <a:xfrm>
            <a:off x="345957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3569303"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Which number warns?</a:t>
            </a:r>
          </a:p>
        </p:txBody>
      </p:sp>
      <p:sp>
        <p:nvSpPr>
          <p:cNvPr id="28" name="Oval 27"/>
          <p:cNvSpPr/>
          <p:nvPr/>
        </p:nvSpPr>
        <p:spPr>
          <a:xfrm>
            <a:off x="480917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4918900"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Which four lines?</a:t>
            </a:r>
          </a:p>
        </p:txBody>
      </p:sp>
      <p:sp>
        <p:nvSpPr>
          <p:cNvPr id="30" name="Oval 29"/>
          <p:cNvSpPr/>
          <p:nvPr/>
        </p:nvSpPr>
        <p:spPr>
          <a:xfrm>
            <a:off x="606675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6176486"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How is a number gamed?</a:t>
            </a:r>
          </a:p>
        </p:txBody>
      </p:sp>
      <p:sp>
        <p:nvSpPr>
          <p:cNvPr id="32" name="Oval 31"/>
          <p:cNvSpPr/>
          <p:nvPr/>
        </p:nvSpPr>
        <p:spPr>
          <a:xfrm>
            <a:off x="755437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766410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the page hold?</a:t>
            </a:r>
          </a:p>
        </p:txBody>
      </p:sp>
      <p:sp>
        <p:nvSpPr>
          <p:cNvPr id="34" name="Oval 33"/>
          <p:cNvSpPr/>
          <p:nvPr/>
        </p:nvSpPr>
        <p:spPr>
          <a:xfrm>
            <a:off x="91339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9243726"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an hour count?</a:t>
            </a:r>
          </a:p>
        </p:txBody>
      </p:sp>
      <p:sp>
        <p:nvSpPr>
          <p:cNvPr id="36" name="TextBox 35"/>
          <p:cNvSpPr txBox="1"/>
          <p:nvPr/>
        </p:nvSpPr>
        <p:spPr>
          <a:xfrm>
            <a:off x="10713624" y="6437376"/>
            <a:ext cx="256032" cy="152146"/>
          </a:xfrm>
          <a:prstGeom prst="rect">
            <a:avLst/>
          </a:prstGeom>
          <a:noFill/>
        </p:spPr>
        <p:txBody>
          <a:bodyPr wrap="square" anchor="t" lIns="0" rIns="0" tIns="0" bIns="0">
            <a:spAutoFit/>
          </a:bodyPr>
          <a:lstStyle/>
          <a:p>
            <a:pPr algn="l"/>
            <a:r>
              <a:rPr sz="700" b="0" i="0">
                <a:solidFill>
                  <a:srgbClr val="6B6690"/>
                </a:solidFill>
                <a:latin typeface="Calibri"/>
              </a:rPr>
              <a:t>…</a:t>
            </a:r>
          </a:p>
        </p:txBody>
      </p:sp>
      <p:sp>
        <p:nvSpPr>
          <p:cNvPr id="37" name="TextBox 36"/>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S20  ·  22 / 93</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MONDAY  ·  BUSINESS METRIC DESIGN  ·  UBER, HYDERABAD</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north star feeds chapter 3 and Uber's redesign</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Where did the idea come from, and where does it go next?</a:t>
            </a:r>
          </a:p>
        </p:txBody>
      </p:sp>
      <p:pic>
        <p:nvPicPr>
          <p:cNvPr id="9" name="mermaid diagram" descr="2b266b4e9dd33ce6.png"/>
          <p:cNvPicPr>
            <a:picLocks noChangeAspect="1"/>
          </p:cNvPicPr>
          <p:nvPr/>
        </p:nvPicPr>
        <p:blipFill>
          <a:blip r:embed="rId5"/>
          <a:stretch>
            <a:fillRect/>
          </a:stretch>
        </p:blipFill>
        <p:spPr>
          <a:xfrm>
            <a:off x="2980014" y="1664208"/>
            <a:ext cx="6231666" cy="3256279"/>
          </a:xfrm>
          <a:prstGeom prst="rect">
            <a:avLst/>
          </a:prstGeom>
        </p:spPr>
      </p:pic>
      <p:sp>
        <p:nvSpPr>
          <p:cNvPr id="10" name="TextBox 9"/>
          <p:cNvSpPr txBox="1"/>
          <p:nvPr/>
        </p:nvSpPr>
        <p:spPr>
          <a:xfrm>
            <a:off x="530352" y="4966208"/>
            <a:ext cx="11130991" cy="1233424"/>
          </a:xfrm>
          <a:prstGeom prst="rect">
            <a:avLst/>
          </a:prstGeom>
          <a:noFill/>
        </p:spPr>
        <p:txBody>
          <a:bodyPr wrap="square" anchor="t" lIns="0" rIns="0" tIns="0" bIns="0">
            <a:spAutoFit/>
          </a:bodyPr>
          <a:lstStyle/>
          <a:p>
            <a:r>
              <a:rPr sz="1600" b="0" i="0">
                <a:solidFill>
                  <a:srgbClr val="1A1440"/>
                </a:solidFill>
                <a:latin typeface="Calibri"/>
              </a:rPr>
              <a:t>At Uber's Hyderabad scheme the same pair returns in chapter 9: completed peak trips per enrolled driver as the north star, with the share of offers accepted (an offer is one rider's request shown to one driver, who may accept or decline it) and the rider's wait as the guardrails that catch a driver who stays online and declines.</a:t>
            </a:r>
          </a:p>
        </p:txBody>
      </p:sp>
      <p:sp>
        <p:nvSpPr>
          <p:cNvPr id="11" name="Oval 10"/>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40080"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What is a number for?</a:t>
            </a:r>
          </a:p>
        </p:txBody>
      </p:sp>
      <p:sp>
        <p:nvSpPr>
          <p:cNvPr id="13" name="Oval 12"/>
          <p:cNvSpPr/>
          <p:nvPr/>
        </p:nvSpPr>
        <p:spPr>
          <a:xfrm>
            <a:off x="1971960"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2081688" y="6437376"/>
            <a:ext cx="1286446" cy="152146"/>
          </a:xfrm>
          <a:prstGeom prst="rect">
            <a:avLst/>
          </a:prstGeom>
          <a:noFill/>
        </p:spPr>
        <p:txBody>
          <a:bodyPr wrap="square" anchor="t" lIns="0" rIns="0" tIns="0" bIns="0">
            <a:spAutoFit/>
          </a:bodyPr>
          <a:lstStyle/>
          <a:p>
            <a:pPr algn="l"/>
            <a:r>
              <a:rPr sz="700" b="1" i="0">
                <a:solidFill>
                  <a:srgbClr val="5B3FD6"/>
                </a:solidFill>
                <a:latin typeface="Calibri"/>
              </a:rPr>
              <a:t>Which number to chase?</a:t>
            </a:r>
          </a:p>
        </p:txBody>
      </p:sp>
      <p:sp>
        <p:nvSpPr>
          <p:cNvPr id="15" name="Oval 14"/>
          <p:cNvSpPr/>
          <p:nvPr/>
        </p:nvSpPr>
        <p:spPr>
          <a:xfrm>
            <a:off x="345957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3569303"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Which number warns?</a:t>
            </a:r>
          </a:p>
        </p:txBody>
      </p:sp>
      <p:sp>
        <p:nvSpPr>
          <p:cNvPr id="17" name="Oval 16"/>
          <p:cNvSpPr/>
          <p:nvPr/>
        </p:nvSpPr>
        <p:spPr>
          <a:xfrm>
            <a:off x="480917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4918900"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Which four lines?</a:t>
            </a:r>
          </a:p>
        </p:txBody>
      </p:sp>
      <p:sp>
        <p:nvSpPr>
          <p:cNvPr id="19" name="Oval 18"/>
          <p:cNvSpPr/>
          <p:nvPr/>
        </p:nvSpPr>
        <p:spPr>
          <a:xfrm>
            <a:off x="606675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176486"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How is a number gamed?</a:t>
            </a:r>
          </a:p>
        </p:txBody>
      </p:sp>
      <p:sp>
        <p:nvSpPr>
          <p:cNvPr id="21" name="Oval 20"/>
          <p:cNvSpPr/>
          <p:nvPr/>
        </p:nvSpPr>
        <p:spPr>
          <a:xfrm>
            <a:off x="755437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766410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the page hold?</a:t>
            </a:r>
          </a:p>
        </p:txBody>
      </p:sp>
      <p:sp>
        <p:nvSpPr>
          <p:cNvPr id="23" name="Oval 22"/>
          <p:cNvSpPr/>
          <p:nvPr/>
        </p:nvSpPr>
        <p:spPr>
          <a:xfrm>
            <a:off x="91339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9243726"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an hour count?</a:t>
            </a:r>
          </a:p>
        </p:txBody>
      </p:sp>
      <p:sp>
        <p:nvSpPr>
          <p:cNvPr id="25" name="TextBox 24"/>
          <p:cNvSpPr txBox="1"/>
          <p:nvPr/>
        </p:nvSpPr>
        <p:spPr>
          <a:xfrm>
            <a:off x="10713624" y="6437376"/>
            <a:ext cx="256032" cy="152146"/>
          </a:xfrm>
          <a:prstGeom prst="rect">
            <a:avLst/>
          </a:prstGeom>
          <a:noFill/>
        </p:spPr>
        <p:txBody>
          <a:bodyPr wrap="square" anchor="t" lIns="0" rIns="0" tIns="0" bIns="0">
            <a:spAutoFit/>
          </a:bodyPr>
          <a:lstStyle/>
          <a:p>
            <a:pPr algn="l"/>
            <a:r>
              <a:rPr sz="700" b="0" i="0">
                <a:solidFill>
                  <a:srgbClr val="6B6690"/>
                </a:solidFill>
                <a:latin typeface="Calibri"/>
              </a:rPr>
              <a:t>…</a:t>
            </a:r>
          </a:p>
        </p:txBody>
      </p:sp>
      <p:sp>
        <p:nvSpPr>
          <p:cNvPr id="26" name="TextBox 25"/>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S21  ·  23 / 93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dark.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FFFFFF"/>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CFC9EE"/>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CFC9EE"/>
                </a:solidFill>
                <a:latin typeface="Calibri"/>
              </a:rPr>
              <a:t>PG DIPLOMA IN AI-ML AND AGENTIC AI ENGINEERING  ·  COHORT 2</a:t>
            </a:r>
          </a:p>
        </p:txBody>
      </p:sp>
      <p:sp>
        <p:nvSpPr>
          <p:cNvPr id="7" name="TextBox 6"/>
          <p:cNvSpPr txBox="1"/>
          <p:nvPr/>
        </p:nvSpPr>
        <p:spPr>
          <a:xfrm>
            <a:off x="731519" y="1143000"/>
            <a:ext cx="3657600" cy="1371600"/>
          </a:xfrm>
          <a:prstGeom prst="rect">
            <a:avLst/>
          </a:prstGeom>
          <a:noFill/>
        </p:spPr>
        <p:txBody>
          <a:bodyPr wrap="square" anchor="t" lIns="0" rIns="0" tIns="0" bIns="0">
            <a:spAutoFit/>
          </a:bodyPr>
          <a:lstStyle/>
          <a:p>
            <a:pPr algn="l"/>
            <a:r>
              <a:rPr sz="9600" b="0" i="0">
                <a:solidFill>
                  <a:srgbClr val="D9A7FF"/>
                </a:solidFill>
                <a:latin typeface="Georgia"/>
              </a:rPr>
              <a:t>03</a:t>
            </a:r>
          </a:p>
        </p:txBody>
      </p:sp>
      <p:sp>
        <p:nvSpPr>
          <p:cNvPr id="8" name="TextBox 7"/>
          <p:cNvSpPr txBox="1"/>
          <p:nvPr/>
        </p:nvSpPr>
        <p:spPr>
          <a:xfrm>
            <a:off x="731519" y="2542032"/>
            <a:ext cx="10673791" cy="366776"/>
          </a:xfrm>
          <a:prstGeom prst="rect">
            <a:avLst/>
          </a:prstGeom>
          <a:noFill/>
        </p:spPr>
        <p:txBody>
          <a:bodyPr wrap="square" anchor="t" lIns="0" rIns="0" tIns="0" bIns="0">
            <a:spAutoFit/>
          </a:bodyPr>
          <a:lstStyle/>
          <a:p>
            <a:pPr algn="l"/>
            <a:r>
              <a:rPr sz="2000" b="1" i="0">
                <a:solidFill>
                  <a:srgbClr val="D9A7FF"/>
                </a:solidFill>
                <a:latin typeface="Calibri"/>
              </a:rPr>
              <a:t>Leading against lagging indicators</a:t>
            </a:r>
          </a:p>
        </p:txBody>
      </p:sp>
      <p:sp>
        <p:nvSpPr>
          <p:cNvPr id="9" name="TextBox 8"/>
          <p:cNvSpPr txBox="1"/>
          <p:nvPr/>
        </p:nvSpPr>
        <p:spPr>
          <a:xfrm>
            <a:off x="731519" y="3017520"/>
            <a:ext cx="10673791" cy="731520"/>
          </a:xfrm>
          <a:prstGeom prst="rect">
            <a:avLst/>
          </a:prstGeom>
          <a:noFill/>
        </p:spPr>
        <p:txBody>
          <a:bodyPr wrap="square" anchor="t" lIns="0" rIns="0" tIns="0" bIns="0">
            <a:spAutoFit/>
          </a:bodyPr>
          <a:lstStyle/>
          <a:p>
            <a:pPr algn="l"/>
            <a:r>
              <a:rPr sz="4000" b="0" i="0">
                <a:solidFill>
                  <a:srgbClr val="FFFFFF"/>
                </a:solidFill>
                <a:latin typeface="Georgia"/>
              </a:rPr>
              <a:t>Which number warns?</a:t>
            </a:r>
          </a:p>
        </p:txBody>
      </p:sp>
      <p:sp>
        <p:nvSpPr>
          <p:cNvPr id="10" name="TextBox 9"/>
          <p:cNvSpPr txBox="1"/>
          <p:nvPr/>
        </p:nvSpPr>
        <p:spPr>
          <a:xfrm>
            <a:off x="731519" y="3931920"/>
            <a:ext cx="9509760" cy="284226"/>
          </a:xfrm>
          <a:prstGeom prst="rect">
            <a:avLst/>
          </a:prstGeom>
          <a:noFill/>
        </p:spPr>
        <p:txBody>
          <a:bodyPr wrap="square" anchor="t" lIns="0" rIns="0" tIns="0" bIns="0">
            <a:spAutoFit/>
          </a:bodyPr>
          <a:lstStyle/>
          <a:p>
            <a:pPr algn="l"/>
            <a:r>
              <a:rPr sz="1500" b="0" i="0">
                <a:solidFill>
                  <a:srgbClr val="E4E1F1"/>
                </a:solidFill>
                <a:latin typeface="Calibri"/>
              </a:rPr>
              <a:t>Tell a number that warns while a team can still act from one that confirms the result later.</a:t>
            </a:r>
          </a:p>
        </p:txBody>
      </p:sp>
      <p:sp>
        <p:nvSpPr>
          <p:cNvPr id="11" name="Rounded Rectangle 10"/>
          <p:cNvSpPr/>
          <p:nvPr/>
        </p:nvSpPr>
        <p:spPr>
          <a:xfrm>
            <a:off x="731519" y="5074920"/>
            <a:ext cx="1082213"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What is a number for?</a:t>
            </a:r>
          </a:p>
        </p:txBody>
      </p:sp>
      <p:sp>
        <p:nvSpPr>
          <p:cNvPr id="12" name="Rounded Rectangle 11"/>
          <p:cNvSpPr/>
          <p:nvPr/>
        </p:nvSpPr>
        <p:spPr>
          <a:xfrm>
            <a:off x="1923461" y="5074920"/>
            <a:ext cx="1122034"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Which number to chase?</a:t>
            </a:r>
          </a:p>
        </p:txBody>
      </p:sp>
      <p:sp>
        <p:nvSpPr>
          <p:cNvPr id="13" name="Rounded Rectangle 12"/>
          <p:cNvSpPr/>
          <p:nvPr/>
        </p:nvSpPr>
        <p:spPr>
          <a:xfrm>
            <a:off x="3155223" y="5074920"/>
            <a:ext cx="1002570" cy="310896"/>
          </a:xfrm>
          <a:prstGeom prst="roundRect">
            <a:avLst>
              <a:gd name="adj" fmla="val 50000"/>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1">
                <a:solidFill>
                  <a:srgbClr val="1A0F5C"/>
                </a:solidFill>
                <a:latin typeface="Calibri"/>
              </a:rPr>
              <a:t>Which number warns?</a:t>
            </a:r>
          </a:p>
        </p:txBody>
      </p:sp>
      <p:sp>
        <p:nvSpPr>
          <p:cNvPr id="14" name="Rounded Rectangle 13"/>
          <p:cNvSpPr/>
          <p:nvPr/>
        </p:nvSpPr>
        <p:spPr>
          <a:xfrm>
            <a:off x="4267522" y="5074920"/>
            <a:ext cx="922927"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Which four lines?</a:t>
            </a:r>
          </a:p>
        </p:txBody>
      </p:sp>
      <p:sp>
        <p:nvSpPr>
          <p:cNvPr id="15" name="Rounded Rectangle 14"/>
          <p:cNvSpPr/>
          <p:nvPr/>
        </p:nvSpPr>
        <p:spPr>
          <a:xfrm>
            <a:off x="5300178" y="5074920"/>
            <a:ext cx="1122034"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How is a number gamed?</a:t>
            </a:r>
          </a:p>
        </p:txBody>
      </p:sp>
      <p:sp>
        <p:nvSpPr>
          <p:cNvPr id="16" name="Rounded Rectangle 15"/>
          <p:cNvSpPr/>
          <p:nvPr/>
        </p:nvSpPr>
        <p:spPr>
          <a:xfrm>
            <a:off x="6531940" y="5074920"/>
            <a:ext cx="1201677"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What does the page hold?</a:t>
            </a:r>
          </a:p>
        </p:txBody>
      </p:sp>
      <p:sp>
        <p:nvSpPr>
          <p:cNvPr id="17" name="Rounded Rectangle 16"/>
          <p:cNvSpPr/>
          <p:nvPr/>
        </p:nvSpPr>
        <p:spPr>
          <a:xfrm>
            <a:off x="7843346" y="5074920"/>
            <a:ext cx="1201677"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What does an hour count?</a:t>
            </a:r>
          </a:p>
        </p:txBody>
      </p:sp>
      <p:sp>
        <p:nvSpPr>
          <p:cNvPr id="18" name="Rounded Rectangle 17"/>
          <p:cNvSpPr/>
          <p:nvPr/>
        </p:nvSpPr>
        <p:spPr>
          <a:xfrm>
            <a:off x="9154751" y="5074920"/>
            <a:ext cx="1161855"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Where did the fall sit?</a:t>
            </a:r>
          </a:p>
        </p:txBody>
      </p:sp>
      <p:sp>
        <p:nvSpPr>
          <p:cNvPr id="19" name="Rounded Rectangle 18"/>
          <p:cNvSpPr/>
          <p:nvPr/>
        </p:nvSpPr>
        <p:spPr>
          <a:xfrm>
            <a:off x="10426335" y="5074920"/>
            <a:ext cx="1161855"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What should it pay for?</a:t>
            </a:r>
          </a:p>
        </p:txBody>
      </p:sp>
      <p:sp>
        <p:nvSpPr>
          <p:cNvPr id="20" name="TextBox 19"/>
          <p:cNvSpPr txBox="1"/>
          <p:nvPr/>
        </p:nvSpPr>
        <p:spPr>
          <a:xfrm>
            <a:off x="530352" y="6437376"/>
            <a:ext cx="9667951" cy="160401"/>
          </a:xfrm>
          <a:prstGeom prst="rect">
            <a:avLst/>
          </a:prstGeom>
          <a:noFill/>
        </p:spPr>
        <p:txBody>
          <a:bodyPr wrap="square" anchor="t" lIns="0" rIns="0" tIns="0" bIns="0">
            <a:spAutoFit/>
          </a:bodyPr>
          <a:lstStyle/>
          <a:p>
            <a:pPr algn="l"/>
            <a:r>
              <a:rPr sz="750" b="0" i="0">
                <a:solidFill>
                  <a:srgbClr val="CFC9EE"/>
                </a:solidFill>
                <a:latin typeface="Calibri"/>
              </a:rPr>
              <a:t>Week 4, Day 1. Business metric design: which number should the plan chase, and what stops it being gamed?</a:t>
            </a:r>
          </a:p>
        </p:txBody>
      </p:sp>
      <p:sp>
        <p:nvSpPr>
          <p:cNvPr id="21" name="TextBox 20"/>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CFC9EE"/>
                </a:solidFill>
                <a:latin typeface="Calibri"/>
              </a:rPr>
              <a:t>24 / 93</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MONDAY  ·  BUSINESS METRIC DESIGN  ·  UBER, HYDERABAD</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Some numbers arrive while a team can still act</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Who needs the answer, and which questions lead to it?</a:t>
            </a:r>
          </a:p>
        </p:txBody>
      </p:sp>
      <p:sp>
        <p:nvSpPr>
          <p:cNvPr id="9" name="TextBox 8"/>
          <p:cNvSpPr txBox="1"/>
          <p:nvPr/>
        </p:nvSpPr>
        <p:spPr>
          <a:xfrm>
            <a:off x="530352" y="1832864"/>
            <a:ext cx="11130991" cy="1324864"/>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A number that moves before the north star, while a team can still act on it, is </a:t>
            </a:r>
            <a:r>
              <a:rPr sz="1600" b="1" i="0">
                <a:solidFill>
                  <a:srgbClr val="1A1440"/>
                </a:solidFill>
                <a:latin typeface="Calibri"/>
              </a:rPr>
              <a:t>leading</a:t>
            </a:r>
            <a:r>
              <a:rPr sz="1600" b="0" i="0">
                <a:solidFill>
                  <a:srgbClr val="1A1440"/>
                </a:solidFill>
                <a:latin typeface="Calibri"/>
              </a:rPr>
              <a:t>; one that confirms the north star after the result is fixed is </a:t>
            </a:r>
            <a:r>
              <a:rPr sz="1600" b="1" i="0">
                <a:solidFill>
                  <a:srgbClr val="1A1440"/>
                </a:solidFill>
                <a:latin typeface="Calibri"/>
              </a:rPr>
              <a:t>lagging</a:t>
            </a:r>
            <a:r>
              <a:rPr sz="1600" b="0" i="0">
                <a:solidFill>
                  <a:srgbClr val="1A1440"/>
                </a:solidFill>
                <a:latin typeface="Calibri"/>
              </a:rPr>
              <a:t>. Leading and lagging say when a number moves, which is a separate question from the job it does, so one number can be a guardrail and a leading number at once.</a:t>
            </a:r>
          </a:p>
        </p:txBody>
      </p:sp>
      <p:sp>
        <p:nvSpPr>
          <p:cNvPr id="10" name="Rounded Rectangle 9"/>
          <p:cNvSpPr/>
          <p:nvPr/>
        </p:nvSpPr>
        <p:spPr>
          <a:xfrm>
            <a:off x="530352" y="3285744"/>
            <a:ext cx="11130991" cy="8077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676656" y="3413760"/>
            <a:ext cx="45720" cy="5516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7824" y="3404616"/>
            <a:ext cx="10564063" cy="624840"/>
          </a:xfrm>
          <a:prstGeom prst="rect">
            <a:avLst/>
          </a:prstGeom>
          <a:noFill/>
        </p:spPr>
        <p:txBody>
          <a:bodyPr wrap="square" anchor="ctr" lIns="0" rIns="0" tIns="0" bIns="0">
            <a:spAutoFit/>
          </a:bodyPr>
          <a:lstStyle/>
          <a:p>
            <a:r>
              <a:rPr sz="1500" b="1">
                <a:solidFill>
                  <a:srgbClr val="5B3FD6"/>
                </a:solidFill>
                <a:latin typeface="Calibri"/>
              </a:rPr>
              <a:t>Who needs the answer. </a:t>
            </a:r>
            <a:r>
              <a:rPr sz="1500" b="0" i="0">
                <a:solidFill>
                  <a:srgbClr val="1A1440"/>
                </a:solidFill>
                <a:latin typeface="Calibri"/>
              </a:rPr>
              <a:t>The captain of a side chasing a T20 total (invented), who can still change the batting order at over 11 and cannot change the scoreboard at over 20.</a:t>
            </a:r>
          </a:p>
        </p:txBody>
      </p:sp>
      <p:sp>
        <p:nvSpPr>
          <p:cNvPr id="13" name="Rectangle 12"/>
          <p:cNvSpPr/>
          <p:nvPr/>
        </p:nvSpPr>
        <p:spPr>
          <a:xfrm>
            <a:off x="1853145" y="4824984"/>
            <a:ext cx="8485403" cy="18288"/>
          </a:xfrm>
          <a:prstGeom prst="rect">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530352" y="4258055"/>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THE GOAL</a:t>
            </a:r>
          </a:p>
        </p:txBody>
      </p:sp>
      <p:sp>
        <p:nvSpPr>
          <p:cNvPr id="15" name="Oval 14"/>
          <p:cNvSpPr/>
          <p:nvPr/>
        </p:nvSpPr>
        <p:spPr>
          <a:xfrm>
            <a:off x="1752561" y="4733544"/>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ounded Rectangle 15"/>
          <p:cNvSpPr/>
          <p:nvPr/>
        </p:nvSpPr>
        <p:spPr>
          <a:xfrm>
            <a:off x="530352" y="5145024"/>
            <a:ext cx="2645587" cy="90424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694944" y="5291328"/>
            <a:ext cx="2316403" cy="251205"/>
          </a:xfrm>
          <a:prstGeom prst="rect">
            <a:avLst/>
          </a:prstGeom>
          <a:noFill/>
        </p:spPr>
        <p:txBody>
          <a:bodyPr wrap="square" anchor="t" lIns="0" rIns="0" tIns="0" bIns="0">
            <a:spAutoFit/>
          </a:bodyPr>
          <a:lstStyle/>
          <a:p>
            <a:pPr algn="l"/>
            <a:r>
              <a:rPr sz="1300" b="1" i="0">
                <a:solidFill>
                  <a:srgbClr val="1A0F5C"/>
                </a:solidFill>
                <a:latin typeface="Calibri"/>
              </a:rPr>
              <a:t>When is a chase lost?</a:t>
            </a:r>
          </a:p>
        </p:txBody>
      </p:sp>
      <p:sp>
        <p:nvSpPr>
          <p:cNvPr id="18" name="TextBox 17"/>
          <p:cNvSpPr txBox="1"/>
          <p:nvPr/>
        </p:nvSpPr>
        <p:spPr>
          <a:xfrm>
            <a:off x="694944" y="5579110"/>
            <a:ext cx="2316403" cy="201676"/>
          </a:xfrm>
          <a:prstGeom prst="rect">
            <a:avLst/>
          </a:prstGeom>
          <a:noFill/>
        </p:spPr>
        <p:txBody>
          <a:bodyPr wrap="square" anchor="t" lIns="0" rIns="0" tIns="0" bIns="0">
            <a:spAutoFit/>
          </a:bodyPr>
          <a:lstStyle/>
          <a:p>
            <a:pPr algn="l"/>
            <a:r>
              <a:rPr sz="1000" b="0" i="0">
                <a:solidFill>
                  <a:srgbClr val="6B6690"/>
                </a:solidFill>
                <a:latin typeface="Calibri"/>
              </a:rPr>
              <a:t>The final score against the target.</a:t>
            </a:r>
          </a:p>
        </p:txBody>
      </p:sp>
      <p:sp>
        <p:nvSpPr>
          <p:cNvPr id="19" name="TextBox 18"/>
          <p:cNvSpPr txBox="1"/>
          <p:nvPr/>
        </p:nvSpPr>
        <p:spPr>
          <a:xfrm>
            <a:off x="3358819" y="4258055"/>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THE WARNING</a:t>
            </a:r>
          </a:p>
        </p:txBody>
      </p:sp>
      <p:sp>
        <p:nvSpPr>
          <p:cNvPr id="20" name="Oval 19"/>
          <p:cNvSpPr/>
          <p:nvPr/>
        </p:nvSpPr>
        <p:spPr>
          <a:xfrm>
            <a:off x="4581029" y="4733544"/>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ounded Rectangle 20"/>
          <p:cNvSpPr/>
          <p:nvPr/>
        </p:nvSpPr>
        <p:spPr>
          <a:xfrm>
            <a:off x="3358819" y="5145024"/>
            <a:ext cx="2645587" cy="90424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3523411" y="5291328"/>
            <a:ext cx="2316403" cy="251205"/>
          </a:xfrm>
          <a:prstGeom prst="rect">
            <a:avLst/>
          </a:prstGeom>
          <a:noFill/>
        </p:spPr>
        <p:txBody>
          <a:bodyPr wrap="square" anchor="t" lIns="0" rIns="0" tIns="0" bIns="0">
            <a:spAutoFit/>
          </a:bodyPr>
          <a:lstStyle/>
          <a:p>
            <a:pPr algn="l"/>
            <a:r>
              <a:rPr sz="1300" b="1" i="0">
                <a:solidFill>
                  <a:srgbClr val="1A0F5C"/>
                </a:solidFill>
                <a:latin typeface="Calibri"/>
              </a:rPr>
              <a:t>Which number moves first?</a:t>
            </a:r>
          </a:p>
        </p:txBody>
      </p:sp>
      <p:sp>
        <p:nvSpPr>
          <p:cNvPr id="23" name="TextBox 22"/>
          <p:cNvSpPr txBox="1"/>
          <p:nvPr/>
        </p:nvSpPr>
        <p:spPr>
          <a:xfrm>
            <a:off x="3523411" y="5579110"/>
            <a:ext cx="2316403" cy="201676"/>
          </a:xfrm>
          <a:prstGeom prst="rect">
            <a:avLst/>
          </a:prstGeom>
          <a:noFill/>
        </p:spPr>
        <p:txBody>
          <a:bodyPr wrap="square" anchor="t" lIns="0" rIns="0" tIns="0" bIns="0">
            <a:spAutoFit/>
          </a:bodyPr>
          <a:lstStyle/>
          <a:p>
            <a:pPr algn="l"/>
            <a:r>
              <a:rPr sz="1000" b="0" i="0">
                <a:solidFill>
                  <a:srgbClr val="6B6690"/>
                </a:solidFill>
                <a:latin typeface="Calibri"/>
              </a:rPr>
              <a:t>The runs an over still needed.</a:t>
            </a:r>
          </a:p>
        </p:txBody>
      </p:sp>
      <p:sp>
        <p:nvSpPr>
          <p:cNvPr id="24" name="TextBox 23"/>
          <p:cNvSpPr txBox="1"/>
          <p:nvPr/>
        </p:nvSpPr>
        <p:spPr>
          <a:xfrm>
            <a:off x="6187287" y="4258055"/>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THE GUARD</a:t>
            </a:r>
          </a:p>
        </p:txBody>
      </p:sp>
      <p:sp>
        <p:nvSpPr>
          <p:cNvPr id="25" name="Oval 24"/>
          <p:cNvSpPr/>
          <p:nvPr/>
        </p:nvSpPr>
        <p:spPr>
          <a:xfrm>
            <a:off x="7409497" y="4733544"/>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ounded Rectangle 25"/>
          <p:cNvSpPr/>
          <p:nvPr/>
        </p:nvSpPr>
        <p:spPr>
          <a:xfrm>
            <a:off x="6187287" y="5145024"/>
            <a:ext cx="2645587" cy="90424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6351879" y="5291328"/>
            <a:ext cx="2316403" cy="251205"/>
          </a:xfrm>
          <a:prstGeom prst="rect">
            <a:avLst/>
          </a:prstGeom>
          <a:noFill/>
        </p:spPr>
        <p:txBody>
          <a:bodyPr wrap="square" anchor="t" lIns="0" rIns="0" tIns="0" bIns="0">
            <a:spAutoFit/>
          </a:bodyPr>
          <a:lstStyle/>
          <a:p>
            <a:pPr algn="l"/>
            <a:r>
              <a:rPr sz="1300" b="1" i="0">
                <a:solidFill>
                  <a:srgbClr val="1A0F5C"/>
                </a:solidFill>
                <a:latin typeface="Calibri"/>
              </a:rPr>
              <a:t>What is it read with?</a:t>
            </a:r>
          </a:p>
        </p:txBody>
      </p:sp>
      <p:sp>
        <p:nvSpPr>
          <p:cNvPr id="28" name="TextBox 27"/>
          <p:cNvSpPr txBox="1"/>
          <p:nvPr/>
        </p:nvSpPr>
        <p:spPr>
          <a:xfrm>
            <a:off x="6351879" y="5579110"/>
            <a:ext cx="2316403" cy="201676"/>
          </a:xfrm>
          <a:prstGeom prst="rect">
            <a:avLst/>
          </a:prstGeom>
          <a:noFill/>
        </p:spPr>
        <p:txBody>
          <a:bodyPr wrap="square" anchor="t" lIns="0" rIns="0" tIns="0" bIns="0">
            <a:spAutoFit/>
          </a:bodyPr>
          <a:lstStyle/>
          <a:p>
            <a:pPr algn="l"/>
            <a:r>
              <a:rPr sz="1000" b="0" i="0">
                <a:solidFill>
                  <a:srgbClr val="6B6690"/>
                </a:solidFill>
                <a:latin typeface="Calibri"/>
              </a:rPr>
              <a:t>The wickets still in hand.</a:t>
            </a:r>
          </a:p>
        </p:txBody>
      </p:sp>
      <p:sp>
        <p:nvSpPr>
          <p:cNvPr id="29" name="TextBox 28"/>
          <p:cNvSpPr txBox="1"/>
          <p:nvPr/>
        </p:nvSpPr>
        <p:spPr>
          <a:xfrm>
            <a:off x="9015755" y="4258055"/>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THE RECORD</a:t>
            </a:r>
          </a:p>
        </p:txBody>
      </p:sp>
      <p:sp>
        <p:nvSpPr>
          <p:cNvPr id="30" name="Oval 29"/>
          <p:cNvSpPr/>
          <p:nvPr/>
        </p:nvSpPr>
        <p:spPr>
          <a:xfrm>
            <a:off x="10237965" y="4733544"/>
            <a:ext cx="201168" cy="201168"/>
          </a:xfrm>
          <a:prstGeom prst="ellipse">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ounded Rectangle 30"/>
          <p:cNvSpPr/>
          <p:nvPr/>
        </p:nvSpPr>
        <p:spPr>
          <a:xfrm>
            <a:off x="9015755" y="5145024"/>
            <a:ext cx="2645587" cy="904240"/>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9180347" y="5291328"/>
            <a:ext cx="2316403" cy="251205"/>
          </a:xfrm>
          <a:prstGeom prst="rect">
            <a:avLst/>
          </a:prstGeom>
          <a:noFill/>
        </p:spPr>
        <p:txBody>
          <a:bodyPr wrap="square" anchor="t" lIns="0" rIns="0" tIns="0" bIns="0">
            <a:spAutoFit/>
          </a:bodyPr>
          <a:lstStyle/>
          <a:p>
            <a:pPr algn="l"/>
            <a:r>
              <a:rPr sz="1300" b="1" i="0">
                <a:solidFill>
                  <a:srgbClr val="FFFFFF"/>
                </a:solidFill>
                <a:latin typeface="Calibri"/>
              </a:rPr>
              <a:t>Which number confirms?</a:t>
            </a:r>
          </a:p>
        </p:txBody>
      </p:sp>
      <p:sp>
        <p:nvSpPr>
          <p:cNvPr id="33" name="TextBox 32"/>
          <p:cNvSpPr txBox="1"/>
          <p:nvPr/>
        </p:nvSpPr>
        <p:spPr>
          <a:xfrm>
            <a:off x="9180347" y="5579110"/>
            <a:ext cx="2316403" cy="201676"/>
          </a:xfrm>
          <a:prstGeom prst="rect">
            <a:avLst/>
          </a:prstGeom>
          <a:noFill/>
        </p:spPr>
        <p:txBody>
          <a:bodyPr wrap="square" anchor="t" lIns="0" rIns="0" tIns="0" bIns="0">
            <a:spAutoFit/>
          </a:bodyPr>
          <a:lstStyle/>
          <a:p>
            <a:pPr algn="l"/>
            <a:r>
              <a:rPr sz="1000" b="0" i="0">
                <a:solidFill>
                  <a:srgbClr val="CFC9EE"/>
                </a:solidFill>
                <a:latin typeface="Calibri"/>
              </a:rPr>
              <a:t>The margin, after the last ball.</a:t>
            </a:r>
          </a:p>
        </p:txBody>
      </p:sp>
      <p:sp>
        <p:nvSpPr>
          <p:cNvPr id="34" name="Oval 33"/>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640080"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What is a number for?</a:t>
            </a:r>
          </a:p>
        </p:txBody>
      </p:sp>
      <p:sp>
        <p:nvSpPr>
          <p:cNvPr id="36" name="Oval 35"/>
          <p:cNvSpPr/>
          <p:nvPr/>
        </p:nvSpPr>
        <p:spPr>
          <a:xfrm>
            <a:off x="197196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2081688"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Which number to chase?</a:t>
            </a:r>
          </a:p>
        </p:txBody>
      </p:sp>
      <p:sp>
        <p:nvSpPr>
          <p:cNvPr id="38" name="Oval 37"/>
          <p:cNvSpPr/>
          <p:nvPr/>
        </p:nvSpPr>
        <p:spPr>
          <a:xfrm>
            <a:off x="3459575"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3569303" y="6437376"/>
            <a:ext cx="1148429" cy="152146"/>
          </a:xfrm>
          <a:prstGeom prst="rect">
            <a:avLst/>
          </a:prstGeom>
          <a:noFill/>
        </p:spPr>
        <p:txBody>
          <a:bodyPr wrap="square" anchor="t" lIns="0" rIns="0" tIns="0" bIns="0">
            <a:spAutoFit/>
          </a:bodyPr>
          <a:lstStyle/>
          <a:p>
            <a:pPr algn="l"/>
            <a:r>
              <a:rPr sz="700" b="1" i="0">
                <a:solidFill>
                  <a:srgbClr val="5B3FD6"/>
                </a:solidFill>
                <a:latin typeface="Calibri"/>
              </a:rPr>
              <a:t>Which number warns?</a:t>
            </a:r>
          </a:p>
        </p:txBody>
      </p:sp>
      <p:sp>
        <p:nvSpPr>
          <p:cNvPr id="40" name="Oval 39"/>
          <p:cNvSpPr/>
          <p:nvPr/>
        </p:nvSpPr>
        <p:spPr>
          <a:xfrm>
            <a:off x="480917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4918900"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Which four lines?</a:t>
            </a:r>
          </a:p>
        </p:txBody>
      </p:sp>
      <p:sp>
        <p:nvSpPr>
          <p:cNvPr id="42" name="Oval 41"/>
          <p:cNvSpPr/>
          <p:nvPr/>
        </p:nvSpPr>
        <p:spPr>
          <a:xfrm>
            <a:off x="606675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TextBox 42"/>
          <p:cNvSpPr txBox="1"/>
          <p:nvPr/>
        </p:nvSpPr>
        <p:spPr>
          <a:xfrm>
            <a:off x="6176486"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How is a number gamed?</a:t>
            </a:r>
          </a:p>
        </p:txBody>
      </p:sp>
      <p:sp>
        <p:nvSpPr>
          <p:cNvPr id="44" name="Oval 43"/>
          <p:cNvSpPr/>
          <p:nvPr/>
        </p:nvSpPr>
        <p:spPr>
          <a:xfrm>
            <a:off x="755437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TextBox 44"/>
          <p:cNvSpPr txBox="1"/>
          <p:nvPr/>
        </p:nvSpPr>
        <p:spPr>
          <a:xfrm>
            <a:off x="766410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the page hold?</a:t>
            </a:r>
          </a:p>
        </p:txBody>
      </p:sp>
      <p:sp>
        <p:nvSpPr>
          <p:cNvPr id="46" name="Oval 45"/>
          <p:cNvSpPr/>
          <p:nvPr/>
        </p:nvSpPr>
        <p:spPr>
          <a:xfrm>
            <a:off x="91339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TextBox 46"/>
          <p:cNvSpPr txBox="1"/>
          <p:nvPr/>
        </p:nvSpPr>
        <p:spPr>
          <a:xfrm>
            <a:off x="9243726"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an hour count?</a:t>
            </a:r>
          </a:p>
        </p:txBody>
      </p:sp>
      <p:sp>
        <p:nvSpPr>
          <p:cNvPr id="48" name="TextBox 47"/>
          <p:cNvSpPr txBox="1"/>
          <p:nvPr/>
        </p:nvSpPr>
        <p:spPr>
          <a:xfrm>
            <a:off x="10713624" y="6437376"/>
            <a:ext cx="256032" cy="152146"/>
          </a:xfrm>
          <a:prstGeom prst="rect">
            <a:avLst/>
          </a:prstGeom>
          <a:noFill/>
        </p:spPr>
        <p:txBody>
          <a:bodyPr wrap="square" anchor="t" lIns="0" rIns="0" tIns="0" bIns="0">
            <a:spAutoFit/>
          </a:bodyPr>
          <a:lstStyle/>
          <a:p>
            <a:pPr algn="l"/>
            <a:r>
              <a:rPr sz="700" b="0" i="0">
                <a:solidFill>
                  <a:srgbClr val="6B6690"/>
                </a:solidFill>
                <a:latin typeface="Calibri"/>
              </a:rPr>
              <a:t>…</a:t>
            </a:r>
          </a:p>
        </p:txBody>
      </p:sp>
      <p:sp>
        <p:nvSpPr>
          <p:cNvPr id="49" name="TextBox 48"/>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S22  ·  25 / 93</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MONDAY  ·  BUSINESS METRIC DESIGN  ·  UBER, HYDERABAD</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When does the chase first need 10 an over?</a:t>
            </a:r>
          </a:p>
        </p:txBody>
      </p:sp>
      <p:sp>
        <p:nvSpPr>
          <p:cNvPr id="8" name="TextBox 7"/>
          <p:cNvSpPr txBox="1"/>
          <p:nvPr/>
        </p:nvSpPr>
        <p:spPr>
          <a:xfrm>
            <a:off x="530352" y="1243584"/>
            <a:ext cx="11130991" cy="399796"/>
          </a:xfrm>
          <a:prstGeom prst="rect">
            <a:avLst/>
          </a:prstGeom>
          <a:noFill/>
        </p:spPr>
        <p:txBody>
          <a:bodyPr wrap="square" anchor="t" lIns="0" rIns="0" tIns="0" bIns="0">
            <a:spAutoFit/>
          </a:bodyPr>
          <a:lstStyle/>
          <a:p>
            <a:pPr algn="l"/>
            <a:r>
              <a:rPr sz="1100" b="0" i="0">
                <a:solidFill>
                  <a:srgbClr val="6B6690"/>
                </a:solidFill>
                <a:latin typeface="Calibri"/>
              </a:rPr>
              <a:t>The other side made 159, so 160 wins in 20 overs (invented); after 10 overs at six an over the chase is 60 for 3. When does the runs-an-over needed first reach 10?</a:t>
            </a:r>
          </a:p>
        </p:txBody>
      </p:sp>
      <p:sp>
        <p:nvSpPr>
          <p:cNvPr id="9" name="Rounded Rectangle 8"/>
          <p:cNvSpPr/>
          <p:nvPr/>
        </p:nvSpPr>
        <p:spPr>
          <a:xfrm>
            <a:off x="530352" y="1956816"/>
            <a:ext cx="2645587" cy="1774444"/>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731519"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1" name="Picture 10" descr="list_637b34e7c72a.png"/>
          <p:cNvPicPr>
            <a:picLocks noChangeAspect="1"/>
          </p:cNvPicPr>
          <p:nvPr/>
        </p:nvPicPr>
        <p:blipFill>
          <a:blip r:embed="rId4"/>
          <a:stretch>
            <a:fillRect/>
          </a:stretch>
        </p:blipFill>
        <p:spPr>
          <a:xfrm>
            <a:off x="841247" y="2267712"/>
            <a:ext cx="237744" cy="237744"/>
          </a:xfrm>
          <a:prstGeom prst="rect">
            <a:avLst/>
          </a:prstGeom>
        </p:spPr>
      </p:pic>
      <p:sp>
        <p:nvSpPr>
          <p:cNvPr id="12" name="TextBox 11"/>
          <p:cNvSpPr txBox="1"/>
          <p:nvPr/>
        </p:nvSpPr>
        <p:spPr>
          <a:xfrm>
            <a:off x="731519" y="2724912"/>
            <a:ext cx="2243251" cy="160401"/>
          </a:xfrm>
          <a:prstGeom prst="rect">
            <a:avLst/>
          </a:prstGeom>
          <a:noFill/>
        </p:spPr>
        <p:txBody>
          <a:bodyPr wrap="square" anchor="t" lIns="0" rIns="0" tIns="0" bIns="0">
            <a:spAutoFit/>
          </a:bodyPr>
          <a:lstStyle/>
          <a:p>
            <a:pPr algn="l"/>
            <a:r>
              <a:rPr sz="750" b="1" i="0" spc="250">
                <a:solidFill>
                  <a:srgbClr val="5B3FD6"/>
                </a:solidFill>
                <a:latin typeface="Calibri"/>
              </a:rPr>
              <a:t>A</a:t>
            </a:r>
          </a:p>
        </p:txBody>
      </p:sp>
      <p:sp>
        <p:nvSpPr>
          <p:cNvPr id="13" name="TextBox 12"/>
          <p:cNvSpPr txBox="1"/>
          <p:nvPr/>
        </p:nvSpPr>
        <p:spPr>
          <a:xfrm>
            <a:off x="731519" y="2962656"/>
            <a:ext cx="2243251" cy="267716"/>
          </a:xfrm>
          <a:prstGeom prst="rect">
            <a:avLst/>
          </a:prstGeom>
          <a:noFill/>
        </p:spPr>
        <p:txBody>
          <a:bodyPr wrap="square" anchor="t" lIns="0" rIns="0" tIns="0" bIns="0">
            <a:spAutoFit/>
          </a:bodyPr>
          <a:lstStyle/>
          <a:p>
            <a:pPr algn="l"/>
            <a:r>
              <a:rPr sz="1400" b="1" i="0">
                <a:solidFill>
                  <a:srgbClr val="1A0F5C"/>
                </a:solidFill>
                <a:latin typeface="Calibri"/>
              </a:rPr>
              <a:t>After over 5</a:t>
            </a:r>
          </a:p>
        </p:txBody>
      </p:sp>
      <p:sp>
        <p:nvSpPr>
          <p:cNvPr id="14" name="TextBox 13"/>
          <p:cNvSpPr txBox="1"/>
          <p:nvPr/>
        </p:nvSpPr>
        <p:spPr>
          <a:xfrm>
            <a:off x="731519" y="3303524"/>
            <a:ext cx="2243251" cy="218186"/>
          </a:xfrm>
          <a:prstGeom prst="rect">
            <a:avLst/>
          </a:prstGeom>
          <a:noFill/>
        </p:spPr>
        <p:txBody>
          <a:bodyPr wrap="square" anchor="t" lIns="0" rIns="0" tIns="0" bIns="0">
            <a:spAutoFit/>
          </a:bodyPr>
          <a:lstStyle/>
          <a:p>
            <a:pPr algn="l"/>
            <a:r>
              <a:rPr sz="1100" b="0" i="0">
                <a:solidFill>
                  <a:srgbClr val="6B6690"/>
                </a:solidFill>
                <a:latin typeface="Calibri"/>
              </a:rPr>
              <a:t>A third of the way in.</a:t>
            </a:r>
          </a:p>
        </p:txBody>
      </p:sp>
      <p:sp>
        <p:nvSpPr>
          <p:cNvPr id="15" name="Rounded Rectangle 14"/>
          <p:cNvSpPr/>
          <p:nvPr/>
        </p:nvSpPr>
        <p:spPr>
          <a:xfrm>
            <a:off x="3358819" y="1956816"/>
            <a:ext cx="2645587" cy="1774444"/>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Oval 15"/>
          <p:cNvSpPr/>
          <p:nvPr/>
        </p:nvSpPr>
        <p:spPr>
          <a:xfrm>
            <a:off x="3559987"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7" name="Picture 16" descr="list_637b34e7c72a.png"/>
          <p:cNvPicPr>
            <a:picLocks noChangeAspect="1"/>
          </p:cNvPicPr>
          <p:nvPr/>
        </p:nvPicPr>
        <p:blipFill>
          <a:blip r:embed="rId4"/>
          <a:stretch>
            <a:fillRect/>
          </a:stretch>
        </p:blipFill>
        <p:spPr>
          <a:xfrm>
            <a:off x="3669715" y="2267712"/>
            <a:ext cx="237744" cy="237744"/>
          </a:xfrm>
          <a:prstGeom prst="rect">
            <a:avLst/>
          </a:prstGeom>
        </p:spPr>
      </p:pic>
      <p:sp>
        <p:nvSpPr>
          <p:cNvPr id="18" name="TextBox 17"/>
          <p:cNvSpPr txBox="1"/>
          <p:nvPr/>
        </p:nvSpPr>
        <p:spPr>
          <a:xfrm>
            <a:off x="3559987" y="2724912"/>
            <a:ext cx="2243251" cy="160401"/>
          </a:xfrm>
          <a:prstGeom prst="rect">
            <a:avLst/>
          </a:prstGeom>
          <a:noFill/>
        </p:spPr>
        <p:txBody>
          <a:bodyPr wrap="square" anchor="t" lIns="0" rIns="0" tIns="0" bIns="0">
            <a:spAutoFit/>
          </a:bodyPr>
          <a:lstStyle/>
          <a:p>
            <a:pPr algn="l"/>
            <a:r>
              <a:rPr sz="750" b="1" i="0" spc="250">
                <a:solidFill>
                  <a:srgbClr val="5B3FD6"/>
                </a:solidFill>
                <a:latin typeface="Calibri"/>
              </a:rPr>
              <a:t>B</a:t>
            </a:r>
          </a:p>
        </p:txBody>
      </p:sp>
      <p:sp>
        <p:nvSpPr>
          <p:cNvPr id="19" name="TextBox 18"/>
          <p:cNvSpPr txBox="1"/>
          <p:nvPr/>
        </p:nvSpPr>
        <p:spPr>
          <a:xfrm>
            <a:off x="3559987" y="2962656"/>
            <a:ext cx="2243251" cy="267716"/>
          </a:xfrm>
          <a:prstGeom prst="rect">
            <a:avLst/>
          </a:prstGeom>
          <a:noFill/>
        </p:spPr>
        <p:txBody>
          <a:bodyPr wrap="square" anchor="t" lIns="0" rIns="0" tIns="0" bIns="0">
            <a:spAutoFit/>
          </a:bodyPr>
          <a:lstStyle/>
          <a:p>
            <a:pPr algn="l"/>
            <a:r>
              <a:rPr sz="1400" b="1" i="0">
                <a:solidFill>
                  <a:srgbClr val="1A0F5C"/>
                </a:solidFill>
                <a:latin typeface="Calibri"/>
              </a:rPr>
              <a:t>After over 10</a:t>
            </a:r>
          </a:p>
        </p:txBody>
      </p:sp>
      <p:sp>
        <p:nvSpPr>
          <p:cNvPr id="20" name="TextBox 19"/>
          <p:cNvSpPr txBox="1"/>
          <p:nvPr/>
        </p:nvSpPr>
        <p:spPr>
          <a:xfrm>
            <a:off x="3559987" y="3303524"/>
            <a:ext cx="2243251" cy="218186"/>
          </a:xfrm>
          <a:prstGeom prst="rect">
            <a:avLst/>
          </a:prstGeom>
          <a:noFill/>
        </p:spPr>
        <p:txBody>
          <a:bodyPr wrap="square" anchor="t" lIns="0" rIns="0" tIns="0" bIns="0">
            <a:spAutoFit/>
          </a:bodyPr>
          <a:lstStyle/>
          <a:p>
            <a:pPr algn="l"/>
            <a:r>
              <a:rPr sz="1100" b="0" i="0">
                <a:solidFill>
                  <a:srgbClr val="6B6690"/>
                </a:solidFill>
                <a:latin typeface="Calibri"/>
              </a:rPr>
              <a:t>Halfway, at 60 for 3.</a:t>
            </a:r>
          </a:p>
        </p:txBody>
      </p:sp>
      <p:sp>
        <p:nvSpPr>
          <p:cNvPr id="21" name="Rounded Rectangle 20"/>
          <p:cNvSpPr/>
          <p:nvPr/>
        </p:nvSpPr>
        <p:spPr>
          <a:xfrm>
            <a:off x="6187287" y="1956816"/>
            <a:ext cx="2645587" cy="1774444"/>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Oval 21"/>
          <p:cNvSpPr/>
          <p:nvPr/>
        </p:nvSpPr>
        <p:spPr>
          <a:xfrm>
            <a:off x="6388455"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3" name="Picture 22" descr="list_637b34e7c72a.png"/>
          <p:cNvPicPr>
            <a:picLocks noChangeAspect="1"/>
          </p:cNvPicPr>
          <p:nvPr/>
        </p:nvPicPr>
        <p:blipFill>
          <a:blip r:embed="rId4"/>
          <a:stretch>
            <a:fillRect/>
          </a:stretch>
        </p:blipFill>
        <p:spPr>
          <a:xfrm>
            <a:off x="6498183" y="2267712"/>
            <a:ext cx="237744" cy="237744"/>
          </a:xfrm>
          <a:prstGeom prst="rect">
            <a:avLst/>
          </a:prstGeom>
        </p:spPr>
      </p:pic>
      <p:sp>
        <p:nvSpPr>
          <p:cNvPr id="24" name="TextBox 23"/>
          <p:cNvSpPr txBox="1"/>
          <p:nvPr/>
        </p:nvSpPr>
        <p:spPr>
          <a:xfrm>
            <a:off x="6388455" y="2724912"/>
            <a:ext cx="2243251" cy="160401"/>
          </a:xfrm>
          <a:prstGeom prst="rect">
            <a:avLst/>
          </a:prstGeom>
          <a:noFill/>
        </p:spPr>
        <p:txBody>
          <a:bodyPr wrap="square" anchor="t" lIns="0" rIns="0" tIns="0" bIns="0">
            <a:spAutoFit/>
          </a:bodyPr>
          <a:lstStyle/>
          <a:p>
            <a:pPr algn="l"/>
            <a:r>
              <a:rPr sz="750" b="1" i="0" spc="250">
                <a:solidFill>
                  <a:srgbClr val="5B3FD6"/>
                </a:solidFill>
                <a:latin typeface="Calibri"/>
              </a:rPr>
              <a:t>C</a:t>
            </a:r>
          </a:p>
        </p:txBody>
      </p:sp>
      <p:sp>
        <p:nvSpPr>
          <p:cNvPr id="25" name="TextBox 24"/>
          <p:cNvSpPr txBox="1"/>
          <p:nvPr/>
        </p:nvSpPr>
        <p:spPr>
          <a:xfrm>
            <a:off x="6388455" y="2962656"/>
            <a:ext cx="2243251" cy="267716"/>
          </a:xfrm>
          <a:prstGeom prst="rect">
            <a:avLst/>
          </a:prstGeom>
          <a:noFill/>
        </p:spPr>
        <p:txBody>
          <a:bodyPr wrap="square" anchor="t" lIns="0" rIns="0" tIns="0" bIns="0">
            <a:spAutoFit/>
          </a:bodyPr>
          <a:lstStyle/>
          <a:p>
            <a:pPr algn="l"/>
            <a:r>
              <a:rPr sz="1400" b="1" i="0">
                <a:solidFill>
                  <a:srgbClr val="1A0F5C"/>
                </a:solidFill>
                <a:latin typeface="Calibri"/>
              </a:rPr>
              <a:t>After over 15</a:t>
            </a:r>
          </a:p>
        </p:txBody>
      </p:sp>
      <p:sp>
        <p:nvSpPr>
          <p:cNvPr id="26" name="TextBox 25"/>
          <p:cNvSpPr txBox="1"/>
          <p:nvPr/>
        </p:nvSpPr>
        <p:spPr>
          <a:xfrm>
            <a:off x="6388455" y="3303524"/>
            <a:ext cx="2243251" cy="218186"/>
          </a:xfrm>
          <a:prstGeom prst="rect">
            <a:avLst/>
          </a:prstGeom>
          <a:noFill/>
        </p:spPr>
        <p:txBody>
          <a:bodyPr wrap="square" anchor="t" lIns="0" rIns="0" tIns="0" bIns="0">
            <a:spAutoFit/>
          </a:bodyPr>
          <a:lstStyle/>
          <a:p>
            <a:pPr algn="l"/>
            <a:r>
              <a:rPr sz="1100" b="0" i="0">
                <a:solidFill>
                  <a:srgbClr val="6B6690"/>
                </a:solidFill>
                <a:latin typeface="Calibri"/>
              </a:rPr>
              <a:t>Five overs from the end.</a:t>
            </a:r>
          </a:p>
        </p:txBody>
      </p:sp>
      <p:sp>
        <p:nvSpPr>
          <p:cNvPr id="27" name="Rounded Rectangle 26"/>
          <p:cNvSpPr/>
          <p:nvPr/>
        </p:nvSpPr>
        <p:spPr>
          <a:xfrm>
            <a:off x="9015755" y="1956816"/>
            <a:ext cx="2645587" cy="1774444"/>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Oval 27"/>
          <p:cNvSpPr/>
          <p:nvPr/>
        </p:nvSpPr>
        <p:spPr>
          <a:xfrm>
            <a:off x="9216923"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9" name="Picture 28" descr="list_637b34e7c72a.png"/>
          <p:cNvPicPr>
            <a:picLocks noChangeAspect="1"/>
          </p:cNvPicPr>
          <p:nvPr/>
        </p:nvPicPr>
        <p:blipFill>
          <a:blip r:embed="rId4"/>
          <a:stretch>
            <a:fillRect/>
          </a:stretch>
        </p:blipFill>
        <p:spPr>
          <a:xfrm>
            <a:off x="9326651" y="2267712"/>
            <a:ext cx="237744" cy="237744"/>
          </a:xfrm>
          <a:prstGeom prst="rect">
            <a:avLst/>
          </a:prstGeom>
        </p:spPr>
      </p:pic>
      <p:sp>
        <p:nvSpPr>
          <p:cNvPr id="30" name="TextBox 29"/>
          <p:cNvSpPr txBox="1"/>
          <p:nvPr/>
        </p:nvSpPr>
        <p:spPr>
          <a:xfrm>
            <a:off x="9216923" y="2724912"/>
            <a:ext cx="2243251" cy="160401"/>
          </a:xfrm>
          <a:prstGeom prst="rect">
            <a:avLst/>
          </a:prstGeom>
          <a:noFill/>
        </p:spPr>
        <p:txBody>
          <a:bodyPr wrap="square" anchor="t" lIns="0" rIns="0" tIns="0" bIns="0">
            <a:spAutoFit/>
          </a:bodyPr>
          <a:lstStyle/>
          <a:p>
            <a:pPr algn="l"/>
            <a:r>
              <a:rPr sz="750" b="1" i="0" spc="250">
                <a:solidFill>
                  <a:srgbClr val="5B3FD6"/>
                </a:solidFill>
                <a:latin typeface="Calibri"/>
              </a:rPr>
              <a:t>D</a:t>
            </a:r>
          </a:p>
        </p:txBody>
      </p:sp>
      <p:sp>
        <p:nvSpPr>
          <p:cNvPr id="31" name="TextBox 30"/>
          <p:cNvSpPr txBox="1"/>
          <p:nvPr/>
        </p:nvSpPr>
        <p:spPr>
          <a:xfrm>
            <a:off x="9216923" y="2962656"/>
            <a:ext cx="2243251" cy="267716"/>
          </a:xfrm>
          <a:prstGeom prst="rect">
            <a:avLst/>
          </a:prstGeom>
          <a:noFill/>
        </p:spPr>
        <p:txBody>
          <a:bodyPr wrap="square" anchor="t" lIns="0" rIns="0" tIns="0" bIns="0">
            <a:spAutoFit/>
          </a:bodyPr>
          <a:lstStyle/>
          <a:p>
            <a:pPr algn="l"/>
            <a:r>
              <a:rPr sz="1400" b="1" i="0">
                <a:solidFill>
                  <a:srgbClr val="1A0F5C"/>
                </a:solidFill>
                <a:latin typeface="Calibri"/>
              </a:rPr>
              <a:t>Only at the end</a:t>
            </a:r>
          </a:p>
        </p:txBody>
      </p:sp>
      <p:sp>
        <p:nvSpPr>
          <p:cNvPr id="32" name="TextBox 31"/>
          <p:cNvSpPr txBox="1"/>
          <p:nvPr/>
        </p:nvSpPr>
        <p:spPr>
          <a:xfrm>
            <a:off x="9216923" y="3303524"/>
            <a:ext cx="2243251" cy="218186"/>
          </a:xfrm>
          <a:prstGeom prst="rect">
            <a:avLst/>
          </a:prstGeom>
          <a:noFill/>
        </p:spPr>
        <p:txBody>
          <a:bodyPr wrap="square" anchor="t" lIns="0" rIns="0" tIns="0" bIns="0">
            <a:spAutoFit/>
          </a:bodyPr>
          <a:lstStyle/>
          <a:p>
            <a:pPr algn="l"/>
            <a:r>
              <a:rPr sz="1100" b="0" i="0">
                <a:solidFill>
                  <a:srgbClr val="6B6690"/>
                </a:solidFill>
                <a:latin typeface="Calibri"/>
              </a:rPr>
              <a:t>When the last ball is bowled.</a:t>
            </a:r>
          </a:p>
        </p:txBody>
      </p:sp>
      <p:sp>
        <p:nvSpPr>
          <p:cNvPr id="33" name="Oval 32"/>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640080"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What is a number for?</a:t>
            </a:r>
          </a:p>
        </p:txBody>
      </p:sp>
      <p:sp>
        <p:nvSpPr>
          <p:cNvPr id="35" name="Oval 34"/>
          <p:cNvSpPr/>
          <p:nvPr/>
        </p:nvSpPr>
        <p:spPr>
          <a:xfrm>
            <a:off x="197196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2081688"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Which number to chase?</a:t>
            </a:r>
          </a:p>
        </p:txBody>
      </p:sp>
      <p:sp>
        <p:nvSpPr>
          <p:cNvPr id="37" name="Oval 36"/>
          <p:cNvSpPr/>
          <p:nvPr/>
        </p:nvSpPr>
        <p:spPr>
          <a:xfrm>
            <a:off x="3459575"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3569303" y="6437376"/>
            <a:ext cx="1148429" cy="152146"/>
          </a:xfrm>
          <a:prstGeom prst="rect">
            <a:avLst/>
          </a:prstGeom>
          <a:noFill/>
        </p:spPr>
        <p:txBody>
          <a:bodyPr wrap="square" anchor="t" lIns="0" rIns="0" tIns="0" bIns="0">
            <a:spAutoFit/>
          </a:bodyPr>
          <a:lstStyle/>
          <a:p>
            <a:pPr algn="l"/>
            <a:r>
              <a:rPr sz="700" b="1" i="0">
                <a:solidFill>
                  <a:srgbClr val="5B3FD6"/>
                </a:solidFill>
                <a:latin typeface="Calibri"/>
              </a:rPr>
              <a:t>Which number warns?</a:t>
            </a:r>
          </a:p>
        </p:txBody>
      </p:sp>
      <p:sp>
        <p:nvSpPr>
          <p:cNvPr id="39" name="Oval 38"/>
          <p:cNvSpPr/>
          <p:nvPr/>
        </p:nvSpPr>
        <p:spPr>
          <a:xfrm>
            <a:off x="480917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4918900"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Which four lines?</a:t>
            </a:r>
          </a:p>
        </p:txBody>
      </p:sp>
      <p:sp>
        <p:nvSpPr>
          <p:cNvPr id="41" name="Oval 40"/>
          <p:cNvSpPr/>
          <p:nvPr/>
        </p:nvSpPr>
        <p:spPr>
          <a:xfrm>
            <a:off x="606675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6176486"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How is a number gamed?</a:t>
            </a:r>
          </a:p>
        </p:txBody>
      </p:sp>
      <p:sp>
        <p:nvSpPr>
          <p:cNvPr id="43" name="Oval 42"/>
          <p:cNvSpPr/>
          <p:nvPr/>
        </p:nvSpPr>
        <p:spPr>
          <a:xfrm>
            <a:off x="755437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766410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the page hold?</a:t>
            </a:r>
          </a:p>
        </p:txBody>
      </p:sp>
      <p:sp>
        <p:nvSpPr>
          <p:cNvPr id="45" name="Oval 44"/>
          <p:cNvSpPr/>
          <p:nvPr/>
        </p:nvSpPr>
        <p:spPr>
          <a:xfrm>
            <a:off x="91339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TextBox 45"/>
          <p:cNvSpPr txBox="1"/>
          <p:nvPr/>
        </p:nvSpPr>
        <p:spPr>
          <a:xfrm>
            <a:off x="9243726"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an hour count?</a:t>
            </a:r>
          </a:p>
        </p:txBody>
      </p:sp>
      <p:sp>
        <p:nvSpPr>
          <p:cNvPr id="47" name="TextBox 46"/>
          <p:cNvSpPr txBox="1"/>
          <p:nvPr/>
        </p:nvSpPr>
        <p:spPr>
          <a:xfrm>
            <a:off x="10713624" y="6437376"/>
            <a:ext cx="256032" cy="152146"/>
          </a:xfrm>
          <a:prstGeom prst="rect">
            <a:avLst/>
          </a:prstGeom>
          <a:noFill/>
        </p:spPr>
        <p:txBody>
          <a:bodyPr wrap="square" anchor="t" lIns="0" rIns="0" tIns="0" bIns="0">
            <a:spAutoFit/>
          </a:bodyPr>
          <a:lstStyle/>
          <a:p>
            <a:pPr algn="l"/>
            <a:r>
              <a:rPr sz="700" b="0" i="0">
                <a:solidFill>
                  <a:srgbClr val="6B6690"/>
                </a:solidFill>
                <a:latin typeface="Calibri"/>
              </a:rPr>
              <a:t>…</a:t>
            </a:r>
          </a:p>
        </p:txBody>
      </p:sp>
      <p:sp>
        <p:nvSpPr>
          <p:cNvPr id="48" name="TextBox 47"/>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S23  ·  26 / 93</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MONDAY  ·  BUSINESS METRIC DESIGN  ·  UBER, HYDERABAD</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Answer: b, 10.0 an over after over 10</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How is the runs-an-over needed counted, and when does the result arrive?</a:t>
            </a:r>
          </a:p>
        </p:txBody>
      </p:sp>
      <p:graphicFrame>
        <p:nvGraphicFramePr>
          <p:cNvPr id="9" name="Table 8"/>
          <p:cNvGraphicFramePr>
            <a:graphicFrameLocks noGrp="1"/>
          </p:cNvGraphicFramePr>
          <p:nvPr/>
        </p:nvGraphicFramePr>
        <p:xfrm>
          <a:off x="530352" y="1956816"/>
          <a:ext cx="11130988" cy="2011680"/>
        </p:xfrm>
        <a:graphic>
          <a:graphicData uri="http://schemas.openxmlformats.org/drawingml/2006/table">
            <a:tbl>
              <a:tblPr firstRow="0" bandRow="0">
                <a:tableStyleId>{2D5ABB26-0587-4C30-8999-92F81FD0307C}</a:tableStyleId>
              </a:tblPr>
              <a:tblGrid>
                <a:gridCol w="1867241"/>
                <a:gridCol w="2016807"/>
                <a:gridCol w="2914197"/>
                <a:gridCol w="1867241"/>
                <a:gridCol w="2465502"/>
              </a:tblGrid>
              <a:tr h="335280">
                <a:tc>
                  <a:txBody>
                    <a:bodyPr/>
                    <a:lstStyle/>
                    <a:p>
                      <a:r>
                        <a:rPr sz="1250" b="1" i="0">
                          <a:solidFill>
                            <a:srgbClr val="FFFFFF"/>
                          </a:solidFill>
                          <a:latin typeface="Calibri"/>
                        </a:rPr>
                        <a:t>After over</a:t>
                      </a:r>
                    </a:p>
                  </a:txBody>
                  <a:tcPr marL="101600" marR="101600" marT="38100" marB="38100" anchor="ctr">
                    <a:solidFill>
                      <a:srgbClr val="1A0F5C"/>
                    </a:solidFill>
                  </a:tcPr>
                </a:tc>
                <a:tc>
                  <a:txBody>
                    <a:bodyPr/>
                    <a:lstStyle/>
                    <a:p>
                      <a:r>
                        <a:rPr sz="1250" b="1" i="0">
                          <a:solidFill>
                            <a:srgbClr val="FFFFFF"/>
                          </a:solidFill>
                          <a:latin typeface="Calibri"/>
                        </a:rPr>
                        <a:t>Runs so far</a:t>
                      </a:r>
                    </a:p>
                  </a:txBody>
                  <a:tcPr marL="101600" marR="101600" marT="38100" marB="38100" anchor="ctr">
                    <a:solidFill>
                      <a:srgbClr val="1A0F5C"/>
                    </a:solidFill>
                  </a:tcPr>
                </a:tc>
                <a:tc>
                  <a:txBody>
                    <a:bodyPr/>
                    <a:lstStyle/>
                    <a:p>
                      <a:r>
                        <a:rPr sz="1250" b="1" i="0">
                          <a:solidFill>
                            <a:srgbClr val="FFFFFF"/>
                          </a:solidFill>
                          <a:latin typeface="Calibri"/>
                        </a:rPr>
                        <a:t>Runs still needed</a:t>
                      </a:r>
                    </a:p>
                  </a:txBody>
                  <a:tcPr marL="101600" marR="101600" marT="38100" marB="38100" anchor="ctr">
                    <a:solidFill>
                      <a:srgbClr val="1A0F5C"/>
                    </a:solidFill>
                  </a:tcPr>
                </a:tc>
                <a:tc>
                  <a:txBody>
                    <a:bodyPr/>
                    <a:lstStyle/>
                    <a:p>
                      <a:r>
                        <a:rPr sz="1250" b="1" i="0">
                          <a:solidFill>
                            <a:srgbClr val="FFFFFF"/>
                          </a:solidFill>
                          <a:latin typeface="Calibri"/>
                        </a:rPr>
                        <a:t>Overs left</a:t>
                      </a:r>
                    </a:p>
                  </a:txBody>
                  <a:tcPr marL="101600" marR="101600" marT="38100" marB="38100" anchor="ctr">
                    <a:solidFill>
                      <a:srgbClr val="1A0F5C"/>
                    </a:solidFill>
                  </a:tcPr>
                </a:tc>
                <a:tc>
                  <a:txBody>
                    <a:bodyPr/>
                    <a:lstStyle/>
                    <a:p>
                      <a:r>
                        <a:rPr sz="1250" b="1" i="0">
                          <a:solidFill>
                            <a:srgbClr val="FFFFFF"/>
                          </a:solidFill>
                          <a:latin typeface="Calibri"/>
                        </a:rPr>
                        <a:t>Needed an over</a:t>
                      </a:r>
                    </a:p>
                  </a:txBody>
                  <a:tcPr marL="101600" marR="101600" marT="38100" marB="38100" anchor="ctr">
                    <a:solidFill>
                      <a:srgbClr val="1A0F5C"/>
                    </a:solidFill>
                  </a:tcPr>
                </a:tc>
              </a:tr>
              <a:tr h="335280">
                <a:tc>
                  <a:txBody>
                    <a:bodyPr/>
                    <a:lstStyle/>
                    <a:p>
                      <a:r>
                        <a:rPr sz="1200" b="0" i="0">
                          <a:solidFill>
                            <a:srgbClr val="1A1440"/>
                          </a:solidFill>
                          <a:latin typeface="Calibri"/>
                        </a:rPr>
                        <a:t>0</a:t>
                      </a:r>
                    </a:p>
                  </a:txBody>
                  <a:tcPr marL="101600" marR="101600" marT="38100" marB="38100" anchor="ctr">
                    <a:solidFill>
                      <a:srgbClr val="FFFFFF"/>
                    </a:solidFill>
                  </a:tcPr>
                </a:tc>
                <a:tc>
                  <a:txBody>
                    <a:bodyPr/>
                    <a:lstStyle/>
                    <a:p>
                      <a:r>
                        <a:rPr sz="1200" b="0" i="0">
                          <a:solidFill>
                            <a:srgbClr val="1A1440"/>
                          </a:solidFill>
                          <a:latin typeface="Calibri"/>
                        </a:rPr>
                        <a:t>0</a:t>
                      </a:r>
                    </a:p>
                  </a:txBody>
                  <a:tcPr marL="101600" marR="101600" marT="38100" marB="38100" anchor="ctr">
                    <a:solidFill>
                      <a:srgbClr val="FFFFFF"/>
                    </a:solidFill>
                  </a:tcPr>
                </a:tc>
                <a:tc>
                  <a:txBody>
                    <a:bodyPr/>
                    <a:lstStyle/>
                    <a:p>
                      <a:r>
                        <a:rPr sz="1200" b="0" i="0">
                          <a:solidFill>
                            <a:srgbClr val="1A1440"/>
                          </a:solidFill>
                          <a:latin typeface="Calibri"/>
                        </a:rPr>
                        <a:t>160</a:t>
                      </a:r>
                    </a:p>
                  </a:txBody>
                  <a:tcPr marL="101600" marR="101600" marT="38100" marB="38100" anchor="ctr">
                    <a:solidFill>
                      <a:srgbClr val="FFFFFF"/>
                    </a:solidFill>
                  </a:tcPr>
                </a:tc>
                <a:tc>
                  <a:txBody>
                    <a:bodyPr/>
                    <a:lstStyle/>
                    <a:p>
                      <a:r>
                        <a:rPr sz="1200" b="0" i="0">
                          <a:solidFill>
                            <a:srgbClr val="1A1440"/>
                          </a:solidFill>
                          <a:latin typeface="Calibri"/>
                        </a:rPr>
                        <a:t>20</a:t>
                      </a:r>
                    </a:p>
                  </a:txBody>
                  <a:tcPr marL="101600" marR="101600" marT="38100" marB="38100" anchor="ctr">
                    <a:solidFill>
                      <a:srgbClr val="FFFFFF"/>
                    </a:solidFill>
                  </a:tcPr>
                </a:tc>
                <a:tc>
                  <a:txBody>
                    <a:bodyPr/>
                    <a:lstStyle/>
                    <a:p>
                      <a:r>
                        <a:rPr sz="1200" b="0" i="0">
                          <a:solidFill>
                            <a:srgbClr val="1A1440"/>
                          </a:solidFill>
                          <a:latin typeface="Calibri"/>
                        </a:rPr>
                        <a:t>160 / 20 = 8.0</a:t>
                      </a:r>
                    </a:p>
                  </a:txBody>
                  <a:tcPr marL="101600" marR="101600" marT="38100" marB="38100" anchor="ctr">
                    <a:solidFill>
                      <a:srgbClr val="FFFFFF"/>
                    </a:solidFill>
                  </a:tcPr>
                </a:tc>
              </a:tr>
              <a:tr h="335280">
                <a:tc>
                  <a:txBody>
                    <a:bodyPr/>
                    <a:lstStyle/>
                    <a:p>
                      <a:r>
                        <a:rPr sz="1200" b="0" i="0">
                          <a:solidFill>
                            <a:srgbClr val="1A1440"/>
                          </a:solidFill>
                          <a:latin typeface="Calibri"/>
                        </a:rPr>
                        <a:t>5</a:t>
                      </a:r>
                    </a:p>
                  </a:txBody>
                  <a:tcPr marL="101600" marR="101600" marT="38100" marB="38100" anchor="ctr">
                    <a:solidFill>
                      <a:srgbClr val="F4F2FA"/>
                    </a:solidFill>
                  </a:tcPr>
                </a:tc>
                <a:tc>
                  <a:txBody>
                    <a:bodyPr/>
                    <a:lstStyle/>
                    <a:p>
                      <a:r>
                        <a:rPr sz="1200" b="0" i="0">
                          <a:solidFill>
                            <a:srgbClr val="1A1440"/>
                          </a:solidFill>
                          <a:latin typeface="Calibri"/>
                        </a:rPr>
                        <a:t>30</a:t>
                      </a:r>
                    </a:p>
                  </a:txBody>
                  <a:tcPr marL="101600" marR="101600" marT="38100" marB="38100" anchor="ctr">
                    <a:solidFill>
                      <a:srgbClr val="F4F2FA"/>
                    </a:solidFill>
                  </a:tcPr>
                </a:tc>
                <a:tc>
                  <a:txBody>
                    <a:bodyPr/>
                    <a:lstStyle/>
                    <a:p>
                      <a:r>
                        <a:rPr sz="1200" b="0" i="0">
                          <a:solidFill>
                            <a:srgbClr val="1A1440"/>
                          </a:solidFill>
                          <a:latin typeface="Calibri"/>
                        </a:rPr>
                        <a:t>130</a:t>
                      </a:r>
                    </a:p>
                  </a:txBody>
                  <a:tcPr marL="101600" marR="101600" marT="38100" marB="38100" anchor="ctr">
                    <a:solidFill>
                      <a:srgbClr val="F4F2FA"/>
                    </a:solidFill>
                  </a:tcPr>
                </a:tc>
                <a:tc>
                  <a:txBody>
                    <a:bodyPr/>
                    <a:lstStyle/>
                    <a:p>
                      <a:r>
                        <a:rPr sz="1200" b="0" i="0">
                          <a:solidFill>
                            <a:srgbClr val="1A1440"/>
                          </a:solidFill>
                          <a:latin typeface="Calibri"/>
                        </a:rPr>
                        <a:t>15</a:t>
                      </a:r>
                    </a:p>
                  </a:txBody>
                  <a:tcPr marL="101600" marR="101600" marT="38100" marB="38100" anchor="ctr">
                    <a:solidFill>
                      <a:srgbClr val="F4F2FA"/>
                    </a:solidFill>
                  </a:tcPr>
                </a:tc>
                <a:tc>
                  <a:txBody>
                    <a:bodyPr/>
                    <a:lstStyle/>
                    <a:p>
                      <a:r>
                        <a:rPr sz="1200" b="0" i="0">
                          <a:solidFill>
                            <a:srgbClr val="1A1440"/>
                          </a:solidFill>
                          <a:latin typeface="Calibri"/>
                        </a:rPr>
                        <a:t>130 / 15 = 8.7</a:t>
                      </a:r>
                    </a:p>
                  </a:txBody>
                  <a:tcPr marL="101600" marR="101600" marT="38100" marB="38100" anchor="ctr">
                    <a:solidFill>
                      <a:srgbClr val="F4F2FA"/>
                    </a:solidFill>
                  </a:tcPr>
                </a:tc>
              </a:tr>
              <a:tr h="335280">
                <a:tc>
                  <a:txBody>
                    <a:bodyPr/>
                    <a:lstStyle/>
                    <a:p>
                      <a:r>
                        <a:rPr sz="1200" b="0" i="0">
                          <a:solidFill>
                            <a:srgbClr val="1A1440"/>
                          </a:solidFill>
                          <a:latin typeface="Calibri"/>
                        </a:rPr>
                        <a:t>10</a:t>
                      </a:r>
                    </a:p>
                  </a:txBody>
                  <a:tcPr marL="101600" marR="101600" marT="38100" marB="38100" anchor="ctr">
                    <a:solidFill>
                      <a:srgbClr val="FFFFFF"/>
                    </a:solidFill>
                  </a:tcPr>
                </a:tc>
                <a:tc>
                  <a:txBody>
                    <a:bodyPr/>
                    <a:lstStyle/>
                    <a:p>
                      <a:r>
                        <a:rPr sz="1200" b="0" i="0">
                          <a:solidFill>
                            <a:srgbClr val="1A1440"/>
                          </a:solidFill>
                          <a:latin typeface="Calibri"/>
                        </a:rPr>
                        <a:t>60</a:t>
                      </a:r>
                    </a:p>
                  </a:txBody>
                  <a:tcPr marL="101600" marR="101600" marT="38100" marB="38100" anchor="ctr">
                    <a:solidFill>
                      <a:srgbClr val="FFFFFF"/>
                    </a:solidFill>
                  </a:tcPr>
                </a:tc>
                <a:tc>
                  <a:txBody>
                    <a:bodyPr/>
                    <a:lstStyle/>
                    <a:p>
                      <a:r>
                        <a:rPr sz="1200" b="0" i="0">
                          <a:solidFill>
                            <a:srgbClr val="1A1440"/>
                          </a:solidFill>
                          <a:latin typeface="Calibri"/>
                        </a:rPr>
                        <a:t>100</a:t>
                      </a:r>
                    </a:p>
                  </a:txBody>
                  <a:tcPr marL="101600" marR="101600" marT="38100" marB="38100" anchor="ctr">
                    <a:solidFill>
                      <a:srgbClr val="FFFFFF"/>
                    </a:solidFill>
                  </a:tcPr>
                </a:tc>
                <a:tc>
                  <a:txBody>
                    <a:bodyPr/>
                    <a:lstStyle/>
                    <a:p>
                      <a:r>
                        <a:rPr sz="1200" b="0" i="0">
                          <a:solidFill>
                            <a:srgbClr val="1A1440"/>
                          </a:solidFill>
                          <a:latin typeface="Calibri"/>
                        </a:rPr>
                        <a:t>10</a:t>
                      </a:r>
                    </a:p>
                  </a:txBody>
                  <a:tcPr marL="101600" marR="101600" marT="38100" marB="38100" anchor="ctr">
                    <a:solidFill>
                      <a:srgbClr val="FFFFFF"/>
                    </a:solidFill>
                  </a:tcPr>
                </a:tc>
                <a:tc>
                  <a:txBody>
                    <a:bodyPr/>
                    <a:lstStyle/>
                    <a:p>
                      <a:r>
                        <a:rPr sz="1200" b="0" i="0">
                          <a:solidFill>
                            <a:srgbClr val="1A1440"/>
                          </a:solidFill>
                          <a:latin typeface="Calibri"/>
                        </a:rPr>
                        <a:t>100 / 10 = 10.0</a:t>
                      </a:r>
                    </a:p>
                  </a:txBody>
                  <a:tcPr marL="101600" marR="101600" marT="38100" marB="38100" anchor="ctr">
                    <a:solidFill>
                      <a:srgbClr val="FFFFFF"/>
                    </a:solidFill>
                  </a:tcPr>
                </a:tc>
              </a:tr>
              <a:tr h="335280">
                <a:tc>
                  <a:txBody>
                    <a:bodyPr/>
                    <a:lstStyle/>
                    <a:p>
                      <a:r>
                        <a:rPr sz="1200" b="0" i="0">
                          <a:solidFill>
                            <a:srgbClr val="1A1440"/>
                          </a:solidFill>
                          <a:latin typeface="Calibri"/>
                        </a:rPr>
                        <a:t>15</a:t>
                      </a:r>
                    </a:p>
                  </a:txBody>
                  <a:tcPr marL="101600" marR="101600" marT="38100" marB="38100" anchor="ctr">
                    <a:solidFill>
                      <a:srgbClr val="F4F2FA"/>
                    </a:solidFill>
                  </a:tcPr>
                </a:tc>
                <a:tc>
                  <a:txBody>
                    <a:bodyPr/>
                    <a:lstStyle/>
                    <a:p>
                      <a:r>
                        <a:rPr sz="1200" b="0" i="0">
                          <a:solidFill>
                            <a:srgbClr val="1A1440"/>
                          </a:solidFill>
                          <a:latin typeface="Calibri"/>
                        </a:rPr>
                        <a:t>102</a:t>
                      </a:r>
                    </a:p>
                  </a:txBody>
                  <a:tcPr marL="101600" marR="101600" marT="38100" marB="38100" anchor="ctr">
                    <a:solidFill>
                      <a:srgbClr val="F4F2FA"/>
                    </a:solidFill>
                  </a:tcPr>
                </a:tc>
                <a:tc>
                  <a:txBody>
                    <a:bodyPr/>
                    <a:lstStyle/>
                    <a:p>
                      <a:r>
                        <a:rPr sz="1200" b="0" i="0">
                          <a:solidFill>
                            <a:srgbClr val="1A1440"/>
                          </a:solidFill>
                          <a:latin typeface="Calibri"/>
                        </a:rPr>
                        <a:t>58</a:t>
                      </a:r>
                    </a:p>
                  </a:txBody>
                  <a:tcPr marL="101600" marR="101600" marT="38100" marB="38100" anchor="ctr">
                    <a:solidFill>
                      <a:srgbClr val="F4F2FA"/>
                    </a:solidFill>
                  </a:tcPr>
                </a:tc>
                <a:tc>
                  <a:txBody>
                    <a:bodyPr/>
                    <a:lstStyle/>
                    <a:p>
                      <a:r>
                        <a:rPr sz="1200" b="0" i="0">
                          <a:solidFill>
                            <a:srgbClr val="1A1440"/>
                          </a:solidFill>
                          <a:latin typeface="Calibri"/>
                        </a:rPr>
                        <a:t>5</a:t>
                      </a:r>
                    </a:p>
                  </a:txBody>
                  <a:tcPr marL="101600" marR="101600" marT="38100" marB="38100" anchor="ctr">
                    <a:solidFill>
                      <a:srgbClr val="F4F2FA"/>
                    </a:solidFill>
                  </a:tcPr>
                </a:tc>
                <a:tc>
                  <a:txBody>
                    <a:bodyPr/>
                    <a:lstStyle/>
                    <a:p>
                      <a:r>
                        <a:rPr sz="1200" b="0" i="0">
                          <a:solidFill>
                            <a:srgbClr val="1A1440"/>
                          </a:solidFill>
                          <a:latin typeface="Calibri"/>
                        </a:rPr>
                        <a:t>58 / 5 = 11.6</a:t>
                      </a:r>
                    </a:p>
                  </a:txBody>
                  <a:tcPr marL="101600" marR="101600" marT="38100" marB="38100" anchor="ctr">
                    <a:solidFill>
                      <a:srgbClr val="F4F2FA"/>
                    </a:solidFill>
                  </a:tcPr>
                </a:tc>
              </a:tr>
              <a:tr h="335280">
                <a:tc>
                  <a:txBody>
                    <a:bodyPr/>
                    <a:lstStyle/>
                    <a:p>
                      <a:r>
                        <a:rPr sz="1200" b="0" i="0">
                          <a:solidFill>
                            <a:srgbClr val="1A1440"/>
                          </a:solidFill>
                          <a:latin typeface="Calibri"/>
                        </a:rPr>
                        <a:t>20</a:t>
                      </a:r>
                    </a:p>
                  </a:txBody>
                  <a:tcPr marL="101600" marR="101600" marT="38100" marB="38100" anchor="ctr">
                    <a:solidFill>
                      <a:srgbClr val="FFFFFF"/>
                    </a:solidFill>
                  </a:tcPr>
                </a:tc>
                <a:tc>
                  <a:txBody>
                    <a:bodyPr/>
                    <a:lstStyle/>
                    <a:p>
                      <a:r>
                        <a:rPr sz="1200" b="0" i="0">
                          <a:solidFill>
                            <a:srgbClr val="1A1440"/>
                          </a:solidFill>
                          <a:latin typeface="Calibri"/>
                        </a:rPr>
                        <a:t>147</a:t>
                      </a:r>
                    </a:p>
                  </a:txBody>
                  <a:tcPr marL="101600" marR="101600" marT="38100" marB="38100" anchor="ctr">
                    <a:solidFill>
                      <a:srgbClr val="FFFFFF"/>
                    </a:solidFill>
                  </a:tcPr>
                </a:tc>
                <a:tc>
                  <a:txBody>
                    <a:bodyPr/>
                    <a:lstStyle/>
                    <a:p>
                      <a:r>
                        <a:rPr sz="1200" b="0" i="0">
                          <a:solidFill>
                            <a:srgbClr val="1A1440"/>
                          </a:solidFill>
                          <a:latin typeface="Calibri"/>
                        </a:rPr>
                        <a:t>lost by 12</a:t>
                      </a:r>
                    </a:p>
                  </a:txBody>
                  <a:tcPr marL="101600" marR="101600" marT="38100" marB="38100" anchor="ctr">
                    <a:solidFill>
                      <a:srgbClr val="FFFFFF"/>
                    </a:solidFill>
                  </a:tcPr>
                </a:tc>
                <a:tc>
                  <a:txBody>
                    <a:bodyPr/>
                    <a:lstStyle/>
                    <a:p>
                      <a:r>
                        <a:rPr sz="1200" b="0" i="0">
                          <a:solidFill>
                            <a:srgbClr val="1A1440"/>
                          </a:solidFill>
                          <a:latin typeface="Calibri"/>
                        </a:rPr>
                        <a:t>0</a:t>
                      </a:r>
                    </a:p>
                  </a:txBody>
                  <a:tcPr marL="101600" marR="101600" marT="38100" marB="38100" anchor="ctr">
                    <a:solidFill>
                      <a:srgbClr val="FFFFFF"/>
                    </a:solidFill>
                  </a:tcPr>
                </a:tc>
                <a:tc>
                  <a:txBody>
                    <a:bodyPr/>
                    <a:lstStyle/>
                    <a:p>
                      <a:r>
                        <a:rPr sz="1200" b="0" i="0">
                          <a:solidFill>
                            <a:srgbClr val="1A1440"/>
                          </a:solidFill>
                          <a:latin typeface="Calibri"/>
                        </a:rPr>
                        <a:t>the result</a:t>
                      </a:r>
                    </a:p>
                  </a:txBody>
                  <a:tcPr marL="101600" marR="101600" marT="38100" marB="38100" anchor="ctr">
                    <a:solidFill>
                      <a:srgbClr val="FFFFFF"/>
                    </a:solidFill>
                  </a:tcPr>
                </a:tc>
              </a:tr>
            </a:tbl>
          </a:graphicData>
        </a:graphic>
      </p:graphicFrame>
      <p:sp>
        <p:nvSpPr>
          <p:cNvPr id="10" name="Rounded Rectangle 9"/>
          <p:cNvSpPr/>
          <p:nvPr/>
        </p:nvSpPr>
        <p:spPr>
          <a:xfrm>
            <a:off x="530352" y="4224528"/>
            <a:ext cx="11130991" cy="10744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676656" y="4352544"/>
            <a:ext cx="45720" cy="8183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7824" y="4343400"/>
            <a:ext cx="10564063" cy="891540"/>
          </a:xfrm>
          <a:prstGeom prst="rect">
            <a:avLst/>
          </a:prstGeom>
          <a:noFill/>
        </p:spPr>
        <p:txBody>
          <a:bodyPr wrap="square" anchor="ctr" lIns="0" rIns="0" tIns="0" bIns="0">
            <a:spAutoFit/>
          </a:bodyPr>
          <a:lstStyle/>
          <a:p>
            <a:r>
              <a:rPr sz="1500" b="1">
                <a:solidFill>
                  <a:srgbClr val="5B3FD6"/>
                </a:solidFill>
                <a:latin typeface="Calibri"/>
              </a:rPr>
              <a:t>Counted by hand, invented numbers. </a:t>
            </a:r>
            <a:r>
              <a:rPr sz="1500" b="0" i="0">
                <a:solidFill>
                  <a:srgbClr val="1A1440"/>
                </a:solidFill>
                <a:latin typeface="Calibri"/>
              </a:rPr>
              <a:t>Six an over for ten overs is 60, so 100 are still needed from 10 overs, 10.0 an over. The side ends on 147, and the other side's 159 wins by 12 runs: the scoreboard confirms the loss at over 20, ten overs after the rate needed warned.</a:t>
            </a:r>
          </a:p>
        </p:txBody>
      </p:sp>
      <p:sp>
        <p:nvSpPr>
          <p:cNvPr id="13" name="Oval 12"/>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40080"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What is a number for?</a:t>
            </a:r>
          </a:p>
        </p:txBody>
      </p:sp>
      <p:sp>
        <p:nvSpPr>
          <p:cNvPr id="15" name="Oval 14"/>
          <p:cNvSpPr/>
          <p:nvPr/>
        </p:nvSpPr>
        <p:spPr>
          <a:xfrm>
            <a:off x="197196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2081688"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Which number to chase?</a:t>
            </a:r>
          </a:p>
        </p:txBody>
      </p:sp>
      <p:sp>
        <p:nvSpPr>
          <p:cNvPr id="17" name="Oval 16"/>
          <p:cNvSpPr/>
          <p:nvPr/>
        </p:nvSpPr>
        <p:spPr>
          <a:xfrm>
            <a:off x="3459575"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569303" y="6437376"/>
            <a:ext cx="1148429" cy="152146"/>
          </a:xfrm>
          <a:prstGeom prst="rect">
            <a:avLst/>
          </a:prstGeom>
          <a:noFill/>
        </p:spPr>
        <p:txBody>
          <a:bodyPr wrap="square" anchor="t" lIns="0" rIns="0" tIns="0" bIns="0">
            <a:spAutoFit/>
          </a:bodyPr>
          <a:lstStyle/>
          <a:p>
            <a:pPr algn="l"/>
            <a:r>
              <a:rPr sz="700" b="1" i="0">
                <a:solidFill>
                  <a:srgbClr val="5B3FD6"/>
                </a:solidFill>
                <a:latin typeface="Calibri"/>
              </a:rPr>
              <a:t>Which number warns?</a:t>
            </a:r>
          </a:p>
        </p:txBody>
      </p:sp>
      <p:sp>
        <p:nvSpPr>
          <p:cNvPr id="19" name="Oval 18"/>
          <p:cNvSpPr/>
          <p:nvPr/>
        </p:nvSpPr>
        <p:spPr>
          <a:xfrm>
            <a:off x="480917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4918900"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Which four lines?</a:t>
            </a:r>
          </a:p>
        </p:txBody>
      </p:sp>
      <p:sp>
        <p:nvSpPr>
          <p:cNvPr id="21" name="Oval 20"/>
          <p:cNvSpPr/>
          <p:nvPr/>
        </p:nvSpPr>
        <p:spPr>
          <a:xfrm>
            <a:off x="606675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6176486"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How is a number gamed?</a:t>
            </a:r>
          </a:p>
        </p:txBody>
      </p:sp>
      <p:sp>
        <p:nvSpPr>
          <p:cNvPr id="23" name="Oval 22"/>
          <p:cNvSpPr/>
          <p:nvPr/>
        </p:nvSpPr>
        <p:spPr>
          <a:xfrm>
            <a:off x="755437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766410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the page hold?</a:t>
            </a:r>
          </a:p>
        </p:txBody>
      </p:sp>
      <p:sp>
        <p:nvSpPr>
          <p:cNvPr id="25" name="Oval 24"/>
          <p:cNvSpPr/>
          <p:nvPr/>
        </p:nvSpPr>
        <p:spPr>
          <a:xfrm>
            <a:off x="91339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9243726"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an hour count?</a:t>
            </a:r>
          </a:p>
        </p:txBody>
      </p:sp>
      <p:sp>
        <p:nvSpPr>
          <p:cNvPr id="27" name="TextBox 26"/>
          <p:cNvSpPr txBox="1"/>
          <p:nvPr/>
        </p:nvSpPr>
        <p:spPr>
          <a:xfrm>
            <a:off x="10713624" y="6437376"/>
            <a:ext cx="256032" cy="152146"/>
          </a:xfrm>
          <a:prstGeom prst="rect">
            <a:avLst/>
          </a:prstGeom>
          <a:noFill/>
        </p:spPr>
        <p:txBody>
          <a:bodyPr wrap="square" anchor="t" lIns="0" rIns="0" tIns="0" bIns="0">
            <a:spAutoFit/>
          </a:bodyPr>
          <a:lstStyle/>
          <a:p>
            <a:pPr algn="l"/>
            <a:r>
              <a:rPr sz="700" b="0" i="0">
                <a:solidFill>
                  <a:srgbClr val="6B6690"/>
                </a:solidFill>
                <a:latin typeface="Calibri"/>
              </a:rPr>
              <a:t>…</a:t>
            </a:r>
          </a:p>
        </p:txBody>
      </p:sp>
      <p:sp>
        <p:nvSpPr>
          <p:cNvPr id="28" name="TextBox 27"/>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S24  ·  27 / 93</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MONDAY  ·  BUSINESS METRIC DESIGN  ·  UBER, HYDERABAD</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rate needed warned ten overs before the result</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does the picture show, and what are the two kinds of number called?</a:t>
            </a:r>
          </a:p>
        </p:txBody>
      </p:sp>
      <p:pic>
        <p:nvPicPr>
          <p:cNvPr id="9" name="mermaid diagram" descr="C2_W04_D01_chase_rate_STUDENT.png"/>
          <p:cNvPicPr>
            <a:picLocks noChangeAspect="1"/>
          </p:cNvPicPr>
          <p:nvPr/>
        </p:nvPicPr>
        <p:blipFill>
          <a:blip r:embed="rId4"/>
          <a:stretch>
            <a:fillRect/>
          </a:stretch>
        </p:blipFill>
        <p:spPr>
          <a:xfrm>
            <a:off x="2556764" y="1664208"/>
            <a:ext cx="7078167" cy="3077464"/>
          </a:xfrm>
          <a:prstGeom prst="rect">
            <a:avLst/>
          </a:prstGeom>
        </p:spPr>
      </p:pic>
      <p:sp>
        <p:nvSpPr>
          <p:cNvPr id="10" name="picture caption"/>
          <p:cNvSpPr txBox="1"/>
          <p:nvPr/>
        </p:nvSpPr>
        <p:spPr>
          <a:xfrm>
            <a:off x="530352" y="4778248"/>
            <a:ext cx="11130991" cy="316992"/>
          </a:xfrm>
          <a:prstGeom prst="rect">
            <a:avLst/>
          </a:prstGeom>
          <a:noFill/>
        </p:spPr>
        <p:txBody>
          <a:bodyPr wrap="square" anchor="t" lIns="0" rIns="0" tIns="0" bIns="0">
            <a:spAutoFit/>
          </a:bodyPr>
          <a:lstStyle/>
          <a:p>
            <a:pPr algn="ctr"/>
            <a:r>
              <a:rPr sz="1200" b="0" i="0">
                <a:solidFill>
                  <a:srgbClr val="6B6690"/>
                </a:solidFill>
                <a:latin typeface="Calibri"/>
              </a:rPr>
              <a:t>A T20 chase (invented): the runs an over needed passed 10 at over 10, and the loss was confirmed at over 20</a:t>
            </a:r>
          </a:p>
        </p:txBody>
      </p:sp>
      <p:sp>
        <p:nvSpPr>
          <p:cNvPr id="11" name="TextBox 10"/>
          <p:cNvSpPr txBox="1"/>
          <p:nvPr/>
        </p:nvSpPr>
        <p:spPr>
          <a:xfrm>
            <a:off x="530352" y="5104384"/>
            <a:ext cx="11130991" cy="1095247"/>
          </a:xfrm>
          <a:prstGeom prst="rect">
            <a:avLst/>
          </a:prstGeom>
          <a:noFill/>
        </p:spPr>
        <p:txBody>
          <a:bodyPr wrap="square" anchor="t" lIns="0" rIns="0" tIns="0" bIns="0">
            <a:spAutoFit/>
          </a:bodyPr>
          <a:lstStyle/>
          <a:p>
            <a:r>
              <a:rPr sz="1400" b="0" i="0">
                <a:solidFill>
                  <a:srgbClr val="1A1440"/>
                </a:solidFill>
                <a:latin typeface="Calibri"/>
              </a:rPr>
              <a:t>The runs an over needed climbed past 10 at over 10, while the captain could still promote a hitter; the margin arrived at over 20. Named last: a </a:t>
            </a:r>
            <a:r>
              <a:rPr sz="1400" b="1" i="0">
                <a:solidFill>
                  <a:srgbClr val="1A1440"/>
                </a:solidFill>
                <a:latin typeface="Calibri"/>
              </a:rPr>
              <a:t>leading indicator</a:t>
            </a:r>
            <a:r>
              <a:rPr sz="1400" b="0" i="0">
                <a:solidFill>
                  <a:srgbClr val="1A1440"/>
                </a:solidFill>
                <a:latin typeface="Calibri"/>
              </a:rPr>
              <a:t> moves before the north star while the team can act, and a </a:t>
            </a:r>
            <a:r>
              <a:rPr sz="1400" b="1" i="0">
                <a:solidFill>
                  <a:srgbClr val="1A1440"/>
                </a:solidFill>
                <a:latin typeface="Calibri"/>
              </a:rPr>
              <a:t>lagging indicator</a:t>
            </a:r>
            <a:r>
              <a:rPr sz="1400" b="0" i="0">
                <a:solidFill>
                  <a:srgbClr val="1A1440"/>
                </a:solidFill>
                <a:latin typeface="Calibri"/>
              </a:rPr>
              <a:t> confirms it later. Wickets in hand, 7 at over 10, are the guardrail read beside it: a side that chases the rate by swinging at every ball loses wickets, and the wickets show that harm before the score does.</a:t>
            </a:r>
          </a:p>
        </p:txBody>
      </p:sp>
      <p:sp>
        <p:nvSpPr>
          <p:cNvPr id="12" name="Oval 11"/>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40080"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What is a number for?</a:t>
            </a:r>
          </a:p>
        </p:txBody>
      </p:sp>
      <p:sp>
        <p:nvSpPr>
          <p:cNvPr id="14" name="Oval 13"/>
          <p:cNvSpPr/>
          <p:nvPr/>
        </p:nvSpPr>
        <p:spPr>
          <a:xfrm>
            <a:off x="197196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2081688"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Which number to chase?</a:t>
            </a:r>
          </a:p>
        </p:txBody>
      </p:sp>
      <p:sp>
        <p:nvSpPr>
          <p:cNvPr id="16" name="Oval 15"/>
          <p:cNvSpPr/>
          <p:nvPr/>
        </p:nvSpPr>
        <p:spPr>
          <a:xfrm>
            <a:off x="3459575"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3569303" y="6437376"/>
            <a:ext cx="1148429" cy="152146"/>
          </a:xfrm>
          <a:prstGeom prst="rect">
            <a:avLst/>
          </a:prstGeom>
          <a:noFill/>
        </p:spPr>
        <p:txBody>
          <a:bodyPr wrap="square" anchor="t" lIns="0" rIns="0" tIns="0" bIns="0">
            <a:spAutoFit/>
          </a:bodyPr>
          <a:lstStyle/>
          <a:p>
            <a:pPr algn="l"/>
            <a:r>
              <a:rPr sz="700" b="1" i="0">
                <a:solidFill>
                  <a:srgbClr val="5B3FD6"/>
                </a:solidFill>
                <a:latin typeface="Calibri"/>
              </a:rPr>
              <a:t>Which number warns?</a:t>
            </a:r>
          </a:p>
        </p:txBody>
      </p:sp>
      <p:sp>
        <p:nvSpPr>
          <p:cNvPr id="18" name="Oval 17"/>
          <p:cNvSpPr/>
          <p:nvPr/>
        </p:nvSpPr>
        <p:spPr>
          <a:xfrm>
            <a:off x="480917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4918900"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Which four lines?</a:t>
            </a:r>
          </a:p>
        </p:txBody>
      </p:sp>
      <p:sp>
        <p:nvSpPr>
          <p:cNvPr id="20" name="Oval 19"/>
          <p:cNvSpPr/>
          <p:nvPr/>
        </p:nvSpPr>
        <p:spPr>
          <a:xfrm>
            <a:off x="606675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6176486"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How is a number gamed?</a:t>
            </a:r>
          </a:p>
        </p:txBody>
      </p:sp>
      <p:sp>
        <p:nvSpPr>
          <p:cNvPr id="22" name="Oval 21"/>
          <p:cNvSpPr/>
          <p:nvPr/>
        </p:nvSpPr>
        <p:spPr>
          <a:xfrm>
            <a:off x="755437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766410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the page hold?</a:t>
            </a:r>
          </a:p>
        </p:txBody>
      </p:sp>
      <p:sp>
        <p:nvSpPr>
          <p:cNvPr id="24" name="Oval 23"/>
          <p:cNvSpPr/>
          <p:nvPr/>
        </p:nvSpPr>
        <p:spPr>
          <a:xfrm>
            <a:off x="91339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9243726"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an hour count?</a:t>
            </a:r>
          </a:p>
        </p:txBody>
      </p:sp>
      <p:sp>
        <p:nvSpPr>
          <p:cNvPr id="26" name="TextBox 25"/>
          <p:cNvSpPr txBox="1"/>
          <p:nvPr/>
        </p:nvSpPr>
        <p:spPr>
          <a:xfrm>
            <a:off x="10713624" y="6437376"/>
            <a:ext cx="256032" cy="152146"/>
          </a:xfrm>
          <a:prstGeom prst="rect">
            <a:avLst/>
          </a:prstGeom>
          <a:noFill/>
        </p:spPr>
        <p:txBody>
          <a:bodyPr wrap="square" anchor="t" lIns="0" rIns="0" tIns="0" bIns="0">
            <a:spAutoFit/>
          </a:bodyPr>
          <a:lstStyle/>
          <a:p>
            <a:pPr algn="l"/>
            <a:r>
              <a:rPr sz="700" b="0" i="0">
                <a:solidFill>
                  <a:srgbClr val="6B6690"/>
                </a:solidFill>
                <a:latin typeface="Calibri"/>
              </a:rPr>
              <a:t>…</a:t>
            </a:r>
          </a:p>
        </p:txBody>
      </p:sp>
      <p:sp>
        <p:nvSpPr>
          <p:cNvPr id="27" name="TextBox 26"/>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S25  ·  28 / 93</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MONDAY  ·  BUSINESS METRIC DESIGN  ·  UBER, HYDERABAD</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Four lines of pandas give the rate needed</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How does code reproduce the count?</a:t>
            </a:r>
          </a:p>
        </p:txBody>
      </p:sp>
      <p:sp>
        <p:nvSpPr>
          <p:cNvPr id="9" name="Rounded Rectangle 8"/>
          <p:cNvSpPr/>
          <p:nvPr/>
        </p:nvSpPr>
        <p:spPr>
          <a:xfrm>
            <a:off x="530352" y="1956816"/>
            <a:ext cx="11130991" cy="1467104"/>
          </a:xfrm>
          <a:prstGeom prst="roundRect">
            <a:avLst>
              <a:gd name="adj" fmla="val 3500"/>
            </a:avLst>
          </a:prstGeom>
          <a:solidFill>
            <a:srgbClr val="1A1440"/>
          </a:soli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713232" y="2084832"/>
            <a:ext cx="91440" cy="91440"/>
          </a:xfrm>
          <a:prstGeom prst="ellipse">
            <a:avLst/>
          </a:prstGeom>
          <a:solidFill>
            <a:srgbClr val="D63A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868680" y="2084832"/>
            <a:ext cx="91440" cy="91440"/>
          </a:xfrm>
          <a:prstGeom prst="ellipse">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Oval 11"/>
          <p:cNvSpPr/>
          <p:nvPr/>
        </p:nvSpPr>
        <p:spPr>
          <a:xfrm>
            <a:off x="1024128" y="2084832"/>
            <a:ext cx="91440" cy="91440"/>
          </a:xfrm>
          <a:prstGeom prst="ellipse">
            <a:avLst/>
          </a:prstGeom>
          <a:solidFill>
            <a:srgbClr val="1F8A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804671" y="2286000"/>
            <a:ext cx="10673791" cy="1064768"/>
          </a:xfrm>
          <a:prstGeom prst="rect">
            <a:avLst/>
          </a:prstGeom>
          <a:noFill/>
        </p:spPr>
        <p:txBody>
          <a:bodyPr wrap="square" anchor="t" lIns="0" rIns="0" tIns="0" bIns="0">
            <a:spAutoFit/>
          </a:bodyPr>
          <a:lstStyle/>
          <a:p>
            <a:pPr>
              <a:spcAft>
                <a:spcPts val="200"/>
              </a:spcAft>
            </a:pPr>
            <a:r>
              <a:rPr sz="1400" b="0" i="0">
                <a:solidFill>
                  <a:srgbClr val="E4E1F1"/>
                </a:solidFill>
                <a:latin typeface="Consolas"/>
              </a:rPr>
              <a:t>overs = pd.read_csv("../data/C2_W04_D01_chase_overs_STUDENT.csv")  # invented</a:t>
            </a:r>
          </a:p>
          <a:p>
            <a:pPr>
              <a:spcAft>
                <a:spcPts val="200"/>
              </a:spcAft>
            </a:pPr>
            <a:r>
              <a:rPr sz="1400" b="0" i="0">
                <a:solidFill>
                  <a:srgbClr val="E4E1F1"/>
                </a:solidFill>
                <a:latin typeface="Consolas"/>
              </a:rPr>
              <a:t>overs["so_far"] = overs["runs"].cumsum()                   # 60 after over 10</a:t>
            </a:r>
          </a:p>
          <a:p>
            <a:pPr>
              <a:spcAft>
                <a:spcPts val="200"/>
              </a:spcAft>
            </a:pPr>
            <a:r>
              <a:rPr sz="1400" b="0" i="0">
                <a:solidFill>
                  <a:srgbClr val="E4E1F1"/>
                </a:solidFill>
                <a:latin typeface="Consolas"/>
              </a:rPr>
              <a:t>overs["needed_an_over"] = (160 - overs["so_far"]) / (20 - overs["over"])</a:t>
            </a:r>
          </a:p>
          <a:p>
            <a:pPr>
              <a:spcAft>
                <a:spcPts val="200"/>
              </a:spcAft>
            </a:pPr>
            <a:r>
              <a:rPr sz="1400" b="0" i="0">
                <a:solidFill>
                  <a:srgbClr val="E4E1F1"/>
                </a:solidFill>
                <a:latin typeface="Consolas"/>
              </a:rPr>
              <a:t>overs.loc[overs["over"] == 10, "needed_an_over"]          # 10.0</a:t>
            </a:r>
          </a:p>
        </p:txBody>
      </p:sp>
      <p:sp>
        <p:nvSpPr>
          <p:cNvPr id="14" name="TextBox 13"/>
          <p:cNvSpPr txBox="1"/>
          <p:nvPr/>
        </p:nvSpPr>
        <p:spPr>
          <a:xfrm>
            <a:off x="530352" y="3588512"/>
            <a:ext cx="11130991" cy="772160"/>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cumsum keeps a running total, so each row holds the runs made so far; the division is the board's sum, one row per over.</a:t>
            </a:r>
          </a:p>
        </p:txBody>
      </p:sp>
      <p:sp>
        <p:nvSpPr>
          <p:cNvPr id="15" name="Oval 14"/>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40080"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What is a number for?</a:t>
            </a:r>
          </a:p>
        </p:txBody>
      </p:sp>
      <p:sp>
        <p:nvSpPr>
          <p:cNvPr id="17" name="Oval 16"/>
          <p:cNvSpPr/>
          <p:nvPr/>
        </p:nvSpPr>
        <p:spPr>
          <a:xfrm>
            <a:off x="197196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2081688"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Which number to chase?</a:t>
            </a:r>
          </a:p>
        </p:txBody>
      </p:sp>
      <p:sp>
        <p:nvSpPr>
          <p:cNvPr id="19" name="Oval 18"/>
          <p:cNvSpPr/>
          <p:nvPr/>
        </p:nvSpPr>
        <p:spPr>
          <a:xfrm>
            <a:off x="3459575"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3569303" y="6437376"/>
            <a:ext cx="1148429" cy="152146"/>
          </a:xfrm>
          <a:prstGeom prst="rect">
            <a:avLst/>
          </a:prstGeom>
          <a:noFill/>
        </p:spPr>
        <p:txBody>
          <a:bodyPr wrap="square" anchor="t" lIns="0" rIns="0" tIns="0" bIns="0">
            <a:spAutoFit/>
          </a:bodyPr>
          <a:lstStyle/>
          <a:p>
            <a:pPr algn="l"/>
            <a:r>
              <a:rPr sz="700" b="1" i="0">
                <a:solidFill>
                  <a:srgbClr val="5B3FD6"/>
                </a:solidFill>
                <a:latin typeface="Calibri"/>
              </a:rPr>
              <a:t>Which number warns?</a:t>
            </a:r>
          </a:p>
        </p:txBody>
      </p:sp>
      <p:sp>
        <p:nvSpPr>
          <p:cNvPr id="21" name="Oval 20"/>
          <p:cNvSpPr/>
          <p:nvPr/>
        </p:nvSpPr>
        <p:spPr>
          <a:xfrm>
            <a:off x="480917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4918900"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Which four lines?</a:t>
            </a:r>
          </a:p>
        </p:txBody>
      </p:sp>
      <p:sp>
        <p:nvSpPr>
          <p:cNvPr id="23" name="Oval 22"/>
          <p:cNvSpPr/>
          <p:nvPr/>
        </p:nvSpPr>
        <p:spPr>
          <a:xfrm>
            <a:off x="606675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6176486"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How is a number gamed?</a:t>
            </a:r>
          </a:p>
        </p:txBody>
      </p:sp>
      <p:sp>
        <p:nvSpPr>
          <p:cNvPr id="25" name="Oval 24"/>
          <p:cNvSpPr/>
          <p:nvPr/>
        </p:nvSpPr>
        <p:spPr>
          <a:xfrm>
            <a:off x="755437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766410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the page hold?</a:t>
            </a:r>
          </a:p>
        </p:txBody>
      </p:sp>
      <p:sp>
        <p:nvSpPr>
          <p:cNvPr id="27" name="Oval 26"/>
          <p:cNvSpPr/>
          <p:nvPr/>
        </p:nvSpPr>
        <p:spPr>
          <a:xfrm>
            <a:off x="91339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9243726"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an hour count?</a:t>
            </a:r>
          </a:p>
        </p:txBody>
      </p:sp>
      <p:sp>
        <p:nvSpPr>
          <p:cNvPr id="29" name="TextBox 28"/>
          <p:cNvSpPr txBox="1"/>
          <p:nvPr/>
        </p:nvSpPr>
        <p:spPr>
          <a:xfrm>
            <a:off x="10713624" y="6437376"/>
            <a:ext cx="256032" cy="152146"/>
          </a:xfrm>
          <a:prstGeom prst="rect">
            <a:avLst/>
          </a:prstGeom>
          <a:noFill/>
        </p:spPr>
        <p:txBody>
          <a:bodyPr wrap="square" anchor="t" lIns="0" rIns="0" tIns="0" bIns="0">
            <a:spAutoFit/>
          </a:bodyPr>
          <a:lstStyle/>
          <a:p>
            <a:pPr algn="l"/>
            <a:r>
              <a:rPr sz="700" b="0" i="0">
                <a:solidFill>
                  <a:srgbClr val="6B6690"/>
                </a:solidFill>
                <a:latin typeface="Calibri"/>
              </a:rPr>
              <a:t>…</a:t>
            </a:r>
          </a:p>
        </p:txBody>
      </p:sp>
      <p:sp>
        <p:nvSpPr>
          <p:cNvPr id="30" name="TextBox 29"/>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S26  ·  29 / 93</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MONDAY  ·  BUSINESS METRIC DESIGN  ·  UBER, HYDERABAD</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Four rules for leading and lagging numbers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Which rules does the chapter leave, and what does an interviewer ask?</a:t>
            </a:r>
          </a:p>
        </p:txBody>
      </p:sp>
      <p:sp>
        <p:nvSpPr>
          <p:cNvPr id="9" name="TextBox 8"/>
          <p:cNvSpPr txBox="1"/>
          <p:nvPr/>
        </p:nvSpPr>
        <p:spPr>
          <a:xfrm>
            <a:off x="530352" y="1920240"/>
            <a:ext cx="502920" cy="333756"/>
          </a:xfrm>
          <a:prstGeom prst="rect">
            <a:avLst/>
          </a:prstGeom>
          <a:noFill/>
        </p:spPr>
        <p:txBody>
          <a:bodyPr wrap="square" anchor="t" lIns="0" rIns="0" tIns="0" bIns="0">
            <a:spAutoFit/>
          </a:bodyPr>
          <a:lstStyle/>
          <a:p>
            <a:pPr algn="l"/>
            <a:r>
              <a:rPr sz="1800" b="0" i="0">
                <a:solidFill>
                  <a:srgbClr val="5B3FD6"/>
                </a:solidFill>
                <a:latin typeface="Georgia"/>
              </a:rPr>
              <a:t>01</a:t>
            </a:r>
          </a:p>
        </p:txBody>
      </p:sp>
      <p:sp>
        <p:nvSpPr>
          <p:cNvPr id="10" name="TextBox 9"/>
          <p:cNvSpPr txBox="1"/>
          <p:nvPr/>
        </p:nvSpPr>
        <p:spPr>
          <a:xfrm>
            <a:off x="1097280" y="1956816"/>
            <a:ext cx="10564063" cy="627888"/>
          </a:xfrm>
          <a:prstGeom prst="rect">
            <a:avLst/>
          </a:prstGeom>
          <a:noFill/>
        </p:spPr>
        <p:txBody>
          <a:bodyPr wrap="square" anchor="t" lIns="0" rIns="0" tIns="0" bIns="0">
            <a:spAutoFit/>
          </a:bodyPr>
          <a:lstStyle/>
          <a:p>
            <a:r>
              <a:rPr sz="1500" b="0" i="0">
                <a:solidFill>
                  <a:srgbClr val="1A1440"/>
                </a:solidFill>
                <a:latin typeface="Calibri"/>
              </a:rPr>
              <a:t>A leading number moves before the north star, while the team can still act on it, and history shows it predicts the north star.</a:t>
            </a:r>
          </a:p>
        </p:txBody>
      </p:sp>
      <p:sp>
        <p:nvSpPr>
          <p:cNvPr id="11" name="TextBox 10"/>
          <p:cNvSpPr txBox="1"/>
          <p:nvPr/>
        </p:nvSpPr>
        <p:spPr>
          <a:xfrm>
            <a:off x="530352" y="2621280"/>
            <a:ext cx="502920" cy="333756"/>
          </a:xfrm>
          <a:prstGeom prst="rect">
            <a:avLst/>
          </a:prstGeom>
          <a:noFill/>
        </p:spPr>
        <p:txBody>
          <a:bodyPr wrap="square" anchor="t" lIns="0" rIns="0" tIns="0" bIns="0">
            <a:spAutoFit/>
          </a:bodyPr>
          <a:lstStyle/>
          <a:p>
            <a:pPr algn="l"/>
            <a:r>
              <a:rPr sz="1800" b="0" i="0">
                <a:solidFill>
                  <a:srgbClr val="5B3FD6"/>
                </a:solidFill>
                <a:latin typeface="Georgia"/>
              </a:rPr>
              <a:t>02</a:t>
            </a:r>
          </a:p>
        </p:txBody>
      </p:sp>
      <p:sp>
        <p:nvSpPr>
          <p:cNvPr id="12" name="TextBox 11"/>
          <p:cNvSpPr txBox="1"/>
          <p:nvPr/>
        </p:nvSpPr>
        <p:spPr>
          <a:xfrm>
            <a:off x="1097280" y="2657856"/>
            <a:ext cx="10564063" cy="368808"/>
          </a:xfrm>
          <a:prstGeom prst="rect">
            <a:avLst/>
          </a:prstGeom>
          <a:noFill/>
        </p:spPr>
        <p:txBody>
          <a:bodyPr wrap="square" anchor="t" lIns="0" rIns="0" tIns="0" bIns="0">
            <a:spAutoFit/>
          </a:bodyPr>
          <a:lstStyle/>
          <a:p>
            <a:r>
              <a:rPr sz="1500" b="0" i="0">
                <a:solidFill>
                  <a:srgbClr val="1A1440"/>
                </a:solidFill>
                <a:latin typeface="Calibri"/>
              </a:rPr>
              <a:t>A lagging number confirms the north star after the result is fixed.</a:t>
            </a:r>
          </a:p>
        </p:txBody>
      </p:sp>
      <p:sp>
        <p:nvSpPr>
          <p:cNvPr id="13" name="TextBox 12"/>
          <p:cNvSpPr txBox="1"/>
          <p:nvPr/>
        </p:nvSpPr>
        <p:spPr>
          <a:xfrm>
            <a:off x="530352" y="3063240"/>
            <a:ext cx="502920" cy="333756"/>
          </a:xfrm>
          <a:prstGeom prst="rect">
            <a:avLst/>
          </a:prstGeom>
          <a:noFill/>
        </p:spPr>
        <p:txBody>
          <a:bodyPr wrap="square" anchor="t" lIns="0" rIns="0" tIns="0" bIns="0">
            <a:spAutoFit/>
          </a:bodyPr>
          <a:lstStyle/>
          <a:p>
            <a:pPr algn="l"/>
            <a:r>
              <a:rPr sz="1800" b="0" i="0">
                <a:solidFill>
                  <a:srgbClr val="5B3FD6"/>
                </a:solidFill>
                <a:latin typeface="Georgia"/>
              </a:rPr>
              <a:t>03</a:t>
            </a:r>
          </a:p>
        </p:txBody>
      </p:sp>
      <p:sp>
        <p:nvSpPr>
          <p:cNvPr id="14" name="TextBox 13"/>
          <p:cNvSpPr txBox="1"/>
          <p:nvPr/>
        </p:nvSpPr>
        <p:spPr>
          <a:xfrm>
            <a:off x="1097280" y="3099816"/>
            <a:ext cx="10564063" cy="627888"/>
          </a:xfrm>
          <a:prstGeom prst="rect">
            <a:avLst/>
          </a:prstGeom>
          <a:noFill/>
        </p:spPr>
        <p:txBody>
          <a:bodyPr wrap="square" anchor="t" lIns="0" rIns="0" tIns="0" bIns="0">
            <a:spAutoFit/>
          </a:bodyPr>
          <a:lstStyle/>
          <a:p>
            <a:r>
              <a:rPr sz="1500" b="0" i="0">
                <a:solidFill>
                  <a:srgbClr val="1A1440"/>
                </a:solidFill>
                <a:latin typeface="Calibri"/>
              </a:rPr>
              <a:t>Read a leading number beside its guardrail: 10 an over with 7 wickets in hand is a different chase from 10 an over with 2.</a:t>
            </a:r>
          </a:p>
        </p:txBody>
      </p:sp>
      <p:sp>
        <p:nvSpPr>
          <p:cNvPr id="15" name="TextBox 14"/>
          <p:cNvSpPr txBox="1"/>
          <p:nvPr/>
        </p:nvSpPr>
        <p:spPr>
          <a:xfrm>
            <a:off x="530352" y="3764280"/>
            <a:ext cx="502920" cy="333756"/>
          </a:xfrm>
          <a:prstGeom prst="rect">
            <a:avLst/>
          </a:prstGeom>
          <a:noFill/>
        </p:spPr>
        <p:txBody>
          <a:bodyPr wrap="square" anchor="t" lIns="0" rIns="0" tIns="0" bIns="0">
            <a:spAutoFit/>
          </a:bodyPr>
          <a:lstStyle/>
          <a:p>
            <a:pPr algn="l"/>
            <a:r>
              <a:rPr sz="1800" b="0" i="0">
                <a:solidFill>
                  <a:srgbClr val="5B3FD6"/>
                </a:solidFill>
                <a:latin typeface="Georgia"/>
              </a:rPr>
              <a:t>04</a:t>
            </a:r>
          </a:p>
        </p:txBody>
      </p:sp>
      <p:sp>
        <p:nvSpPr>
          <p:cNvPr id="16" name="TextBox 15"/>
          <p:cNvSpPr txBox="1"/>
          <p:nvPr/>
        </p:nvSpPr>
        <p:spPr>
          <a:xfrm>
            <a:off x="1097280" y="3800856"/>
            <a:ext cx="10564063" cy="368808"/>
          </a:xfrm>
          <a:prstGeom prst="rect">
            <a:avLst/>
          </a:prstGeom>
          <a:noFill/>
        </p:spPr>
        <p:txBody>
          <a:bodyPr wrap="square" anchor="t" lIns="0" rIns="0" tIns="0" bIns="0">
            <a:spAutoFit/>
          </a:bodyPr>
          <a:lstStyle/>
          <a:p>
            <a:r>
              <a:rPr sz="1500" b="0" i="0">
                <a:solidFill>
                  <a:srgbClr val="1A1440"/>
                </a:solidFill>
                <a:latin typeface="Calibri"/>
              </a:rPr>
              <a:t>A dashboard of lagging numbers alone lets a drift run for weeks before anyone sees it.</a:t>
            </a:r>
          </a:p>
        </p:txBody>
      </p:sp>
      <p:sp>
        <p:nvSpPr>
          <p:cNvPr id="17" name="Rounded Rectangle 16"/>
          <p:cNvSpPr/>
          <p:nvPr/>
        </p:nvSpPr>
        <p:spPr>
          <a:xfrm>
            <a:off x="530352" y="4352544"/>
            <a:ext cx="11130991" cy="862584"/>
          </a:xfrm>
          <a:prstGeom prst="roundRect">
            <a:avLst>
              <a:gd name="adj" fmla="val 5000"/>
            </a:avLst>
          </a:prstGeom>
          <a:solidFill>
            <a:srgbClr val="F7F5FD"/>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Oval 17"/>
          <p:cNvSpPr/>
          <p:nvPr/>
        </p:nvSpPr>
        <p:spPr>
          <a:xfrm>
            <a:off x="758952" y="4555236"/>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9" name="Picture 18" descr="mic_caee7398c80d.png"/>
          <p:cNvPicPr>
            <a:picLocks noChangeAspect="1"/>
          </p:cNvPicPr>
          <p:nvPr/>
        </p:nvPicPr>
        <p:blipFill>
          <a:blip r:embed="rId4"/>
          <a:stretch>
            <a:fillRect/>
          </a:stretch>
        </p:blipFill>
        <p:spPr>
          <a:xfrm>
            <a:off x="868680" y="4664964"/>
            <a:ext cx="237744" cy="237744"/>
          </a:xfrm>
          <a:prstGeom prst="rect">
            <a:avLst/>
          </a:prstGeom>
        </p:spPr>
      </p:pic>
      <p:sp>
        <p:nvSpPr>
          <p:cNvPr id="20" name="TextBox 19"/>
          <p:cNvSpPr txBox="1"/>
          <p:nvPr/>
        </p:nvSpPr>
        <p:spPr>
          <a:xfrm>
            <a:off x="1399031" y="4498848"/>
            <a:ext cx="9987991" cy="160401"/>
          </a:xfrm>
          <a:prstGeom prst="rect">
            <a:avLst/>
          </a:prstGeom>
          <a:noFill/>
        </p:spPr>
        <p:txBody>
          <a:bodyPr wrap="square" anchor="t" lIns="0" rIns="0" tIns="0" bIns="0">
            <a:spAutoFit/>
          </a:bodyPr>
          <a:lstStyle/>
          <a:p>
            <a:pPr algn="l"/>
            <a:r>
              <a:rPr sz="750" b="1" i="0" spc="250">
                <a:solidFill>
                  <a:srgbClr val="5B3FD6"/>
                </a:solidFill>
                <a:latin typeface="Calibri"/>
              </a:rPr>
              <a:t>IN THE INTERVIEW</a:t>
            </a:r>
          </a:p>
        </p:txBody>
      </p:sp>
      <p:sp>
        <p:nvSpPr>
          <p:cNvPr id="21" name="TextBox 20"/>
          <p:cNvSpPr txBox="1"/>
          <p:nvPr/>
        </p:nvSpPr>
        <p:spPr>
          <a:xfrm>
            <a:off x="1399031" y="4718304"/>
            <a:ext cx="9987991" cy="423672"/>
          </a:xfrm>
          <a:prstGeom prst="rect">
            <a:avLst/>
          </a:prstGeom>
          <a:noFill/>
        </p:spPr>
        <p:txBody>
          <a:bodyPr wrap="square" anchor="t" lIns="0" rIns="0" tIns="0" bIns="0">
            <a:spAutoFit/>
          </a:bodyPr>
          <a:lstStyle/>
          <a:p>
            <a:r>
              <a:rPr sz="1500" b="0" i="0">
                <a:solidFill>
                  <a:srgbClr val="1A1440"/>
                </a:solidFill>
                <a:latin typeface="Calibri"/>
              </a:rPr>
              <a:t>[F] North-star against guardrail, with one example pair.</a:t>
            </a:r>
          </a:p>
        </p:txBody>
      </p:sp>
      <p:sp>
        <p:nvSpPr>
          <p:cNvPr id="22" name="Oval 21"/>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640080"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What is a number for?</a:t>
            </a:r>
          </a:p>
        </p:txBody>
      </p:sp>
      <p:sp>
        <p:nvSpPr>
          <p:cNvPr id="24" name="Oval 23"/>
          <p:cNvSpPr/>
          <p:nvPr/>
        </p:nvSpPr>
        <p:spPr>
          <a:xfrm>
            <a:off x="197196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2081688"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Which number to chase?</a:t>
            </a:r>
          </a:p>
        </p:txBody>
      </p:sp>
      <p:sp>
        <p:nvSpPr>
          <p:cNvPr id="26" name="Oval 25"/>
          <p:cNvSpPr/>
          <p:nvPr/>
        </p:nvSpPr>
        <p:spPr>
          <a:xfrm>
            <a:off x="3459575"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3569303" y="6437376"/>
            <a:ext cx="1148429" cy="152146"/>
          </a:xfrm>
          <a:prstGeom prst="rect">
            <a:avLst/>
          </a:prstGeom>
          <a:noFill/>
        </p:spPr>
        <p:txBody>
          <a:bodyPr wrap="square" anchor="t" lIns="0" rIns="0" tIns="0" bIns="0">
            <a:spAutoFit/>
          </a:bodyPr>
          <a:lstStyle/>
          <a:p>
            <a:pPr algn="l"/>
            <a:r>
              <a:rPr sz="700" b="1" i="0">
                <a:solidFill>
                  <a:srgbClr val="5B3FD6"/>
                </a:solidFill>
                <a:latin typeface="Calibri"/>
              </a:rPr>
              <a:t>Which number warns?</a:t>
            </a:r>
          </a:p>
        </p:txBody>
      </p:sp>
      <p:sp>
        <p:nvSpPr>
          <p:cNvPr id="28" name="Oval 27"/>
          <p:cNvSpPr/>
          <p:nvPr/>
        </p:nvSpPr>
        <p:spPr>
          <a:xfrm>
            <a:off x="480917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4918900"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Which four lines?</a:t>
            </a:r>
          </a:p>
        </p:txBody>
      </p:sp>
      <p:sp>
        <p:nvSpPr>
          <p:cNvPr id="30" name="Oval 29"/>
          <p:cNvSpPr/>
          <p:nvPr/>
        </p:nvSpPr>
        <p:spPr>
          <a:xfrm>
            <a:off x="606675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6176486"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How is a number gamed?</a:t>
            </a:r>
          </a:p>
        </p:txBody>
      </p:sp>
      <p:sp>
        <p:nvSpPr>
          <p:cNvPr id="32" name="Oval 31"/>
          <p:cNvSpPr/>
          <p:nvPr/>
        </p:nvSpPr>
        <p:spPr>
          <a:xfrm>
            <a:off x="755437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766410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the page hold?</a:t>
            </a:r>
          </a:p>
        </p:txBody>
      </p:sp>
      <p:sp>
        <p:nvSpPr>
          <p:cNvPr id="34" name="Oval 33"/>
          <p:cNvSpPr/>
          <p:nvPr/>
        </p:nvSpPr>
        <p:spPr>
          <a:xfrm>
            <a:off x="91339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9243726"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an hour count?</a:t>
            </a:r>
          </a:p>
        </p:txBody>
      </p:sp>
      <p:sp>
        <p:nvSpPr>
          <p:cNvPr id="36" name="TextBox 35"/>
          <p:cNvSpPr txBox="1"/>
          <p:nvPr/>
        </p:nvSpPr>
        <p:spPr>
          <a:xfrm>
            <a:off x="10713624" y="6437376"/>
            <a:ext cx="256032" cy="152146"/>
          </a:xfrm>
          <a:prstGeom prst="rect">
            <a:avLst/>
          </a:prstGeom>
          <a:noFill/>
        </p:spPr>
        <p:txBody>
          <a:bodyPr wrap="square" anchor="t" lIns="0" rIns="0" tIns="0" bIns="0">
            <a:spAutoFit/>
          </a:bodyPr>
          <a:lstStyle/>
          <a:p>
            <a:pPr algn="l"/>
            <a:r>
              <a:rPr sz="700" b="0" i="0">
                <a:solidFill>
                  <a:srgbClr val="6B6690"/>
                </a:solidFill>
                <a:latin typeface="Calibri"/>
              </a:rPr>
              <a:t>…</a:t>
            </a:r>
          </a:p>
        </p:txBody>
      </p:sp>
      <p:sp>
        <p:nvSpPr>
          <p:cNvPr id="37" name="TextBox 36"/>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S27  ·  30 / 93</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MONDAY  ·  BUSINESS METRIC DESIGN  ·  UBER, HYDERABAD</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Acceptance settled in week one; bookings kept falling</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Which of the city's numbers would have warned in the first week of Uber's scheme?</a:t>
            </a:r>
          </a:p>
        </p:txBody>
      </p:sp>
      <p:pic>
        <p:nvPicPr>
          <p:cNvPr id="9" name="mermaid diagram" descr="C2_W04_D01_lead_STUDENT.png"/>
          <p:cNvPicPr>
            <a:picLocks noChangeAspect="1"/>
          </p:cNvPicPr>
          <p:nvPr/>
        </p:nvPicPr>
        <p:blipFill>
          <a:blip r:embed="rId4"/>
          <a:stretch>
            <a:fillRect/>
          </a:stretch>
        </p:blipFill>
        <p:spPr>
          <a:xfrm>
            <a:off x="2693207" y="1664208"/>
            <a:ext cx="6805280" cy="2662936"/>
          </a:xfrm>
          <a:prstGeom prst="rect">
            <a:avLst/>
          </a:prstGeom>
        </p:spPr>
      </p:pic>
      <p:sp>
        <p:nvSpPr>
          <p:cNvPr id="10" name="picture caption"/>
          <p:cNvSpPr txBox="1"/>
          <p:nvPr/>
        </p:nvSpPr>
        <p:spPr>
          <a:xfrm>
            <a:off x="530352" y="4363720"/>
            <a:ext cx="11130991" cy="316992"/>
          </a:xfrm>
          <a:prstGeom prst="rect">
            <a:avLst/>
          </a:prstGeom>
          <a:noFill/>
        </p:spPr>
        <p:txBody>
          <a:bodyPr wrap="square" anchor="t" lIns="0" rIns="0" tIns="0" bIns="0">
            <a:spAutoFit/>
          </a:bodyPr>
          <a:lstStyle/>
          <a:p>
            <a:pPr algn="ctr"/>
            <a:r>
              <a:rPr sz="1200" b="0" i="0">
                <a:solidFill>
                  <a:srgbClr val="6B6690"/>
                </a:solidFill>
                <a:latin typeface="Calibri"/>
              </a:rPr>
              <a:t>Weekly share of offers accepted beside bookings per online hour, twelve weeks</a:t>
            </a:r>
          </a:p>
        </p:txBody>
      </p:sp>
      <p:sp>
        <p:nvSpPr>
          <p:cNvPr id="11" name="TextBox 10"/>
          <p:cNvSpPr txBox="1"/>
          <p:nvPr/>
        </p:nvSpPr>
        <p:spPr>
          <a:xfrm>
            <a:off x="530352" y="4689856"/>
            <a:ext cx="11130991" cy="1509775"/>
          </a:xfrm>
          <a:prstGeom prst="rect">
            <a:avLst/>
          </a:prstGeom>
          <a:noFill/>
        </p:spPr>
        <p:txBody>
          <a:bodyPr wrap="square" anchor="t" lIns="0" rIns="0" tIns="0" bIns="0">
            <a:spAutoFit/>
          </a:bodyPr>
          <a:lstStyle/>
          <a:p>
            <a:r>
              <a:rPr sz="1600" b="0" i="0">
                <a:solidFill>
                  <a:srgbClr val="1A1440"/>
                </a:solidFill>
                <a:latin typeface="Calibri"/>
              </a:rPr>
              <a:t>On the case's twelve weeks the share of offers accepted went from 0.862 in the week before the launch to 0.729 in the launch week and stayed there, while bookings per online hour, the fares riders paid per hour online, went from Rs 310.3 to Rs 271.0 that week and kept falling to Rs 259.1 by the third. Both fell at the launch; acceptance reached its new level at once, so a city team watching it had the whole change in week one.</a:t>
            </a:r>
          </a:p>
        </p:txBody>
      </p:sp>
      <p:sp>
        <p:nvSpPr>
          <p:cNvPr id="12" name="Oval 11"/>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40080"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What is a number for?</a:t>
            </a:r>
          </a:p>
        </p:txBody>
      </p:sp>
      <p:sp>
        <p:nvSpPr>
          <p:cNvPr id="14" name="Oval 13"/>
          <p:cNvSpPr/>
          <p:nvPr/>
        </p:nvSpPr>
        <p:spPr>
          <a:xfrm>
            <a:off x="197196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2081688"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Which number to chase?</a:t>
            </a:r>
          </a:p>
        </p:txBody>
      </p:sp>
      <p:sp>
        <p:nvSpPr>
          <p:cNvPr id="16" name="Oval 15"/>
          <p:cNvSpPr/>
          <p:nvPr/>
        </p:nvSpPr>
        <p:spPr>
          <a:xfrm>
            <a:off x="3459575"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3569303" y="6437376"/>
            <a:ext cx="1148429" cy="152146"/>
          </a:xfrm>
          <a:prstGeom prst="rect">
            <a:avLst/>
          </a:prstGeom>
          <a:noFill/>
        </p:spPr>
        <p:txBody>
          <a:bodyPr wrap="square" anchor="t" lIns="0" rIns="0" tIns="0" bIns="0">
            <a:spAutoFit/>
          </a:bodyPr>
          <a:lstStyle/>
          <a:p>
            <a:pPr algn="l"/>
            <a:r>
              <a:rPr sz="700" b="1" i="0">
                <a:solidFill>
                  <a:srgbClr val="5B3FD6"/>
                </a:solidFill>
                <a:latin typeface="Calibri"/>
              </a:rPr>
              <a:t>Which number warns?</a:t>
            </a:r>
          </a:p>
        </p:txBody>
      </p:sp>
      <p:sp>
        <p:nvSpPr>
          <p:cNvPr id="18" name="Oval 17"/>
          <p:cNvSpPr/>
          <p:nvPr/>
        </p:nvSpPr>
        <p:spPr>
          <a:xfrm>
            <a:off x="480917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4918900"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Which four lines?</a:t>
            </a:r>
          </a:p>
        </p:txBody>
      </p:sp>
      <p:sp>
        <p:nvSpPr>
          <p:cNvPr id="20" name="Oval 19"/>
          <p:cNvSpPr/>
          <p:nvPr/>
        </p:nvSpPr>
        <p:spPr>
          <a:xfrm>
            <a:off x="606675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6176486"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How is a number gamed?</a:t>
            </a:r>
          </a:p>
        </p:txBody>
      </p:sp>
      <p:sp>
        <p:nvSpPr>
          <p:cNvPr id="22" name="Oval 21"/>
          <p:cNvSpPr/>
          <p:nvPr/>
        </p:nvSpPr>
        <p:spPr>
          <a:xfrm>
            <a:off x="755437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766410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the page hold?</a:t>
            </a:r>
          </a:p>
        </p:txBody>
      </p:sp>
      <p:sp>
        <p:nvSpPr>
          <p:cNvPr id="24" name="Oval 23"/>
          <p:cNvSpPr/>
          <p:nvPr/>
        </p:nvSpPr>
        <p:spPr>
          <a:xfrm>
            <a:off x="91339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9243726"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an hour count?</a:t>
            </a:r>
          </a:p>
        </p:txBody>
      </p:sp>
      <p:sp>
        <p:nvSpPr>
          <p:cNvPr id="26" name="TextBox 25"/>
          <p:cNvSpPr txBox="1"/>
          <p:nvPr/>
        </p:nvSpPr>
        <p:spPr>
          <a:xfrm>
            <a:off x="10713624" y="6437376"/>
            <a:ext cx="256032" cy="152146"/>
          </a:xfrm>
          <a:prstGeom prst="rect">
            <a:avLst/>
          </a:prstGeom>
          <a:noFill/>
        </p:spPr>
        <p:txBody>
          <a:bodyPr wrap="square" anchor="t" lIns="0" rIns="0" tIns="0" bIns="0">
            <a:spAutoFit/>
          </a:bodyPr>
          <a:lstStyle/>
          <a:p>
            <a:pPr algn="l"/>
            <a:r>
              <a:rPr sz="700" b="0" i="0">
                <a:solidFill>
                  <a:srgbClr val="6B6690"/>
                </a:solidFill>
                <a:latin typeface="Calibri"/>
              </a:rPr>
              <a:t>…</a:t>
            </a:r>
          </a:p>
        </p:txBody>
      </p:sp>
      <p:sp>
        <p:nvSpPr>
          <p:cNvPr id="27" name="TextBox 26"/>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S28  ·  31 / 93</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MONDAY  ·  BUSINESS METRIC DESIGN  ·  UBER, HYDERABAD</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Leading inputs feed chapter 6 and the case's tree</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Where did the idea come from, and where does it go next?</a:t>
            </a:r>
          </a:p>
        </p:txBody>
      </p:sp>
      <p:pic>
        <p:nvPicPr>
          <p:cNvPr id="9" name="mermaid diagram" descr="50d3cebe4ee9e462.png"/>
          <p:cNvPicPr>
            <a:picLocks noChangeAspect="1"/>
          </p:cNvPicPr>
          <p:nvPr/>
        </p:nvPicPr>
        <p:blipFill>
          <a:blip r:embed="rId5"/>
          <a:stretch>
            <a:fillRect/>
          </a:stretch>
        </p:blipFill>
        <p:spPr>
          <a:xfrm>
            <a:off x="1430978" y="1953069"/>
            <a:ext cx="9329737" cy="3057525"/>
          </a:xfrm>
          <a:prstGeom prst="rect">
            <a:avLst/>
          </a:prstGeom>
        </p:spPr>
      </p:pic>
      <p:sp>
        <p:nvSpPr>
          <p:cNvPr id="10" name="TextBox 9"/>
          <p:cNvSpPr txBox="1"/>
          <p:nvPr/>
        </p:nvSpPr>
        <p:spPr>
          <a:xfrm>
            <a:off x="530352" y="5156898"/>
            <a:ext cx="11130991" cy="772160"/>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In chapter 9 the city's two leading inputs sit under its north star: enrolled drivers online in the first peak hour, and rider requests per online hour by zone.</a:t>
            </a:r>
          </a:p>
        </p:txBody>
      </p:sp>
      <p:sp>
        <p:nvSpPr>
          <p:cNvPr id="11" name="Oval 10"/>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40080"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What is a number for?</a:t>
            </a:r>
          </a:p>
        </p:txBody>
      </p:sp>
      <p:sp>
        <p:nvSpPr>
          <p:cNvPr id="13" name="Oval 12"/>
          <p:cNvSpPr/>
          <p:nvPr/>
        </p:nvSpPr>
        <p:spPr>
          <a:xfrm>
            <a:off x="197196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2081688"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Which number to chase?</a:t>
            </a:r>
          </a:p>
        </p:txBody>
      </p:sp>
      <p:sp>
        <p:nvSpPr>
          <p:cNvPr id="15" name="Oval 14"/>
          <p:cNvSpPr/>
          <p:nvPr/>
        </p:nvSpPr>
        <p:spPr>
          <a:xfrm>
            <a:off x="3459575"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3569303" y="6437376"/>
            <a:ext cx="1148429" cy="152146"/>
          </a:xfrm>
          <a:prstGeom prst="rect">
            <a:avLst/>
          </a:prstGeom>
          <a:noFill/>
        </p:spPr>
        <p:txBody>
          <a:bodyPr wrap="square" anchor="t" lIns="0" rIns="0" tIns="0" bIns="0">
            <a:spAutoFit/>
          </a:bodyPr>
          <a:lstStyle/>
          <a:p>
            <a:pPr algn="l"/>
            <a:r>
              <a:rPr sz="700" b="1" i="0">
                <a:solidFill>
                  <a:srgbClr val="5B3FD6"/>
                </a:solidFill>
                <a:latin typeface="Calibri"/>
              </a:rPr>
              <a:t>Which number warns?</a:t>
            </a:r>
          </a:p>
        </p:txBody>
      </p:sp>
      <p:sp>
        <p:nvSpPr>
          <p:cNvPr id="17" name="Oval 16"/>
          <p:cNvSpPr/>
          <p:nvPr/>
        </p:nvSpPr>
        <p:spPr>
          <a:xfrm>
            <a:off x="480917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4918900"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Which four lines?</a:t>
            </a:r>
          </a:p>
        </p:txBody>
      </p:sp>
      <p:sp>
        <p:nvSpPr>
          <p:cNvPr id="19" name="Oval 18"/>
          <p:cNvSpPr/>
          <p:nvPr/>
        </p:nvSpPr>
        <p:spPr>
          <a:xfrm>
            <a:off x="606675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176486"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How is a number gamed?</a:t>
            </a:r>
          </a:p>
        </p:txBody>
      </p:sp>
      <p:sp>
        <p:nvSpPr>
          <p:cNvPr id="21" name="Oval 20"/>
          <p:cNvSpPr/>
          <p:nvPr/>
        </p:nvSpPr>
        <p:spPr>
          <a:xfrm>
            <a:off x="755437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766410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the page hold?</a:t>
            </a:r>
          </a:p>
        </p:txBody>
      </p:sp>
      <p:sp>
        <p:nvSpPr>
          <p:cNvPr id="23" name="Oval 22"/>
          <p:cNvSpPr/>
          <p:nvPr/>
        </p:nvSpPr>
        <p:spPr>
          <a:xfrm>
            <a:off x="91339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9243726"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an hour count?</a:t>
            </a:r>
          </a:p>
        </p:txBody>
      </p:sp>
      <p:sp>
        <p:nvSpPr>
          <p:cNvPr id="25" name="TextBox 24"/>
          <p:cNvSpPr txBox="1"/>
          <p:nvPr/>
        </p:nvSpPr>
        <p:spPr>
          <a:xfrm>
            <a:off x="10713624" y="6437376"/>
            <a:ext cx="256032" cy="152146"/>
          </a:xfrm>
          <a:prstGeom prst="rect">
            <a:avLst/>
          </a:prstGeom>
          <a:noFill/>
        </p:spPr>
        <p:txBody>
          <a:bodyPr wrap="square" anchor="t" lIns="0" rIns="0" tIns="0" bIns="0">
            <a:spAutoFit/>
          </a:bodyPr>
          <a:lstStyle/>
          <a:p>
            <a:pPr algn="l"/>
            <a:r>
              <a:rPr sz="700" b="0" i="0">
                <a:solidFill>
                  <a:srgbClr val="6B6690"/>
                </a:solidFill>
                <a:latin typeface="Calibri"/>
              </a:rPr>
              <a:t>…</a:t>
            </a:r>
          </a:p>
        </p:txBody>
      </p:sp>
      <p:sp>
        <p:nvSpPr>
          <p:cNvPr id="26" name="TextBox 25"/>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S29  ·  32 / 93</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dark.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FFFFFF"/>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CFC9EE"/>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CFC9EE"/>
                </a:solidFill>
                <a:latin typeface="Calibri"/>
              </a:rPr>
              <a:t>PG DIPLOMA IN AI-ML AND AGENTIC AI ENGINEERING  ·  COHORT 2</a:t>
            </a:r>
          </a:p>
        </p:txBody>
      </p:sp>
      <p:sp>
        <p:nvSpPr>
          <p:cNvPr id="7" name="TextBox 6"/>
          <p:cNvSpPr txBox="1"/>
          <p:nvPr/>
        </p:nvSpPr>
        <p:spPr>
          <a:xfrm>
            <a:off x="731519" y="1143000"/>
            <a:ext cx="3657600" cy="1371600"/>
          </a:xfrm>
          <a:prstGeom prst="rect">
            <a:avLst/>
          </a:prstGeom>
          <a:noFill/>
        </p:spPr>
        <p:txBody>
          <a:bodyPr wrap="square" anchor="t" lIns="0" rIns="0" tIns="0" bIns="0">
            <a:spAutoFit/>
          </a:bodyPr>
          <a:lstStyle/>
          <a:p>
            <a:pPr algn="l"/>
            <a:r>
              <a:rPr sz="9600" b="0" i="0">
                <a:solidFill>
                  <a:srgbClr val="D9A7FF"/>
                </a:solidFill>
                <a:latin typeface="Georgia"/>
              </a:rPr>
              <a:t>04</a:t>
            </a:r>
          </a:p>
        </p:txBody>
      </p:sp>
      <p:sp>
        <p:nvSpPr>
          <p:cNvPr id="8" name="TextBox 7"/>
          <p:cNvSpPr txBox="1"/>
          <p:nvPr/>
        </p:nvSpPr>
        <p:spPr>
          <a:xfrm>
            <a:off x="731519" y="2542032"/>
            <a:ext cx="10673791" cy="366776"/>
          </a:xfrm>
          <a:prstGeom prst="rect">
            <a:avLst/>
          </a:prstGeom>
          <a:noFill/>
        </p:spPr>
        <p:txBody>
          <a:bodyPr wrap="square" anchor="t" lIns="0" rIns="0" tIns="0" bIns="0">
            <a:spAutoFit/>
          </a:bodyPr>
          <a:lstStyle/>
          <a:p>
            <a:pPr algn="l"/>
            <a:r>
              <a:rPr sz="2000" b="1" i="0">
                <a:solidFill>
                  <a:srgbClr val="D9A7FF"/>
                </a:solidFill>
                <a:latin typeface="Calibri"/>
              </a:rPr>
              <a:t>Definitions: numerator, denominator, window, exclusions</a:t>
            </a:r>
          </a:p>
        </p:txBody>
      </p:sp>
      <p:sp>
        <p:nvSpPr>
          <p:cNvPr id="9" name="TextBox 8"/>
          <p:cNvSpPr txBox="1"/>
          <p:nvPr/>
        </p:nvSpPr>
        <p:spPr>
          <a:xfrm>
            <a:off x="731519" y="3017520"/>
            <a:ext cx="10673791" cy="731520"/>
          </a:xfrm>
          <a:prstGeom prst="rect">
            <a:avLst/>
          </a:prstGeom>
          <a:noFill/>
        </p:spPr>
        <p:txBody>
          <a:bodyPr wrap="square" anchor="t" lIns="0" rIns="0" tIns="0" bIns="0">
            <a:spAutoFit/>
          </a:bodyPr>
          <a:lstStyle/>
          <a:p>
            <a:pPr algn="l"/>
            <a:r>
              <a:rPr sz="4000" b="0" i="0">
                <a:solidFill>
                  <a:srgbClr val="FFFFFF"/>
                </a:solidFill>
                <a:latin typeface="Georgia"/>
              </a:rPr>
              <a:t>Which four lines?</a:t>
            </a:r>
          </a:p>
        </p:txBody>
      </p:sp>
      <p:sp>
        <p:nvSpPr>
          <p:cNvPr id="10" name="TextBox 9"/>
          <p:cNvSpPr txBox="1"/>
          <p:nvPr/>
        </p:nvSpPr>
        <p:spPr>
          <a:xfrm>
            <a:off x="731519" y="3931920"/>
            <a:ext cx="9509760" cy="284226"/>
          </a:xfrm>
          <a:prstGeom prst="rect">
            <a:avLst/>
          </a:prstGeom>
          <a:noFill/>
        </p:spPr>
        <p:txBody>
          <a:bodyPr wrap="square" anchor="t" lIns="0" rIns="0" tIns="0" bIns="0">
            <a:spAutoFit/>
          </a:bodyPr>
          <a:lstStyle/>
          <a:p>
            <a:pPr algn="l"/>
            <a:r>
              <a:rPr sz="1500" b="0" i="0">
                <a:solidFill>
                  <a:srgbClr val="E4E1F1"/>
                </a:solidFill>
                <a:latin typeface="Calibri"/>
              </a:rPr>
              <a:t>Write the four lines that make a number computable, and watch each line move the same number.</a:t>
            </a:r>
          </a:p>
        </p:txBody>
      </p:sp>
      <p:sp>
        <p:nvSpPr>
          <p:cNvPr id="11" name="Rounded Rectangle 10"/>
          <p:cNvSpPr/>
          <p:nvPr/>
        </p:nvSpPr>
        <p:spPr>
          <a:xfrm>
            <a:off x="731519" y="5074920"/>
            <a:ext cx="1082213"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What is a number for?</a:t>
            </a:r>
          </a:p>
        </p:txBody>
      </p:sp>
      <p:sp>
        <p:nvSpPr>
          <p:cNvPr id="12" name="Rounded Rectangle 11"/>
          <p:cNvSpPr/>
          <p:nvPr/>
        </p:nvSpPr>
        <p:spPr>
          <a:xfrm>
            <a:off x="1923461" y="5074920"/>
            <a:ext cx="1122034"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Which number to chase?</a:t>
            </a:r>
          </a:p>
        </p:txBody>
      </p:sp>
      <p:sp>
        <p:nvSpPr>
          <p:cNvPr id="13" name="Rounded Rectangle 12"/>
          <p:cNvSpPr/>
          <p:nvPr/>
        </p:nvSpPr>
        <p:spPr>
          <a:xfrm>
            <a:off x="3155223" y="5074920"/>
            <a:ext cx="1002570"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Which number warns?</a:t>
            </a:r>
          </a:p>
        </p:txBody>
      </p:sp>
      <p:sp>
        <p:nvSpPr>
          <p:cNvPr id="14" name="Rounded Rectangle 13"/>
          <p:cNvSpPr/>
          <p:nvPr/>
        </p:nvSpPr>
        <p:spPr>
          <a:xfrm>
            <a:off x="4267522" y="5074920"/>
            <a:ext cx="922927" cy="310896"/>
          </a:xfrm>
          <a:prstGeom prst="roundRect">
            <a:avLst>
              <a:gd name="adj" fmla="val 50000"/>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1">
                <a:solidFill>
                  <a:srgbClr val="1A0F5C"/>
                </a:solidFill>
                <a:latin typeface="Calibri"/>
              </a:rPr>
              <a:t>Which four lines?</a:t>
            </a:r>
          </a:p>
        </p:txBody>
      </p:sp>
      <p:sp>
        <p:nvSpPr>
          <p:cNvPr id="15" name="Rounded Rectangle 14"/>
          <p:cNvSpPr/>
          <p:nvPr/>
        </p:nvSpPr>
        <p:spPr>
          <a:xfrm>
            <a:off x="5300178" y="5074920"/>
            <a:ext cx="1122034"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How is a number gamed?</a:t>
            </a:r>
          </a:p>
        </p:txBody>
      </p:sp>
      <p:sp>
        <p:nvSpPr>
          <p:cNvPr id="16" name="Rounded Rectangle 15"/>
          <p:cNvSpPr/>
          <p:nvPr/>
        </p:nvSpPr>
        <p:spPr>
          <a:xfrm>
            <a:off x="6531940" y="5074920"/>
            <a:ext cx="1201677"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What does the page hold?</a:t>
            </a:r>
          </a:p>
        </p:txBody>
      </p:sp>
      <p:sp>
        <p:nvSpPr>
          <p:cNvPr id="17" name="Rounded Rectangle 16"/>
          <p:cNvSpPr/>
          <p:nvPr/>
        </p:nvSpPr>
        <p:spPr>
          <a:xfrm>
            <a:off x="7843346" y="5074920"/>
            <a:ext cx="1201677"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What does an hour count?</a:t>
            </a:r>
          </a:p>
        </p:txBody>
      </p:sp>
      <p:sp>
        <p:nvSpPr>
          <p:cNvPr id="18" name="Rounded Rectangle 17"/>
          <p:cNvSpPr/>
          <p:nvPr/>
        </p:nvSpPr>
        <p:spPr>
          <a:xfrm>
            <a:off x="9154751" y="5074920"/>
            <a:ext cx="1161855"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Where did the fall sit?</a:t>
            </a:r>
          </a:p>
        </p:txBody>
      </p:sp>
      <p:sp>
        <p:nvSpPr>
          <p:cNvPr id="19" name="Rounded Rectangle 18"/>
          <p:cNvSpPr/>
          <p:nvPr/>
        </p:nvSpPr>
        <p:spPr>
          <a:xfrm>
            <a:off x="10426335" y="5074920"/>
            <a:ext cx="1161855"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What should it pay for?</a:t>
            </a:r>
          </a:p>
        </p:txBody>
      </p:sp>
      <p:sp>
        <p:nvSpPr>
          <p:cNvPr id="20" name="TextBox 19"/>
          <p:cNvSpPr txBox="1"/>
          <p:nvPr/>
        </p:nvSpPr>
        <p:spPr>
          <a:xfrm>
            <a:off x="530352" y="6437376"/>
            <a:ext cx="9667951" cy="160401"/>
          </a:xfrm>
          <a:prstGeom prst="rect">
            <a:avLst/>
          </a:prstGeom>
          <a:noFill/>
        </p:spPr>
        <p:txBody>
          <a:bodyPr wrap="square" anchor="t" lIns="0" rIns="0" tIns="0" bIns="0">
            <a:spAutoFit/>
          </a:bodyPr>
          <a:lstStyle/>
          <a:p>
            <a:pPr algn="l"/>
            <a:r>
              <a:rPr sz="750" b="0" i="0">
                <a:solidFill>
                  <a:srgbClr val="CFC9EE"/>
                </a:solidFill>
                <a:latin typeface="Calibri"/>
              </a:rPr>
              <a:t>Week 4, Day 1. Business metric design: which number should the plan chase, and what stops it being gamed?</a:t>
            </a:r>
          </a:p>
        </p:txBody>
      </p:sp>
      <p:sp>
        <p:nvSpPr>
          <p:cNvPr id="21" name="TextBox 20"/>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CFC9EE"/>
                </a:solidFill>
                <a:latin typeface="Calibri"/>
              </a:rPr>
              <a:t>33 / 93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MONDAY  ·  BUSINESS METRIC DESIGN  ·  UBER, HYDERABAD</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Four written lines let two people count alike</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Who needs the answer, and which questions lead to it?</a:t>
            </a:r>
          </a:p>
        </p:txBody>
      </p:sp>
      <p:sp>
        <p:nvSpPr>
          <p:cNvPr id="9" name="TextBox 8"/>
          <p:cNvSpPr txBox="1"/>
          <p:nvPr/>
        </p:nvSpPr>
        <p:spPr>
          <a:xfrm>
            <a:off x="530352" y="1837690"/>
            <a:ext cx="11130991" cy="1048512"/>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Week 1 Monday wrote every rate as a </a:t>
            </a:r>
            <a:r>
              <a:rPr sz="1600" b="1" i="0">
                <a:solidFill>
                  <a:srgbClr val="1A1440"/>
                </a:solidFill>
                <a:latin typeface="Calibri"/>
              </a:rPr>
              <a:t>numerator</a:t>
            </a:r>
            <a:r>
              <a:rPr sz="1600" b="0" i="0">
                <a:solidFill>
                  <a:srgbClr val="1A1440"/>
                </a:solidFill>
                <a:latin typeface="Calibri"/>
              </a:rPr>
              <a:t> over a </a:t>
            </a:r>
            <a:r>
              <a:rPr sz="1600" b="1" i="0">
                <a:solidFill>
                  <a:srgbClr val="1A1440"/>
                </a:solidFill>
                <a:latin typeface="Calibri"/>
              </a:rPr>
              <a:t>denominator</a:t>
            </a:r>
            <a:r>
              <a:rPr sz="1600" b="0" i="0">
                <a:solidFill>
                  <a:srgbClr val="1A1440"/>
                </a:solidFill>
                <a:latin typeface="Calibri"/>
              </a:rPr>
              <a:t>. Two more lines finish the job: the </a:t>
            </a:r>
            <a:r>
              <a:rPr sz="1600" b="1" i="0">
                <a:solidFill>
                  <a:srgbClr val="1A1440"/>
                </a:solidFill>
                <a:latin typeface="Calibri"/>
              </a:rPr>
              <a:t>window</a:t>
            </a:r>
            <a:r>
              <a:rPr sz="1600" b="0" i="0">
                <a:solidFill>
                  <a:srgbClr val="1A1440"/>
                </a:solidFill>
                <a:latin typeface="Calibri"/>
              </a:rPr>
              <a:t>, the stretch of time the count covers, and the </a:t>
            </a:r>
            <a:r>
              <a:rPr sz="1600" b="1" i="0">
                <a:solidFill>
                  <a:srgbClr val="1A1440"/>
                </a:solidFill>
                <a:latin typeface="Calibri"/>
              </a:rPr>
              <a:t>exclusions</a:t>
            </a:r>
            <a:r>
              <a:rPr sz="1600" b="0" i="0">
                <a:solidFill>
                  <a:srgbClr val="1A1440"/>
                </a:solidFill>
                <a:latin typeface="Calibri"/>
              </a:rPr>
              <a:t>, what is left out of both counts, with the date of any change.</a:t>
            </a:r>
          </a:p>
        </p:txBody>
      </p:sp>
      <p:sp>
        <p:nvSpPr>
          <p:cNvPr id="10" name="Rounded Rectangle 9"/>
          <p:cNvSpPr/>
          <p:nvPr/>
        </p:nvSpPr>
        <p:spPr>
          <a:xfrm>
            <a:off x="530352" y="3014218"/>
            <a:ext cx="11130991" cy="10744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676656" y="3142234"/>
            <a:ext cx="45720" cy="8183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7824" y="3133090"/>
            <a:ext cx="10564063" cy="891540"/>
          </a:xfrm>
          <a:prstGeom prst="rect">
            <a:avLst/>
          </a:prstGeom>
          <a:noFill/>
        </p:spPr>
        <p:txBody>
          <a:bodyPr wrap="square" anchor="ctr" lIns="0" rIns="0" tIns="0" bIns="0">
            <a:spAutoFit/>
          </a:bodyPr>
          <a:lstStyle/>
          <a:p>
            <a:r>
              <a:rPr sz="1500" b="1">
                <a:solidFill>
                  <a:srgbClr val="5B3FD6"/>
                </a:solidFill>
                <a:latin typeface="Calibri"/>
              </a:rPr>
              <a:t>Who needs the answer. </a:t>
            </a:r>
            <a:r>
              <a:rPr sz="1500" b="0" i="0">
                <a:solidFill>
                  <a:srgbClr val="1A1440"/>
                </a:solidFill>
                <a:latin typeface="Calibri"/>
              </a:rPr>
              <a:t>A school principal (invented) who prints one attendance figure on a student's transfer certificate, and the two clerks who must compute it alike: a figure computed two ways can cost a student a scholarship.</a:t>
            </a:r>
          </a:p>
        </p:txBody>
      </p:sp>
      <p:sp>
        <p:nvSpPr>
          <p:cNvPr id="13" name="Rectangle 12"/>
          <p:cNvSpPr/>
          <p:nvPr/>
        </p:nvSpPr>
        <p:spPr>
          <a:xfrm>
            <a:off x="1853145" y="4820158"/>
            <a:ext cx="8485403" cy="18288"/>
          </a:xfrm>
          <a:prstGeom prst="rect">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530352" y="4253230"/>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LINE 1</a:t>
            </a:r>
          </a:p>
        </p:txBody>
      </p:sp>
      <p:sp>
        <p:nvSpPr>
          <p:cNvPr id="15" name="Oval 14"/>
          <p:cNvSpPr/>
          <p:nvPr/>
        </p:nvSpPr>
        <p:spPr>
          <a:xfrm>
            <a:off x="1752561" y="4728718"/>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ounded Rectangle 15"/>
          <p:cNvSpPr/>
          <p:nvPr/>
        </p:nvSpPr>
        <p:spPr>
          <a:xfrm>
            <a:off x="530352" y="5140198"/>
            <a:ext cx="2645587" cy="90424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694944" y="5286502"/>
            <a:ext cx="2316403" cy="251205"/>
          </a:xfrm>
          <a:prstGeom prst="rect">
            <a:avLst/>
          </a:prstGeom>
          <a:noFill/>
        </p:spPr>
        <p:txBody>
          <a:bodyPr wrap="square" anchor="t" lIns="0" rIns="0" tIns="0" bIns="0">
            <a:spAutoFit/>
          </a:bodyPr>
          <a:lstStyle/>
          <a:p>
            <a:pPr algn="l"/>
            <a:r>
              <a:rPr sz="1300" b="1" i="0">
                <a:solidFill>
                  <a:srgbClr val="1A0F5C"/>
                </a:solidFill>
                <a:latin typeface="Calibri"/>
              </a:rPr>
              <a:t>The numerator</a:t>
            </a:r>
          </a:p>
        </p:txBody>
      </p:sp>
      <p:sp>
        <p:nvSpPr>
          <p:cNvPr id="18" name="TextBox 17"/>
          <p:cNvSpPr txBox="1"/>
          <p:nvPr/>
        </p:nvSpPr>
        <p:spPr>
          <a:xfrm>
            <a:off x="694944" y="5574284"/>
            <a:ext cx="2316403" cy="201676"/>
          </a:xfrm>
          <a:prstGeom prst="rect">
            <a:avLst/>
          </a:prstGeom>
          <a:noFill/>
        </p:spPr>
        <p:txBody>
          <a:bodyPr wrap="square" anchor="t" lIns="0" rIns="0" tIns="0" bIns="0">
            <a:spAutoFit/>
          </a:bodyPr>
          <a:lstStyle/>
          <a:p>
            <a:pPr algn="l"/>
            <a:r>
              <a:rPr sz="1000" b="0" i="0">
                <a:solidFill>
                  <a:srgbClr val="6B6690"/>
                </a:solidFill>
                <a:latin typeface="Calibri"/>
              </a:rPr>
              <a:t>What is counted on top.</a:t>
            </a:r>
          </a:p>
        </p:txBody>
      </p:sp>
      <p:sp>
        <p:nvSpPr>
          <p:cNvPr id="19" name="TextBox 18"/>
          <p:cNvSpPr txBox="1"/>
          <p:nvPr/>
        </p:nvSpPr>
        <p:spPr>
          <a:xfrm>
            <a:off x="3358819" y="4253230"/>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LINE 2</a:t>
            </a:r>
          </a:p>
        </p:txBody>
      </p:sp>
      <p:sp>
        <p:nvSpPr>
          <p:cNvPr id="20" name="Oval 19"/>
          <p:cNvSpPr/>
          <p:nvPr/>
        </p:nvSpPr>
        <p:spPr>
          <a:xfrm>
            <a:off x="4581029" y="4728718"/>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ounded Rectangle 20"/>
          <p:cNvSpPr/>
          <p:nvPr/>
        </p:nvSpPr>
        <p:spPr>
          <a:xfrm>
            <a:off x="3358819" y="5140198"/>
            <a:ext cx="2645587" cy="90424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3523411" y="5286502"/>
            <a:ext cx="2316403" cy="251205"/>
          </a:xfrm>
          <a:prstGeom prst="rect">
            <a:avLst/>
          </a:prstGeom>
          <a:noFill/>
        </p:spPr>
        <p:txBody>
          <a:bodyPr wrap="square" anchor="t" lIns="0" rIns="0" tIns="0" bIns="0">
            <a:spAutoFit/>
          </a:bodyPr>
          <a:lstStyle/>
          <a:p>
            <a:pPr algn="l"/>
            <a:r>
              <a:rPr sz="1300" b="1" i="0">
                <a:solidFill>
                  <a:srgbClr val="1A0F5C"/>
                </a:solidFill>
                <a:latin typeface="Calibri"/>
              </a:rPr>
              <a:t>The denominator</a:t>
            </a:r>
          </a:p>
        </p:txBody>
      </p:sp>
      <p:sp>
        <p:nvSpPr>
          <p:cNvPr id="23" name="TextBox 22"/>
          <p:cNvSpPr txBox="1"/>
          <p:nvPr/>
        </p:nvSpPr>
        <p:spPr>
          <a:xfrm>
            <a:off x="3523411" y="5574284"/>
            <a:ext cx="2316403" cy="201676"/>
          </a:xfrm>
          <a:prstGeom prst="rect">
            <a:avLst/>
          </a:prstGeom>
          <a:noFill/>
        </p:spPr>
        <p:txBody>
          <a:bodyPr wrap="square" anchor="t" lIns="0" rIns="0" tIns="0" bIns="0">
            <a:spAutoFit/>
          </a:bodyPr>
          <a:lstStyle/>
          <a:p>
            <a:pPr algn="l"/>
            <a:r>
              <a:rPr sz="1000" b="0" i="0">
                <a:solidFill>
                  <a:srgbClr val="6B6690"/>
                </a:solidFill>
                <a:latin typeface="Calibri"/>
              </a:rPr>
              <a:t>What it is divided by.</a:t>
            </a:r>
          </a:p>
        </p:txBody>
      </p:sp>
      <p:sp>
        <p:nvSpPr>
          <p:cNvPr id="24" name="TextBox 23"/>
          <p:cNvSpPr txBox="1"/>
          <p:nvPr/>
        </p:nvSpPr>
        <p:spPr>
          <a:xfrm>
            <a:off x="6187287" y="4253230"/>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LINE 3</a:t>
            </a:r>
          </a:p>
        </p:txBody>
      </p:sp>
      <p:sp>
        <p:nvSpPr>
          <p:cNvPr id="25" name="Oval 24"/>
          <p:cNvSpPr/>
          <p:nvPr/>
        </p:nvSpPr>
        <p:spPr>
          <a:xfrm>
            <a:off x="7409497" y="4728718"/>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ounded Rectangle 25"/>
          <p:cNvSpPr/>
          <p:nvPr/>
        </p:nvSpPr>
        <p:spPr>
          <a:xfrm>
            <a:off x="6187287" y="5140198"/>
            <a:ext cx="2645587" cy="90424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6351879" y="5286502"/>
            <a:ext cx="2316403" cy="251205"/>
          </a:xfrm>
          <a:prstGeom prst="rect">
            <a:avLst/>
          </a:prstGeom>
          <a:noFill/>
        </p:spPr>
        <p:txBody>
          <a:bodyPr wrap="square" anchor="t" lIns="0" rIns="0" tIns="0" bIns="0">
            <a:spAutoFit/>
          </a:bodyPr>
          <a:lstStyle/>
          <a:p>
            <a:pPr algn="l"/>
            <a:r>
              <a:rPr sz="1300" b="1" i="0">
                <a:solidFill>
                  <a:srgbClr val="1A0F5C"/>
                </a:solidFill>
                <a:latin typeface="Calibri"/>
              </a:rPr>
              <a:t>The window</a:t>
            </a:r>
          </a:p>
        </p:txBody>
      </p:sp>
      <p:sp>
        <p:nvSpPr>
          <p:cNvPr id="28" name="TextBox 27"/>
          <p:cNvSpPr txBox="1"/>
          <p:nvPr/>
        </p:nvSpPr>
        <p:spPr>
          <a:xfrm>
            <a:off x="6351879" y="5574284"/>
            <a:ext cx="2316403" cy="201676"/>
          </a:xfrm>
          <a:prstGeom prst="rect">
            <a:avLst/>
          </a:prstGeom>
          <a:noFill/>
        </p:spPr>
        <p:txBody>
          <a:bodyPr wrap="square" anchor="t" lIns="0" rIns="0" tIns="0" bIns="0">
            <a:spAutoFit/>
          </a:bodyPr>
          <a:lstStyle/>
          <a:p>
            <a:pPr algn="l"/>
            <a:r>
              <a:rPr sz="1000" b="0" i="0">
                <a:solidFill>
                  <a:srgbClr val="6B6690"/>
                </a:solidFill>
                <a:latin typeface="Calibri"/>
              </a:rPr>
              <a:t>Which stretch of days.</a:t>
            </a:r>
          </a:p>
        </p:txBody>
      </p:sp>
      <p:sp>
        <p:nvSpPr>
          <p:cNvPr id="29" name="TextBox 28"/>
          <p:cNvSpPr txBox="1"/>
          <p:nvPr/>
        </p:nvSpPr>
        <p:spPr>
          <a:xfrm>
            <a:off x="9015755" y="4253230"/>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LINE 4</a:t>
            </a:r>
          </a:p>
        </p:txBody>
      </p:sp>
      <p:sp>
        <p:nvSpPr>
          <p:cNvPr id="30" name="Oval 29"/>
          <p:cNvSpPr/>
          <p:nvPr/>
        </p:nvSpPr>
        <p:spPr>
          <a:xfrm>
            <a:off x="10237965" y="4728718"/>
            <a:ext cx="201168" cy="201168"/>
          </a:xfrm>
          <a:prstGeom prst="ellipse">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ounded Rectangle 30"/>
          <p:cNvSpPr/>
          <p:nvPr/>
        </p:nvSpPr>
        <p:spPr>
          <a:xfrm>
            <a:off x="9015755" y="5140198"/>
            <a:ext cx="2645587" cy="904240"/>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9180347" y="5286502"/>
            <a:ext cx="2316403" cy="251205"/>
          </a:xfrm>
          <a:prstGeom prst="rect">
            <a:avLst/>
          </a:prstGeom>
          <a:noFill/>
        </p:spPr>
        <p:txBody>
          <a:bodyPr wrap="square" anchor="t" lIns="0" rIns="0" tIns="0" bIns="0">
            <a:spAutoFit/>
          </a:bodyPr>
          <a:lstStyle/>
          <a:p>
            <a:pPr algn="l"/>
            <a:r>
              <a:rPr sz="1300" b="1" i="0">
                <a:solidFill>
                  <a:srgbClr val="FFFFFF"/>
                </a:solidFill>
                <a:latin typeface="Calibri"/>
              </a:rPr>
              <a:t>The exclusions</a:t>
            </a:r>
          </a:p>
        </p:txBody>
      </p:sp>
      <p:sp>
        <p:nvSpPr>
          <p:cNvPr id="33" name="TextBox 32"/>
          <p:cNvSpPr txBox="1"/>
          <p:nvPr/>
        </p:nvSpPr>
        <p:spPr>
          <a:xfrm>
            <a:off x="9180347" y="5574284"/>
            <a:ext cx="2316403" cy="201676"/>
          </a:xfrm>
          <a:prstGeom prst="rect">
            <a:avLst/>
          </a:prstGeom>
          <a:noFill/>
        </p:spPr>
        <p:txBody>
          <a:bodyPr wrap="square" anchor="t" lIns="0" rIns="0" tIns="0" bIns="0">
            <a:spAutoFit/>
          </a:bodyPr>
          <a:lstStyle/>
          <a:p>
            <a:pPr algn="l"/>
            <a:r>
              <a:rPr sz="1000" b="0" i="0">
                <a:solidFill>
                  <a:srgbClr val="CFC9EE"/>
                </a:solidFill>
                <a:latin typeface="Calibri"/>
              </a:rPr>
              <a:t>What leaves both counts.</a:t>
            </a:r>
          </a:p>
        </p:txBody>
      </p:sp>
      <p:sp>
        <p:nvSpPr>
          <p:cNvPr id="34" name="Oval 33"/>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640080"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What is a number for?</a:t>
            </a:r>
          </a:p>
        </p:txBody>
      </p:sp>
      <p:sp>
        <p:nvSpPr>
          <p:cNvPr id="36" name="Oval 35"/>
          <p:cNvSpPr/>
          <p:nvPr/>
        </p:nvSpPr>
        <p:spPr>
          <a:xfrm>
            <a:off x="197196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2081688"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Which number to chase?</a:t>
            </a:r>
          </a:p>
        </p:txBody>
      </p:sp>
      <p:sp>
        <p:nvSpPr>
          <p:cNvPr id="38" name="Oval 37"/>
          <p:cNvSpPr/>
          <p:nvPr/>
        </p:nvSpPr>
        <p:spPr>
          <a:xfrm>
            <a:off x="345957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3569303"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Which number warns?</a:t>
            </a:r>
          </a:p>
        </p:txBody>
      </p:sp>
      <p:sp>
        <p:nvSpPr>
          <p:cNvPr id="40" name="Oval 39"/>
          <p:cNvSpPr/>
          <p:nvPr/>
        </p:nvSpPr>
        <p:spPr>
          <a:xfrm>
            <a:off x="480917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4918900" y="6437376"/>
            <a:ext cx="1056417" cy="152146"/>
          </a:xfrm>
          <a:prstGeom prst="rect">
            <a:avLst/>
          </a:prstGeom>
          <a:noFill/>
        </p:spPr>
        <p:txBody>
          <a:bodyPr wrap="square" anchor="t" lIns="0" rIns="0" tIns="0" bIns="0">
            <a:spAutoFit/>
          </a:bodyPr>
          <a:lstStyle/>
          <a:p>
            <a:pPr algn="l"/>
            <a:r>
              <a:rPr sz="700" b="1" i="0">
                <a:solidFill>
                  <a:srgbClr val="5B3FD6"/>
                </a:solidFill>
                <a:latin typeface="Calibri"/>
              </a:rPr>
              <a:t>Which four lines?</a:t>
            </a:r>
          </a:p>
        </p:txBody>
      </p:sp>
      <p:sp>
        <p:nvSpPr>
          <p:cNvPr id="42" name="Oval 41"/>
          <p:cNvSpPr/>
          <p:nvPr/>
        </p:nvSpPr>
        <p:spPr>
          <a:xfrm>
            <a:off x="606675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TextBox 42"/>
          <p:cNvSpPr txBox="1"/>
          <p:nvPr/>
        </p:nvSpPr>
        <p:spPr>
          <a:xfrm>
            <a:off x="6176486"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How is a number gamed?</a:t>
            </a:r>
          </a:p>
        </p:txBody>
      </p:sp>
      <p:sp>
        <p:nvSpPr>
          <p:cNvPr id="44" name="Oval 43"/>
          <p:cNvSpPr/>
          <p:nvPr/>
        </p:nvSpPr>
        <p:spPr>
          <a:xfrm>
            <a:off x="755437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TextBox 44"/>
          <p:cNvSpPr txBox="1"/>
          <p:nvPr/>
        </p:nvSpPr>
        <p:spPr>
          <a:xfrm>
            <a:off x="766410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the page hold?</a:t>
            </a:r>
          </a:p>
        </p:txBody>
      </p:sp>
      <p:sp>
        <p:nvSpPr>
          <p:cNvPr id="46" name="Oval 45"/>
          <p:cNvSpPr/>
          <p:nvPr/>
        </p:nvSpPr>
        <p:spPr>
          <a:xfrm>
            <a:off x="91339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TextBox 46"/>
          <p:cNvSpPr txBox="1"/>
          <p:nvPr/>
        </p:nvSpPr>
        <p:spPr>
          <a:xfrm>
            <a:off x="9243726"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an hour count?</a:t>
            </a:r>
          </a:p>
        </p:txBody>
      </p:sp>
      <p:sp>
        <p:nvSpPr>
          <p:cNvPr id="48" name="TextBox 47"/>
          <p:cNvSpPr txBox="1"/>
          <p:nvPr/>
        </p:nvSpPr>
        <p:spPr>
          <a:xfrm>
            <a:off x="10713624" y="6437376"/>
            <a:ext cx="256032" cy="152146"/>
          </a:xfrm>
          <a:prstGeom prst="rect">
            <a:avLst/>
          </a:prstGeom>
          <a:noFill/>
        </p:spPr>
        <p:txBody>
          <a:bodyPr wrap="square" anchor="t" lIns="0" rIns="0" tIns="0" bIns="0">
            <a:spAutoFit/>
          </a:bodyPr>
          <a:lstStyle/>
          <a:p>
            <a:pPr algn="l"/>
            <a:r>
              <a:rPr sz="700" b="0" i="0">
                <a:solidFill>
                  <a:srgbClr val="6B6690"/>
                </a:solidFill>
                <a:latin typeface="Calibri"/>
              </a:rPr>
              <a:t>…</a:t>
            </a:r>
          </a:p>
        </p:txBody>
      </p:sp>
      <p:sp>
        <p:nvSpPr>
          <p:cNvPr id="49" name="TextBox 48"/>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S30  ·  34 / 93</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MONDAY  ·  BUSINESS METRIC DESIGN  ·  UBER, HYDERABAD</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How many numbers can one honest register give?</a:t>
            </a:r>
          </a:p>
        </p:txBody>
      </p:sp>
      <p:sp>
        <p:nvSpPr>
          <p:cNvPr id="8" name="TextBox 7"/>
          <p:cNvSpPr txBox="1"/>
          <p:nvPr/>
        </p:nvSpPr>
        <p:spPr>
          <a:xfrm>
            <a:off x="530352" y="1243584"/>
            <a:ext cx="11130991" cy="218186"/>
          </a:xfrm>
          <a:prstGeom prst="rect">
            <a:avLst/>
          </a:prstGeom>
          <a:noFill/>
        </p:spPr>
        <p:txBody>
          <a:bodyPr wrap="square" anchor="t" lIns="0" rIns="0" tIns="0" bIns="0">
            <a:spAutoFit/>
          </a:bodyPr>
          <a:lstStyle/>
          <a:p>
            <a:pPr algn="l"/>
            <a:r>
              <a:rPr sz="1100" b="0" i="0">
                <a:solidFill>
                  <a:srgbClr val="6B6690"/>
                </a:solidFill>
                <a:latin typeface="Calibri"/>
              </a:rPr>
              <a:t>One student's 60-day term (invented): five honest clerks compute the attendance percentage from the same register. How many different numbers come out?</a:t>
            </a:r>
          </a:p>
        </p:txBody>
      </p:sp>
      <p:sp>
        <p:nvSpPr>
          <p:cNvPr id="9" name="Rounded Rectangle 8"/>
          <p:cNvSpPr/>
          <p:nvPr/>
        </p:nvSpPr>
        <p:spPr>
          <a:xfrm>
            <a:off x="530352" y="1956816"/>
            <a:ext cx="2645587" cy="1964436"/>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731519"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1" name="Picture 10" descr="hash_29aa8cda0b59.png"/>
          <p:cNvPicPr>
            <a:picLocks noChangeAspect="1"/>
          </p:cNvPicPr>
          <p:nvPr/>
        </p:nvPicPr>
        <p:blipFill>
          <a:blip r:embed="rId4"/>
          <a:stretch>
            <a:fillRect/>
          </a:stretch>
        </p:blipFill>
        <p:spPr>
          <a:xfrm>
            <a:off x="841247" y="2267712"/>
            <a:ext cx="237744" cy="237744"/>
          </a:xfrm>
          <a:prstGeom prst="rect">
            <a:avLst/>
          </a:prstGeom>
        </p:spPr>
      </p:pic>
      <p:sp>
        <p:nvSpPr>
          <p:cNvPr id="12" name="TextBox 11"/>
          <p:cNvSpPr txBox="1"/>
          <p:nvPr/>
        </p:nvSpPr>
        <p:spPr>
          <a:xfrm>
            <a:off x="731519" y="2724912"/>
            <a:ext cx="2243251" cy="160401"/>
          </a:xfrm>
          <a:prstGeom prst="rect">
            <a:avLst/>
          </a:prstGeom>
          <a:noFill/>
        </p:spPr>
        <p:txBody>
          <a:bodyPr wrap="square" anchor="t" lIns="0" rIns="0" tIns="0" bIns="0">
            <a:spAutoFit/>
          </a:bodyPr>
          <a:lstStyle/>
          <a:p>
            <a:pPr algn="l"/>
            <a:r>
              <a:rPr sz="750" b="1" i="0" spc="250">
                <a:solidFill>
                  <a:srgbClr val="5B3FD6"/>
                </a:solidFill>
                <a:latin typeface="Calibri"/>
              </a:rPr>
              <a:t>A</a:t>
            </a:r>
          </a:p>
        </p:txBody>
      </p:sp>
      <p:sp>
        <p:nvSpPr>
          <p:cNvPr id="13" name="TextBox 12"/>
          <p:cNvSpPr txBox="1"/>
          <p:nvPr/>
        </p:nvSpPr>
        <p:spPr>
          <a:xfrm>
            <a:off x="731519" y="2962656"/>
            <a:ext cx="2243251" cy="267716"/>
          </a:xfrm>
          <a:prstGeom prst="rect">
            <a:avLst/>
          </a:prstGeom>
          <a:noFill/>
        </p:spPr>
        <p:txBody>
          <a:bodyPr wrap="square" anchor="t" lIns="0" rIns="0" tIns="0" bIns="0">
            <a:spAutoFit/>
          </a:bodyPr>
          <a:lstStyle/>
          <a:p>
            <a:pPr algn="l"/>
            <a:r>
              <a:rPr sz="1400" b="1" i="0">
                <a:solidFill>
                  <a:srgbClr val="1A0F5C"/>
                </a:solidFill>
                <a:latin typeface="Calibri"/>
              </a:rPr>
              <a:t>One</a:t>
            </a:r>
          </a:p>
        </p:txBody>
      </p:sp>
      <p:sp>
        <p:nvSpPr>
          <p:cNvPr id="14" name="TextBox 13"/>
          <p:cNvSpPr txBox="1"/>
          <p:nvPr/>
        </p:nvSpPr>
        <p:spPr>
          <a:xfrm>
            <a:off x="731519" y="3303524"/>
            <a:ext cx="2243251" cy="218186"/>
          </a:xfrm>
          <a:prstGeom prst="rect">
            <a:avLst/>
          </a:prstGeom>
          <a:noFill/>
        </p:spPr>
        <p:txBody>
          <a:bodyPr wrap="square" anchor="t" lIns="0" rIns="0" tIns="0" bIns="0">
            <a:spAutoFit/>
          </a:bodyPr>
          <a:lstStyle/>
          <a:p>
            <a:pPr algn="l"/>
            <a:r>
              <a:rPr sz="1100" b="0" i="0">
                <a:solidFill>
                  <a:srgbClr val="6B6690"/>
                </a:solidFill>
                <a:latin typeface="Calibri"/>
              </a:rPr>
              <a:t>A register is a register.</a:t>
            </a:r>
          </a:p>
        </p:txBody>
      </p:sp>
      <p:sp>
        <p:nvSpPr>
          <p:cNvPr id="15" name="Rounded Rectangle 14"/>
          <p:cNvSpPr/>
          <p:nvPr/>
        </p:nvSpPr>
        <p:spPr>
          <a:xfrm>
            <a:off x="3358819" y="1956816"/>
            <a:ext cx="2645587" cy="1964436"/>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Oval 15"/>
          <p:cNvSpPr/>
          <p:nvPr/>
        </p:nvSpPr>
        <p:spPr>
          <a:xfrm>
            <a:off x="3559987"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7" name="Picture 16" descr="hash_29aa8cda0b59.png"/>
          <p:cNvPicPr>
            <a:picLocks noChangeAspect="1"/>
          </p:cNvPicPr>
          <p:nvPr/>
        </p:nvPicPr>
        <p:blipFill>
          <a:blip r:embed="rId4"/>
          <a:stretch>
            <a:fillRect/>
          </a:stretch>
        </p:blipFill>
        <p:spPr>
          <a:xfrm>
            <a:off x="3669715" y="2267712"/>
            <a:ext cx="237744" cy="237744"/>
          </a:xfrm>
          <a:prstGeom prst="rect">
            <a:avLst/>
          </a:prstGeom>
        </p:spPr>
      </p:pic>
      <p:sp>
        <p:nvSpPr>
          <p:cNvPr id="18" name="TextBox 17"/>
          <p:cNvSpPr txBox="1"/>
          <p:nvPr/>
        </p:nvSpPr>
        <p:spPr>
          <a:xfrm>
            <a:off x="3559987" y="2724912"/>
            <a:ext cx="2243251" cy="160401"/>
          </a:xfrm>
          <a:prstGeom prst="rect">
            <a:avLst/>
          </a:prstGeom>
          <a:noFill/>
        </p:spPr>
        <p:txBody>
          <a:bodyPr wrap="square" anchor="t" lIns="0" rIns="0" tIns="0" bIns="0">
            <a:spAutoFit/>
          </a:bodyPr>
          <a:lstStyle/>
          <a:p>
            <a:pPr algn="l"/>
            <a:r>
              <a:rPr sz="750" b="1" i="0" spc="250">
                <a:solidFill>
                  <a:srgbClr val="5B3FD6"/>
                </a:solidFill>
                <a:latin typeface="Calibri"/>
              </a:rPr>
              <a:t>B</a:t>
            </a:r>
          </a:p>
        </p:txBody>
      </p:sp>
      <p:sp>
        <p:nvSpPr>
          <p:cNvPr id="19" name="TextBox 18"/>
          <p:cNvSpPr txBox="1"/>
          <p:nvPr/>
        </p:nvSpPr>
        <p:spPr>
          <a:xfrm>
            <a:off x="3559987" y="2962656"/>
            <a:ext cx="2243251" cy="267716"/>
          </a:xfrm>
          <a:prstGeom prst="rect">
            <a:avLst/>
          </a:prstGeom>
          <a:noFill/>
        </p:spPr>
        <p:txBody>
          <a:bodyPr wrap="square" anchor="t" lIns="0" rIns="0" tIns="0" bIns="0">
            <a:spAutoFit/>
          </a:bodyPr>
          <a:lstStyle/>
          <a:p>
            <a:pPr algn="l"/>
            <a:r>
              <a:rPr sz="1400" b="1" i="0">
                <a:solidFill>
                  <a:srgbClr val="1A0F5C"/>
                </a:solidFill>
                <a:latin typeface="Calibri"/>
              </a:rPr>
              <a:t>Two</a:t>
            </a:r>
          </a:p>
        </p:txBody>
      </p:sp>
      <p:sp>
        <p:nvSpPr>
          <p:cNvPr id="20" name="TextBox 19"/>
          <p:cNvSpPr txBox="1"/>
          <p:nvPr/>
        </p:nvSpPr>
        <p:spPr>
          <a:xfrm>
            <a:off x="3559987" y="3303524"/>
            <a:ext cx="2243251" cy="218186"/>
          </a:xfrm>
          <a:prstGeom prst="rect">
            <a:avLst/>
          </a:prstGeom>
          <a:noFill/>
        </p:spPr>
        <p:txBody>
          <a:bodyPr wrap="square" anchor="t" lIns="0" rIns="0" tIns="0" bIns="0">
            <a:spAutoFit/>
          </a:bodyPr>
          <a:lstStyle/>
          <a:p>
            <a:pPr algn="l"/>
            <a:r>
              <a:rPr sz="1100" b="0" i="0">
                <a:solidFill>
                  <a:srgbClr val="6B6690"/>
                </a:solidFill>
                <a:latin typeface="Calibri"/>
              </a:rPr>
              <a:t>With holidays, or without them.</a:t>
            </a:r>
          </a:p>
        </p:txBody>
      </p:sp>
      <p:sp>
        <p:nvSpPr>
          <p:cNvPr id="21" name="Rounded Rectangle 20"/>
          <p:cNvSpPr/>
          <p:nvPr/>
        </p:nvSpPr>
        <p:spPr>
          <a:xfrm>
            <a:off x="6187287" y="1956816"/>
            <a:ext cx="2645587" cy="1964436"/>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Oval 21"/>
          <p:cNvSpPr/>
          <p:nvPr/>
        </p:nvSpPr>
        <p:spPr>
          <a:xfrm>
            <a:off x="6388455"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3" name="Picture 22" descr="hash_29aa8cda0b59.png"/>
          <p:cNvPicPr>
            <a:picLocks noChangeAspect="1"/>
          </p:cNvPicPr>
          <p:nvPr/>
        </p:nvPicPr>
        <p:blipFill>
          <a:blip r:embed="rId4"/>
          <a:stretch>
            <a:fillRect/>
          </a:stretch>
        </p:blipFill>
        <p:spPr>
          <a:xfrm>
            <a:off x="6498183" y="2267712"/>
            <a:ext cx="237744" cy="237744"/>
          </a:xfrm>
          <a:prstGeom prst="rect">
            <a:avLst/>
          </a:prstGeom>
        </p:spPr>
      </p:pic>
      <p:sp>
        <p:nvSpPr>
          <p:cNvPr id="24" name="TextBox 23"/>
          <p:cNvSpPr txBox="1"/>
          <p:nvPr/>
        </p:nvSpPr>
        <p:spPr>
          <a:xfrm>
            <a:off x="6388455" y="2724912"/>
            <a:ext cx="2243251" cy="160401"/>
          </a:xfrm>
          <a:prstGeom prst="rect">
            <a:avLst/>
          </a:prstGeom>
          <a:noFill/>
        </p:spPr>
        <p:txBody>
          <a:bodyPr wrap="square" anchor="t" lIns="0" rIns="0" tIns="0" bIns="0">
            <a:spAutoFit/>
          </a:bodyPr>
          <a:lstStyle/>
          <a:p>
            <a:pPr algn="l"/>
            <a:r>
              <a:rPr sz="750" b="1" i="0" spc="250">
                <a:solidFill>
                  <a:srgbClr val="5B3FD6"/>
                </a:solidFill>
                <a:latin typeface="Calibri"/>
              </a:rPr>
              <a:t>C</a:t>
            </a:r>
          </a:p>
        </p:txBody>
      </p:sp>
      <p:sp>
        <p:nvSpPr>
          <p:cNvPr id="25" name="TextBox 24"/>
          <p:cNvSpPr txBox="1"/>
          <p:nvPr/>
        </p:nvSpPr>
        <p:spPr>
          <a:xfrm>
            <a:off x="6388455" y="2962656"/>
            <a:ext cx="2243251" cy="267716"/>
          </a:xfrm>
          <a:prstGeom prst="rect">
            <a:avLst/>
          </a:prstGeom>
          <a:noFill/>
        </p:spPr>
        <p:txBody>
          <a:bodyPr wrap="square" anchor="t" lIns="0" rIns="0" tIns="0" bIns="0">
            <a:spAutoFit/>
          </a:bodyPr>
          <a:lstStyle/>
          <a:p>
            <a:pPr algn="l"/>
            <a:r>
              <a:rPr sz="1400" b="1" i="0">
                <a:solidFill>
                  <a:srgbClr val="1A0F5C"/>
                </a:solidFill>
                <a:latin typeface="Calibri"/>
              </a:rPr>
              <a:t>Four or more</a:t>
            </a:r>
          </a:p>
        </p:txBody>
      </p:sp>
      <p:sp>
        <p:nvSpPr>
          <p:cNvPr id="26" name="TextBox 25"/>
          <p:cNvSpPr txBox="1"/>
          <p:nvPr/>
        </p:nvSpPr>
        <p:spPr>
          <a:xfrm>
            <a:off x="6388455" y="3303524"/>
            <a:ext cx="2243251" cy="399796"/>
          </a:xfrm>
          <a:prstGeom prst="rect">
            <a:avLst/>
          </a:prstGeom>
          <a:noFill/>
        </p:spPr>
        <p:txBody>
          <a:bodyPr wrap="square" anchor="t" lIns="0" rIns="0" tIns="0" bIns="0">
            <a:spAutoFit/>
          </a:bodyPr>
          <a:lstStyle/>
          <a:p>
            <a:pPr algn="l"/>
            <a:r>
              <a:rPr sz="1100" b="0" i="0">
                <a:solidFill>
                  <a:srgbClr val="6B6690"/>
                </a:solidFill>
                <a:latin typeface="Calibri"/>
              </a:rPr>
              <a:t>One for each choice a clerk makes.</a:t>
            </a:r>
          </a:p>
        </p:txBody>
      </p:sp>
      <p:sp>
        <p:nvSpPr>
          <p:cNvPr id="27" name="Rounded Rectangle 26"/>
          <p:cNvSpPr/>
          <p:nvPr/>
        </p:nvSpPr>
        <p:spPr>
          <a:xfrm>
            <a:off x="9015755" y="1956816"/>
            <a:ext cx="2645587" cy="1964436"/>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Oval 27"/>
          <p:cNvSpPr/>
          <p:nvPr/>
        </p:nvSpPr>
        <p:spPr>
          <a:xfrm>
            <a:off x="9216923"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9" name="Picture 28" descr="circle-help_8ffc1bc6d67b.png"/>
          <p:cNvPicPr>
            <a:picLocks noChangeAspect="1"/>
          </p:cNvPicPr>
          <p:nvPr/>
        </p:nvPicPr>
        <p:blipFill>
          <a:blip r:embed="rId5"/>
          <a:stretch>
            <a:fillRect/>
          </a:stretch>
        </p:blipFill>
        <p:spPr>
          <a:xfrm>
            <a:off x="9326651" y="2267712"/>
            <a:ext cx="237744" cy="237744"/>
          </a:xfrm>
          <a:prstGeom prst="rect">
            <a:avLst/>
          </a:prstGeom>
        </p:spPr>
      </p:pic>
      <p:sp>
        <p:nvSpPr>
          <p:cNvPr id="30" name="TextBox 29"/>
          <p:cNvSpPr txBox="1"/>
          <p:nvPr/>
        </p:nvSpPr>
        <p:spPr>
          <a:xfrm>
            <a:off x="9216923" y="2724912"/>
            <a:ext cx="2243251" cy="160401"/>
          </a:xfrm>
          <a:prstGeom prst="rect">
            <a:avLst/>
          </a:prstGeom>
          <a:noFill/>
        </p:spPr>
        <p:txBody>
          <a:bodyPr wrap="square" anchor="t" lIns="0" rIns="0" tIns="0" bIns="0">
            <a:spAutoFit/>
          </a:bodyPr>
          <a:lstStyle/>
          <a:p>
            <a:pPr algn="l"/>
            <a:r>
              <a:rPr sz="750" b="1" i="0" spc="250">
                <a:solidFill>
                  <a:srgbClr val="5B3FD6"/>
                </a:solidFill>
                <a:latin typeface="Calibri"/>
              </a:rPr>
              <a:t>D</a:t>
            </a:r>
          </a:p>
        </p:txBody>
      </p:sp>
      <p:sp>
        <p:nvSpPr>
          <p:cNvPr id="31" name="TextBox 30"/>
          <p:cNvSpPr txBox="1"/>
          <p:nvPr/>
        </p:nvSpPr>
        <p:spPr>
          <a:xfrm>
            <a:off x="9216923" y="2962656"/>
            <a:ext cx="2243251" cy="267716"/>
          </a:xfrm>
          <a:prstGeom prst="rect">
            <a:avLst/>
          </a:prstGeom>
          <a:noFill/>
        </p:spPr>
        <p:txBody>
          <a:bodyPr wrap="square" anchor="t" lIns="0" rIns="0" tIns="0" bIns="0">
            <a:spAutoFit/>
          </a:bodyPr>
          <a:lstStyle/>
          <a:p>
            <a:pPr algn="l"/>
            <a:r>
              <a:rPr sz="1400" b="1" i="0">
                <a:solidFill>
                  <a:srgbClr val="1A0F5C"/>
                </a:solidFill>
                <a:latin typeface="Calibri"/>
              </a:rPr>
              <a:t>It cannot be told</a:t>
            </a:r>
          </a:p>
        </p:txBody>
      </p:sp>
      <p:sp>
        <p:nvSpPr>
          <p:cNvPr id="32" name="TextBox 31"/>
          <p:cNvSpPr txBox="1"/>
          <p:nvPr/>
        </p:nvSpPr>
        <p:spPr>
          <a:xfrm>
            <a:off x="9216923" y="3303524"/>
            <a:ext cx="2243251" cy="399796"/>
          </a:xfrm>
          <a:prstGeom prst="rect">
            <a:avLst/>
          </a:prstGeom>
          <a:noFill/>
        </p:spPr>
        <p:txBody>
          <a:bodyPr wrap="square" anchor="t" lIns="0" rIns="0" tIns="0" bIns="0">
            <a:spAutoFit/>
          </a:bodyPr>
          <a:lstStyle/>
          <a:p>
            <a:pPr algn="l"/>
            <a:r>
              <a:rPr sz="1100" b="0" i="0">
                <a:solidFill>
                  <a:srgbClr val="6B6690"/>
                </a:solidFill>
                <a:latin typeface="Calibri"/>
              </a:rPr>
              <a:t>Not without the register in hand.</a:t>
            </a:r>
          </a:p>
        </p:txBody>
      </p:sp>
      <p:sp>
        <p:nvSpPr>
          <p:cNvPr id="33" name="Oval 32"/>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640080"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What is a number for?</a:t>
            </a:r>
          </a:p>
        </p:txBody>
      </p:sp>
      <p:sp>
        <p:nvSpPr>
          <p:cNvPr id="35" name="Oval 34"/>
          <p:cNvSpPr/>
          <p:nvPr/>
        </p:nvSpPr>
        <p:spPr>
          <a:xfrm>
            <a:off x="197196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2081688"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Which number to chase?</a:t>
            </a:r>
          </a:p>
        </p:txBody>
      </p:sp>
      <p:sp>
        <p:nvSpPr>
          <p:cNvPr id="37" name="Oval 36"/>
          <p:cNvSpPr/>
          <p:nvPr/>
        </p:nvSpPr>
        <p:spPr>
          <a:xfrm>
            <a:off x="345957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3569303"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Which number warns?</a:t>
            </a:r>
          </a:p>
        </p:txBody>
      </p:sp>
      <p:sp>
        <p:nvSpPr>
          <p:cNvPr id="39" name="Oval 38"/>
          <p:cNvSpPr/>
          <p:nvPr/>
        </p:nvSpPr>
        <p:spPr>
          <a:xfrm>
            <a:off x="480917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4918900" y="6437376"/>
            <a:ext cx="1056417" cy="152146"/>
          </a:xfrm>
          <a:prstGeom prst="rect">
            <a:avLst/>
          </a:prstGeom>
          <a:noFill/>
        </p:spPr>
        <p:txBody>
          <a:bodyPr wrap="square" anchor="t" lIns="0" rIns="0" tIns="0" bIns="0">
            <a:spAutoFit/>
          </a:bodyPr>
          <a:lstStyle/>
          <a:p>
            <a:pPr algn="l"/>
            <a:r>
              <a:rPr sz="700" b="1" i="0">
                <a:solidFill>
                  <a:srgbClr val="5B3FD6"/>
                </a:solidFill>
                <a:latin typeface="Calibri"/>
              </a:rPr>
              <a:t>Which four lines?</a:t>
            </a:r>
          </a:p>
        </p:txBody>
      </p:sp>
      <p:sp>
        <p:nvSpPr>
          <p:cNvPr id="41" name="Oval 40"/>
          <p:cNvSpPr/>
          <p:nvPr/>
        </p:nvSpPr>
        <p:spPr>
          <a:xfrm>
            <a:off x="606675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6176486"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How is a number gamed?</a:t>
            </a:r>
          </a:p>
        </p:txBody>
      </p:sp>
      <p:sp>
        <p:nvSpPr>
          <p:cNvPr id="43" name="Oval 42"/>
          <p:cNvSpPr/>
          <p:nvPr/>
        </p:nvSpPr>
        <p:spPr>
          <a:xfrm>
            <a:off x="755437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766410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the page hold?</a:t>
            </a:r>
          </a:p>
        </p:txBody>
      </p:sp>
      <p:sp>
        <p:nvSpPr>
          <p:cNvPr id="45" name="Oval 44"/>
          <p:cNvSpPr/>
          <p:nvPr/>
        </p:nvSpPr>
        <p:spPr>
          <a:xfrm>
            <a:off x="91339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TextBox 45"/>
          <p:cNvSpPr txBox="1"/>
          <p:nvPr/>
        </p:nvSpPr>
        <p:spPr>
          <a:xfrm>
            <a:off x="9243726"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an hour count?</a:t>
            </a:r>
          </a:p>
        </p:txBody>
      </p:sp>
      <p:sp>
        <p:nvSpPr>
          <p:cNvPr id="47" name="TextBox 46"/>
          <p:cNvSpPr txBox="1"/>
          <p:nvPr/>
        </p:nvSpPr>
        <p:spPr>
          <a:xfrm>
            <a:off x="10713624" y="6437376"/>
            <a:ext cx="256032" cy="152146"/>
          </a:xfrm>
          <a:prstGeom prst="rect">
            <a:avLst/>
          </a:prstGeom>
          <a:noFill/>
        </p:spPr>
        <p:txBody>
          <a:bodyPr wrap="square" anchor="t" lIns="0" rIns="0" tIns="0" bIns="0">
            <a:spAutoFit/>
          </a:bodyPr>
          <a:lstStyle/>
          <a:p>
            <a:pPr algn="l"/>
            <a:r>
              <a:rPr sz="700" b="0" i="0">
                <a:solidFill>
                  <a:srgbClr val="6B6690"/>
                </a:solidFill>
                <a:latin typeface="Calibri"/>
              </a:rPr>
              <a:t>…</a:t>
            </a:r>
          </a:p>
        </p:txBody>
      </p:sp>
      <p:sp>
        <p:nvSpPr>
          <p:cNvPr id="48" name="TextBox 47"/>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S31  ·  35 / 93</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MONDAY  ·  BUSINESS METRIC DESIGN  ·  UBER, HYDERABAD</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Answer: c, five numbers from one register</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Which line moved, and what did each reading count?</a:t>
            </a:r>
          </a:p>
        </p:txBody>
      </p:sp>
      <p:graphicFrame>
        <p:nvGraphicFramePr>
          <p:cNvPr id="9" name="Table 8"/>
          <p:cNvGraphicFramePr>
            <a:graphicFrameLocks noGrp="1"/>
          </p:cNvGraphicFramePr>
          <p:nvPr/>
        </p:nvGraphicFramePr>
        <p:xfrm>
          <a:off x="530352" y="1956816"/>
          <a:ext cx="11130989" cy="2011680"/>
        </p:xfrm>
        <a:graphic>
          <a:graphicData uri="http://schemas.openxmlformats.org/drawingml/2006/table">
            <a:tbl>
              <a:tblPr firstRow="0" bandRow="0">
                <a:tableStyleId>{2D5ABB26-0587-4C30-8999-92F81FD0307C}</a:tableStyleId>
              </a:tblPr>
              <a:tblGrid>
                <a:gridCol w="5647265"/>
                <a:gridCol w="1552683"/>
                <a:gridCol w="2146590"/>
                <a:gridCol w="1784451"/>
              </a:tblGrid>
              <a:tr h="335280">
                <a:tc>
                  <a:txBody>
                    <a:bodyPr/>
                    <a:lstStyle/>
                    <a:p>
                      <a:r>
                        <a:rPr sz="1250" b="1" i="0">
                          <a:solidFill>
                            <a:srgbClr val="FFFFFF"/>
                          </a:solidFill>
                          <a:latin typeface="Calibri"/>
                        </a:rPr>
                        <a:t>The line that changed</a:t>
                      </a:r>
                    </a:p>
                  </a:txBody>
                  <a:tcPr marL="101600" marR="101600" marT="38100" marB="38100" anchor="ctr">
                    <a:solidFill>
                      <a:srgbClr val="1A0F5C"/>
                    </a:solidFill>
                  </a:tcPr>
                </a:tc>
                <a:tc>
                  <a:txBody>
                    <a:bodyPr/>
                    <a:lstStyle/>
                    <a:p>
                      <a:r>
                        <a:rPr sz="1250" b="1" i="0">
                          <a:solidFill>
                            <a:srgbClr val="FFFFFF"/>
                          </a:solidFill>
                          <a:latin typeface="Calibri"/>
                        </a:rPr>
                        <a:t>Numerator</a:t>
                      </a:r>
                    </a:p>
                  </a:txBody>
                  <a:tcPr marL="101600" marR="101600" marT="38100" marB="38100" anchor="ctr">
                    <a:solidFill>
                      <a:srgbClr val="1A0F5C"/>
                    </a:solidFill>
                  </a:tcPr>
                </a:tc>
                <a:tc>
                  <a:txBody>
                    <a:bodyPr/>
                    <a:lstStyle/>
                    <a:p>
                      <a:r>
                        <a:rPr sz="1250" b="1" i="0">
                          <a:solidFill>
                            <a:srgbClr val="FFFFFF"/>
                          </a:solidFill>
                          <a:latin typeface="Calibri"/>
                        </a:rPr>
                        <a:t>Denominator</a:t>
                      </a:r>
                    </a:p>
                  </a:txBody>
                  <a:tcPr marL="101600" marR="101600" marT="38100" marB="38100" anchor="ctr">
                    <a:solidFill>
                      <a:srgbClr val="1A0F5C"/>
                    </a:solidFill>
                  </a:tcPr>
                </a:tc>
                <a:tc>
                  <a:txBody>
                    <a:bodyPr/>
                    <a:lstStyle/>
                    <a:p>
                      <a:r>
                        <a:rPr sz="1250" b="1" i="0">
                          <a:solidFill>
                            <a:srgbClr val="FFFFFF"/>
                          </a:solidFill>
                          <a:latin typeface="Calibri"/>
                        </a:rPr>
                        <a:t>Reading</a:t>
                      </a:r>
                    </a:p>
                  </a:txBody>
                  <a:tcPr marL="101600" marR="101600" marT="38100" marB="38100" anchor="ctr">
                    <a:solidFill>
                      <a:srgbClr val="1A0F5C"/>
                    </a:solidFill>
                  </a:tcPr>
                </a:tc>
              </a:tr>
              <a:tr h="335280">
                <a:tc>
                  <a:txBody>
                    <a:bodyPr/>
                    <a:lstStyle/>
                    <a:p>
                      <a:r>
                        <a:rPr sz="1200" b="0" i="0">
                          <a:solidFill>
                            <a:srgbClr val="1A1440"/>
                          </a:solidFill>
                          <a:latin typeface="Calibri"/>
                        </a:rPr>
                        <a:t>None: the school's rule</a:t>
                      </a:r>
                    </a:p>
                  </a:txBody>
                  <a:tcPr marL="101600" marR="101600" marT="38100" marB="38100" anchor="ctr">
                    <a:solidFill>
                      <a:srgbClr val="FFFFFF"/>
                    </a:solidFill>
                  </a:tcPr>
                </a:tc>
                <a:tc>
                  <a:txBody>
                    <a:bodyPr/>
                    <a:lstStyle/>
                    <a:p>
                      <a:r>
                        <a:rPr sz="1200" b="0" i="0">
                          <a:solidFill>
                            <a:srgbClr val="1A1440"/>
                          </a:solidFill>
                          <a:latin typeface="Calibri"/>
                        </a:rPr>
                        <a:t>40 present</a:t>
                      </a:r>
                    </a:p>
                  </a:txBody>
                  <a:tcPr marL="101600" marR="101600" marT="38100" marB="38100" anchor="ctr">
                    <a:solidFill>
                      <a:srgbClr val="FFFFFF"/>
                    </a:solidFill>
                  </a:tcPr>
                </a:tc>
                <a:tc>
                  <a:txBody>
                    <a:bodyPr/>
                    <a:lstStyle/>
                    <a:p>
                      <a:r>
                        <a:rPr sz="1200" b="0" i="0">
                          <a:solidFill>
                            <a:srgbClr val="1A1440"/>
                          </a:solidFill>
                          <a:latin typeface="Calibri"/>
                        </a:rPr>
                        <a:t>50 working days</a:t>
                      </a:r>
                    </a:p>
                  </a:txBody>
                  <a:tcPr marL="101600" marR="101600" marT="38100" marB="38100" anchor="ctr">
                    <a:solidFill>
                      <a:srgbClr val="FFFFFF"/>
                    </a:solidFill>
                  </a:tcPr>
                </a:tc>
                <a:tc>
                  <a:txBody>
                    <a:bodyPr/>
                    <a:lstStyle/>
                    <a:p>
                      <a:r>
                        <a:rPr sz="1200" b="0" i="0">
                          <a:solidFill>
                            <a:srgbClr val="1A1440"/>
                          </a:solidFill>
                          <a:latin typeface="Calibri"/>
                        </a:rPr>
                        <a:t>80.0 percent</a:t>
                      </a:r>
                    </a:p>
                  </a:txBody>
                  <a:tcPr marL="101600" marR="101600" marT="38100" marB="38100" anchor="ctr">
                    <a:solidFill>
                      <a:srgbClr val="FFFFFF"/>
                    </a:solidFill>
                  </a:tcPr>
                </a:tc>
              </a:tr>
              <a:tr h="335280">
                <a:tc>
                  <a:txBody>
                    <a:bodyPr/>
                    <a:lstStyle/>
                    <a:p>
                      <a:r>
                        <a:rPr sz="1200" b="0" i="0">
                          <a:solidFill>
                            <a:srgbClr val="1A1440"/>
                          </a:solidFill>
                          <a:latin typeface="Calibri"/>
                        </a:rPr>
                        <a:t>Denominator: calendar days</a:t>
                      </a:r>
                    </a:p>
                  </a:txBody>
                  <a:tcPr marL="101600" marR="101600" marT="38100" marB="38100" anchor="ctr">
                    <a:solidFill>
                      <a:srgbClr val="F4F2FA"/>
                    </a:solidFill>
                  </a:tcPr>
                </a:tc>
                <a:tc>
                  <a:txBody>
                    <a:bodyPr/>
                    <a:lstStyle/>
                    <a:p>
                      <a:r>
                        <a:rPr sz="1200" b="0" i="0">
                          <a:solidFill>
                            <a:srgbClr val="1A1440"/>
                          </a:solidFill>
                          <a:latin typeface="Calibri"/>
                        </a:rPr>
                        <a:t>40</a:t>
                      </a:r>
                    </a:p>
                  </a:txBody>
                  <a:tcPr marL="101600" marR="101600" marT="38100" marB="38100" anchor="ctr">
                    <a:solidFill>
                      <a:srgbClr val="F4F2FA"/>
                    </a:solidFill>
                  </a:tcPr>
                </a:tc>
                <a:tc>
                  <a:txBody>
                    <a:bodyPr/>
                    <a:lstStyle/>
                    <a:p>
                      <a:r>
                        <a:rPr sz="1200" b="0" i="0">
                          <a:solidFill>
                            <a:srgbClr val="1A1440"/>
                          </a:solidFill>
                          <a:latin typeface="Calibri"/>
                        </a:rPr>
                        <a:t>60 days</a:t>
                      </a:r>
                    </a:p>
                  </a:txBody>
                  <a:tcPr marL="101600" marR="101600" marT="38100" marB="38100" anchor="ctr">
                    <a:solidFill>
                      <a:srgbClr val="F4F2FA"/>
                    </a:solidFill>
                  </a:tcPr>
                </a:tc>
                <a:tc>
                  <a:txBody>
                    <a:bodyPr/>
                    <a:lstStyle/>
                    <a:p>
                      <a:r>
                        <a:rPr sz="1200" b="0" i="0">
                          <a:solidFill>
                            <a:srgbClr val="1A1440"/>
                          </a:solidFill>
                          <a:latin typeface="Calibri"/>
                        </a:rPr>
                        <a:t>66.7 percent</a:t>
                      </a:r>
                    </a:p>
                  </a:txBody>
                  <a:tcPr marL="101600" marR="101600" marT="38100" marB="38100" anchor="ctr">
                    <a:solidFill>
                      <a:srgbClr val="F4F2FA"/>
                    </a:solidFill>
                  </a:tcPr>
                </a:tc>
              </a:tr>
              <a:tr h="335280">
                <a:tc>
                  <a:txBody>
                    <a:bodyPr/>
                    <a:lstStyle/>
                    <a:p>
                      <a:r>
                        <a:rPr sz="1200" b="0" i="0">
                          <a:solidFill>
                            <a:srgbClr val="1A1440"/>
                          </a:solidFill>
                          <a:latin typeface="Calibri"/>
                        </a:rPr>
                        <a:t>Exclusions: medical leave out of both counts</a:t>
                      </a:r>
                    </a:p>
                  </a:txBody>
                  <a:tcPr marL="101600" marR="101600" marT="38100" marB="38100" anchor="ctr">
                    <a:solidFill>
                      <a:srgbClr val="FFFFFF"/>
                    </a:solidFill>
                  </a:tcPr>
                </a:tc>
                <a:tc>
                  <a:txBody>
                    <a:bodyPr/>
                    <a:lstStyle/>
                    <a:p>
                      <a:r>
                        <a:rPr sz="1200" b="0" i="0">
                          <a:solidFill>
                            <a:srgbClr val="1A1440"/>
                          </a:solidFill>
                          <a:latin typeface="Calibri"/>
                        </a:rPr>
                        <a:t>40</a:t>
                      </a:r>
                    </a:p>
                  </a:txBody>
                  <a:tcPr marL="101600" marR="101600" marT="38100" marB="38100" anchor="ctr">
                    <a:solidFill>
                      <a:srgbClr val="FFFFFF"/>
                    </a:solidFill>
                  </a:tcPr>
                </a:tc>
                <a:tc>
                  <a:txBody>
                    <a:bodyPr/>
                    <a:lstStyle/>
                    <a:p>
                      <a:r>
                        <a:rPr sz="1200" b="0" i="0">
                          <a:solidFill>
                            <a:srgbClr val="1A1440"/>
                          </a:solidFill>
                          <a:latin typeface="Calibri"/>
                        </a:rPr>
                        <a:t>48</a:t>
                      </a:r>
                    </a:p>
                  </a:txBody>
                  <a:tcPr marL="101600" marR="101600" marT="38100" marB="38100" anchor="ctr">
                    <a:solidFill>
                      <a:srgbClr val="FFFFFF"/>
                    </a:solidFill>
                  </a:tcPr>
                </a:tc>
                <a:tc>
                  <a:txBody>
                    <a:bodyPr/>
                    <a:lstStyle/>
                    <a:p>
                      <a:r>
                        <a:rPr sz="1200" b="0" i="0">
                          <a:solidFill>
                            <a:srgbClr val="1A1440"/>
                          </a:solidFill>
                          <a:latin typeface="Calibri"/>
                        </a:rPr>
                        <a:t>83.3 percent</a:t>
                      </a:r>
                    </a:p>
                  </a:txBody>
                  <a:tcPr marL="101600" marR="101600" marT="38100" marB="38100" anchor="ctr">
                    <a:solidFill>
                      <a:srgbClr val="FFFFFF"/>
                    </a:solidFill>
                  </a:tcPr>
                </a:tc>
              </a:tr>
              <a:tr h="335280">
                <a:tc>
                  <a:txBody>
                    <a:bodyPr/>
                    <a:lstStyle/>
                    <a:p>
                      <a:r>
                        <a:rPr sz="1200" b="0" i="0">
                          <a:solidFill>
                            <a:srgbClr val="1A1440"/>
                          </a:solidFill>
                          <a:latin typeface="Calibri"/>
                        </a:rPr>
                        <a:t>Numerator: medical leave counted present</a:t>
                      </a:r>
                    </a:p>
                  </a:txBody>
                  <a:tcPr marL="101600" marR="101600" marT="38100" marB="38100" anchor="ctr">
                    <a:solidFill>
                      <a:srgbClr val="F4F2FA"/>
                    </a:solidFill>
                  </a:tcPr>
                </a:tc>
                <a:tc>
                  <a:txBody>
                    <a:bodyPr/>
                    <a:lstStyle/>
                    <a:p>
                      <a:r>
                        <a:rPr sz="1200" b="0" i="0">
                          <a:solidFill>
                            <a:srgbClr val="1A1440"/>
                          </a:solidFill>
                          <a:latin typeface="Calibri"/>
                        </a:rPr>
                        <a:t>42</a:t>
                      </a:r>
                    </a:p>
                  </a:txBody>
                  <a:tcPr marL="101600" marR="101600" marT="38100" marB="38100" anchor="ctr">
                    <a:solidFill>
                      <a:srgbClr val="F4F2FA"/>
                    </a:solidFill>
                  </a:tcPr>
                </a:tc>
                <a:tc>
                  <a:txBody>
                    <a:bodyPr/>
                    <a:lstStyle/>
                    <a:p>
                      <a:r>
                        <a:rPr sz="1200" b="0" i="0">
                          <a:solidFill>
                            <a:srgbClr val="1A1440"/>
                          </a:solidFill>
                          <a:latin typeface="Calibri"/>
                        </a:rPr>
                        <a:t>50</a:t>
                      </a:r>
                    </a:p>
                  </a:txBody>
                  <a:tcPr marL="101600" marR="101600" marT="38100" marB="38100" anchor="ctr">
                    <a:solidFill>
                      <a:srgbClr val="F4F2FA"/>
                    </a:solidFill>
                  </a:tcPr>
                </a:tc>
                <a:tc>
                  <a:txBody>
                    <a:bodyPr/>
                    <a:lstStyle/>
                    <a:p>
                      <a:r>
                        <a:rPr sz="1200" b="0" i="0">
                          <a:solidFill>
                            <a:srgbClr val="1A1440"/>
                          </a:solidFill>
                          <a:latin typeface="Calibri"/>
                        </a:rPr>
                        <a:t>84.0 percent</a:t>
                      </a:r>
                    </a:p>
                  </a:txBody>
                  <a:tcPr marL="101600" marR="101600" marT="38100" marB="38100" anchor="ctr">
                    <a:solidFill>
                      <a:srgbClr val="F4F2FA"/>
                    </a:solidFill>
                  </a:tcPr>
                </a:tc>
              </a:tr>
              <a:tr h="335280">
                <a:tc>
                  <a:txBody>
                    <a:bodyPr/>
                    <a:lstStyle/>
                    <a:p>
                      <a:r>
                        <a:rPr sz="1200" b="0" i="0">
                          <a:solidFill>
                            <a:srgbClr val="1A1440"/>
                          </a:solidFill>
                          <a:latin typeface="Calibri"/>
                        </a:rPr>
                        <a:t>Window: the last 20 working days</a:t>
                      </a:r>
                    </a:p>
                  </a:txBody>
                  <a:tcPr marL="101600" marR="101600" marT="38100" marB="38100" anchor="ctr">
                    <a:solidFill>
                      <a:srgbClr val="FFFFFF"/>
                    </a:solidFill>
                  </a:tcPr>
                </a:tc>
                <a:tc>
                  <a:txBody>
                    <a:bodyPr/>
                    <a:lstStyle/>
                    <a:p>
                      <a:r>
                        <a:rPr sz="1200" b="0" i="0">
                          <a:solidFill>
                            <a:srgbClr val="1A1440"/>
                          </a:solidFill>
                          <a:latin typeface="Calibri"/>
                        </a:rPr>
                        <a:t>14</a:t>
                      </a:r>
                    </a:p>
                  </a:txBody>
                  <a:tcPr marL="101600" marR="101600" marT="38100" marB="38100" anchor="ctr">
                    <a:solidFill>
                      <a:srgbClr val="FFFFFF"/>
                    </a:solidFill>
                  </a:tcPr>
                </a:tc>
                <a:tc>
                  <a:txBody>
                    <a:bodyPr/>
                    <a:lstStyle/>
                    <a:p>
                      <a:r>
                        <a:rPr sz="1200" b="0" i="0">
                          <a:solidFill>
                            <a:srgbClr val="1A1440"/>
                          </a:solidFill>
                          <a:latin typeface="Calibri"/>
                        </a:rPr>
                        <a:t>20</a:t>
                      </a:r>
                    </a:p>
                  </a:txBody>
                  <a:tcPr marL="101600" marR="101600" marT="38100" marB="38100" anchor="ctr">
                    <a:solidFill>
                      <a:srgbClr val="FFFFFF"/>
                    </a:solidFill>
                  </a:tcPr>
                </a:tc>
                <a:tc>
                  <a:txBody>
                    <a:bodyPr/>
                    <a:lstStyle/>
                    <a:p>
                      <a:r>
                        <a:rPr sz="1200" b="0" i="0">
                          <a:solidFill>
                            <a:srgbClr val="1A1440"/>
                          </a:solidFill>
                          <a:latin typeface="Calibri"/>
                        </a:rPr>
                        <a:t>70.0 percent</a:t>
                      </a:r>
                    </a:p>
                  </a:txBody>
                  <a:tcPr marL="101600" marR="101600" marT="38100" marB="38100" anchor="ctr">
                    <a:solidFill>
                      <a:srgbClr val="FFFFFF"/>
                    </a:solidFill>
                  </a:tcPr>
                </a:tc>
              </a:tr>
            </a:tbl>
          </a:graphicData>
        </a:graphic>
      </p:graphicFrame>
      <p:sp>
        <p:nvSpPr>
          <p:cNvPr id="10" name="Rounded Rectangle 9"/>
          <p:cNvSpPr/>
          <p:nvPr/>
        </p:nvSpPr>
        <p:spPr>
          <a:xfrm>
            <a:off x="530352" y="4224528"/>
            <a:ext cx="11130991" cy="8077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676656" y="4352544"/>
            <a:ext cx="45720" cy="5516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7824" y="4343400"/>
            <a:ext cx="10564063" cy="624840"/>
          </a:xfrm>
          <a:prstGeom prst="rect">
            <a:avLst/>
          </a:prstGeom>
          <a:noFill/>
        </p:spPr>
        <p:txBody>
          <a:bodyPr wrap="square" anchor="ctr" lIns="0" rIns="0" tIns="0" bIns="0">
            <a:spAutoFit/>
          </a:bodyPr>
          <a:lstStyle/>
          <a:p>
            <a:r>
              <a:rPr sz="1500" b="1">
                <a:solidFill>
                  <a:srgbClr val="5B3FD6"/>
                </a:solidFill>
                <a:latin typeface="Calibri"/>
              </a:rPr>
              <a:t>The register, invented. </a:t>
            </a:r>
            <a:r>
              <a:rPr sz="1500" b="0" i="0">
                <a:solidFill>
                  <a:srgbClr val="1A1440"/>
                </a:solidFill>
                <a:latin typeface="Calibri"/>
              </a:rPr>
              <a:t>A 60-day term holds 10 holidays, so 50 working days; the student was present on 40, absent on 8 and on medical leave for 2. In the term's last 20 working days the student was present on 14.</a:t>
            </a:r>
          </a:p>
        </p:txBody>
      </p:sp>
      <p:sp>
        <p:nvSpPr>
          <p:cNvPr id="13" name="Oval 12"/>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40080"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What is a number for?</a:t>
            </a:r>
          </a:p>
        </p:txBody>
      </p:sp>
      <p:sp>
        <p:nvSpPr>
          <p:cNvPr id="15" name="Oval 14"/>
          <p:cNvSpPr/>
          <p:nvPr/>
        </p:nvSpPr>
        <p:spPr>
          <a:xfrm>
            <a:off x="197196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2081688"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Which number to chase?</a:t>
            </a:r>
          </a:p>
        </p:txBody>
      </p:sp>
      <p:sp>
        <p:nvSpPr>
          <p:cNvPr id="17" name="Oval 16"/>
          <p:cNvSpPr/>
          <p:nvPr/>
        </p:nvSpPr>
        <p:spPr>
          <a:xfrm>
            <a:off x="345957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569303"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Which number warns?</a:t>
            </a:r>
          </a:p>
        </p:txBody>
      </p:sp>
      <p:sp>
        <p:nvSpPr>
          <p:cNvPr id="19" name="Oval 18"/>
          <p:cNvSpPr/>
          <p:nvPr/>
        </p:nvSpPr>
        <p:spPr>
          <a:xfrm>
            <a:off x="480917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4918900" y="6437376"/>
            <a:ext cx="1056417" cy="152146"/>
          </a:xfrm>
          <a:prstGeom prst="rect">
            <a:avLst/>
          </a:prstGeom>
          <a:noFill/>
        </p:spPr>
        <p:txBody>
          <a:bodyPr wrap="square" anchor="t" lIns="0" rIns="0" tIns="0" bIns="0">
            <a:spAutoFit/>
          </a:bodyPr>
          <a:lstStyle/>
          <a:p>
            <a:pPr algn="l"/>
            <a:r>
              <a:rPr sz="700" b="1" i="0">
                <a:solidFill>
                  <a:srgbClr val="5B3FD6"/>
                </a:solidFill>
                <a:latin typeface="Calibri"/>
              </a:rPr>
              <a:t>Which four lines?</a:t>
            </a:r>
          </a:p>
        </p:txBody>
      </p:sp>
      <p:sp>
        <p:nvSpPr>
          <p:cNvPr id="21" name="Oval 20"/>
          <p:cNvSpPr/>
          <p:nvPr/>
        </p:nvSpPr>
        <p:spPr>
          <a:xfrm>
            <a:off x="606675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6176486"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How is a number gamed?</a:t>
            </a:r>
          </a:p>
        </p:txBody>
      </p:sp>
      <p:sp>
        <p:nvSpPr>
          <p:cNvPr id="23" name="Oval 22"/>
          <p:cNvSpPr/>
          <p:nvPr/>
        </p:nvSpPr>
        <p:spPr>
          <a:xfrm>
            <a:off x="755437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766410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the page hold?</a:t>
            </a:r>
          </a:p>
        </p:txBody>
      </p:sp>
      <p:sp>
        <p:nvSpPr>
          <p:cNvPr id="25" name="Oval 24"/>
          <p:cNvSpPr/>
          <p:nvPr/>
        </p:nvSpPr>
        <p:spPr>
          <a:xfrm>
            <a:off x="91339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9243726"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an hour count?</a:t>
            </a:r>
          </a:p>
        </p:txBody>
      </p:sp>
      <p:sp>
        <p:nvSpPr>
          <p:cNvPr id="27" name="TextBox 26"/>
          <p:cNvSpPr txBox="1"/>
          <p:nvPr/>
        </p:nvSpPr>
        <p:spPr>
          <a:xfrm>
            <a:off x="10713624" y="6437376"/>
            <a:ext cx="256032" cy="152146"/>
          </a:xfrm>
          <a:prstGeom prst="rect">
            <a:avLst/>
          </a:prstGeom>
          <a:noFill/>
        </p:spPr>
        <p:txBody>
          <a:bodyPr wrap="square" anchor="t" lIns="0" rIns="0" tIns="0" bIns="0">
            <a:spAutoFit/>
          </a:bodyPr>
          <a:lstStyle/>
          <a:p>
            <a:pPr algn="l"/>
            <a:r>
              <a:rPr sz="700" b="0" i="0">
                <a:solidFill>
                  <a:srgbClr val="6B6690"/>
                </a:solidFill>
                <a:latin typeface="Calibri"/>
              </a:rPr>
              <a:t>…</a:t>
            </a:r>
          </a:p>
        </p:txBody>
      </p:sp>
      <p:sp>
        <p:nvSpPr>
          <p:cNvPr id="28" name="TextBox 27"/>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S32  ·  36 / 93</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MONDAY  ·  BUSINESS METRIC DESIGN  ·  UBER, HYDERABAD</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Each line moved the same student's number</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does the picture show, and what is the rule called?</a:t>
            </a:r>
          </a:p>
        </p:txBody>
      </p:sp>
      <p:pic>
        <p:nvPicPr>
          <p:cNvPr id="9" name="mermaid diagram" descr="C2_W04_D01_register_readings_STUDENT.png"/>
          <p:cNvPicPr>
            <a:picLocks noChangeAspect="1"/>
          </p:cNvPicPr>
          <p:nvPr/>
        </p:nvPicPr>
        <p:blipFill>
          <a:blip r:embed="rId4"/>
          <a:stretch>
            <a:fillRect/>
          </a:stretch>
        </p:blipFill>
        <p:spPr>
          <a:xfrm>
            <a:off x="2587876" y="1664208"/>
            <a:ext cx="7015941" cy="3215640"/>
          </a:xfrm>
          <a:prstGeom prst="rect">
            <a:avLst/>
          </a:prstGeom>
        </p:spPr>
      </p:pic>
      <p:sp>
        <p:nvSpPr>
          <p:cNvPr id="10" name="picture caption"/>
          <p:cNvSpPr txBox="1"/>
          <p:nvPr/>
        </p:nvSpPr>
        <p:spPr>
          <a:xfrm>
            <a:off x="530352" y="4916424"/>
            <a:ext cx="11130991" cy="316992"/>
          </a:xfrm>
          <a:prstGeom prst="rect">
            <a:avLst/>
          </a:prstGeom>
          <a:noFill/>
        </p:spPr>
        <p:txBody>
          <a:bodyPr wrap="square" anchor="t" lIns="0" rIns="0" tIns="0" bIns="0">
            <a:spAutoFit/>
          </a:bodyPr>
          <a:lstStyle/>
          <a:p>
            <a:pPr algn="ctr"/>
            <a:r>
              <a:rPr sz="1200" b="0" i="0">
                <a:solidFill>
                  <a:srgbClr val="6B6690"/>
                </a:solidFill>
                <a:latin typeface="Calibri"/>
              </a:rPr>
              <a:t>One student's register (invented): four lines, five readings from 66.7 to 84.0 percent</a:t>
            </a:r>
          </a:p>
        </p:txBody>
      </p:sp>
      <p:sp>
        <p:nvSpPr>
          <p:cNvPr id="11" name="TextBox 10"/>
          <p:cNvSpPr txBox="1"/>
          <p:nvPr/>
        </p:nvSpPr>
        <p:spPr>
          <a:xfrm>
            <a:off x="530352" y="5242560"/>
            <a:ext cx="11130991" cy="957072"/>
          </a:xfrm>
          <a:prstGeom prst="rect">
            <a:avLst/>
          </a:prstGeom>
          <a:noFill/>
        </p:spPr>
        <p:txBody>
          <a:bodyPr wrap="square" anchor="t" lIns="0" rIns="0" tIns="0" bIns="0">
            <a:spAutoFit/>
          </a:bodyPr>
          <a:lstStyle/>
          <a:p>
            <a:r>
              <a:rPr sz="1200" b="0" i="0">
                <a:solidFill>
                  <a:srgbClr val="1A1440"/>
                </a:solidFill>
                <a:latin typeface="Calibri"/>
              </a:rPr>
              <a:t>The same register printed every figure from 66.7 to 84.0 percent as one line at a time changed. Named last: four lines make a number </a:t>
            </a:r>
            <a:r>
              <a:rPr sz="1200" b="1" i="0">
                <a:solidFill>
                  <a:srgbClr val="1A1440"/>
                </a:solidFill>
                <a:latin typeface="Calibri"/>
              </a:rPr>
              <a:t>computable</a:t>
            </a:r>
            <a:r>
              <a:rPr sz="1200" b="0" i="0">
                <a:solidFill>
                  <a:srgbClr val="1A1440"/>
                </a:solidFill>
                <a:latin typeface="Calibri"/>
              </a:rPr>
              <a:t>, its numerator, its denominator, its window and its exclusions, and with them written down two people compute the same number. A count, such as licences in a year, has no denominator; in its place it says what one unit is and how repeats are removed. The course outline adds that a definition is complete only when it also says what it deliberately does not reward, a line chapter 6's page carries.</a:t>
            </a:r>
          </a:p>
        </p:txBody>
      </p:sp>
      <p:sp>
        <p:nvSpPr>
          <p:cNvPr id="12" name="Oval 11"/>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40080"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What is a number for?</a:t>
            </a:r>
          </a:p>
        </p:txBody>
      </p:sp>
      <p:sp>
        <p:nvSpPr>
          <p:cNvPr id="14" name="Oval 13"/>
          <p:cNvSpPr/>
          <p:nvPr/>
        </p:nvSpPr>
        <p:spPr>
          <a:xfrm>
            <a:off x="197196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2081688"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Which number to chase?</a:t>
            </a:r>
          </a:p>
        </p:txBody>
      </p:sp>
      <p:sp>
        <p:nvSpPr>
          <p:cNvPr id="16" name="Oval 15"/>
          <p:cNvSpPr/>
          <p:nvPr/>
        </p:nvSpPr>
        <p:spPr>
          <a:xfrm>
            <a:off x="345957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3569303"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Which number warns?</a:t>
            </a:r>
          </a:p>
        </p:txBody>
      </p:sp>
      <p:sp>
        <p:nvSpPr>
          <p:cNvPr id="18" name="Oval 17"/>
          <p:cNvSpPr/>
          <p:nvPr/>
        </p:nvSpPr>
        <p:spPr>
          <a:xfrm>
            <a:off x="480917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4918900" y="6437376"/>
            <a:ext cx="1056417" cy="152146"/>
          </a:xfrm>
          <a:prstGeom prst="rect">
            <a:avLst/>
          </a:prstGeom>
          <a:noFill/>
        </p:spPr>
        <p:txBody>
          <a:bodyPr wrap="square" anchor="t" lIns="0" rIns="0" tIns="0" bIns="0">
            <a:spAutoFit/>
          </a:bodyPr>
          <a:lstStyle/>
          <a:p>
            <a:pPr algn="l"/>
            <a:r>
              <a:rPr sz="700" b="1" i="0">
                <a:solidFill>
                  <a:srgbClr val="5B3FD6"/>
                </a:solidFill>
                <a:latin typeface="Calibri"/>
              </a:rPr>
              <a:t>Which four lines?</a:t>
            </a:r>
          </a:p>
        </p:txBody>
      </p:sp>
      <p:sp>
        <p:nvSpPr>
          <p:cNvPr id="20" name="Oval 19"/>
          <p:cNvSpPr/>
          <p:nvPr/>
        </p:nvSpPr>
        <p:spPr>
          <a:xfrm>
            <a:off x="606675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6176486"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How is a number gamed?</a:t>
            </a:r>
          </a:p>
        </p:txBody>
      </p:sp>
      <p:sp>
        <p:nvSpPr>
          <p:cNvPr id="22" name="Oval 21"/>
          <p:cNvSpPr/>
          <p:nvPr/>
        </p:nvSpPr>
        <p:spPr>
          <a:xfrm>
            <a:off x="755437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766410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the page hold?</a:t>
            </a:r>
          </a:p>
        </p:txBody>
      </p:sp>
      <p:sp>
        <p:nvSpPr>
          <p:cNvPr id="24" name="Oval 23"/>
          <p:cNvSpPr/>
          <p:nvPr/>
        </p:nvSpPr>
        <p:spPr>
          <a:xfrm>
            <a:off x="91339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9243726"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an hour count?</a:t>
            </a:r>
          </a:p>
        </p:txBody>
      </p:sp>
      <p:sp>
        <p:nvSpPr>
          <p:cNvPr id="26" name="TextBox 25"/>
          <p:cNvSpPr txBox="1"/>
          <p:nvPr/>
        </p:nvSpPr>
        <p:spPr>
          <a:xfrm>
            <a:off x="10713624" y="6437376"/>
            <a:ext cx="256032" cy="152146"/>
          </a:xfrm>
          <a:prstGeom prst="rect">
            <a:avLst/>
          </a:prstGeom>
          <a:noFill/>
        </p:spPr>
        <p:txBody>
          <a:bodyPr wrap="square" anchor="t" lIns="0" rIns="0" tIns="0" bIns="0">
            <a:spAutoFit/>
          </a:bodyPr>
          <a:lstStyle/>
          <a:p>
            <a:pPr algn="l"/>
            <a:r>
              <a:rPr sz="700" b="0" i="0">
                <a:solidFill>
                  <a:srgbClr val="6B6690"/>
                </a:solidFill>
                <a:latin typeface="Calibri"/>
              </a:rPr>
              <a:t>…</a:t>
            </a:r>
          </a:p>
        </p:txBody>
      </p:sp>
      <p:sp>
        <p:nvSpPr>
          <p:cNvPr id="27" name="TextBox 26"/>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S33  ·  37 / 93</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MONDAY  ·  BUSINESS METRIC DESIGN  ·  UBER, HYDERABAD</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One small function holds the four lines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How does code reproduce all five readings?</a:t>
            </a:r>
          </a:p>
        </p:txBody>
      </p:sp>
      <p:sp>
        <p:nvSpPr>
          <p:cNvPr id="9" name="Rounded Rectangle 8"/>
          <p:cNvSpPr/>
          <p:nvPr/>
        </p:nvSpPr>
        <p:spPr>
          <a:xfrm>
            <a:off x="530352" y="1956816"/>
            <a:ext cx="11130991" cy="1719580"/>
          </a:xfrm>
          <a:prstGeom prst="roundRect">
            <a:avLst>
              <a:gd name="adj" fmla="val 3500"/>
            </a:avLst>
          </a:prstGeom>
          <a:solidFill>
            <a:srgbClr val="1A1440"/>
          </a:soli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713232" y="2084832"/>
            <a:ext cx="91440" cy="91440"/>
          </a:xfrm>
          <a:prstGeom prst="ellipse">
            <a:avLst/>
          </a:prstGeom>
          <a:solidFill>
            <a:srgbClr val="D63A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868680" y="2084832"/>
            <a:ext cx="91440" cy="91440"/>
          </a:xfrm>
          <a:prstGeom prst="ellipse">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Oval 11"/>
          <p:cNvSpPr/>
          <p:nvPr/>
        </p:nvSpPr>
        <p:spPr>
          <a:xfrm>
            <a:off x="1024128" y="2084832"/>
            <a:ext cx="91440" cy="91440"/>
          </a:xfrm>
          <a:prstGeom prst="ellipse">
            <a:avLst/>
          </a:prstGeom>
          <a:solidFill>
            <a:srgbClr val="1F8A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804671" y="2286000"/>
            <a:ext cx="10673791" cy="1317244"/>
          </a:xfrm>
          <a:prstGeom prst="rect">
            <a:avLst/>
          </a:prstGeom>
          <a:noFill/>
        </p:spPr>
        <p:txBody>
          <a:bodyPr wrap="square" anchor="t" lIns="0" rIns="0" tIns="0" bIns="0">
            <a:spAutoFit/>
          </a:bodyPr>
          <a:lstStyle/>
          <a:p>
            <a:pPr>
              <a:spcAft>
                <a:spcPts val="200"/>
              </a:spcAft>
            </a:pPr>
            <a:r>
              <a:rPr sz="1400" b="0" i="0">
                <a:solidFill>
                  <a:srgbClr val="E4E1F1"/>
                </a:solidFill>
                <a:latin typeface="Consolas"/>
              </a:rPr>
              <a:t>reg = pd.read_csv("../data/C2_W04_D01_attendance_register_STUDENT.csv")   # invented</a:t>
            </a:r>
          </a:p>
          <a:p>
            <a:pPr>
              <a:spcAft>
                <a:spcPts val="200"/>
              </a:spcAft>
            </a:pPr>
            <a:r>
              <a:rPr sz="1400" b="0" i="0">
                <a:solidFill>
                  <a:srgbClr val="E4E1F1"/>
                </a:solidFill>
                <a:latin typeface="Consolas"/>
              </a:rPr>
              <a:t>def attendance(days, top=("present",), bottom=("present", "absent", "medical")):</a:t>
            </a:r>
          </a:p>
          <a:p>
            <a:pPr>
              <a:spcAft>
                <a:spcPts val="200"/>
              </a:spcAft>
            </a:pPr>
            <a:r>
              <a:rPr sz="1400" b="0" i="0">
                <a:solidFill>
                  <a:srgbClr val="E4E1F1"/>
                </a:solidFill>
                <a:latin typeface="Consolas"/>
              </a:rPr>
              <a:t>    return round(100 * days.status.isin(top).sum() / days.status.isin(bottom).sum(), 1)</a:t>
            </a:r>
          </a:p>
          <a:p>
            <a:pPr>
              <a:spcAft>
                <a:spcPts val="200"/>
              </a:spcAft>
            </a:pPr>
            <a:r>
              <a:rPr sz="1400" b="0" i="0">
                <a:solidFill>
                  <a:srgbClr val="E4E1F1"/>
                </a:solidFill>
                <a:latin typeface="Consolas"/>
              </a:rPr>
              <a:t>attendance(reg)                                       # 80.0, the school's rule</a:t>
            </a:r>
          </a:p>
          <a:p>
            <a:pPr>
              <a:spcAft>
                <a:spcPts val="200"/>
              </a:spcAft>
            </a:pPr>
            <a:r>
              <a:rPr sz="1400" b="0" i="0">
                <a:solidFill>
                  <a:srgbClr val="E4E1F1"/>
                </a:solidFill>
                <a:latin typeface="Consolas"/>
              </a:rPr>
              <a:t>attendance(reg, bottom=("present", "absent"))         # 83.3, medical leave left out</a:t>
            </a:r>
          </a:p>
        </p:txBody>
      </p:sp>
      <p:sp>
        <p:nvSpPr>
          <p:cNvPr id="14" name="TextBox 13"/>
          <p:cNvSpPr txBox="1"/>
          <p:nvPr/>
        </p:nvSpPr>
        <p:spPr>
          <a:xfrm>
            <a:off x="530352" y="3840988"/>
            <a:ext cx="11130991" cy="772160"/>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The two arguments are the numerator and the denominator; the window is the rows passed in, and an exclusion is a status left out of both.</a:t>
            </a:r>
          </a:p>
        </p:txBody>
      </p:sp>
      <p:sp>
        <p:nvSpPr>
          <p:cNvPr id="15" name="Oval 14"/>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40080"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What is a number for?</a:t>
            </a:r>
          </a:p>
        </p:txBody>
      </p:sp>
      <p:sp>
        <p:nvSpPr>
          <p:cNvPr id="17" name="Oval 16"/>
          <p:cNvSpPr/>
          <p:nvPr/>
        </p:nvSpPr>
        <p:spPr>
          <a:xfrm>
            <a:off x="197196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2081688"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Which number to chase?</a:t>
            </a:r>
          </a:p>
        </p:txBody>
      </p:sp>
      <p:sp>
        <p:nvSpPr>
          <p:cNvPr id="19" name="Oval 18"/>
          <p:cNvSpPr/>
          <p:nvPr/>
        </p:nvSpPr>
        <p:spPr>
          <a:xfrm>
            <a:off x="345957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3569303"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Which number warns?</a:t>
            </a:r>
          </a:p>
        </p:txBody>
      </p:sp>
      <p:sp>
        <p:nvSpPr>
          <p:cNvPr id="21" name="Oval 20"/>
          <p:cNvSpPr/>
          <p:nvPr/>
        </p:nvSpPr>
        <p:spPr>
          <a:xfrm>
            <a:off x="480917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4918900" y="6437376"/>
            <a:ext cx="1056417" cy="152146"/>
          </a:xfrm>
          <a:prstGeom prst="rect">
            <a:avLst/>
          </a:prstGeom>
          <a:noFill/>
        </p:spPr>
        <p:txBody>
          <a:bodyPr wrap="square" anchor="t" lIns="0" rIns="0" tIns="0" bIns="0">
            <a:spAutoFit/>
          </a:bodyPr>
          <a:lstStyle/>
          <a:p>
            <a:pPr algn="l"/>
            <a:r>
              <a:rPr sz="700" b="1" i="0">
                <a:solidFill>
                  <a:srgbClr val="5B3FD6"/>
                </a:solidFill>
                <a:latin typeface="Calibri"/>
              </a:rPr>
              <a:t>Which four lines?</a:t>
            </a:r>
          </a:p>
        </p:txBody>
      </p:sp>
      <p:sp>
        <p:nvSpPr>
          <p:cNvPr id="23" name="Oval 22"/>
          <p:cNvSpPr/>
          <p:nvPr/>
        </p:nvSpPr>
        <p:spPr>
          <a:xfrm>
            <a:off x="606675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6176486"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How is a number gamed?</a:t>
            </a:r>
          </a:p>
        </p:txBody>
      </p:sp>
      <p:sp>
        <p:nvSpPr>
          <p:cNvPr id="25" name="Oval 24"/>
          <p:cNvSpPr/>
          <p:nvPr/>
        </p:nvSpPr>
        <p:spPr>
          <a:xfrm>
            <a:off x="755437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766410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the page hold?</a:t>
            </a:r>
          </a:p>
        </p:txBody>
      </p:sp>
      <p:sp>
        <p:nvSpPr>
          <p:cNvPr id="27" name="Oval 26"/>
          <p:cNvSpPr/>
          <p:nvPr/>
        </p:nvSpPr>
        <p:spPr>
          <a:xfrm>
            <a:off x="91339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9243726"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an hour count?</a:t>
            </a:r>
          </a:p>
        </p:txBody>
      </p:sp>
      <p:sp>
        <p:nvSpPr>
          <p:cNvPr id="29" name="TextBox 28"/>
          <p:cNvSpPr txBox="1"/>
          <p:nvPr/>
        </p:nvSpPr>
        <p:spPr>
          <a:xfrm>
            <a:off x="10713624" y="6437376"/>
            <a:ext cx="256032" cy="152146"/>
          </a:xfrm>
          <a:prstGeom prst="rect">
            <a:avLst/>
          </a:prstGeom>
          <a:noFill/>
        </p:spPr>
        <p:txBody>
          <a:bodyPr wrap="square" anchor="t" lIns="0" rIns="0" tIns="0" bIns="0">
            <a:spAutoFit/>
          </a:bodyPr>
          <a:lstStyle/>
          <a:p>
            <a:pPr algn="l"/>
            <a:r>
              <a:rPr sz="700" b="0" i="0">
                <a:solidFill>
                  <a:srgbClr val="6B6690"/>
                </a:solidFill>
                <a:latin typeface="Calibri"/>
              </a:rPr>
              <a:t>…</a:t>
            </a:r>
          </a:p>
        </p:txBody>
      </p:sp>
      <p:sp>
        <p:nvSpPr>
          <p:cNvPr id="30" name="TextBox 29"/>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S34  ·  38 / 93</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MONDAY  ·  BUSINESS METRIC DESIGN  ·  UBER, HYDERABAD</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Four rules for writing a definition</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Which rules does the chapter leave, and what does an interviewer ask?</a:t>
            </a:r>
          </a:p>
        </p:txBody>
      </p:sp>
      <p:sp>
        <p:nvSpPr>
          <p:cNvPr id="9" name="TextBox 8"/>
          <p:cNvSpPr txBox="1"/>
          <p:nvPr/>
        </p:nvSpPr>
        <p:spPr>
          <a:xfrm>
            <a:off x="530352" y="1920240"/>
            <a:ext cx="502920" cy="333756"/>
          </a:xfrm>
          <a:prstGeom prst="rect">
            <a:avLst/>
          </a:prstGeom>
          <a:noFill/>
        </p:spPr>
        <p:txBody>
          <a:bodyPr wrap="square" anchor="t" lIns="0" rIns="0" tIns="0" bIns="0">
            <a:spAutoFit/>
          </a:bodyPr>
          <a:lstStyle/>
          <a:p>
            <a:pPr algn="l"/>
            <a:r>
              <a:rPr sz="1800" b="0" i="0">
                <a:solidFill>
                  <a:srgbClr val="5B3FD6"/>
                </a:solidFill>
                <a:latin typeface="Georgia"/>
              </a:rPr>
              <a:t>01</a:t>
            </a:r>
          </a:p>
        </p:txBody>
      </p:sp>
      <p:sp>
        <p:nvSpPr>
          <p:cNvPr id="10" name="TextBox 9"/>
          <p:cNvSpPr txBox="1"/>
          <p:nvPr/>
        </p:nvSpPr>
        <p:spPr>
          <a:xfrm>
            <a:off x="1097280" y="1956816"/>
            <a:ext cx="10564063" cy="368808"/>
          </a:xfrm>
          <a:prstGeom prst="rect">
            <a:avLst/>
          </a:prstGeom>
          <a:noFill/>
        </p:spPr>
        <p:txBody>
          <a:bodyPr wrap="square" anchor="t" lIns="0" rIns="0" tIns="0" bIns="0">
            <a:spAutoFit/>
          </a:bodyPr>
          <a:lstStyle/>
          <a:p>
            <a:r>
              <a:rPr sz="1500" b="0" i="0">
                <a:solidFill>
                  <a:srgbClr val="1A1440"/>
                </a:solidFill>
                <a:latin typeface="Calibri"/>
              </a:rPr>
              <a:t>Write the numerator and the denominator as counts of named things.</a:t>
            </a:r>
          </a:p>
        </p:txBody>
      </p:sp>
      <p:sp>
        <p:nvSpPr>
          <p:cNvPr id="11" name="TextBox 10"/>
          <p:cNvSpPr txBox="1"/>
          <p:nvPr/>
        </p:nvSpPr>
        <p:spPr>
          <a:xfrm>
            <a:off x="530352" y="2362200"/>
            <a:ext cx="502920" cy="333756"/>
          </a:xfrm>
          <a:prstGeom prst="rect">
            <a:avLst/>
          </a:prstGeom>
          <a:noFill/>
        </p:spPr>
        <p:txBody>
          <a:bodyPr wrap="square" anchor="t" lIns="0" rIns="0" tIns="0" bIns="0">
            <a:spAutoFit/>
          </a:bodyPr>
          <a:lstStyle/>
          <a:p>
            <a:pPr algn="l"/>
            <a:r>
              <a:rPr sz="1800" b="0" i="0">
                <a:solidFill>
                  <a:srgbClr val="5B3FD6"/>
                </a:solidFill>
                <a:latin typeface="Georgia"/>
              </a:rPr>
              <a:t>02</a:t>
            </a:r>
          </a:p>
        </p:txBody>
      </p:sp>
      <p:sp>
        <p:nvSpPr>
          <p:cNvPr id="12" name="TextBox 11"/>
          <p:cNvSpPr txBox="1"/>
          <p:nvPr/>
        </p:nvSpPr>
        <p:spPr>
          <a:xfrm>
            <a:off x="1097280" y="2398776"/>
            <a:ext cx="10564063" cy="627888"/>
          </a:xfrm>
          <a:prstGeom prst="rect">
            <a:avLst/>
          </a:prstGeom>
          <a:noFill/>
        </p:spPr>
        <p:txBody>
          <a:bodyPr wrap="square" anchor="t" lIns="0" rIns="0" tIns="0" bIns="0">
            <a:spAutoFit/>
          </a:bodyPr>
          <a:lstStyle/>
          <a:p>
            <a:r>
              <a:rPr sz="1500" b="0" i="0">
                <a:solidFill>
                  <a:srgbClr val="1A1440"/>
                </a:solidFill>
                <a:latin typeface="Calibri"/>
              </a:rPr>
              <a:t>Write the window as dates or periods: the same register reads 80.0 over the term and 70.0 over its last 20 working days.</a:t>
            </a:r>
          </a:p>
        </p:txBody>
      </p:sp>
      <p:sp>
        <p:nvSpPr>
          <p:cNvPr id="13" name="TextBox 12"/>
          <p:cNvSpPr txBox="1"/>
          <p:nvPr/>
        </p:nvSpPr>
        <p:spPr>
          <a:xfrm>
            <a:off x="530352" y="3063240"/>
            <a:ext cx="502920" cy="333756"/>
          </a:xfrm>
          <a:prstGeom prst="rect">
            <a:avLst/>
          </a:prstGeom>
          <a:noFill/>
        </p:spPr>
        <p:txBody>
          <a:bodyPr wrap="square" anchor="t" lIns="0" rIns="0" tIns="0" bIns="0">
            <a:spAutoFit/>
          </a:bodyPr>
          <a:lstStyle/>
          <a:p>
            <a:pPr algn="l"/>
            <a:r>
              <a:rPr sz="1800" b="0" i="0">
                <a:solidFill>
                  <a:srgbClr val="5B3FD6"/>
                </a:solidFill>
                <a:latin typeface="Georgia"/>
              </a:rPr>
              <a:t>03</a:t>
            </a:r>
          </a:p>
        </p:txBody>
      </p:sp>
      <p:sp>
        <p:nvSpPr>
          <p:cNvPr id="14" name="TextBox 13"/>
          <p:cNvSpPr txBox="1"/>
          <p:nvPr/>
        </p:nvSpPr>
        <p:spPr>
          <a:xfrm>
            <a:off x="1097280" y="3099816"/>
            <a:ext cx="10564063" cy="368808"/>
          </a:xfrm>
          <a:prstGeom prst="rect">
            <a:avLst/>
          </a:prstGeom>
          <a:noFill/>
        </p:spPr>
        <p:txBody>
          <a:bodyPr wrap="square" anchor="t" lIns="0" rIns="0" tIns="0" bIns="0">
            <a:spAutoFit/>
          </a:bodyPr>
          <a:lstStyle/>
          <a:p>
            <a:r>
              <a:rPr sz="1500" b="0" i="0">
                <a:solidFill>
                  <a:srgbClr val="1A1440"/>
                </a:solidFill>
                <a:latin typeface="Calibri"/>
              </a:rPr>
              <a:t>List every exclusion, and date any change to the list.</a:t>
            </a:r>
          </a:p>
        </p:txBody>
      </p:sp>
      <p:sp>
        <p:nvSpPr>
          <p:cNvPr id="15" name="TextBox 14"/>
          <p:cNvSpPr txBox="1"/>
          <p:nvPr/>
        </p:nvSpPr>
        <p:spPr>
          <a:xfrm>
            <a:off x="530352" y="3505200"/>
            <a:ext cx="502920" cy="333756"/>
          </a:xfrm>
          <a:prstGeom prst="rect">
            <a:avLst/>
          </a:prstGeom>
          <a:noFill/>
        </p:spPr>
        <p:txBody>
          <a:bodyPr wrap="square" anchor="t" lIns="0" rIns="0" tIns="0" bIns="0">
            <a:spAutoFit/>
          </a:bodyPr>
          <a:lstStyle/>
          <a:p>
            <a:pPr algn="l"/>
            <a:r>
              <a:rPr sz="1800" b="0" i="0">
                <a:solidFill>
                  <a:srgbClr val="5B3FD6"/>
                </a:solidFill>
                <a:latin typeface="Georgia"/>
              </a:rPr>
              <a:t>04</a:t>
            </a:r>
          </a:p>
        </p:txBody>
      </p:sp>
      <p:sp>
        <p:nvSpPr>
          <p:cNvPr id="16" name="TextBox 15"/>
          <p:cNvSpPr txBox="1"/>
          <p:nvPr/>
        </p:nvSpPr>
        <p:spPr>
          <a:xfrm>
            <a:off x="1097280" y="3541776"/>
            <a:ext cx="10564063" cy="368808"/>
          </a:xfrm>
          <a:prstGeom prst="rect">
            <a:avLst/>
          </a:prstGeom>
          <a:noFill/>
        </p:spPr>
        <p:txBody>
          <a:bodyPr wrap="square" anchor="t" lIns="0" rIns="0" tIns="0" bIns="0">
            <a:spAutoFit/>
          </a:bodyPr>
          <a:lstStyle/>
          <a:p>
            <a:r>
              <a:rPr sz="1500" b="0" i="0">
                <a:solidFill>
                  <a:srgbClr val="1A1440"/>
                </a:solidFill>
                <a:latin typeface="Calibri"/>
              </a:rPr>
              <a:t>Print the definition beside the number wherever the number travels.</a:t>
            </a:r>
          </a:p>
        </p:txBody>
      </p:sp>
      <p:sp>
        <p:nvSpPr>
          <p:cNvPr id="17" name="Rounded Rectangle 16"/>
          <p:cNvSpPr/>
          <p:nvPr/>
        </p:nvSpPr>
        <p:spPr>
          <a:xfrm>
            <a:off x="530352" y="4093464"/>
            <a:ext cx="11130991" cy="862584"/>
          </a:xfrm>
          <a:prstGeom prst="roundRect">
            <a:avLst>
              <a:gd name="adj" fmla="val 5000"/>
            </a:avLst>
          </a:prstGeom>
          <a:solidFill>
            <a:srgbClr val="F7F5FD"/>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Oval 17"/>
          <p:cNvSpPr/>
          <p:nvPr/>
        </p:nvSpPr>
        <p:spPr>
          <a:xfrm>
            <a:off x="758952" y="4296156"/>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9" name="Picture 18" descr="mic_caee7398c80d.png"/>
          <p:cNvPicPr>
            <a:picLocks noChangeAspect="1"/>
          </p:cNvPicPr>
          <p:nvPr/>
        </p:nvPicPr>
        <p:blipFill>
          <a:blip r:embed="rId4"/>
          <a:stretch>
            <a:fillRect/>
          </a:stretch>
        </p:blipFill>
        <p:spPr>
          <a:xfrm>
            <a:off x="868680" y="4405884"/>
            <a:ext cx="237744" cy="237744"/>
          </a:xfrm>
          <a:prstGeom prst="rect">
            <a:avLst/>
          </a:prstGeom>
        </p:spPr>
      </p:pic>
      <p:sp>
        <p:nvSpPr>
          <p:cNvPr id="20" name="TextBox 19"/>
          <p:cNvSpPr txBox="1"/>
          <p:nvPr/>
        </p:nvSpPr>
        <p:spPr>
          <a:xfrm>
            <a:off x="1399031" y="4239768"/>
            <a:ext cx="9987991" cy="160401"/>
          </a:xfrm>
          <a:prstGeom prst="rect">
            <a:avLst/>
          </a:prstGeom>
          <a:noFill/>
        </p:spPr>
        <p:txBody>
          <a:bodyPr wrap="square" anchor="t" lIns="0" rIns="0" tIns="0" bIns="0">
            <a:spAutoFit/>
          </a:bodyPr>
          <a:lstStyle/>
          <a:p>
            <a:pPr algn="l"/>
            <a:r>
              <a:rPr sz="750" b="1" i="0" spc="250">
                <a:solidFill>
                  <a:srgbClr val="5B3FD6"/>
                </a:solidFill>
                <a:latin typeface="Calibri"/>
              </a:rPr>
              <a:t>IN THE INTERVIEW</a:t>
            </a:r>
          </a:p>
        </p:txBody>
      </p:sp>
      <p:sp>
        <p:nvSpPr>
          <p:cNvPr id="21" name="TextBox 20"/>
          <p:cNvSpPr txBox="1"/>
          <p:nvPr/>
        </p:nvSpPr>
        <p:spPr>
          <a:xfrm>
            <a:off x="1399031" y="4459224"/>
            <a:ext cx="9987991" cy="423672"/>
          </a:xfrm>
          <a:prstGeom prst="rect">
            <a:avLst/>
          </a:prstGeom>
          <a:noFill/>
        </p:spPr>
        <p:txBody>
          <a:bodyPr wrap="square" anchor="t" lIns="0" rIns="0" tIns="0" bIns="0">
            <a:spAutoFit/>
          </a:bodyPr>
          <a:lstStyle/>
          <a:p>
            <a:r>
              <a:rPr sz="1500" b="0" i="0">
                <a:solidFill>
                  <a:srgbClr val="1A1440"/>
                </a:solidFill>
                <a:latin typeface="Calibri"/>
              </a:rPr>
              <a:t>[F] What makes a metric gameable, and how do you write one that is not?</a:t>
            </a:r>
          </a:p>
        </p:txBody>
      </p:sp>
      <p:sp>
        <p:nvSpPr>
          <p:cNvPr id="22" name="Oval 21"/>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640080"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What is a number for?</a:t>
            </a:r>
          </a:p>
        </p:txBody>
      </p:sp>
      <p:sp>
        <p:nvSpPr>
          <p:cNvPr id="24" name="Oval 23"/>
          <p:cNvSpPr/>
          <p:nvPr/>
        </p:nvSpPr>
        <p:spPr>
          <a:xfrm>
            <a:off x="197196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2081688"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Which number to chase?</a:t>
            </a:r>
          </a:p>
        </p:txBody>
      </p:sp>
      <p:sp>
        <p:nvSpPr>
          <p:cNvPr id="26" name="Oval 25"/>
          <p:cNvSpPr/>
          <p:nvPr/>
        </p:nvSpPr>
        <p:spPr>
          <a:xfrm>
            <a:off x="345957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3569303"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Which number warns?</a:t>
            </a:r>
          </a:p>
        </p:txBody>
      </p:sp>
      <p:sp>
        <p:nvSpPr>
          <p:cNvPr id="28" name="Oval 27"/>
          <p:cNvSpPr/>
          <p:nvPr/>
        </p:nvSpPr>
        <p:spPr>
          <a:xfrm>
            <a:off x="480917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4918900" y="6437376"/>
            <a:ext cx="1056417" cy="152146"/>
          </a:xfrm>
          <a:prstGeom prst="rect">
            <a:avLst/>
          </a:prstGeom>
          <a:noFill/>
        </p:spPr>
        <p:txBody>
          <a:bodyPr wrap="square" anchor="t" lIns="0" rIns="0" tIns="0" bIns="0">
            <a:spAutoFit/>
          </a:bodyPr>
          <a:lstStyle/>
          <a:p>
            <a:pPr algn="l"/>
            <a:r>
              <a:rPr sz="700" b="1" i="0">
                <a:solidFill>
                  <a:srgbClr val="5B3FD6"/>
                </a:solidFill>
                <a:latin typeface="Calibri"/>
              </a:rPr>
              <a:t>Which four lines?</a:t>
            </a:r>
          </a:p>
        </p:txBody>
      </p:sp>
      <p:sp>
        <p:nvSpPr>
          <p:cNvPr id="30" name="Oval 29"/>
          <p:cNvSpPr/>
          <p:nvPr/>
        </p:nvSpPr>
        <p:spPr>
          <a:xfrm>
            <a:off x="606675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6176486"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How is a number gamed?</a:t>
            </a:r>
          </a:p>
        </p:txBody>
      </p:sp>
      <p:sp>
        <p:nvSpPr>
          <p:cNvPr id="32" name="Oval 31"/>
          <p:cNvSpPr/>
          <p:nvPr/>
        </p:nvSpPr>
        <p:spPr>
          <a:xfrm>
            <a:off x="755437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766410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the page hold?</a:t>
            </a:r>
          </a:p>
        </p:txBody>
      </p:sp>
      <p:sp>
        <p:nvSpPr>
          <p:cNvPr id="34" name="Oval 33"/>
          <p:cNvSpPr/>
          <p:nvPr/>
        </p:nvSpPr>
        <p:spPr>
          <a:xfrm>
            <a:off x="91339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9243726"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an hour count?</a:t>
            </a:r>
          </a:p>
        </p:txBody>
      </p:sp>
      <p:sp>
        <p:nvSpPr>
          <p:cNvPr id="36" name="TextBox 35"/>
          <p:cNvSpPr txBox="1"/>
          <p:nvPr/>
        </p:nvSpPr>
        <p:spPr>
          <a:xfrm>
            <a:off x="10713624" y="6437376"/>
            <a:ext cx="256032" cy="152146"/>
          </a:xfrm>
          <a:prstGeom prst="rect">
            <a:avLst/>
          </a:prstGeom>
          <a:noFill/>
        </p:spPr>
        <p:txBody>
          <a:bodyPr wrap="square" anchor="t" lIns="0" rIns="0" tIns="0" bIns="0">
            <a:spAutoFit/>
          </a:bodyPr>
          <a:lstStyle/>
          <a:p>
            <a:pPr algn="l"/>
            <a:r>
              <a:rPr sz="700" b="0" i="0">
                <a:solidFill>
                  <a:srgbClr val="6B6690"/>
                </a:solidFill>
                <a:latin typeface="Calibri"/>
              </a:rPr>
              <a:t>…</a:t>
            </a:r>
          </a:p>
        </p:txBody>
      </p:sp>
      <p:sp>
        <p:nvSpPr>
          <p:cNvPr id="37" name="TextBox 36"/>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S35  ·  39 / 93</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MONDAY  ·  BUSINESS METRIC DESIGN  ·  UBER, HYDERABAD</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Swiggy's filings write each line down</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do the four lines look like in a public filing?</a:t>
            </a:r>
          </a:p>
        </p:txBody>
      </p:sp>
      <p:graphicFrame>
        <p:nvGraphicFramePr>
          <p:cNvPr id="9" name="Table 8"/>
          <p:cNvGraphicFramePr>
            <a:graphicFrameLocks noGrp="1"/>
          </p:cNvGraphicFramePr>
          <p:nvPr/>
        </p:nvGraphicFramePr>
        <p:xfrm>
          <a:off x="530352" y="1956816"/>
          <a:ext cx="11130988" cy="1627632"/>
        </p:xfrm>
        <a:graphic>
          <a:graphicData uri="http://schemas.openxmlformats.org/drawingml/2006/table">
            <a:tbl>
              <a:tblPr firstRow="0" bandRow="0">
                <a:tableStyleId>{2D5ABB26-0587-4C30-8999-92F81FD0307C}</a:tableStyleId>
              </a:tblPr>
              <a:tblGrid>
                <a:gridCol w="2242238"/>
                <a:gridCol w="3786995"/>
                <a:gridCol w="1061621"/>
                <a:gridCol w="2027580"/>
                <a:gridCol w="2012554"/>
              </a:tblGrid>
              <a:tr h="542544">
                <a:tc>
                  <a:txBody>
                    <a:bodyPr/>
                    <a:lstStyle/>
                    <a:p>
                      <a:r>
                        <a:rPr sz="1250" b="1" i="0">
                          <a:solidFill>
                            <a:srgbClr val="FFFFFF"/>
                          </a:solidFill>
                          <a:latin typeface="Calibri"/>
                        </a:rPr>
                        <a:t>Swiggy term, as filed</a:t>
                      </a:r>
                    </a:p>
                  </a:txBody>
                  <a:tcPr marL="101600" marR="101600" marT="38100" marB="38100" anchor="ctr">
                    <a:solidFill>
                      <a:srgbClr val="1A0F5C"/>
                    </a:solidFill>
                  </a:tcPr>
                </a:tc>
                <a:tc>
                  <a:txBody>
                    <a:bodyPr/>
                    <a:lstStyle/>
                    <a:p>
                      <a:r>
                        <a:rPr sz="1250" b="1" i="0">
                          <a:solidFill>
                            <a:srgbClr val="FFFFFF"/>
                          </a:solidFill>
                          <a:latin typeface="Calibri"/>
                        </a:rPr>
                        <a:t>Numerator</a:t>
                      </a:r>
                    </a:p>
                  </a:txBody>
                  <a:tcPr marL="101600" marR="101600" marT="38100" marB="38100" anchor="ctr">
                    <a:solidFill>
                      <a:srgbClr val="1A0F5C"/>
                    </a:solidFill>
                  </a:tcPr>
                </a:tc>
                <a:tc>
                  <a:txBody>
                    <a:bodyPr/>
                    <a:lstStyle/>
                    <a:p>
                      <a:r>
                        <a:rPr sz="1250" b="1" i="0">
                          <a:solidFill>
                            <a:srgbClr val="FFFFFF"/>
                          </a:solidFill>
                          <a:latin typeface="Calibri"/>
                        </a:rPr>
                        <a:t>Denominator</a:t>
                      </a:r>
                    </a:p>
                  </a:txBody>
                  <a:tcPr marL="101600" marR="101600" marT="38100" marB="38100" anchor="ctr">
                    <a:solidFill>
                      <a:srgbClr val="1A0F5C"/>
                    </a:solidFill>
                  </a:tcPr>
                </a:tc>
                <a:tc>
                  <a:txBody>
                    <a:bodyPr/>
                    <a:lstStyle/>
                    <a:p>
                      <a:r>
                        <a:rPr sz="1250" b="1" i="0">
                          <a:solidFill>
                            <a:srgbClr val="FFFFFF"/>
                          </a:solidFill>
                          <a:latin typeface="Calibri"/>
                        </a:rPr>
                        <a:t>Window</a:t>
                      </a:r>
                    </a:p>
                  </a:txBody>
                  <a:tcPr marL="101600" marR="101600" marT="38100" marB="38100" anchor="ctr">
                    <a:solidFill>
                      <a:srgbClr val="1A0F5C"/>
                    </a:solidFill>
                  </a:tcPr>
                </a:tc>
                <a:tc>
                  <a:txBody>
                    <a:bodyPr/>
                    <a:lstStyle/>
                    <a:p>
                      <a:r>
                        <a:rPr sz="1250" b="1" i="0">
                          <a:solidFill>
                            <a:srgbClr val="FFFFFF"/>
                          </a:solidFill>
                          <a:latin typeface="Calibri"/>
                        </a:rPr>
                        <a:t>Exclusions, read from the words</a:t>
                      </a:r>
                    </a:p>
                  </a:txBody>
                  <a:tcPr marL="101600" marR="101600" marT="38100" marB="38100" anchor="ctr">
                    <a:solidFill>
                      <a:srgbClr val="1A0F5C"/>
                    </a:solidFill>
                  </a:tcPr>
                </a:tc>
              </a:tr>
              <a:tr h="542544">
                <a:tc>
                  <a:txBody>
                    <a:bodyPr/>
                    <a:lstStyle/>
                    <a:p>
                      <a:r>
                        <a:rPr sz="1200" b="0" i="0">
                          <a:solidFill>
                            <a:srgbClr val="1A1440"/>
                          </a:solidFill>
                          <a:latin typeface="Calibri"/>
                        </a:rPr>
                        <a:t>Average Monthly Transacting Users (MTU)</a:t>
                      </a:r>
                    </a:p>
                  </a:txBody>
                  <a:tcPr marL="101600" marR="101600" marT="38100" marB="38100" anchor="ctr">
                    <a:solidFill>
                      <a:srgbClr val="FFFFFF"/>
                    </a:solidFill>
                  </a:tcPr>
                </a:tc>
                <a:tc>
                  <a:txBody>
                    <a:bodyPr/>
                    <a:lstStyle/>
                    <a:p>
                      <a:r>
                        <a:rPr sz="1200" b="0" i="0">
                          <a:solidFill>
                            <a:srgbClr val="1A1440"/>
                          </a:solidFill>
                          <a:latin typeface="Calibri"/>
                        </a:rPr>
                        <a:t>Unique users with at least one completed order on the app or website</a:t>
                      </a:r>
                    </a:p>
                  </a:txBody>
                  <a:tcPr marL="101600" marR="101600" marT="38100" marB="38100" anchor="ctr">
                    <a:solidFill>
                      <a:srgbClr val="FFFFFF"/>
                    </a:solidFill>
                  </a:tcPr>
                </a:tc>
                <a:tc>
                  <a:txBody>
                    <a:bodyPr/>
                    <a:lstStyle/>
                    <a:p>
                      <a:r>
                        <a:rPr sz="1200" b="0" i="0">
                          <a:solidFill>
                            <a:srgbClr val="1A1440"/>
                          </a:solidFill>
                          <a:latin typeface="Calibri"/>
                        </a:rPr>
                        <a:t>none: a count</a:t>
                      </a:r>
                    </a:p>
                  </a:txBody>
                  <a:tcPr marL="101600" marR="101600" marT="38100" marB="38100" anchor="ctr">
                    <a:solidFill>
                      <a:srgbClr val="FFFFFF"/>
                    </a:solidFill>
                  </a:tcPr>
                </a:tc>
                <a:tc>
                  <a:txBody>
                    <a:bodyPr/>
                    <a:lstStyle/>
                    <a:p>
                      <a:r>
                        <a:rPr sz="1200" b="0" i="0">
                          <a:solidFill>
                            <a:srgbClr val="1A1440"/>
                          </a:solidFill>
                          <a:latin typeface="Calibri"/>
                        </a:rPr>
                        <a:t>the month, averaged over the period</a:t>
                      </a:r>
                    </a:p>
                  </a:txBody>
                  <a:tcPr marL="101600" marR="101600" marT="38100" marB="38100" anchor="ctr">
                    <a:solidFill>
                      <a:srgbClr val="FFFFFF"/>
                    </a:solidFill>
                  </a:tcPr>
                </a:tc>
                <a:tc>
                  <a:txBody>
                    <a:bodyPr/>
                    <a:lstStyle/>
                    <a:p>
                      <a:r>
                        <a:rPr sz="1200" b="0" i="0">
                          <a:solidFill>
                            <a:srgbClr val="1A1440"/>
                          </a:solidFill>
                          <a:latin typeface="Calibri"/>
                        </a:rPr>
                        <a:t>users with no completed order</a:t>
                      </a:r>
                    </a:p>
                  </a:txBody>
                  <a:tcPr marL="101600" marR="101600" marT="38100" marB="38100" anchor="ctr">
                    <a:solidFill>
                      <a:srgbClr val="FFFFFF"/>
                    </a:solidFill>
                  </a:tcPr>
                </a:tc>
              </a:tr>
              <a:tr h="542544">
                <a:tc>
                  <a:txBody>
                    <a:bodyPr/>
                    <a:lstStyle/>
                    <a:p>
                      <a:r>
                        <a:rPr sz="1200" b="0" i="0">
                          <a:solidFill>
                            <a:srgbClr val="1A1440"/>
                          </a:solidFill>
                          <a:latin typeface="Calibri"/>
                        </a:rPr>
                        <a:t>Platform frequency</a:t>
                      </a:r>
                    </a:p>
                  </a:txBody>
                  <a:tcPr marL="101600" marR="101600" marT="38100" marB="38100" anchor="ctr">
                    <a:solidFill>
                      <a:srgbClr val="F4F2FA"/>
                    </a:solidFill>
                  </a:tcPr>
                </a:tc>
                <a:tc>
                  <a:txBody>
                    <a:bodyPr/>
                    <a:lstStyle/>
                    <a:p>
                      <a:r>
                        <a:rPr sz="1200" b="0" i="0">
                          <a:solidFill>
                            <a:srgbClr val="1A1440"/>
                          </a:solidFill>
                          <a:latin typeface="Calibri"/>
                        </a:rPr>
                        <a:t>Completed orders</a:t>
                      </a:r>
                    </a:p>
                  </a:txBody>
                  <a:tcPr marL="101600" marR="101600" marT="38100" marB="38100" anchor="ctr">
                    <a:solidFill>
                      <a:srgbClr val="F4F2FA"/>
                    </a:solidFill>
                  </a:tcPr>
                </a:tc>
                <a:tc>
                  <a:txBody>
                    <a:bodyPr/>
                    <a:lstStyle/>
                    <a:p>
                      <a:r>
                        <a:rPr sz="1200" b="0" i="0">
                          <a:solidFill>
                            <a:srgbClr val="1A1440"/>
                          </a:solidFill>
                          <a:latin typeface="Calibri"/>
                        </a:rPr>
                        <a:t>transacting users</a:t>
                      </a:r>
                    </a:p>
                  </a:txBody>
                  <a:tcPr marL="101600" marR="101600" marT="38100" marB="38100" anchor="ctr">
                    <a:solidFill>
                      <a:srgbClr val="F4F2FA"/>
                    </a:solidFill>
                  </a:tcPr>
                </a:tc>
                <a:tc>
                  <a:txBody>
                    <a:bodyPr/>
                    <a:lstStyle/>
                    <a:p>
                      <a:r>
                        <a:rPr sz="1200" b="0" i="0">
                          <a:solidFill>
                            <a:srgbClr val="1A1440"/>
                          </a:solidFill>
                          <a:latin typeface="Calibri"/>
                        </a:rPr>
                        <a:t>the month, averaged over the period</a:t>
                      </a:r>
                    </a:p>
                  </a:txBody>
                  <a:tcPr marL="101600" marR="101600" marT="38100" marB="38100" anchor="ctr">
                    <a:solidFill>
                      <a:srgbClr val="F4F2FA"/>
                    </a:solidFill>
                  </a:tcPr>
                </a:tc>
                <a:tc>
                  <a:txBody>
                    <a:bodyPr/>
                    <a:lstStyle/>
                    <a:p>
                      <a:r>
                        <a:rPr sz="1200" b="0" i="0">
                          <a:solidFill>
                            <a:srgbClr val="1A1440"/>
                          </a:solidFill>
                          <a:latin typeface="Calibri"/>
                        </a:rPr>
                        <a:t>orders not completed</a:t>
                      </a:r>
                    </a:p>
                  </a:txBody>
                  <a:tcPr marL="101600" marR="101600" marT="38100" marB="38100" anchor="ctr">
                    <a:solidFill>
                      <a:srgbClr val="F4F2FA"/>
                    </a:solidFill>
                  </a:tcPr>
                </a:tc>
              </a:tr>
            </a:tbl>
          </a:graphicData>
        </a:graphic>
      </p:graphicFrame>
      <p:sp>
        <p:nvSpPr>
          <p:cNvPr id="10" name="TextBox 9"/>
          <p:cNvSpPr txBox="1"/>
          <p:nvPr/>
        </p:nvSpPr>
        <p:spPr>
          <a:xfrm>
            <a:off x="530352" y="3840480"/>
            <a:ext cx="11130991" cy="1048512"/>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In the quarter to 30 September 2024 Swiggy reported platform frequency of 4.53 orders per user a month and an MTU of 17.1 million. MTU is a count, so it has no denominator. Because "completed order" and "per month, averaged" are written down, a reader cannot mistake MTU for registered users.</a:t>
            </a:r>
          </a:p>
        </p:txBody>
      </p:sp>
      <p:sp>
        <p:nvSpPr>
          <p:cNvPr id="11" name="Oval 10"/>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40080"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What is a number for?</a:t>
            </a:r>
          </a:p>
        </p:txBody>
      </p:sp>
      <p:sp>
        <p:nvSpPr>
          <p:cNvPr id="13" name="Oval 12"/>
          <p:cNvSpPr/>
          <p:nvPr/>
        </p:nvSpPr>
        <p:spPr>
          <a:xfrm>
            <a:off x="197196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2081688"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Which number to chase?</a:t>
            </a:r>
          </a:p>
        </p:txBody>
      </p:sp>
      <p:sp>
        <p:nvSpPr>
          <p:cNvPr id="15" name="Oval 14"/>
          <p:cNvSpPr/>
          <p:nvPr/>
        </p:nvSpPr>
        <p:spPr>
          <a:xfrm>
            <a:off x="345957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3569303"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Which number warns?</a:t>
            </a:r>
          </a:p>
        </p:txBody>
      </p:sp>
      <p:sp>
        <p:nvSpPr>
          <p:cNvPr id="17" name="Oval 16"/>
          <p:cNvSpPr/>
          <p:nvPr/>
        </p:nvSpPr>
        <p:spPr>
          <a:xfrm>
            <a:off x="480917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4918900" y="6437376"/>
            <a:ext cx="1056417" cy="152146"/>
          </a:xfrm>
          <a:prstGeom prst="rect">
            <a:avLst/>
          </a:prstGeom>
          <a:noFill/>
        </p:spPr>
        <p:txBody>
          <a:bodyPr wrap="square" anchor="t" lIns="0" rIns="0" tIns="0" bIns="0">
            <a:spAutoFit/>
          </a:bodyPr>
          <a:lstStyle/>
          <a:p>
            <a:pPr algn="l"/>
            <a:r>
              <a:rPr sz="700" b="1" i="0">
                <a:solidFill>
                  <a:srgbClr val="5B3FD6"/>
                </a:solidFill>
                <a:latin typeface="Calibri"/>
              </a:rPr>
              <a:t>Which four lines?</a:t>
            </a:r>
          </a:p>
        </p:txBody>
      </p:sp>
      <p:sp>
        <p:nvSpPr>
          <p:cNvPr id="19" name="Oval 18"/>
          <p:cNvSpPr/>
          <p:nvPr/>
        </p:nvSpPr>
        <p:spPr>
          <a:xfrm>
            <a:off x="606675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176486"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How is a number gamed?</a:t>
            </a:r>
          </a:p>
        </p:txBody>
      </p:sp>
      <p:sp>
        <p:nvSpPr>
          <p:cNvPr id="21" name="Oval 20"/>
          <p:cNvSpPr/>
          <p:nvPr/>
        </p:nvSpPr>
        <p:spPr>
          <a:xfrm>
            <a:off x="755437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766410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the page hold?</a:t>
            </a:r>
          </a:p>
        </p:txBody>
      </p:sp>
      <p:sp>
        <p:nvSpPr>
          <p:cNvPr id="23" name="Oval 22"/>
          <p:cNvSpPr/>
          <p:nvPr/>
        </p:nvSpPr>
        <p:spPr>
          <a:xfrm>
            <a:off x="91339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9243726"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an hour count?</a:t>
            </a:r>
          </a:p>
        </p:txBody>
      </p:sp>
      <p:sp>
        <p:nvSpPr>
          <p:cNvPr id="25" name="TextBox 24"/>
          <p:cNvSpPr txBox="1"/>
          <p:nvPr/>
        </p:nvSpPr>
        <p:spPr>
          <a:xfrm>
            <a:off x="10713624" y="6437376"/>
            <a:ext cx="256032" cy="152146"/>
          </a:xfrm>
          <a:prstGeom prst="rect">
            <a:avLst/>
          </a:prstGeom>
          <a:noFill/>
        </p:spPr>
        <p:txBody>
          <a:bodyPr wrap="square" anchor="t" lIns="0" rIns="0" tIns="0" bIns="0">
            <a:spAutoFit/>
          </a:bodyPr>
          <a:lstStyle/>
          <a:p>
            <a:pPr algn="l"/>
            <a:r>
              <a:rPr sz="700" b="0" i="0">
                <a:solidFill>
                  <a:srgbClr val="6B6690"/>
                </a:solidFill>
                <a:latin typeface="Calibri"/>
              </a:rPr>
              <a:t>…</a:t>
            </a:r>
          </a:p>
        </p:txBody>
      </p:sp>
      <p:sp>
        <p:nvSpPr>
          <p:cNvPr id="26" name="TextBox 25"/>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S36  ·  40 / 93</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MONDAY  ·  BUSINESS METRIC DESIGN  ·  UBER, HYDERABAD</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four lines feed chapter 5 and chapter 8</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Where did the idea come from, and where does it go next?</a:t>
            </a:r>
          </a:p>
        </p:txBody>
      </p:sp>
      <p:pic>
        <p:nvPicPr>
          <p:cNvPr id="9" name="mermaid diagram" descr="7303f71ee11b7643.png"/>
          <p:cNvPicPr>
            <a:picLocks noChangeAspect="1"/>
          </p:cNvPicPr>
          <p:nvPr/>
        </p:nvPicPr>
        <p:blipFill>
          <a:blip r:embed="rId5"/>
          <a:stretch>
            <a:fillRect/>
          </a:stretch>
        </p:blipFill>
        <p:spPr>
          <a:xfrm>
            <a:off x="1522252" y="1664208"/>
            <a:ext cx="9147190" cy="2983992"/>
          </a:xfrm>
          <a:prstGeom prst="rect">
            <a:avLst/>
          </a:prstGeom>
        </p:spPr>
      </p:pic>
      <p:sp>
        <p:nvSpPr>
          <p:cNvPr id="10" name="Rounded Rectangle 9"/>
          <p:cNvSpPr/>
          <p:nvPr/>
        </p:nvSpPr>
        <p:spPr>
          <a:xfrm>
            <a:off x="530352" y="4693920"/>
            <a:ext cx="11130991" cy="13411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676656" y="4821936"/>
            <a:ext cx="45720" cy="10850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7824" y="4812792"/>
            <a:ext cx="10564063" cy="1158240"/>
          </a:xfrm>
          <a:prstGeom prst="rect">
            <a:avLst/>
          </a:prstGeom>
          <a:noFill/>
        </p:spPr>
        <p:txBody>
          <a:bodyPr wrap="square" anchor="ctr" lIns="0" rIns="0" tIns="0" bIns="0">
            <a:spAutoFit/>
          </a:bodyPr>
          <a:lstStyle/>
          <a:p>
            <a:r>
              <a:rPr sz="1500" b="1">
                <a:solidFill>
                  <a:srgbClr val="5B3FD6"/>
                </a:solidFill>
                <a:latin typeface="Calibri"/>
              </a:rPr>
              <a:t>The unit moves the number too. </a:t>
            </a:r>
            <a:r>
              <a:rPr sz="1500" b="0" i="0">
                <a:solidFill>
                  <a:srgbClr val="1A1440"/>
                </a:solidFill>
                <a:latin typeface="Calibri"/>
              </a:rPr>
              <a:t>In February 2018 Delhi Metro carried nearly 27 lakh riders a day; its new "line utilisation" count read 45,35,932 on 29 May 2018, since a rider who changes across three lines counts three times: one crowd, two units, and two windows too. After the change it did not share the daily ridership figure.</a:t>
            </a:r>
          </a:p>
        </p:txBody>
      </p:sp>
      <p:sp>
        <p:nvSpPr>
          <p:cNvPr id="13" name="Oval 12"/>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40080"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What is a number for?</a:t>
            </a:r>
          </a:p>
        </p:txBody>
      </p:sp>
      <p:sp>
        <p:nvSpPr>
          <p:cNvPr id="15" name="Oval 14"/>
          <p:cNvSpPr/>
          <p:nvPr/>
        </p:nvSpPr>
        <p:spPr>
          <a:xfrm>
            <a:off x="197196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2081688"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Which number to chase?</a:t>
            </a:r>
          </a:p>
        </p:txBody>
      </p:sp>
      <p:sp>
        <p:nvSpPr>
          <p:cNvPr id="17" name="Oval 16"/>
          <p:cNvSpPr/>
          <p:nvPr/>
        </p:nvSpPr>
        <p:spPr>
          <a:xfrm>
            <a:off x="345957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569303"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Which number warns?</a:t>
            </a:r>
          </a:p>
        </p:txBody>
      </p:sp>
      <p:sp>
        <p:nvSpPr>
          <p:cNvPr id="19" name="Oval 18"/>
          <p:cNvSpPr/>
          <p:nvPr/>
        </p:nvSpPr>
        <p:spPr>
          <a:xfrm>
            <a:off x="480917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4918900" y="6437376"/>
            <a:ext cx="1056417" cy="152146"/>
          </a:xfrm>
          <a:prstGeom prst="rect">
            <a:avLst/>
          </a:prstGeom>
          <a:noFill/>
        </p:spPr>
        <p:txBody>
          <a:bodyPr wrap="square" anchor="t" lIns="0" rIns="0" tIns="0" bIns="0">
            <a:spAutoFit/>
          </a:bodyPr>
          <a:lstStyle/>
          <a:p>
            <a:pPr algn="l"/>
            <a:r>
              <a:rPr sz="700" b="1" i="0">
                <a:solidFill>
                  <a:srgbClr val="5B3FD6"/>
                </a:solidFill>
                <a:latin typeface="Calibri"/>
              </a:rPr>
              <a:t>Which four lines?</a:t>
            </a:r>
          </a:p>
        </p:txBody>
      </p:sp>
      <p:sp>
        <p:nvSpPr>
          <p:cNvPr id="21" name="Oval 20"/>
          <p:cNvSpPr/>
          <p:nvPr/>
        </p:nvSpPr>
        <p:spPr>
          <a:xfrm>
            <a:off x="606675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6176486"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How is a number gamed?</a:t>
            </a:r>
          </a:p>
        </p:txBody>
      </p:sp>
      <p:sp>
        <p:nvSpPr>
          <p:cNvPr id="23" name="Oval 22"/>
          <p:cNvSpPr/>
          <p:nvPr/>
        </p:nvSpPr>
        <p:spPr>
          <a:xfrm>
            <a:off x="755437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766410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the page hold?</a:t>
            </a:r>
          </a:p>
        </p:txBody>
      </p:sp>
      <p:sp>
        <p:nvSpPr>
          <p:cNvPr id="25" name="Oval 24"/>
          <p:cNvSpPr/>
          <p:nvPr/>
        </p:nvSpPr>
        <p:spPr>
          <a:xfrm>
            <a:off x="91339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9243726"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an hour count?</a:t>
            </a:r>
          </a:p>
        </p:txBody>
      </p:sp>
      <p:sp>
        <p:nvSpPr>
          <p:cNvPr id="27" name="TextBox 26"/>
          <p:cNvSpPr txBox="1"/>
          <p:nvPr/>
        </p:nvSpPr>
        <p:spPr>
          <a:xfrm>
            <a:off x="10713624" y="6437376"/>
            <a:ext cx="256032" cy="152146"/>
          </a:xfrm>
          <a:prstGeom prst="rect">
            <a:avLst/>
          </a:prstGeom>
          <a:noFill/>
        </p:spPr>
        <p:txBody>
          <a:bodyPr wrap="square" anchor="t" lIns="0" rIns="0" tIns="0" bIns="0">
            <a:spAutoFit/>
          </a:bodyPr>
          <a:lstStyle/>
          <a:p>
            <a:pPr algn="l"/>
            <a:r>
              <a:rPr sz="700" b="0" i="0">
                <a:solidFill>
                  <a:srgbClr val="6B6690"/>
                </a:solidFill>
                <a:latin typeface="Calibri"/>
              </a:rPr>
              <a:t>…</a:t>
            </a:r>
          </a:p>
        </p:txBody>
      </p:sp>
      <p:sp>
        <p:nvSpPr>
          <p:cNvPr id="28" name="TextBox 27"/>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S37  ·  41 / 93</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dark.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FFFFFF"/>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CFC9EE"/>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CFC9EE"/>
                </a:solidFill>
                <a:latin typeface="Calibri"/>
              </a:rPr>
              <a:t>PG DIPLOMA IN AI-ML AND AGENTIC AI ENGINEERING  ·  COHORT 2</a:t>
            </a:r>
          </a:p>
        </p:txBody>
      </p:sp>
      <p:sp>
        <p:nvSpPr>
          <p:cNvPr id="7" name="TextBox 6"/>
          <p:cNvSpPr txBox="1"/>
          <p:nvPr/>
        </p:nvSpPr>
        <p:spPr>
          <a:xfrm>
            <a:off x="731519" y="1143000"/>
            <a:ext cx="3657600" cy="1371600"/>
          </a:xfrm>
          <a:prstGeom prst="rect">
            <a:avLst/>
          </a:prstGeom>
          <a:noFill/>
        </p:spPr>
        <p:txBody>
          <a:bodyPr wrap="square" anchor="t" lIns="0" rIns="0" tIns="0" bIns="0">
            <a:spAutoFit/>
          </a:bodyPr>
          <a:lstStyle/>
          <a:p>
            <a:pPr algn="l"/>
            <a:r>
              <a:rPr sz="9600" b="0" i="0">
                <a:solidFill>
                  <a:srgbClr val="D9A7FF"/>
                </a:solidFill>
                <a:latin typeface="Georgia"/>
              </a:rPr>
              <a:t>05</a:t>
            </a:r>
          </a:p>
        </p:txBody>
      </p:sp>
      <p:sp>
        <p:nvSpPr>
          <p:cNvPr id="8" name="TextBox 7"/>
          <p:cNvSpPr txBox="1"/>
          <p:nvPr/>
        </p:nvSpPr>
        <p:spPr>
          <a:xfrm>
            <a:off x="731519" y="2542032"/>
            <a:ext cx="10673791" cy="366776"/>
          </a:xfrm>
          <a:prstGeom prst="rect">
            <a:avLst/>
          </a:prstGeom>
          <a:noFill/>
        </p:spPr>
        <p:txBody>
          <a:bodyPr wrap="square" anchor="t" lIns="0" rIns="0" tIns="0" bIns="0">
            <a:spAutoFit/>
          </a:bodyPr>
          <a:lstStyle/>
          <a:p>
            <a:pPr algn="l"/>
            <a:r>
              <a:rPr sz="2000" b="1" i="0">
                <a:solidFill>
                  <a:srgbClr val="D9A7FF"/>
                </a:solidFill>
                <a:latin typeface="Calibri"/>
              </a:rPr>
              <a:t>Gaming, and definitions that resist it</a:t>
            </a:r>
          </a:p>
        </p:txBody>
      </p:sp>
      <p:sp>
        <p:nvSpPr>
          <p:cNvPr id="9" name="TextBox 8"/>
          <p:cNvSpPr txBox="1"/>
          <p:nvPr/>
        </p:nvSpPr>
        <p:spPr>
          <a:xfrm>
            <a:off x="731519" y="3017520"/>
            <a:ext cx="10673791" cy="731520"/>
          </a:xfrm>
          <a:prstGeom prst="rect">
            <a:avLst/>
          </a:prstGeom>
          <a:noFill/>
        </p:spPr>
        <p:txBody>
          <a:bodyPr wrap="square" anchor="t" lIns="0" rIns="0" tIns="0" bIns="0">
            <a:spAutoFit/>
          </a:bodyPr>
          <a:lstStyle/>
          <a:p>
            <a:pPr algn="l"/>
            <a:r>
              <a:rPr sz="4000" b="0" i="0">
                <a:solidFill>
                  <a:srgbClr val="FFFFFF"/>
                </a:solidFill>
                <a:latin typeface="Georgia"/>
              </a:rPr>
              <a:t>How is a number gamed?</a:t>
            </a:r>
          </a:p>
        </p:txBody>
      </p:sp>
      <p:sp>
        <p:nvSpPr>
          <p:cNvPr id="10" name="TextBox 9"/>
          <p:cNvSpPr txBox="1"/>
          <p:nvPr/>
        </p:nvSpPr>
        <p:spPr>
          <a:xfrm>
            <a:off x="731519" y="3931920"/>
            <a:ext cx="9509760" cy="284226"/>
          </a:xfrm>
          <a:prstGeom prst="rect">
            <a:avLst/>
          </a:prstGeom>
          <a:noFill/>
        </p:spPr>
        <p:txBody>
          <a:bodyPr wrap="square" anchor="t" lIns="0" rIns="0" tIns="0" bIns="0">
            <a:spAutoFit/>
          </a:bodyPr>
          <a:lstStyle/>
          <a:p>
            <a:pPr algn="l"/>
            <a:r>
              <a:rPr sz="1500" b="0" i="0">
                <a:solidFill>
                  <a:srgbClr val="E4E1F1"/>
                </a:solidFill>
                <a:latin typeface="Calibri"/>
              </a:rPr>
              <a:t>Name the four ways a paid number is gamed, and the line of a definition that stops each.</a:t>
            </a:r>
          </a:p>
        </p:txBody>
      </p:sp>
      <p:sp>
        <p:nvSpPr>
          <p:cNvPr id="11" name="Rounded Rectangle 10"/>
          <p:cNvSpPr/>
          <p:nvPr/>
        </p:nvSpPr>
        <p:spPr>
          <a:xfrm>
            <a:off x="731519" y="5074920"/>
            <a:ext cx="1082213"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What is a number for?</a:t>
            </a:r>
          </a:p>
        </p:txBody>
      </p:sp>
      <p:sp>
        <p:nvSpPr>
          <p:cNvPr id="12" name="Rounded Rectangle 11"/>
          <p:cNvSpPr/>
          <p:nvPr/>
        </p:nvSpPr>
        <p:spPr>
          <a:xfrm>
            <a:off x="1923461" y="5074920"/>
            <a:ext cx="1122034"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Which number to chase?</a:t>
            </a:r>
          </a:p>
        </p:txBody>
      </p:sp>
      <p:sp>
        <p:nvSpPr>
          <p:cNvPr id="13" name="Rounded Rectangle 12"/>
          <p:cNvSpPr/>
          <p:nvPr/>
        </p:nvSpPr>
        <p:spPr>
          <a:xfrm>
            <a:off x="3155223" y="5074920"/>
            <a:ext cx="1002570"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Which number warns?</a:t>
            </a:r>
          </a:p>
        </p:txBody>
      </p:sp>
      <p:sp>
        <p:nvSpPr>
          <p:cNvPr id="14" name="Rounded Rectangle 13"/>
          <p:cNvSpPr/>
          <p:nvPr/>
        </p:nvSpPr>
        <p:spPr>
          <a:xfrm>
            <a:off x="4267522" y="5074920"/>
            <a:ext cx="922927"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Which four lines?</a:t>
            </a:r>
          </a:p>
        </p:txBody>
      </p:sp>
      <p:sp>
        <p:nvSpPr>
          <p:cNvPr id="15" name="Rounded Rectangle 14"/>
          <p:cNvSpPr/>
          <p:nvPr/>
        </p:nvSpPr>
        <p:spPr>
          <a:xfrm>
            <a:off x="5300178" y="5074920"/>
            <a:ext cx="1122034" cy="310896"/>
          </a:xfrm>
          <a:prstGeom prst="roundRect">
            <a:avLst>
              <a:gd name="adj" fmla="val 50000"/>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1">
                <a:solidFill>
                  <a:srgbClr val="1A0F5C"/>
                </a:solidFill>
                <a:latin typeface="Calibri"/>
              </a:rPr>
              <a:t>How is a number gamed?</a:t>
            </a:r>
          </a:p>
        </p:txBody>
      </p:sp>
      <p:sp>
        <p:nvSpPr>
          <p:cNvPr id="16" name="Rounded Rectangle 15"/>
          <p:cNvSpPr/>
          <p:nvPr/>
        </p:nvSpPr>
        <p:spPr>
          <a:xfrm>
            <a:off x="6531940" y="5074920"/>
            <a:ext cx="1201677"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What does the page hold?</a:t>
            </a:r>
          </a:p>
        </p:txBody>
      </p:sp>
      <p:sp>
        <p:nvSpPr>
          <p:cNvPr id="17" name="Rounded Rectangle 16"/>
          <p:cNvSpPr/>
          <p:nvPr/>
        </p:nvSpPr>
        <p:spPr>
          <a:xfrm>
            <a:off x="7843346" y="5074920"/>
            <a:ext cx="1201677"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What does an hour count?</a:t>
            </a:r>
          </a:p>
        </p:txBody>
      </p:sp>
      <p:sp>
        <p:nvSpPr>
          <p:cNvPr id="18" name="Rounded Rectangle 17"/>
          <p:cNvSpPr/>
          <p:nvPr/>
        </p:nvSpPr>
        <p:spPr>
          <a:xfrm>
            <a:off x="9154751" y="5074920"/>
            <a:ext cx="1161855"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Where did the fall sit?</a:t>
            </a:r>
          </a:p>
        </p:txBody>
      </p:sp>
      <p:sp>
        <p:nvSpPr>
          <p:cNvPr id="19" name="Rounded Rectangle 18"/>
          <p:cNvSpPr/>
          <p:nvPr/>
        </p:nvSpPr>
        <p:spPr>
          <a:xfrm>
            <a:off x="10426335" y="5074920"/>
            <a:ext cx="1161855"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What should it pay for?</a:t>
            </a:r>
          </a:p>
        </p:txBody>
      </p:sp>
      <p:sp>
        <p:nvSpPr>
          <p:cNvPr id="20" name="TextBox 19"/>
          <p:cNvSpPr txBox="1"/>
          <p:nvPr/>
        </p:nvSpPr>
        <p:spPr>
          <a:xfrm>
            <a:off x="530352" y="6437376"/>
            <a:ext cx="9667951" cy="160401"/>
          </a:xfrm>
          <a:prstGeom prst="rect">
            <a:avLst/>
          </a:prstGeom>
          <a:noFill/>
        </p:spPr>
        <p:txBody>
          <a:bodyPr wrap="square" anchor="t" lIns="0" rIns="0" tIns="0" bIns="0">
            <a:spAutoFit/>
          </a:bodyPr>
          <a:lstStyle/>
          <a:p>
            <a:pPr algn="l"/>
            <a:r>
              <a:rPr sz="750" b="0" i="0">
                <a:solidFill>
                  <a:srgbClr val="CFC9EE"/>
                </a:solidFill>
                <a:latin typeface="Calibri"/>
              </a:rPr>
              <a:t>Week 4, Day 1. Business metric design: which number should the plan chase, and what stops it being gamed?</a:t>
            </a:r>
          </a:p>
        </p:txBody>
      </p:sp>
      <p:sp>
        <p:nvSpPr>
          <p:cNvPr id="21" name="TextBox 20"/>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CFC9EE"/>
                </a:solidFill>
                <a:latin typeface="Calibri"/>
              </a:rPr>
              <a:t>42 / 93</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MONDAY  ·  BUSINESS METRIC DESIGN  ·  UBER, HYDERABAD</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Gaming raises a number without the work</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Who needs the answer, and which questions lead to it?</a:t>
            </a:r>
          </a:p>
        </p:txBody>
      </p:sp>
      <p:sp>
        <p:nvSpPr>
          <p:cNvPr id="9" name="TextBox 8"/>
          <p:cNvSpPr txBox="1"/>
          <p:nvPr/>
        </p:nvSpPr>
        <p:spPr>
          <a:xfrm>
            <a:off x="530352" y="1951482"/>
            <a:ext cx="11130991" cy="944880"/>
          </a:xfrm>
          <a:prstGeom prst="rect">
            <a:avLst/>
          </a:prstGeom>
          <a:noFill/>
        </p:spPr>
        <p:txBody>
          <a:bodyPr wrap="square" anchor="t" lIns="0" rIns="0" tIns="0" bIns="0">
            <a:spAutoFit/>
          </a:bodyPr>
          <a:lstStyle/>
          <a:p>
            <a:pPr>
              <a:spcAft>
                <a:spcPts val="700"/>
              </a:spcAft>
            </a:pPr>
            <a:r>
              <a:rPr sz="1400" b="1" i="0">
                <a:solidFill>
                  <a:srgbClr val="1A1440"/>
                </a:solidFill>
                <a:latin typeface="Calibri"/>
              </a:rPr>
              <a:t>Gaming</a:t>
            </a:r>
            <a:r>
              <a:rPr sz="1400" b="0" i="0">
                <a:solidFill>
                  <a:srgbClr val="1A1440"/>
                </a:solidFill>
                <a:latin typeface="Calibri"/>
              </a:rPr>
              <a:t> is raising a number without doing what it stands for. Some of it is false reporting, a done press with nothing delivered, which a receipt and an audit stop; some is honest work steered to the count, such as booking only the surest learners, which pay design and a guardrail catch. Either way a paid number pulls behaviour toward it.</a:t>
            </a:r>
          </a:p>
        </p:txBody>
      </p:sp>
      <p:sp>
        <p:nvSpPr>
          <p:cNvPr id="10" name="Rounded Rectangle 9"/>
          <p:cNvSpPr/>
          <p:nvPr/>
        </p:nvSpPr>
        <p:spPr>
          <a:xfrm>
            <a:off x="530352" y="3024378"/>
            <a:ext cx="11130991" cy="96774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676656" y="3152394"/>
            <a:ext cx="45720" cy="71170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7824" y="3143250"/>
            <a:ext cx="10564063" cy="784860"/>
          </a:xfrm>
          <a:prstGeom prst="rect">
            <a:avLst/>
          </a:prstGeom>
          <a:noFill/>
        </p:spPr>
        <p:txBody>
          <a:bodyPr wrap="square" anchor="ctr" lIns="0" rIns="0" tIns="0" bIns="0">
            <a:spAutoFit/>
          </a:bodyPr>
          <a:lstStyle/>
          <a:p>
            <a:r>
              <a:rPr sz="1300" b="1">
                <a:solidFill>
                  <a:srgbClr val="5B3FD6"/>
                </a:solidFill>
                <a:latin typeface="Calibri"/>
              </a:rPr>
              <a:t>Who needs the answer. </a:t>
            </a:r>
            <a:r>
              <a:rPr sz="1300" b="0" i="0">
                <a:solidFill>
                  <a:srgbClr val="1A1440"/>
                </a:solidFill>
                <a:latin typeface="Calibri"/>
              </a:rPr>
              <a:t>The owner of Balaji Kirana (invented), who pays the delivery boy Rs 20 for each delivery marked done in the shop's app and promises customers delivery within 30 minutes: a count the boy controls pays him for parcels nobody received.</a:t>
            </a:r>
          </a:p>
        </p:txBody>
      </p:sp>
      <p:sp>
        <p:nvSpPr>
          <p:cNvPr id="13" name="Rectangle 12"/>
          <p:cNvSpPr/>
          <p:nvPr/>
        </p:nvSpPr>
        <p:spPr>
          <a:xfrm>
            <a:off x="1853145" y="4723637"/>
            <a:ext cx="8485403" cy="18288"/>
          </a:xfrm>
          <a:prstGeom prst="rect">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530352" y="4156710"/>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THE COUNT</a:t>
            </a:r>
          </a:p>
        </p:txBody>
      </p:sp>
      <p:sp>
        <p:nvSpPr>
          <p:cNvPr id="15" name="Oval 14"/>
          <p:cNvSpPr/>
          <p:nvPr/>
        </p:nvSpPr>
        <p:spPr>
          <a:xfrm>
            <a:off x="1752561" y="4632198"/>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ounded Rectangle 15"/>
          <p:cNvSpPr/>
          <p:nvPr/>
        </p:nvSpPr>
        <p:spPr>
          <a:xfrm>
            <a:off x="530352" y="5043678"/>
            <a:ext cx="2645587" cy="886968"/>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694944" y="5189982"/>
            <a:ext cx="2316403" cy="218186"/>
          </a:xfrm>
          <a:prstGeom prst="rect">
            <a:avLst/>
          </a:prstGeom>
          <a:noFill/>
        </p:spPr>
        <p:txBody>
          <a:bodyPr wrap="square" anchor="t" lIns="0" rIns="0" tIns="0" bIns="0">
            <a:spAutoFit/>
          </a:bodyPr>
          <a:lstStyle/>
          <a:p>
            <a:pPr algn="l"/>
            <a:r>
              <a:rPr sz="1100" b="1" i="0">
                <a:solidFill>
                  <a:srgbClr val="1A0F5C"/>
                </a:solidFill>
                <a:latin typeface="Calibri"/>
              </a:rPr>
              <a:t>Who controls it?</a:t>
            </a:r>
          </a:p>
        </p:txBody>
      </p:sp>
      <p:sp>
        <p:nvSpPr>
          <p:cNvPr id="18" name="TextBox 17"/>
          <p:cNvSpPr txBox="1"/>
          <p:nvPr/>
        </p:nvSpPr>
        <p:spPr>
          <a:xfrm>
            <a:off x="694944" y="5444744"/>
            <a:ext cx="2316403" cy="185166"/>
          </a:xfrm>
          <a:prstGeom prst="rect">
            <a:avLst/>
          </a:prstGeom>
          <a:noFill/>
        </p:spPr>
        <p:txBody>
          <a:bodyPr wrap="square" anchor="t" lIns="0" rIns="0" tIns="0" bIns="0">
            <a:spAutoFit/>
          </a:bodyPr>
          <a:lstStyle/>
          <a:p>
            <a:pPr algn="l"/>
            <a:r>
              <a:rPr sz="900" b="0" i="0">
                <a:solidFill>
                  <a:srgbClr val="6B6690"/>
                </a:solidFill>
                <a:latin typeface="Calibri"/>
              </a:rPr>
              <a:t>The person paid, or the person served.</a:t>
            </a:r>
          </a:p>
        </p:txBody>
      </p:sp>
      <p:sp>
        <p:nvSpPr>
          <p:cNvPr id="19" name="TextBox 18"/>
          <p:cNvSpPr txBox="1"/>
          <p:nvPr/>
        </p:nvSpPr>
        <p:spPr>
          <a:xfrm>
            <a:off x="3358819" y="4156710"/>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THE PROOF</a:t>
            </a:r>
          </a:p>
        </p:txBody>
      </p:sp>
      <p:sp>
        <p:nvSpPr>
          <p:cNvPr id="20" name="Oval 19"/>
          <p:cNvSpPr/>
          <p:nvPr/>
        </p:nvSpPr>
        <p:spPr>
          <a:xfrm>
            <a:off x="4581029" y="4632198"/>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ounded Rectangle 20"/>
          <p:cNvSpPr/>
          <p:nvPr/>
        </p:nvSpPr>
        <p:spPr>
          <a:xfrm>
            <a:off x="3358819" y="5043678"/>
            <a:ext cx="2645587" cy="886968"/>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3523411" y="5189982"/>
            <a:ext cx="2316403" cy="218186"/>
          </a:xfrm>
          <a:prstGeom prst="rect">
            <a:avLst/>
          </a:prstGeom>
          <a:noFill/>
        </p:spPr>
        <p:txBody>
          <a:bodyPr wrap="square" anchor="t" lIns="0" rIns="0" tIns="0" bIns="0">
            <a:spAutoFit/>
          </a:bodyPr>
          <a:lstStyle/>
          <a:p>
            <a:pPr algn="l"/>
            <a:r>
              <a:rPr sz="1100" b="1" i="0">
                <a:solidFill>
                  <a:srgbClr val="1A0F5C"/>
                </a:solidFill>
                <a:latin typeface="Calibri"/>
              </a:rPr>
              <a:t>Does it need a receipt?</a:t>
            </a:r>
          </a:p>
        </p:txBody>
      </p:sp>
      <p:sp>
        <p:nvSpPr>
          <p:cNvPr id="23" name="TextBox 22"/>
          <p:cNvSpPr txBox="1"/>
          <p:nvPr/>
        </p:nvSpPr>
        <p:spPr>
          <a:xfrm>
            <a:off x="3523411" y="5444744"/>
            <a:ext cx="2316403" cy="185166"/>
          </a:xfrm>
          <a:prstGeom prst="rect">
            <a:avLst/>
          </a:prstGeom>
          <a:noFill/>
        </p:spPr>
        <p:txBody>
          <a:bodyPr wrap="square" anchor="t" lIns="0" rIns="0" tIns="0" bIns="0">
            <a:spAutoFit/>
          </a:bodyPr>
          <a:lstStyle/>
          <a:p>
            <a:pPr algn="l"/>
            <a:r>
              <a:rPr sz="900" b="0" i="0">
                <a:solidFill>
                  <a:srgbClr val="6B6690"/>
                </a:solidFill>
                <a:latin typeface="Calibri"/>
              </a:rPr>
              <a:t>A press, or a customer's OTP.</a:t>
            </a:r>
          </a:p>
        </p:txBody>
      </p:sp>
      <p:sp>
        <p:nvSpPr>
          <p:cNvPr id="24" name="TextBox 23"/>
          <p:cNvSpPr txBox="1"/>
          <p:nvPr/>
        </p:nvSpPr>
        <p:spPr>
          <a:xfrm>
            <a:off x="6187287" y="4156710"/>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THE CLOCK</a:t>
            </a:r>
          </a:p>
        </p:txBody>
      </p:sp>
      <p:sp>
        <p:nvSpPr>
          <p:cNvPr id="25" name="Oval 24"/>
          <p:cNvSpPr/>
          <p:nvPr/>
        </p:nvSpPr>
        <p:spPr>
          <a:xfrm>
            <a:off x="7409497" y="4632198"/>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ounded Rectangle 25"/>
          <p:cNvSpPr/>
          <p:nvPr/>
        </p:nvSpPr>
        <p:spPr>
          <a:xfrm>
            <a:off x="6187287" y="5043678"/>
            <a:ext cx="2645587" cy="886968"/>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6351879" y="5189982"/>
            <a:ext cx="2316403" cy="218186"/>
          </a:xfrm>
          <a:prstGeom prst="rect">
            <a:avLst/>
          </a:prstGeom>
          <a:noFill/>
        </p:spPr>
        <p:txBody>
          <a:bodyPr wrap="square" anchor="t" lIns="0" rIns="0" tIns="0" bIns="0">
            <a:spAutoFit/>
          </a:bodyPr>
          <a:lstStyle/>
          <a:p>
            <a:pPr algn="l"/>
            <a:r>
              <a:rPr sz="1100" b="1" i="0">
                <a:solidFill>
                  <a:srgbClr val="1A0F5C"/>
                </a:solidFill>
                <a:latin typeface="Calibri"/>
              </a:rPr>
              <a:t>Who starts it?</a:t>
            </a:r>
          </a:p>
        </p:txBody>
      </p:sp>
      <p:sp>
        <p:nvSpPr>
          <p:cNvPr id="28" name="TextBox 27"/>
          <p:cNvSpPr txBox="1"/>
          <p:nvPr/>
        </p:nvSpPr>
        <p:spPr>
          <a:xfrm>
            <a:off x="6351879" y="5444744"/>
            <a:ext cx="2316403" cy="185166"/>
          </a:xfrm>
          <a:prstGeom prst="rect">
            <a:avLst/>
          </a:prstGeom>
          <a:noFill/>
        </p:spPr>
        <p:txBody>
          <a:bodyPr wrap="square" anchor="t" lIns="0" rIns="0" tIns="0" bIns="0">
            <a:spAutoFit/>
          </a:bodyPr>
          <a:lstStyle/>
          <a:p>
            <a:pPr algn="l"/>
            <a:r>
              <a:rPr sz="900" b="0" i="0">
                <a:solidFill>
                  <a:srgbClr val="6B6690"/>
                </a:solidFill>
                <a:latin typeface="Calibri"/>
              </a:rPr>
              <a:t>The person timed, or the system.</a:t>
            </a:r>
          </a:p>
        </p:txBody>
      </p:sp>
      <p:sp>
        <p:nvSpPr>
          <p:cNvPr id="29" name="TextBox 28"/>
          <p:cNvSpPr txBox="1"/>
          <p:nvPr/>
        </p:nvSpPr>
        <p:spPr>
          <a:xfrm>
            <a:off x="9015755" y="4156710"/>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THE RULES</a:t>
            </a:r>
          </a:p>
        </p:txBody>
      </p:sp>
      <p:sp>
        <p:nvSpPr>
          <p:cNvPr id="30" name="Oval 29"/>
          <p:cNvSpPr/>
          <p:nvPr/>
        </p:nvSpPr>
        <p:spPr>
          <a:xfrm>
            <a:off x="10237965" y="4632198"/>
            <a:ext cx="201168" cy="201168"/>
          </a:xfrm>
          <a:prstGeom prst="ellipse">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ounded Rectangle 30"/>
          <p:cNvSpPr/>
          <p:nvPr/>
        </p:nvSpPr>
        <p:spPr>
          <a:xfrm>
            <a:off x="9015755" y="5043678"/>
            <a:ext cx="2645587" cy="886968"/>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9180347" y="5189982"/>
            <a:ext cx="2316403" cy="218186"/>
          </a:xfrm>
          <a:prstGeom prst="rect">
            <a:avLst/>
          </a:prstGeom>
          <a:noFill/>
        </p:spPr>
        <p:txBody>
          <a:bodyPr wrap="square" anchor="t" lIns="0" rIns="0" tIns="0" bIns="0">
            <a:spAutoFit/>
          </a:bodyPr>
          <a:lstStyle/>
          <a:p>
            <a:pPr algn="l"/>
            <a:r>
              <a:rPr sz="1100" b="1" i="0">
                <a:solidFill>
                  <a:srgbClr val="FFFFFF"/>
                </a:solidFill>
                <a:latin typeface="Calibri"/>
              </a:rPr>
              <a:t>Did they change unannounced?</a:t>
            </a:r>
          </a:p>
        </p:txBody>
      </p:sp>
      <p:sp>
        <p:nvSpPr>
          <p:cNvPr id="33" name="TextBox 32"/>
          <p:cNvSpPr txBox="1"/>
          <p:nvPr/>
        </p:nvSpPr>
        <p:spPr>
          <a:xfrm>
            <a:off x="9180347" y="5444744"/>
            <a:ext cx="2316403" cy="185166"/>
          </a:xfrm>
          <a:prstGeom prst="rect">
            <a:avLst/>
          </a:prstGeom>
          <a:noFill/>
        </p:spPr>
        <p:txBody>
          <a:bodyPr wrap="square" anchor="t" lIns="0" rIns="0" tIns="0" bIns="0">
            <a:spAutoFit/>
          </a:bodyPr>
          <a:lstStyle/>
          <a:p>
            <a:pPr algn="l"/>
            <a:r>
              <a:rPr sz="900" b="0" i="0">
                <a:solidFill>
                  <a:srgbClr val="CFC9EE"/>
                </a:solidFill>
                <a:latin typeface="Calibri"/>
              </a:rPr>
              <a:t>A new kind of count, undated.</a:t>
            </a:r>
          </a:p>
        </p:txBody>
      </p:sp>
      <p:sp>
        <p:nvSpPr>
          <p:cNvPr id="34" name="TextBox 33"/>
          <p:cNvSpPr txBox="1"/>
          <p:nvPr/>
        </p:nvSpPr>
        <p:spPr>
          <a:xfrm>
            <a:off x="530352" y="6437376"/>
            <a:ext cx="256032" cy="152146"/>
          </a:xfrm>
          <a:prstGeom prst="rect">
            <a:avLst/>
          </a:prstGeom>
          <a:noFill/>
        </p:spPr>
        <p:txBody>
          <a:bodyPr wrap="square" anchor="t" lIns="0" rIns="0" tIns="0" bIns="0">
            <a:spAutoFit/>
          </a:bodyPr>
          <a:lstStyle/>
          <a:p>
            <a:pPr algn="l"/>
            <a:r>
              <a:rPr sz="700" b="0" i="0">
                <a:solidFill>
                  <a:srgbClr val="6B6690"/>
                </a:solidFill>
                <a:latin typeface="Calibri"/>
              </a:rPr>
              <a:t>…</a:t>
            </a:r>
          </a:p>
        </p:txBody>
      </p:sp>
      <p:sp>
        <p:nvSpPr>
          <p:cNvPr id="35" name="Oval 34"/>
          <p:cNvSpPr/>
          <p:nvPr/>
        </p:nvSpPr>
        <p:spPr>
          <a:xfrm>
            <a:off x="78638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896112"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Which number warns?</a:t>
            </a:r>
          </a:p>
        </p:txBody>
      </p:sp>
      <p:sp>
        <p:nvSpPr>
          <p:cNvPr id="37" name="Oval 36"/>
          <p:cNvSpPr/>
          <p:nvPr/>
        </p:nvSpPr>
        <p:spPr>
          <a:xfrm>
            <a:off x="213598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2245709"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Which four lines?</a:t>
            </a:r>
          </a:p>
        </p:txBody>
      </p:sp>
      <p:sp>
        <p:nvSpPr>
          <p:cNvPr id="39" name="Oval 38"/>
          <p:cNvSpPr/>
          <p:nvPr/>
        </p:nvSpPr>
        <p:spPr>
          <a:xfrm>
            <a:off x="3393567"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3503295" y="6437376"/>
            <a:ext cx="1286446" cy="152146"/>
          </a:xfrm>
          <a:prstGeom prst="rect">
            <a:avLst/>
          </a:prstGeom>
          <a:noFill/>
        </p:spPr>
        <p:txBody>
          <a:bodyPr wrap="square" anchor="t" lIns="0" rIns="0" tIns="0" bIns="0">
            <a:spAutoFit/>
          </a:bodyPr>
          <a:lstStyle/>
          <a:p>
            <a:pPr algn="l"/>
            <a:r>
              <a:rPr sz="700" b="1" i="0">
                <a:solidFill>
                  <a:srgbClr val="5B3FD6"/>
                </a:solidFill>
                <a:latin typeface="Calibri"/>
              </a:rPr>
              <a:t>How is a number gamed?</a:t>
            </a:r>
          </a:p>
        </p:txBody>
      </p:sp>
      <p:sp>
        <p:nvSpPr>
          <p:cNvPr id="41" name="Oval 40"/>
          <p:cNvSpPr/>
          <p:nvPr/>
        </p:nvSpPr>
        <p:spPr>
          <a:xfrm>
            <a:off x="488118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4990909"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the page hold?</a:t>
            </a:r>
          </a:p>
        </p:txBody>
      </p:sp>
      <p:sp>
        <p:nvSpPr>
          <p:cNvPr id="43" name="Oval 42"/>
          <p:cNvSpPr/>
          <p:nvPr/>
        </p:nvSpPr>
        <p:spPr>
          <a:xfrm>
            <a:off x="646080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6570535"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an hour count?</a:t>
            </a:r>
          </a:p>
        </p:txBody>
      </p:sp>
      <p:sp>
        <p:nvSpPr>
          <p:cNvPr id="45" name="Oval 44"/>
          <p:cNvSpPr/>
          <p:nvPr/>
        </p:nvSpPr>
        <p:spPr>
          <a:xfrm>
            <a:off x="804043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TextBox 45"/>
          <p:cNvSpPr txBox="1"/>
          <p:nvPr/>
        </p:nvSpPr>
        <p:spPr>
          <a:xfrm>
            <a:off x="8150161"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Where did the fall sit?</a:t>
            </a:r>
          </a:p>
        </p:txBody>
      </p:sp>
      <p:sp>
        <p:nvSpPr>
          <p:cNvPr id="47" name="Oval 46"/>
          <p:cNvSpPr/>
          <p:nvPr/>
        </p:nvSpPr>
        <p:spPr>
          <a:xfrm>
            <a:off x="957405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TextBox 47"/>
          <p:cNvSpPr txBox="1"/>
          <p:nvPr/>
        </p:nvSpPr>
        <p:spPr>
          <a:xfrm>
            <a:off x="9683781"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should it pay for?</a:t>
            </a:r>
          </a:p>
        </p:txBody>
      </p:sp>
      <p:sp>
        <p:nvSpPr>
          <p:cNvPr id="49" name="TextBox 48"/>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S38  ·  43 / 93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MONDAY  ·  BUSINESS METRIC DESIGN  ·  UBER, HYDERABAD</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What can rise with no parcel changing hands?</a:t>
            </a:r>
          </a:p>
        </p:txBody>
      </p:sp>
      <p:sp>
        <p:nvSpPr>
          <p:cNvPr id="8" name="TextBox 7"/>
          <p:cNvSpPr txBox="1"/>
          <p:nvPr/>
        </p:nvSpPr>
        <p:spPr>
          <a:xfrm>
            <a:off x="530352" y="1243584"/>
            <a:ext cx="11130991" cy="399796"/>
          </a:xfrm>
          <a:prstGeom prst="rect">
            <a:avLst/>
          </a:prstGeom>
          <a:noFill/>
        </p:spPr>
        <p:txBody>
          <a:bodyPr wrap="square" anchor="t" lIns="0" rIns="0" tIns="0" bIns="0">
            <a:spAutoFit/>
          </a:bodyPr>
          <a:lstStyle/>
          <a:p>
            <a:pPr algn="l"/>
            <a:r>
              <a:rPr sz="1100" b="0" i="0">
                <a:solidFill>
                  <a:srgbClr val="6B6690"/>
                </a:solidFill>
                <a:latin typeface="Calibri"/>
              </a:rPr>
              <a:t>Balaji Kirana (invented) pays Rs 20 for each delivery the boy marks done; in four weeks he marks 50. Against the deliveries customers confirmed with their OTP, what does the shop find?</a:t>
            </a:r>
          </a:p>
        </p:txBody>
      </p:sp>
      <p:sp>
        <p:nvSpPr>
          <p:cNvPr id="9" name="Rounded Rectangle 8"/>
          <p:cNvSpPr/>
          <p:nvPr/>
        </p:nvSpPr>
        <p:spPr>
          <a:xfrm>
            <a:off x="530352" y="1956816"/>
            <a:ext cx="2645587" cy="1964436"/>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731519"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1" name="Picture 10" descr="equal_08ba08324b53.png"/>
          <p:cNvPicPr>
            <a:picLocks noChangeAspect="1"/>
          </p:cNvPicPr>
          <p:nvPr/>
        </p:nvPicPr>
        <p:blipFill>
          <a:blip r:embed="rId4"/>
          <a:stretch>
            <a:fillRect/>
          </a:stretch>
        </p:blipFill>
        <p:spPr>
          <a:xfrm>
            <a:off x="841247" y="2267712"/>
            <a:ext cx="237744" cy="237744"/>
          </a:xfrm>
          <a:prstGeom prst="rect">
            <a:avLst/>
          </a:prstGeom>
        </p:spPr>
      </p:pic>
      <p:sp>
        <p:nvSpPr>
          <p:cNvPr id="12" name="TextBox 11"/>
          <p:cNvSpPr txBox="1"/>
          <p:nvPr/>
        </p:nvSpPr>
        <p:spPr>
          <a:xfrm>
            <a:off x="731519" y="2724912"/>
            <a:ext cx="2243251" cy="160401"/>
          </a:xfrm>
          <a:prstGeom prst="rect">
            <a:avLst/>
          </a:prstGeom>
          <a:noFill/>
        </p:spPr>
        <p:txBody>
          <a:bodyPr wrap="square" anchor="t" lIns="0" rIns="0" tIns="0" bIns="0">
            <a:spAutoFit/>
          </a:bodyPr>
          <a:lstStyle/>
          <a:p>
            <a:pPr algn="l"/>
            <a:r>
              <a:rPr sz="750" b="1" i="0" spc="250">
                <a:solidFill>
                  <a:srgbClr val="5B3FD6"/>
                </a:solidFill>
                <a:latin typeface="Calibri"/>
              </a:rPr>
              <a:t>A</a:t>
            </a:r>
          </a:p>
        </p:txBody>
      </p:sp>
      <p:sp>
        <p:nvSpPr>
          <p:cNvPr id="13" name="TextBox 12"/>
          <p:cNvSpPr txBox="1"/>
          <p:nvPr/>
        </p:nvSpPr>
        <p:spPr>
          <a:xfrm>
            <a:off x="731519" y="2962656"/>
            <a:ext cx="2243251" cy="267716"/>
          </a:xfrm>
          <a:prstGeom prst="rect">
            <a:avLst/>
          </a:prstGeom>
          <a:noFill/>
        </p:spPr>
        <p:txBody>
          <a:bodyPr wrap="square" anchor="t" lIns="0" rIns="0" tIns="0" bIns="0">
            <a:spAutoFit/>
          </a:bodyPr>
          <a:lstStyle/>
          <a:p>
            <a:pPr algn="l"/>
            <a:r>
              <a:rPr sz="1400" b="1" i="0">
                <a:solidFill>
                  <a:srgbClr val="1A0F5C"/>
                </a:solidFill>
                <a:latin typeface="Calibri"/>
              </a:rPr>
              <a:t>The same 50</a:t>
            </a:r>
          </a:p>
        </p:txBody>
      </p:sp>
      <p:sp>
        <p:nvSpPr>
          <p:cNvPr id="14" name="TextBox 13"/>
          <p:cNvSpPr txBox="1"/>
          <p:nvPr/>
        </p:nvSpPr>
        <p:spPr>
          <a:xfrm>
            <a:off x="731519" y="3303524"/>
            <a:ext cx="2243251" cy="399796"/>
          </a:xfrm>
          <a:prstGeom prst="rect">
            <a:avLst/>
          </a:prstGeom>
          <a:noFill/>
        </p:spPr>
        <p:txBody>
          <a:bodyPr wrap="square" anchor="t" lIns="0" rIns="0" tIns="0" bIns="0">
            <a:spAutoFit/>
          </a:bodyPr>
          <a:lstStyle/>
          <a:p>
            <a:pPr algn="l"/>
            <a:r>
              <a:rPr sz="1100" b="0" i="0">
                <a:solidFill>
                  <a:srgbClr val="6B6690"/>
                </a:solidFill>
                <a:latin typeface="Calibri"/>
              </a:rPr>
              <a:t>A delivery marked is a delivery made.</a:t>
            </a:r>
          </a:p>
        </p:txBody>
      </p:sp>
      <p:sp>
        <p:nvSpPr>
          <p:cNvPr id="15" name="Rounded Rectangle 14"/>
          <p:cNvSpPr/>
          <p:nvPr/>
        </p:nvSpPr>
        <p:spPr>
          <a:xfrm>
            <a:off x="3358819" y="1956816"/>
            <a:ext cx="2645587" cy="1964436"/>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Oval 15"/>
          <p:cNvSpPr/>
          <p:nvPr/>
        </p:nvSpPr>
        <p:spPr>
          <a:xfrm>
            <a:off x="3559987"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7" name="Picture 16" descr="trending-down_69bb86911a18.png"/>
          <p:cNvPicPr>
            <a:picLocks noChangeAspect="1"/>
          </p:cNvPicPr>
          <p:nvPr/>
        </p:nvPicPr>
        <p:blipFill>
          <a:blip r:embed="rId5"/>
          <a:stretch>
            <a:fillRect/>
          </a:stretch>
        </p:blipFill>
        <p:spPr>
          <a:xfrm>
            <a:off x="3669715" y="2267712"/>
            <a:ext cx="237744" cy="237744"/>
          </a:xfrm>
          <a:prstGeom prst="rect">
            <a:avLst/>
          </a:prstGeom>
        </p:spPr>
      </p:pic>
      <p:sp>
        <p:nvSpPr>
          <p:cNvPr id="18" name="TextBox 17"/>
          <p:cNvSpPr txBox="1"/>
          <p:nvPr/>
        </p:nvSpPr>
        <p:spPr>
          <a:xfrm>
            <a:off x="3559987" y="2724912"/>
            <a:ext cx="2243251" cy="160401"/>
          </a:xfrm>
          <a:prstGeom prst="rect">
            <a:avLst/>
          </a:prstGeom>
          <a:noFill/>
        </p:spPr>
        <p:txBody>
          <a:bodyPr wrap="square" anchor="t" lIns="0" rIns="0" tIns="0" bIns="0">
            <a:spAutoFit/>
          </a:bodyPr>
          <a:lstStyle/>
          <a:p>
            <a:pPr algn="l"/>
            <a:r>
              <a:rPr sz="750" b="1" i="0" spc="250">
                <a:solidFill>
                  <a:srgbClr val="5B3FD6"/>
                </a:solidFill>
                <a:latin typeface="Calibri"/>
              </a:rPr>
              <a:t>B</a:t>
            </a:r>
          </a:p>
        </p:txBody>
      </p:sp>
      <p:sp>
        <p:nvSpPr>
          <p:cNvPr id="19" name="TextBox 18"/>
          <p:cNvSpPr txBox="1"/>
          <p:nvPr/>
        </p:nvSpPr>
        <p:spPr>
          <a:xfrm>
            <a:off x="3559987" y="2962656"/>
            <a:ext cx="2243251" cy="267716"/>
          </a:xfrm>
          <a:prstGeom prst="rect">
            <a:avLst/>
          </a:prstGeom>
          <a:noFill/>
        </p:spPr>
        <p:txBody>
          <a:bodyPr wrap="square" anchor="t" lIns="0" rIns="0" tIns="0" bIns="0">
            <a:spAutoFit/>
          </a:bodyPr>
          <a:lstStyle/>
          <a:p>
            <a:pPr algn="l"/>
            <a:r>
              <a:rPr sz="1400" b="1" i="0">
                <a:solidFill>
                  <a:srgbClr val="1A0F5C"/>
                </a:solidFill>
                <a:latin typeface="Calibri"/>
              </a:rPr>
              <a:t>Fewer than 50</a:t>
            </a:r>
          </a:p>
        </p:txBody>
      </p:sp>
      <p:sp>
        <p:nvSpPr>
          <p:cNvPr id="20" name="TextBox 19"/>
          <p:cNvSpPr txBox="1"/>
          <p:nvPr/>
        </p:nvSpPr>
        <p:spPr>
          <a:xfrm>
            <a:off x="3559987" y="3303524"/>
            <a:ext cx="2243251" cy="399796"/>
          </a:xfrm>
          <a:prstGeom prst="rect">
            <a:avLst/>
          </a:prstGeom>
          <a:noFill/>
        </p:spPr>
        <p:txBody>
          <a:bodyPr wrap="square" anchor="t" lIns="0" rIns="0" tIns="0" bIns="0">
            <a:spAutoFit/>
          </a:bodyPr>
          <a:lstStyle/>
          <a:p>
            <a:pPr algn="l"/>
            <a:r>
              <a:rPr sz="1100" b="0" i="0">
                <a:solidFill>
                  <a:srgbClr val="6B6690"/>
                </a:solidFill>
                <a:latin typeface="Calibri"/>
              </a:rPr>
              <a:t>Some were marked at the gate and never handed over.</a:t>
            </a:r>
          </a:p>
        </p:txBody>
      </p:sp>
      <p:sp>
        <p:nvSpPr>
          <p:cNvPr id="21" name="Rounded Rectangle 20"/>
          <p:cNvSpPr/>
          <p:nvPr/>
        </p:nvSpPr>
        <p:spPr>
          <a:xfrm>
            <a:off x="6187287" y="1956816"/>
            <a:ext cx="2645587" cy="1964436"/>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Oval 21"/>
          <p:cNvSpPr/>
          <p:nvPr/>
        </p:nvSpPr>
        <p:spPr>
          <a:xfrm>
            <a:off x="6388455"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3" name="Picture 22" descr="trending-up_0f9f07881489.png"/>
          <p:cNvPicPr>
            <a:picLocks noChangeAspect="1"/>
          </p:cNvPicPr>
          <p:nvPr/>
        </p:nvPicPr>
        <p:blipFill>
          <a:blip r:embed="rId6"/>
          <a:stretch>
            <a:fillRect/>
          </a:stretch>
        </p:blipFill>
        <p:spPr>
          <a:xfrm>
            <a:off x="6498183" y="2267712"/>
            <a:ext cx="237744" cy="237744"/>
          </a:xfrm>
          <a:prstGeom prst="rect">
            <a:avLst/>
          </a:prstGeom>
        </p:spPr>
      </p:pic>
      <p:sp>
        <p:nvSpPr>
          <p:cNvPr id="24" name="TextBox 23"/>
          <p:cNvSpPr txBox="1"/>
          <p:nvPr/>
        </p:nvSpPr>
        <p:spPr>
          <a:xfrm>
            <a:off x="6388455" y="2724912"/>
            <a:ext cx="2243251" cy="160401"/>
          </a:xfrm>
          <a:prstGeom prst="rect">
            <a:avLst/>
          </a:prstGeom>
          <a:noFill/>
        </p:spPr>
        <p:txBody>
          <a:bodyPr wrap="square" anchor="t" lIns="0" rIns="0" tIns="0" bIns="0">
            <a:spAutoFit/>
          </a:bodyPr>
          <a:lstStyle/>
          <a:p>
            <a:pPr algn="l"/>
            <a:r>
              <a:rPr sz="750" b="1" i="0" spc="250">
                <a:solidFill>
                  <a:srgbClr val="5B3FD6"/>
                </a:solidFill>
                <a:latin typeface="Calibri"/>
              </a:rPr>
              <a:t>C</a:t>
            </a:r>
          </a:p>
        </p:txBody>
      </p:sp>
      <p:sp>
        <p:nvSpPr>
          <p:cNvPr id="25" name="TextBox 24"/>
          <p:cNvSpPr txBox="1"/>
          <p:nvPr/>
        </p:nvSpPr>
        <p:spPr>
          <a:xfrm>
            <a:off x="6388455" y="2962656"/>
            <a:ext cx="2243251" cy="267716"/>
          </a:xfrm>
          <a:prstGeom prst="rect">
            <a:avLst/>
          </a:prstGeom>
          <a:noFill/>
        </p:spPr>
        <p:txBody>
          <a:bodyPr wrap="square" anchor="t" lIns="0" rIns="0" tIns="0" bIns="0">
            <a:spAutoFit/>
          </a:bodyPr>
          <a:lstStyle/>
          <a:p>
            <a:pPr algn="l"/>
            <a:r>
              <a:rPr sz="1400" b="1" i="0">
                <a:solidFill>
                  <a:srgbClr val="1A0F5C"/>
                </a:solidFill>
                <a:latin typeface="Calibri"/>
              </a:rPr>
              <a:t>More than 50</a:t>
            </a:r>
          </a:p>
        </p:txBody>
      </p:sp>
      <p:sp>
        <p:nvSpPr>
          <p:cNvPr id="26" name="TextBox 25"/>
          <p:cNvSpPr txBox="1"/>
          <p:nvPr/>
        </p:nvSpPr>
        <p:spPr>
          <a:xfrm>
            <a:off x="6388455" y="3303524"/>
            <a:ext cx="2243251" cy="399796"/>
          </a:xfrm>
          <a:prstGeom prst="rect">
            <a:avLst/>
          </a:prstGeom>
          <a:noFill/>
        </p:spPr>
        <p:txBody>
          <a:bodyPr wrap="square" anchor="t" lIns="0" rIns="0" tIns="0" bIns="0">
            <a:spAutoFit/>
          </a:bodyPr>
          <a:lstStyle/>
          <a:p>
            <a:pPr algn="l"/>
            <a:r>
              <a:rPr sz="1100" b="0" i="0">
                <a:solidFill>
                  <a:srgbClr val="6B6690"/>
                </a:solidFill>
                <a:latin typeface="Calibri"/>
              </a:rPr>
              <a:t>Customers confirm orders he forgot to mark.</a:t>
            </a:r>
          </a:p>
        </p:txBody>
      </p:sp>
      <p:sp>
        <p:nvSpPr>
          <p:cNvPr id="27" name="Rounded Rectangle 26"/>
          <p:cNvSpPr/>
          <p:nvPr/>
        </p:nvSpPr>
        <p:spPr>
          <a:xfrm>
            <a:off x="9015755" y="1956816"/>
            <a:ext cx="2645587" cy="1964436"/>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Oval 27"/>
          <p:cNvSpPr/>
          <p:nvPr/>
        </p:nvSpPr>
        <p:spPr>
          <a:xfrm>
            <a:off x="9216923"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9" name="Picture 28" descr="circle-help_8ffc1bc6d67b.png"/>
          <p:cNvPicPr>
            <a:picLocks noChangeAspect="1"/>
          </p:cNvPicPr>
          <p:nvPr/>
        </p:nvPicPr>
        <p:blipFill>
          <a:blip r:embed="rId7"/>
          <a:stretch>
            <a:fillRect/>
          </a:stretch>
        </p:blipFill>
        <p:spPr>
          <a:xfrm>
            <a:off x="9326651" y="2267712"/>
            <a:ext cx="237744" cy="237744"/>
          </a:xfrm>
          <a:prstGeom prst="rect">
            <a:avLst/>
          </a:prstGeom>
        </p:spPr>
      </p:pic>
      <p:sp>
        <p:nvSpPr>
          <p:cNvPr id="30" name="TextBox 29"/>
          <p:cNvSpPr txBox="1"/>
          <p:nvPr/>
        </p:nvSpPr>
        <p:spPr>
          <a:xfrm>
            <a:off x="9216923" y="2724912"/>
            <a:ext cx="2243251" cy="160401"/>
          </a:xfrm>
          <a:prstGeom prst="rect">
            <a:avLst/>
          </a:prstGeom>
          <a:noFill/>
        </p:spPr>
        <p:txBody>
          <a:bodyPr wrap="square" anchor="t" lIns="0" rIns="0" tIns="0" bIns="0">
            <a:spAutoFit/>
          </a:bodyPr>
          <a:lstStyle/>
          <a:p>
            <a:pPr algn="l"/>
            <a:r>
              <a:rPr sz="750" b="1" i="0" spc="250">
                <a:solidFill>
                  <a:srgbClr val="5B3FD6"/>
                </a:solidFill>
                <a:latin typeface="Calibri"/>
              </a:rPr>
              <a:t>D</a:t>
            </a:r>
          </a:p>
        </p:txBody>
      </p:sp>
      <p:sp>
        <p:nvSpPr>
          <p:cNvPr id="31" name="TextBox 30"/>
          <p:cNvSpPr txBox="1"/>
          <p:nvPr/>
        </p:nvSpPr>
        <p:spPr>
          <a:xfrm>
            <a:off x="9216923" y="2962656"/>
            <a:ext cx="2243251" cy="267716"/>
          </a:xfrm>
          <a:prstGeom prst="rect">
            <a:avLst/>
          </a:prstGeom>
          <a:noFill/>
        </p:spPr>
        <p:txBody>
          <a:bodyPr wrap="square" anchor="t" lIns="0" rIns="0" tIns="0" bIns="0">
            <a:spAutoFit/>
          </a:bodyPr>
          <a:lstStyle/>
          <a:p>
            <a:pPr algn="l"/>
            <a:r>
              <a:rPr sz="1400" b="1" i="0">
                <a:solidFill>
                  <a:srgbClr val="1A0F5C"/>
                </a:solidFill>
                <a:latin typeface="Calibri"/>
              </a:rPr>
              <a:t>It cannot be told</a:t>
            </a:r>
          </a:p>
        </p:txBody>
      </p:sp>
      <p:sp>
        <p:nvSpPr>
          <p:cNvPr id="32" name="TextBox 31"/>
          <p:cNvSpPr txBox="1"/>
          <p:nvPr/>
        </p:nvSpPr>
        <p:spPr>
          <a:xfrm>
            <a:off x="9216923" y="3303524"/>
            <a:ext cx="2243251" cy="218186"/>
          </a:xfrm>
          <a:prstGeom prst="rect">
            <a:avLst/>
          </a:prstGeom>
          <a:noFill/>
        </p:spPr>
        <p:txBody>
          <a:bodyPr wrap="square" anchor="t" lIns="0" rIns="0" tIns="0" bIns="0">
            <a:spAutoFit/>
          </a:bodyPr>
          <a:lstStyle/>
          <a:p>
            <a:pPr algn="l"/>
            <a:r>
              <a:rPr sz="1100" b="0" i="0">
                <a:solidFill>
                  <a:srgbClr val="6B6690"/>
                </a:solidFill>
                <a:latin typeface="Calibri"/>
              </a:rPr>
              <a:t>The app keeps no second record.</a:t>
            </a:r>
          </a:p>
        </p:txBody>
      </p:sp>
      <p:sp>
        <p:nvSpPr>
          <p:cNvPr id="33" name="TextBox 32"/>
          <p:cNvSpPr txBox="1"/>
          <p:nvPr/>
        </p:nvSpPr>
        <p:spPr>
          <a:xfrm>
            <a:off x="530352" y="6437376"/>
            <a:ext cx="256032" cy="152146"/>
          </a:xfrm>
          <a:prstGeom prst="rect">
            <a:avLst/>
          </a:prstGeom>
          <a:noFill/>
        </p:spPr>
        <p:txBody>
          <a:bodyPr wrap="square" anchor="t" lIns="0" rIns="0" tIns="0" bIns="0">
            <a:spAutoFit/>
          </a:bodyPr>
          <a:lstStyle/>
          <a:p>
            <a:pPr algn="l"/>
            <a:r>
              <a:rPr sz="700" b="0" i="0">
                <a:solidFill>
                  <a:srgbClr val="6B6690"/>
                </a:solidFill>
                <a:latin typeface="Calibri"/>
              </a:rPr>
              <a:t>…</a:t>
            </a:r>
          </a:p>
        </p:txBody>
      </p:sp>
      <p:sp>
        <p:nvSpPr>
          <p:cNvPr id="34" name="Oval 33"/>
          <p:cNvSpPr/>
          <p:nvPr/>
        </p:nvSpPr>
        <p:spPr>
          <a:xfrm>
            <a:off x="78638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896112"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Which number warns?</a:t>
            </a:r>
          </a:p>
        </p:txBody>
      </p:sp>
      <p:sp>
        <p:nvSpPr>
          <p:cNvPr id="36" name="Oval 35"/>
          <p:cNvSpPr/>
          <p:nvPr/>
        </p:nvSpPr>
        <p:spPr>
          <a:xfrm>
            <a:off x="213598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2245709"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Which four lines?</a:t>
            </a:r>
          </a:p>
        </p:txBody>
      </p:sp>
      <p:sp>
        <p:nvSpPr>
          <p:cNvPr id="38" name="Oval 37"/>
          <p:cNvSpPr/>
          <p:nvPr/>
        </p:nvSpPr>
        <p:spPr>
          <a:xfrm>
            <a:off x="3393567"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3503295" y="6437376"/>
            <a:ext cx="1286446" cy="152146"/>
          </a:xfrm>
          <a:prstGeom prst="rect">
            <a:avLst/>
          </a:prstGeom>
          <a:noFill/>
        </p:spPr>
        <p:txBody>
          <a:bodyPr wrap="square" anchor="t" lIns="0" rIns="0" tIns="0" bIns="0">
            <a:spAutoFit/>
          </a:bodyPr>
          <a:lstStyle/>
          <a:p>
            <a:pPr algn="l"/>
            <a:r>
              <a:rPr sz="700" b="1" i="0">
                <a:solidFill>
                  <a:srgbClr val="5B3FD6"/>
                </a:solidFill>
                <a:latin typeface="Calibri"/>
              </a:rPr>
              <a:t>How is a number gamed?</a:t>
            </a:r>
          </a:p>
        </p:txBody>
      </p:sp>
      <p:sp>
        <p:nvSpPr>
          <p:cNvPr id="40" name="Oval 39"/>
          <p:cNvSpPr/>
          <p:nvPr/>
        </p:nvSpPr>
        <p:spPr>
          <a:xfrm>
            <a:off x="488118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4990909"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the page hold?</a:t>
            </a:r>
          </a:p>
        </p:txBody>
      </p:sp>
      <p:sp>
        <p:nvSpPr>
          <p:cNvPr id="42" name="Oval 41"/>
          <p:cNvSpPr/>
          <p:nvPr/>
        </p:nvSpPr>
        <p:spPr>
          <a:xfrm>
            <a:off x="646080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TextBox 42"/>
          <p:cNvSpPr txBox="1"/>
          <p:nvPr/>
        </p:nvSpPr>
        <p:spPr>
          <a:xfrm>
            <a:off x="6570535"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an hour count?</a:t>
            </a:r>
          </a:p>
        </p:txBody>
      </p:sp>
      <p:sp>
        <p:nvSpPr>
          <p:cNvPr id="44" name="Oval 43"/>
          <p:cNvSpPr/>
          <p:nvPr/>
        </p:nvSpPr>
        <p:spPr>
          <a:xfrm>
            <a:off x="804043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TextBox 44"/>
          <p:cNvSpPr txBox="1"/>
          <p:nvPr/>
        </p:nvSpPr>
        <p:spPr>
          <a:xfrm>
            <a:off x="8150161"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Where did the fall sit?</a:t>
            </a:r>
          </a:p>
        </p:txBody>
      </p:sp>
      <p:sp>
        <p:nvSpPr>
          <p:cNvPr id="46" name="Oval 45"/>
          <p:cNvSpPr/>
          <p:nvPr/>
        </p:nvSpPr>
        <p:spPr>
          <a:xfrm>
            <a:off x="957405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TextBox 46"/>
          <p:cNvSpPr txBox="1"/>
          <p:nvPr/>
        </p:nvSpPr>
        <p:spPr>
          <a:xfrm>
            <a:off x="9683781"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should it pay for?</a:t>
            </a:r>
          </a:p>
        </p:txBody>
      </p:sp>
      <p:sp>
        <p:nvSpPr>
          <p:cNvPr id="48" name="TextBox 47"/>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S39  ·  44 / 93</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MONDAY  ·  BUSINESS METRIC DESIGN  ·  UBER, HYDERABAD</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Answer: b, 50 marked done and 40 confirmed</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Who controls each count, and what does each one pay?</a:t>
            </a:r>
          </a:p>
        </p:txBody>
      </p:sp>
      <p:graphicFrame>
        <p:nvGraphicFramePr>
          <p:cNvPr id="9" name="Table 8"/>
          <p:cNvGraphicFramePr>
            <a:graphicFrameLocks noGrp="1"/>
          </p:cNvGraphicFramePr>
          <p:nvPr/>
        </p:nvGraphicFramePr>
        <p:xfrm>
          <a:off x="530352" y="1956816"/>
          <a:ext cx="11130989" cy="1676400"/>
        </p:xfrm>
        <a:graphic>
          <a:graphicData uri="http://schemas.openxmlformats.org/drawingml/2006/table">
            <a:tbl>
              <a:tblPr firstRow="0" bandRow="0">
                <a:tableStyleId>{2D5ABB26-0587-4C30-8999-92F81FD0307C}</a:tableStyleId>
              </a:tblPr>
              <a:tblGrid>
                <a:gridCol w="5915046"/>
                <a:gridCol w="2135989"/>
                <a:gridCol w="1812069"/>
                <a:gridCol w="1267885"/>
              </a:tblGrid>
              <a:tr h="335280">
                <a:tc>
                  <a:txBody>
                    <a:bodyPr/>
                    <a:lstStyle/>
                    <a:p>
                      <a:r>
                        <a:rPr sz="1250" b="1" i="0">
                          <a:solidFill>
                            <a:srgbClr val="FFFFFF"/>
                          </a:solidFill>
                          <a:latin typeface="Calibri"/>
                        </a:rPr>
                        <a:t>The count</a:t>
                      </a:r>
                    </a:p>
                  </a:txBody>
                  <a:tcPr marL="101600" marR="101600" marT="38100" marB="38100" anchor="ctr">
                    <a:solidFill>
                      <a:srgbClr val="1A0F5C"/>
                    </a:solidFill>
                  </a:tcPr>
                </a:tc>
                <a:tc>
                  <a:txBody>
                    <a:bodyPr/>
                    <a:lstStyle/>
                    <a:p>
                      <a:r>
                        <a:rPr sz="1250" b="1" i="0">
                          <a:solidFill>
                            <a:srgbClr val="FFFFFF"/>
                          </a:solidFill>
                          <a:latin typeface="Calibri"/>
                        </a:rPr>
                        <a:t>Who controls it</a:t>
                      </a:r>
                    </a:p>
                  </a:txBody>
                  <a:tcPr marL="101600" marR="101600" marT="38100" marB="38100" anchor="ctr">
                    <a:solidFill>
                      <a:srgbClr val="1A0F5C"/>
                    </a:solidFill>
                  </a:tcPr>
                </a:tc>
                <a:tc>
                  <a:txBody>
                    <a:bodyPr/>
                    <a:lstStyle/>
                    <a:p>
                      <a:r>
                        <a:rPr sz="1250" b="1" i="0">
                          <a:solidFill>
                            <a:srgbClr val="FFFFFF"/>
                          </a:solidFill>
                          <a:latin typeface="Calibri"/>
                        </a:rPr>
                        <a:t>Four weeks</a:t>
                      </a:r>
                    </a:p>
                  </a:txBody>
                  <a:tcPr marL="101600" marR="101600" marT="38100" marB="38100" anchor="ctr">
                    <a:solidFill>
                      <a:srgbClr val="1A0F5C"/>
                    </a:solidFill>
                  </a:tcPr>
                </a:tc>
                <a:tc>
                  <a:txBody>
                    <a:bodyPr/>
                    <a:lstStyle/>
                    <a:p>
                      <a:r>
                        <a:rPr sz="1250" b="1" i="0">
                          <a:solidFill>
                            <a:srgbClr val="FFFFFF"/>
                          </a:solidFill>
                          <a:latin typeface="Calibri"/>
                        </a:rPr>
                        <a:t>At Rs 20</a:t>
                      </a:r>
                    </a:p>
                  </a:txBody>
                  <a:tcPr marL="101600" marR="101600" marT="38100" marB="38100" anchor="ctr">
                    <a:solidFill>
                      <a:srgbClr val="1A0F5C"/>
                    </a:solidFill>
                  </a:tcPr>
                </a:tc>
              </a:tr>
              <a:tr h="335280">
                <a:tc>
                  <a:txBody>
                    <a:bodyPr/>
                    <a:lstStyle/>
                    <a:p>
                      <a:r>
                        <a:rPr sz="1200" b="0" i="0">
                          <a:solidFill>
                            <a:srgbClr val="1A1440"/>
                          </a:solidFill>
                          <a:latin typeface="Calibri"/>
                        </a:rPr>
                        <a:t>Deliveries marked done</a:t>
                      </a:r>
                    </a:p>
                  </a:txBody>
                  <a:tcPr marL="101600" marR="101600" marT="38100" marB="38100" anchor="ctr">
                    <a:solidFill>
                      <a:srgbClr val="FFFFFF"/>
                    </a:solidFill>
                  </a:tcPr>
                </a:tc>
                <a:tc>
                  <a:txBody>
                    <a:bodyPr/>
                    <a:lstStyle/>
                    <a:p>
                      <a:r>
                        <a:rPr sz="1200" b="0" i="0">
                          <a:solidFill>
                            <a:srgbClr val="1A1440"/>
                          </a:solidFill>
                          <a:latin typeface="Calibri"/>
                        </a:rPr>
                        <a:t>the delivery boy</a:t>
                      </a:r>
                    </a:p>
                  </a:txBody>
                  <a:tcPr marL="101600" marR="101600" marT="38100" marB="38100" anchor="ctr">
                    <a:solidFill>
                      <a:srgbClr val="FFFFFF"/>
                    </a:solidFill>
                  </a:tcPr>
                </a:tc>
                <a:tc>
                  <a:txBody>
                    <a:bodyPr/>
                    <a:lstStyle/>
                    <a:p>
                      <a:r>
                        <a:rPr sz="1200" b="0" i="0">
                          <a:solidFill>
                            <a:srgbClr val="1A1440"/>
                          </a:solidFill>
                          <a:latin typeface="Calibri"/>
                        </a:rPr>
                        <a:t>50</a:t>
                      </a:r>
                    </a:p>
                  </a:txBody>
                  <a:tcPr marL="101600" marR="101600" marT="38100" marB="38100" anchor="ctr">
                    <a:solidFill>
                      <a:srgbClr val="FFFFFF"/>
                    </a:solidFill>
                  </a:tcPr>
                </a:tc>
                <a:tc>
                  <a:txBody>
                    <a:bodyPr/>
                    <a:lstStyle/>
                    <a:p>
                      <a:r>
                        <a:rPr sz="1200" b="0" i="0">
                          <a:solidFill>
                            <a:srgbClr val="1A1440"/>
                          </a:solidFill>
                          <a:latin typeface="Calibri"/>
                        </a:rPr>
                        <a:t>Rs 1,000</a:t>
                      </a:r>
                    </a:p>
                  </a:txBody>
                  <a:tcPr marL="101600" marR="101600" marT="38100" marB="38100" anchor="ctr">
                    <a:solidFill>
                      <a:srgbClr val="FFFFFF"/>
                    </a:solidFill>
                  </a:tcPr>
                </a:tc>
              </a:tr>
              <a:tr h="335280">
                <a:tc>
                  <a:txBody>
                    <a:bodyPr/>
                    <a:lstStyle/>
                    <a:p>
                      <a:r>
                        <a:rPr sz="1200" b="0" i="0">
                          <a:solidFill>
                            <a:srgbClr val="1A1440"/>
                          </a:solidFill>
                          <a:latin typeface="Calibri"/>
                        </a:rPr>
                        <a:t>Deliveries confirmed with the customer's OTP</a:t>
                      </a:r>
                    </a:p>
                  </a:txBody>
                  <a:tcPr marL="101600" marR="101600" marT="38100" marB="38100" anchor="ctr">
                    <a:solidFill>
                      <a:srgbClr val="F4F2FA"/>
                    </a:solidFill>
                  </a:tcPr>
                </a:tc>
                <a:tc>
                  <a:txBody>
                    <a:bodyPr/>
                    <a:lstStyle/>
                    <a:p>
                      <a:r>
                        <a:rPr sz="1200" b="0" i="0">
                          <a:solidFill>
                            <a:srgbClr val="1A1440"/>
                          </a:solidFill>
                          <a:latin typeface="Calibri"/>
                        </a:rPr>
                        <a:t>the customer</a:t>
                      </a:r>
                    </a:p>
                  </a:txBody>
                  <a:tcPr marL="101600" marR="101600" marT="38100" marB="38100" anchor="ctr">
                    <a:solidFill>
                      <a:srgbClr val="F4F2FA"/>
                    </a:solidFill>
                  </a:tcPr>
                </a:tc>
                <a:tc>
                  <a:txBody>
                    <a:bodyPr/>
                    <a:lstStyle/>
                    <a:p>
                      <a:r>
                        <a:rPr sz="1200" b="0" i="0">
                          <a:solidFill>
                            <a:srgbClr val="1A1440"/>
                          </a:solidFill>
                          <a:latin typeface="Calibri"/>
                        </a:rPr>
                        <a:t>40</a:t>
                      </a:r>
                    </a:p>
                  </a:txBody>
                  <a:tcPr marL="101600" marR="101600" marT="38100" marB="38100" anchor="ctr">
                    <a:solidFill>
                      <a:srgbClr val="F4F2FA"/>
                    </a:solidFill>
                  </a:tcPr>
                </a:tc>
                <a:tc>
                  <a:txBody>
                    <a:bodyPr/>
                    <a:lstStyle/>
                    <a:p>
                      <a:r>
                        <a:rPr sz="1200" b="0" i="0">
                          <a:solidFill>
                            <a:srgbClr val="1A1440"/>
                          </a:solidFill>
                          <a:latin typeface="Calibri"/>
                        </a:rPr>
                        <a:t>Rs 800</a:t>
                      </a:r>
                    </a:p>
                  </a:txBody>
                  <a:tcPr marL="101600" marR="101600" marT="38100" marB="38100" anchor="ctr">
                    <a:solidFill>
                      <a:srgbClr val="F4F2FA"/>
                    </a:solidFill>
                  </a:tcPr>
                </a:tc>
              </a:tr>
              <a:tr h="335280">
                <a:tc>
                  <a:txBody>
                    <a:bodyPr/>
                    <a:lstStyle/>
                    <a:p>
                      <a:r>
                        <a:rPr sz="1200" b="0" i="0">
                          <a:solidFill>
                            <a:srgbClr val="1A1440"/>
                          </a:solidFill>
                          <a:latin typeface="Calibri"/>
                        </a:rPr>
                        <a:t>Within 30 minutes of the dispatch time the boy types</a:t>
                      </a:r>
                    </a:p>
                  </a:txBody>
                  <a:tcPr marL="101600" marR="101600" marT="38100" marB="38100" anchor="ctr">
                    <a:solidFill>
                      <a:srgbClr val="FFFFFF"/>
                    </a:solidFill>
                  </a:tcPr>
                </a:tc>
                <a:tc>
                  <a:txBody>
                    <a:bodyPr/>
                    <a:lstStyle/>
                    <a:p>
                      <a:r>
                        <a:rPr sz="1200" b="0" i="0">
                          <a:solidFill>
                            <a:srgbClr val="1A1440"/>
                          </a:solidFill>
                          <a:latin typeface="Calibri"/>
                        </a:rPr>
                        <a:t>the delivery boy</a:t>
                      </a:r>
                    </a:p>
                  </a:txBody>
                  <a:tcPr marL="101600" marR="101600" marT="38100" marB="38100" anchor="ctr">
                    <a:solidFill>
                      <a:srgbClr val="FFFFFF"/>
                    </a:solidFill>
                  </a:tcPr>
                </a:tc>
                <a:tc>
                  <a:txBody>
                    <a:bodyPr/>
                    <a:lstStyle/>
                    <a:p>
                      <a:r>
                        <a:rPr sz="1200" b="0" i="0">
                          <a:solidFill>
                            <a:srgbClr val="1A1440"/>
                          </a:solidFill>
                          <a:latin typeface="Calibri"/>
                        </a:rPr>
                        <a:t>50 of 50, 1.00</a:t>
                      </a:r>
                    </a:p>
                  </a:txBody>
                  <a:tcPr marL="101600" marR="101600" marT="38100" marB="38100" anchor="ctr">
                    <a:solidFill>
                      <a:srgbClr val="FFFFFF"/>
                    </a:solidFill>
                  </a:tcPr>
                </a:tc>
                <a:tc>
                  <a:txBody>
                    <a:bodyPr/>
                    <a:lstStyle/>
                    <a:p/>
                  </a:txBody>
                  <a:tcPr marL="101600" marR="101600" marT="38100" marB="38100" anchor="ctr">
                    <a:solidFill>
                      <a:srgbClr val="FFFFFF"/>
                    </a:solidFill>
                  </a:tcPr>
                </a:tc>
              </a:tr>
              <a:tr h="335280">
                <a:tc>
                  <a:txBody>
                    <a:bodyPr/>
                    <a:lstStyle/>
                    <a:p>
                      <a:r>
                        <a:rPr sz="1200" b="0" i="0">
                          <a:solidFill>
                            <a:srgbClr val="1A1440"/>
                          </a:solidFill>
                          <a:latin typeface="Calibri"/>
                        </a:rPr>
                        <a:t>Within 30 minutes of the shop's bill</a:t>
                      </a:r>
                    </a:p>
                  </a:txBody>
                  <a:tcPr marL="101600" marR="101600" marT="38100" marB="38100" anchor="ctr">
                    <a:solidFill>
                      <a:srgbClr val="F4F2FA"/>
                    </a:solidFill>
                  </a:tcPr>
                </a:tc>
                <a:tc>
                  <a:txBody>
                    <a:bodyPr/>
                    <a:lstStyle/>
                    <a:p>
                      <a:r>
                        <a:rPr sz="1200" b="0" i="0">
                          <a:solidFill>
                            <a:srgbClr val="1A1440"/>
                          </a:solidFill>
                          <a:latin typeface="Calibri"/>
                        </a:rPr>
                        <a:t>the shop's system</a:t>
                      </a:r>
                    </a:p>
                  </a:txBody>
                  <a:tcPr marL="101600" marR="101600" marT="38100" marB="38100" anchor="ctr">
                    <a:solidFill>
                      <a:srgbClr val="F4F2FA"/>
                    </a:solidFill>
                  </a:tcPr>
                </a:tc>
                <a:tc>
                  <a:txBody>
                    <a:bodyPr/>
                    <a:lstStyle/>
                    <a:p>
                      <a:r>
                        <a:rPr sz="1200" b="0" i="0">
                          <a:solidFill>
                            <a:srgbClr val="1A1440"/>
                          </a:solidFill>
                          <a:latin typeface="Calibri"/>
                        </a:rPr>
                        <a:t>35 of 50, 0.70</a:t>
                      </a:r>
                    </a:p>
                  </a:txBody>
                  <a:tcPr marL="101600" marR="101600" marT="38100" marB="38100" anchor="ctr">
                    <a:solidFill>
                      <a:srgbClr val="F4F2FA"/>
                    </a:solidFill>
                  </a:tcPr>
                </a:tc>
                <a:tc>
                  <a:txBody>
                    <a:bodyPr/>
                    <a:lstStyle/>
                    <a:p/>
                  </a:txBody>
                  <a:tcPr marL="101600" marR="101600" marT="38100" marB="38100" anchor="ctr">
                    <a:solidFill>
                      <a:srgbClr val="F4F2FA"/>
                    </a:solidFill>
                  </a:tcPr>
                </a:tc>
              </a:tr>
            </a:tbl>
          </a:graphicData>
        </a:graphic>
      </p:graphicFrame>
      <p:sp>
        <p:nvSpPr>
          <p:cNvPr id="10" name="Rounded Rectangle 9"/>
          <p:cNvSpPr/>
          <p:nvPr/>
        </p:nvSpPr>
        <p:spPr>
          <a:xfrm>
            <a:off x="530352" y="3889248"/>
            <a:ext cx="11130991" cy="10744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676656" y="4017263"/>
            <a:ext cx="45720" cy="8183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7824" y="4008119"/>
            <a:ext cx="10564063" cy="891540"/>
          </a:xfrm>
          <a:prstGeom prst="rect">
            <a:avLst/>
          </a:prstGeom>
          <a:noFill/>
        </p:spPr>
        <p:txBody>
          <a:bodyPr wrap="square" anchor="ctr" lIns="0" rIns="0" tIns="0" bIns="0">
            <a:spAutoFit/>
          </a:bodyPr>
          <a:lstStyle/>
          <a:p>
            <a:r>
              <a:rPr sz="1500" b="1">
                <a:solidFill>
                  <a:srgbClr val="5B3FD6"/>
                </a:solidFill>
                <a:latin typeface="Calibri"/>
              </a:rPr>
              <a:t>Counted by hand, invented numbers. </a:t>
            </a:r>
            <a:r>
              <a:rPr sz="1500" b="0" i="0">
                <a:solidFill>
                  <a:srgbClr val="1A1440"/>
                </a:solidFill>
                <a:latin typeface="Calibri"/>
              </a:rPr>
              <a:t>The Rs 200 gap is the gaming: 10 orders were marked done at the gate and never handed over, and all 6 of the month's complaints came from those 10. Both clocks stop at the boy's done press, so they time all 50 marked orders; chapter 6's page times only the 40 the customer confirmed.</a:t>
            </a:r>
          </a:p>
        </p:txBody>
      </p:sp>
      <p:sp>
        <p:nvSpPr>
          <p:cNvPr id="13" name="TextBox 12"/>
          <p:cNvSpPr txBox="1"/>
          <p:nvPr/>
        </p:nvSpPr>
        <p:spPr>
          <a:xfrm>
            <a:off x="530352" y="6437376"/>
            <a:ext cx="256032" cy="152146"/>
          </a:xfrm>
          <a:prstGeom prst="rect">
            <a:avLst/>
          </a:prstGeom>
          <a:noFill/>
        </p:spPr>
        <p:txBody>
          <a:bodyPr wrap="square" anchor="t" lIns="0" rIns="0" tIns="0" bIns="0">
            <a:spAutoFit/>
          </a:bodyPr>
          <a:lstStyle/>
          <a:p>
            <a:pPr algn="l"/>
            <a:r>
              <a:rPr sz="700" b="0" i="0">
                <a:solidFill>
                  <a:srgbClr val="6B6690"/>
                </a:solidFill>
                <a:latin typeface="Calibri"/>
              </a:rPr>
              <a:t>…</a:t>
            </a:r>
          </a:p>
        </p:txBody>
      </p:sp>
      <p:sp>
        <p:nvSpPr>
          <p:cNvPr id="14" name="Oval 13"/>
          <p:cNvSpPr/>
          <p:nvPr/>
        </p:nvSpPr>
        <p:spPr>
          <a:xfrm>
            <a:off x="78638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96112"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Which number warns?</a:t>
            </a:r>
          </a:p>
        </p:txBody>
      </p:sp>
      <p:sp>
        <p:nvSpPr>
          <p:cNvPr id="16" name="Oval 15"/>
          <p:cNvSpPr/>
          <p:nvPr/>
        </p:nvSpPr>
        <p:spPr>
          <a:xfrm>
            <a:off x="213598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2245709"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Which four lines?</a:t>
            </a:r>
          </a:p>
        </p:txBody>
      </p:sp>
      <p:sp>
        <p:nvSpPr>
          <p:cNvPr id="18" name="Oval 17"/>
          <p:cNvSpPr/>
          <p:nvPr/>
        </p:nvSpPr>
        <p:spPr>
          <a:xfrm>
            <a:off x="3393567"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3503295" y="6437376"/>
            <a:ext cx="1286446" cy="152146"/>
          </a:xfrm>
          <a:prstGeom prst="rect">
            <a:avLst/>
          </a:prstGeom>
          <a:noFill/>
        </p:spPr>
        <p:txBody>
          <a:bodyPr wrap="square" anchor="t" lIns="0" rIns="0" tIns="0" bIns="0">
            <a:spAutoFit/>
          </a:bodyPr>
          <a:lstStyle/>
          <a:p>
            <a:pPr algn="l"/>
            <a:r>
              <a:rPr sz="700" b="1" i="0">
                <a:solidFill>
                  <a:srgbClr val="5B3FD6"/>
                </a:solidFill>
                <a:latin typeface="Calibri"/>
              </a:rPr>
              <a:t>How is a number gamed?</a:t>
            </a:r>
          </a:p>
        </p:txBody>
      </p:sp>
      <p:sp>
        <p:nvSpPr>
          <p:cNvPr id="20" name="Oval 19"/>
          <p:cNvSpPr/>
          <p:nvPr/>
        </p:nvSpPr>
        <p:spPr>
          <a:xfrm>
            <a:off x="488118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4990909"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the page hold?</a:t>
            </a:r>
          </a:p>
        </p:txBody>
      </p:sp>
      <p:sp>
        <p:nvSpPr>
          <p:cNvPr id="22" name="Oval 21"/>
          <p:cNvSpPr/>
          <p:nvPr/>
        </p:nvSpPr>
        <p:spPr>
          <a:xfrm>
            <a:off x="646080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6570535"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an hour count?</a:t>
            </a:r>
          </a:p>
        </p:txBody>
      </p:sp>
      <p:sp>
        <p:nvSpPr>
          <p:cNvPr id="24" name="Oval 23"/>
          <p:cNvSpPr/>
          <p:nvPr/>
        </p:nvSpPr>
        <p:spPr>
          <a:xfrm>
            <a:off x="804043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8150161"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Where did the fall sit?</a:t>
            </a:r>
          </a:p>
        </p:txBody>
      </p:sp>
      <p:sp>
        <p:nvSpPr>
          <p:cNvPr id="26" name="Oval 25"/>
          <p:cNvSpPr/>
          <p:nvPr/>
        </p:nvSpPr>
        <p:spPr>
          <a:xfrm>
            <a:off x="957405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9683781"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should it pay for?</a:t>
            </a:r>
          </a:p>
        </p:txBody>
      </p:sp>
      <p:sp>
        <p:nvSpPr>
          <p:cNvPr id="28" name="TextBox 27"/>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S40  ·  45 / 93</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MONDAY  ·  BUSINESS METRIC DESIGN  ·  UBER, HYDERABAD</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boy's own counts read higher than the shop's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does the picture show, and when does a definition resist gaming?</a:t>
            </a:r>
          </a:p>
        </p:txBody>
      </p:sp>
      <p:pic>
        <p:nvPicPr>
          <p:cNvPr id="9" name="mermaid diagram" descr="C2_W04_D01_kirana_two_counts_STUDENT.png"/>
          <p:cNvPicPr>
            <a:picLocks noChangeAspect="1"/>
          </p:cNvPicPr>
          <p:nvPr/>
        </p:nvPicPr>
        <p:blipFill>
          <a:blip r:embed="rId4"/>
          <a:stretch>
            <a:fillRect/>
          </a:stretch>
        </p:blipFill>
        <p:spPr>
          <a:xfrm>
            <a:off x="2568702" y="1664208"/>
            <a:ext cx="7054291" cy="2939288"/>
          </a:xfrm>
          <a:prstGeom prst="rect">
            <a:avLst/>
          </a:prstGeom>
        </p:spPr>
      </p:pic>
      <p:sp>
        <p:nvSpPr>
          <p:cNvPr id="10" name="picture caption"/>
          <p:cNvSpPr txBox="1"/>
          <p:nvPr/>
        </p:nvSpPr>
        <p:spPr>
          <a:xfrm>
            <a:off x="530352" y="4640072"/>
            <a:ext cx="11130991" cy="316992"/>
          </a:xfrm>
          <a:prstGeom prst="rect">
            <a:avLst/>
          </a:prstGeom>
          <a:noFill/>
        </p:spPr>
        <p:txBody>
          <a:bodyPr wrap="square" anchor="t" lIns="0" rIns="0" tIns="0" bIns="0">
            <a:spAutoFit/>
          </a:bodyPr>
          <a:lstStyle/>
          <a:p>
            <a:pPr algn="ctr"/>
            <a:r>
              <a:rPr sz="1200" b="0" i="0">
                <a:solidFill>
                  <a:srgbClr val="6B6690"/>
                </a:solidFill>
                <a:latin typeface="Calibri"/>
              </a:rPr>
              <a:t>Balaji Kirana's four weeks (invented): pay and on-time read higher on the counts the boy controls</a:t>
            </a:r>
          </a:p>
        </p:txBody>
      </p:sp>
      <p:sp>
        <p:nvSpPr>
          <p:cNvPr id="11" name="TextBox 10"/>
          <p:cNvSpPr txBox="1"/>
          <p:nvPr/>
        </p:nvSpPr>
        <p:spPr>
          <a:xfrm>
            <a:off x="530352" y="4966208"/>
            <a:ext cx="11130991" cy="1233424"/>
          </a:xfrm>
          <a:prstGeom prst="rect">
            <a:avLst/>
          </a:prstGeom>
          <a:noFill/>
        </p:spPr>
        <p:txBody>
          <a:bodyPr wrap="square" anchor="t" lIns="0" rIns="0" tIns="0" bIns="0">
            <a:spAutoFit/>
          </a:bodyPr>
          <a:lstStyle/>
          <a:p>
            <a:r>
              <a:rPr sz="1600" b="0" i="0">
                <a:solidFill>
                  <a:srgbClr val="1A1440"/>
                </a:solidFill>
                <a:latin typeface="Calibri"/>
              </a:rPr>
              <a:t>Both of the boy's counts read better than the counts the customer and the shop keep. Named last: a definition </a:t>
            </a:r>
            <a:r>
              <a:rPr sz="1600" b="1" i="0">
                <a:solidFill>
                  <a:srgbClr val="1A1440"/>
                </a:solidFill>
                <a:latin typeface="Calibri"/>
              </a:rPr>
              <a:t>resists gaming</a:t>
            </a:r>
            <a:r>
              <a:rPr sz="1600" b="0" i="0">
                <a:solidFill>
                  <a:srgbClr val="1A1440"/>
                </a:solidFill>
                <a:latin typeface="Calibri"/>
              </a:rPr>
              <a:t> when its numerator needs a receipt, its denominator is set by someone other than the people paid, its clock starts at a time the system records, its exclusions are dated, and it says what it does not reward.</a:t>
            </a:r>
          </a:p>
        </p:txBody>
      </p:sp>
      <p:sp>
        <p:nvSpPr>
          <p:cNvPr id="12" name="TextBox 11"/>
          <p:cNvSpPr txBox="1"/>
          <p:nvPr/>
        </p:nvSpPr>
        <p:spPr>
          <a:xfrm>
            <a:off x="530352" y="6437376"/>
            <a:ext cx="256032" cy="152146"/>
          </a:xfrm>
          <a:prstGeom prst="rect">
            <a:avLst/>
          </a:prstGeom>
          <a:noFill/>
        </p:spPr>
        <p:txBody>
          <a:bodyPr wrap="square" anchor="t" lIns="0" rIns="0" tIns="0" bIns="0">
            <a:spAutoFit/>
          </a:bodyPr>
          <a:lstStyle/>
          <a:p>
            <a:pPr algn="l"/>
            <a:r>
              <a:rPr sz="700" b="0" i="0">
                <a:solidFill>
                  <a:srgbClr val="6B6690"/>
                </a:solidFill>
                <a:latin typeface="Calibri"/>
              </a:rPr>
              <a:t>…</a:t>
            </a:r>
          </a:p>
        </p:txBody>
      </p:sp>
      <p:sp>
        <p:nvSpPr>
          <p:cNvPr id="13" name="Oval 12"/>
          <p:cNvSpPr/>
          <p:nvPr/>
        </p:nvSpPr>
        <p:spPr>
          <a:xfrm>
            <a:off x="78638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96112"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Which number warns?</a:t>
            </a:r>
          </a:p>
        </p:txBody>
      </p:sp>
      <p:sp>
        <p:nvSpPr>
          <p:cNvPr id="15" name="Oval 14"/>
          <p:cNvSpPr/>
          <p:nvPr/>
        </p:nvSpPr>
        <p:spPr>
          <a:xfrm>
            <a:off x="213598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2245709"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Which four lines?</a:t>
            </a:r>
          </a:p>
        </p:txBody>
      </p:sp>
      <p:sp>
        <p:nvSpPr>
          <p:cNvPr id="17" name="Oval 16"/>
          <p:cNvSpPr/>
          <p:nvPr/>
        </p:nvSpPr>
        <p:spPr>
          <a:xfrm>
            <a:off x="3393567"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503295" y="6437376"/>
            <a:ext cx="1286446" cy="152146"/>
          </a:xfrm>
          <a:prstGeom prst="rect">
            <a:avLst/>
          </a:prstGeom>
          <a:noFill/>
        </p:spPr>
        <p:txBody>
          <a:bodyPr wrap="square" anchor="t" lIns="0" rIns="0" tIns="0" bIns="0">
            <a:spAutoFit/>
          </a:bodyPr>
          <a:lstStyle/>
          <a:p>
            <a:pPr algn="l"/>
            <a:r>
              <a:rPr sz="700" b="1" i="0">
                <a:solidFill>
                  <a:srgbClr val="5B3FD6"/>
                </a:solidFill>
                <a:latin typeface="Calibri"/>
              </a:rPr>
              <a:t>How is a number gamed?</a:t>
            </a:r>
          </a:p>
        </p:txBody>
      </p:sp>
      <p:sp>
        <p:nvSpPr>
          <p:cNvPr id="19" name="Oval 18"/>
          <p:cNvSpPr/>
          <p:nvPr/>
        </p:nvSpPr>
        <p:spPr>
          <a:xfrm>
            <a:off x="488118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4990909"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the page hold?</a:t>
            </a:r>
          </a:p>
        </p:txBody>
      </p:sp>
      <p:sp>
        <p:nvSpPr>
          <p:cNvPr id="21" name="Oval 20"/>
          <p:cNvSpPr/>
          <p:nvPr/>
        </p:nvSpPr>
        <p:spPr>
          <a:xfrm>
            <a:off x="646080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6570535"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an hour count?</a:t>
            </a:r>
          </a:p>
        </p:txBody>
      </p:sp>
      <p:sp>
        <p:nvSpPr>
          <p:cNvPr id="23" name="Oval 22"/>
          <p:cNvSpPr/>
          <p:nvPr/>
        </p:nvSpPr>
        <p:spPr>
          <a:xfrm>
            <a:off x="804043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8150161"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Where did the fall sit?</a:t>
            </a:r>
          </a:p>
        </p:txBody>
      </p:sp>
      <p:sp>
        <p:nvSpPr>
          <p:cNvPr id="25" name="Oval 24"/>
          <p:cNvSpPr/>
          <p:nvPr/>
        </p:nvSpPr>
        <p:spPr>
          <a:xfrm>
            <a:off x="957405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9683781"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should it pay for?</a:t>
            </a:r>
          </a:p>
        </p:txBody>
      </p:sp>
      <p:sp>
        <p:nvSpPr>
          <p:cNvPr id="27" name="TextBox 26"/>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S41  ·  46 / 93</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MONDAY  ·  BUSINESS METRIC DESIGN  ·  UBER, HYDERABAD</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Four common ways to game a count, and their lines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How is each way done at the shop and in public, and which line catches it?</a:t>
            </a:r>
          </a:p>
        </p:txBody>
      </p:sp>
      <p:graphicFrame>
        <p:nvGraphicFramePr>
          <p:cNvPr id="9" name="Table 8"/>
          <p:cNvGraphicFramePr>
            <a:graphicFrameLocks noGrp="1"/>
          </p:cNvGraphicFramePr>
          <p:nvPr/>
        </p:nvGraphicFramePr>
        <p:xfrm>
          <a:off x="530352" y="1932432"/>
          <a:ext cx="11130989" cy="2712720"/>
        </p:xfrm>
        <a:graphic>
          <a:graphicData uri="http://schemas.openxmlformats.org/drawingml/2006/table">
            <a:tbl>
              <a:tblPr firstRow="0" bandRow="0">
                <a:tableStyleId>{2D5ABB26-0587-4C30-8999-92F81FD0307C}</a:tableStyleId>
              </a:tblPr>
              <a:tblGrid>
                <a:gridCol w="2436055"/>
                <a:gridCol w="2086237"/>
                <a:gridCol w="4114339"/>
                <a:gridCol w="2494358"/>
              </a:tblGrid>
              <a:tr h="542544">
                <a:tc>
                  <a:txBody>
                    <a:bodyPr/>
                    <a:lstStyle/>
                    <a:p>
                      <a:r>
                        <a:rPr sz="1250" b="1" i="0">
                          <a:solidFill>
                            <a:srgbClr val="FFFFFF"/>
                          </a:solidFill>
                          <a:latin typeface="Calibri"/>
                        </a:rPr>
                        <a:t>How it is gamed</a:t>
                      </a:r>
                    </a:p>
                  </a:txBody>
                  <a:tcPr marL="101600" marR="101600" marT="38100" marB="38100" anchor="ctr">
                    <a:solidFill>
                      <a:srgbClr val="1A0F5C"/>
                    </a:solidFill>
                  </a:tcPr>
                </a:tc>
                <a:tc>
                  <a:txBody>
                    <a:bodyPr/>
                    <a:lstStyle/>
                    <a:p>
                      <a:r>
                        <a:rPr sz="1250" b="1" i="0">
                          <a:solidFill>
                            <a:srgbClr val="FFFFFF"/>
                          </a:solidFill>
                          <a:latin typeface="Calibri"/>
                        </a:rPr>
                        <a:t>At Balaji Kirana (invented)</a:t>
                      </a:r>
                    </a:p>
                  </a:txBody>
                  <a:tcPr marL="101600" marR="101600" marT="38100" marB="38100" anchor="ctr">
                    <a:solidFill>
                      <a:srgbClr val="1A0F5C"/>
                    </a:solidFill>
                  </a:tcPr>
                </a:tc>
                <a:tc>
                  <a:txBody>
                    <a:bodyPr/>
                    <a:lstStyle/>
                    <a:p>
                      <a:r>
                        <a:rPr sz="1250" b="1" i="0">
                          <a:solidFill>
                            <a:srgbClr val="FFFFFF"/>
                          </a:solidFill>
                          <a:latin typeface="Calibri"/>
                        </a:rPr>
                        <a:t>In public, or in the case</a:t>
                      </a:r>
                    </a:p>
                  </a:txBody>
                  <a:tcPr marL="101600" marR="101600" marT="38100" marB="38100" anchor="ctr">
                    <a:solidFill>
                      <a:srgbClr val="1A0F5C"/>
                    </a:solidFill>
                  </a:tcPr>
                </a:tc>
                <a:tc>
                  <a:txBody>
                    <a:bodyPr/>
                    <a:lstStyle/>
                    <a:p>
                      <a:r>
                        <a:rPr sz="1250" b="1" i="0">
                          <a:solidFill>
                            <a:srgbClr val="FFFFFF"/>
                          </a:solidFill>
                          <a:latin typeface="Calibri"/>
                        </a:rPr>
                        <a:t>The line that stops it</a:t>
                      </a:r>
                    </a:p>
                  </a:txBody>
                  <a:tcPr marL="101600" marR="101600" marT="38100" marB="38100" anchor="ctr">
                    <a:solidFill>
                      <a:srgbClr val="1A0F5C"/>
                    </a:solidFill>
                  </a:tcPr>
                </a:tc>
              </a:tr>
              <a:tr h="542544">
                <a:tc>
                  <a:txBody>
                    <a:bodyPr/>
                    <a:lstStyle/>
                    <a:p>
                      <a:r>
                        <a:rPr sz="1200" b="0" i="0">
                          <a:solidFill>
                            <a:srgbClr val="1A1440"/>
                          </a:solidFill>
                          <a:latin typeface="Calibri"/>
                        </a:rPr>
                        <a:t>The paid person controls the count</a:t>
                      </a:r>
                    </a:p>
                  </a:txBody>
                  <a:tcPr marL="101600" marR="101600" marT="38100" marB="38100" anchor="ctr">
                    <a:solidFill>
                      <a:srgbClr val="FFFFFF"/>
                    </a:solidFill>
                  </a:tcPr>
                </a:tc>
                <a:tc>
                  <a:txBody>
                    <a:bodyPr/>
                    <a:lstStyle/>
                    <a:p>
                      <a:r>
                        <a:rPr sz="1200" b="0" i="0">
                          <a:solidFill>
                            <a:srgbClr val="1A1440"/>
                          </a:solidFill>
                          <a:latin typeface="Calibri"/>
                        </a:rPr>
                        <a:t>The boy presses done</a:t>
                      </a:r>
                    </a:p>
                  </a:txBody>
                  <a:tcPr marL="101600" marR="101600" marT="38100" marB="38100" anchor="ctr">
                    <a:solidFill>
                      <a:srgbClr val="FFFFFF"/>
                    </a:solidFill>
                  </a:tcPr>
                </a:tc>
                <a:tc>
                  <a:txBody>
                    <a:bodyPr/>
                    <a:lstStyle/>
                    <a:p>
                      <a:r>
                        <a:rPr sz="1200" b="0" i="0">
                          <a:solidFill>
                            <a:srgbClr val="1A1440"/>
                          </a:solidFill>
                          <a:latin typeface="Calibri"/>
                        </a:rPr>
                        <a:t>The illustrative Uber case: an open app counts as online (chapter 7)</a:t>
                      </a:r>
                    </a:p>
                  </a:txBody>
                  <a:tcPr marL="101600" marR="101600" marT="38100" marB="38100" anchor="ctr">
                    <a:solidFill>
                      <a:srgbClr val="FFFFFF"/>
                    </a:solidFill>
                  </a:tcPr>
                </a:tc>
                <a:tc>
                  <a:txBody>
                    <a:bodyPr/>
                    <a:lstStyle/>
                    <a:p>
                      <a:r>
                        <a:rPr sz="1200" b="0" i="0">
                          <a:solidFill>
                            <a:srgbClr val="1A1440"/>
                          </a:solidFill>
                          <a:latin typeface="Calibri"/>
                        </a:rPr>
                        <a:t>A count the person served confirms</a:t>
                      </a:r>
                    </a:p>
                  </a:txBody>
                  <a:tcPr marL="101600" marR="101600" marT="38100" marB="38100" anchor="ctr">
                    <a:solidFill>
                      <a:srgbClr val="FFFFFF"/>
                    </a:solidFill>
                  </a:tcPr>
                </a:tc>
              </a:tr>
              <a:tr h="542544">
                <a:tc>
                  <a:txBody>
                    <a:bodyPr/>
                    <a:lstStyle/>
                    <a:p>
                      <a:r>
                        <a:rPr sz="1200" b="0" i="0">
                          <a:solidFill>
                            <a:srgbClr val="1A1440"/>
                          </a:solidFill>
                          <a:latin typeface="Calibri"/>
                        </a:rPr>
                        <a:t>No receipt or use is needed</a:t>
                      </a:r>
                    </a:p>
                  </a:txBody>
                  <a:tcPr marL="101600" marR="101600" marT="38100" marB="38100" anchor="ctr">
                    <a:solidFill>
                      <a:srgbClr val="F4F2FA"/>
                    </a:solidFill>
                  </a:tcPr>
                </a:tc>
                <a:tc>
                  <a:txBody>
                    <a:bodyPr/>
                    <a:lstStyle/>
                    <a:p>
                      <a:r>
                        <a:rPr sz="1200" b="0" i="0">
                          <a:solidFill>
                            <a:srgbClr val="1A1440"/>
                          </a:solidFill>
                          <a:latin typeface="Calibri"/>
                        </a:rPr>
                        <a:t>Done with no OTP</a:t>
                      </a:r>
                    </a:p>
                  </a:txBody>
                  <a:tcPr marL="101600" marR="101600" marT="38100" marB="38100" anchor="ctr">
                    <a:solidFill>
                      <a:srgbClr val="F4F2FA"/>
                    </a:solidFill>
                  </a:tcPr>
                </a:tc>
                <a:tc>
                  <a:txBody>
                    <a:bodyPr/>
                    <a:lstStyle/>
                    <a:p>
                      <a:r>
                        <a:rPr sz="1200" b="0" i="0">
                          <a:solidFill>
                            <a:srgbClr val="1A1440"/>
                          </a:solidFill>
                          <a:latin typeface="Calibri"/>
                        </a:rPr>
                        <a:t>Wells Fargo: accounts nobody used</a:t>
                      </a:r>
                    </a:p>
                  </a:txBody>
                  <a:tcPr marL="101600" marR="101600" marT="38100" marB="38100" anchor="ctr">
                    <a:solidFill>
                      <a:srgbClr val="F4F2FA"/>
                    </a:solidFill>
                  </a:tcPr>
                </a:tc>
                <a:tc>
                  <a:txBody>
                    <a:bodyPr/>
                    <a:lstStyle/>
                    <a:p>
                      <a:r>
                        <a:rPr sz="1200" b="0" i="0">
                          <a:solidFill>
                            <a:srgbClr val="1A1440"/>
                          </a:solidFill>
                          <a:latin typeface="Calibri"/>
                        </a:rPr>
                        <a:t>A receipt condition in the numerator</a:t>
                      </a:r>
                    </a:p>
                  </a:txBody>
                  <a:tcPr marL="101600" marR="101600" marT="38100" marB="38100" anchor="ctr">
                    <a:solidFill>
                      <a:srgbClr val="F4F2FA"/>
                    </a:solidFill>
                  </a:tcPr>
                </a:tc>
              </a:tr>
              <a:tr h="542544">
                <a:tc>
                  <a:txBody>
                    <a:bodyPr/>
                    <a:lstStyle/>
                    <a:p>
                      <a:r>
                        <a:rPr sz="1200" b="0" i="0">
                          <a:solidFill>
                            <a:srgbClr val="1A1440"/>
                          </a:solidFill>
                          <a:latin typeface="Calibri"/>
                        </a:rPr>
                        <a:t>The person timed sets the clock's start</a:t>
                      </a:r>
                    </a:p>
                  </a:txBody>
                  <a:tcPr marL="101600" marR="101600" marT="38100" marB="38100" anchor="ctr">
                    <a:solidFill>
                      <a:srgbClr val="FFFFFF"/>
                    </a:solidFill>
                  </a:tcPr>
                </a:tc>
                <a:tc>
                  <a:txBody>
                    <a:bodyPr/>
                    <a:lstStyle/>
                    <a:p>
                      <a:r>
                        <a:rPr sz="1200" b="0" i="0">
                          <a:solidFill>
                            <a:srgbClr val="1A1440"/>
                          </a:solidFill>
                          <a:latin typeface="Calibri"/>
                        </a:rPr>
                        <a:t>The boy types the dispatch time</a:t>
                      </a:r>
                    </a:p>
                  </a:txBody>
                  <a:tcPr marL="101600" marR="101600" marT="38100" marB="38100" anchor="ctr">
                    <a:solidFill>
                      <a:srgbClr val="FFFFFF"/>
                    </a:solidFill>
                  </a:tcPr>
                </a:tc>
                <a:tc>
                  <a:txBody>
                    <a:bodyPr/>
                    <a:lstStyle/>
                    <a:p>
                      <a:r>
                        <a:rPr sz="1200" b="0" i="0">
                          <a:solidFill>
                            <a:srgbClr val="1A1440"/>
                          </a:solidFill>
                          <a:latin typeface="Calibri"/>
                        </a:rPr>
                        <a:t>US Veterans Affairs: the wait ran from a "desired date" the scheduler typed</a:t>
                      </a:r>
                    </a:p>
                  </a:txBody>
                  <a:tcPr marL="101600" marR="101600" marT="38100" marB="38100" anchor="ctr">
                    <a:solidFill>
                      <a:srgbClr val="FFFFFF"/>
                    </a:solidFill>
                  </a:tcPr>
                </a:tc>
                <a:tc>
                  <a:txBody>
                    <a:bodyPr/>
                    <a:lstStyle/>
                    <a:p>
                      <a:r>
                        <a:rPr sz="1200" b="0" i="0">
                          <a:solidFill>
                            <a:srgbClr val="1A1440"/>
                          </a:solidFill>
                          <a:latin typeface="Calibri"/>
                        </a:rPr>
                        <a:t>A clock that starts at the system's time</a:t>
                      </a:r>
                    </a:p>
                  </a:txBody>
                  <a:tcPr marL="101600" marR="101600" marT="38100" marB="38100" anchor="ctr">
                    <a:solidFill>
                      <a:srgbClr val="FFFFFF"/>
                    </a:solidFill>
                  </a:tcPr>
                </a:tc>
              </a:tr>
              <a:tr h="542544">
                <a:tc>
                  <a:txBody>
                    <a:bodyPr/>
                    <a:lstStyle/>
                    <a:p>
                      <a:r>
                        <a:rPr sz="1200" b="0" i="0">
                          <a:solidFill>
                            <a:srgbClr val="1A1440"/>
                          </a:solidFill>
                          <a:latin typeface="Calibri"/>
                        </a:rPr>
                        <a:t>A quiet change of definition</a:t>
                      </a:r>
                    </a:p>
                  </a:txBody>
                  <a:tcPr marL="101600" marR="101600" marT="38100" marB="38100" anchor="ctr">
                    <a:solidFill>
                      <a:srgbClr val="F4F2FA"/>
                    </a:solidFill>
                  </a:tcPr>
                </a:tc>
                <a:tc>
                  <a:txBody>
                    <a:bodyPr/>
                    <a:lstStyle/>
                    <a:p>
                      <a:r>
                        <a:rPr sz="1200" b="0" i="0">
                          <a:solidFill>
                            <a:srgbClr val="1A1440"/>
                          </a:solidFill>
                          <a:latin typeface="Calibri"/>
                        </a:rPr>
                        <a:t>The shop starts counting attempts</a:t>
                      </a:r>
                    </a:p>
                  </a:txBody>
                  <a:tcPr marL="101600" marR="101600" marT="38100" marB="38100" anchor="ctr">
                    <a:solidFill>
                      <a:srgbClr val="F4F2FA"/>
                    </a:solidFill>
                  </a:tcPr>
                </a:tc>
                <a:tc>
                  <a:txBody>
                    <a:bodyPr/>
                    <a:lstStyle/>
                    <a:p>
                      <a:r>
                        <a:rPr sz="1200" b="0" i="0">
                          <a:solidFill>
                            <a:srgbClr val="1A1440"/>
                          </a:solidFill>
                          <a:latin typeface="Calibri"/>
                        </a:rPr>
                        <a:t>Wells Fargo, 2013: accounts for sending money abroad added to the count, unannounced</a:t>
                      </a:r>
                    </a:p>
                  </a:txBody>
                  <a:tcPr marL="101600" marR="101600" marT="38100" marB="38100" anchor="ctr">
                    <a:solidFill>
                      <a:srgbClr val="F4F2FA"/>
                    </a:solidFill>
                  </a:tcPr>
                </a:tc>
                <a:tc>
                  <a:txBody>
                    <a:bodyPr/>
                    <a:lstStyle/>
                    <a:p>
                      <a:r>
                        <a:rPr sz="1200" b="0" i="0">
                          <a:solidFill>
                            <a:srgbClr val="1A1440"/>
                          </a:solidFill>
                          <a:latin typeface="Calibri"/>
                        </a:rPr>
                        <a:t>Exclusions and changes dated on the page</a:t>
                      </a:r>
                    </a:p>
                  </a:txBody>
                  <a:tcPr marL="101600" marR="101600" marT="38100" marB="38100" anchor="ctr">
                    <a:solidFill>
                      <a:srgbClr val="F4F2FA"/>
                    </a:solidFill>
                  </a:tcPr>
                </a:tc>
              </a:tr>
            </a:tbl>
          </a:graphicData>
        </a:graphic>
      </p:graphicFrame>
      <p:sp>
        <p:nvSpPr>
          <p:cNvPr id="10" name="TextBox 9"/>
          <p:cNvSpPr txBox="1"/>
          <p:nvPr/>
        </p:nvSpPr>
        <p:spPr>
          <a:xfrm>
            <a:off x="530352" y="4901184"/>
            <a:ext cx="11130991" cy="1048512"/>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At its Phoenix facility, 30 of the 40 primary-care schedulers and supervisors the inspectors asked said they set the desired date from the next open appointment or the provider's availability, so a long wait read as zero days.</a:t>
            </a:r>
          </a:p>
        </p:txBody>
      </p:sp>
      <p:sp>
        <p:nvSpPr>
          <p:cNvPr id="11" name="TextBox 10"/>
          <p:cNvSpPr txBox="1"/>
          <p:nvPr/>
        </p:nvSpPr>
        <p:spPr>
          <a:xfrm>
            <a:off x="530352" y="6437376"/>
            <a:ext cx="256032" cy="152146"/>
          </a:xfrm>
          <a:prstGeom prst="rect">
            <a:avLst/>
          </a:prstGeom>
          <a:noFill/>
        </p:spPr>
        <p:txBody>
          <a:bodyPr wrap="square" anchor="t" lIns="0" rIns="0" tIns="0" bIns="0">
            <a:spAutoFit/>
          </a:bodyPr>
          <a:lstStyle/>
          <a:p>
            <a:pPr algn="l"/>
            <a:r>
              <a:rPr sz="700" b="0" i="0">
                <a:solidFill>
                  <a:srgbClr val="6B6690"/>
                </a:solidFill>
                <a:latin typeface="Calibri"/>
              </a:rPr>
              <a:t>…</a:t>
            </a:r>
          </a:p>
        </p:txBody>
      </p:sp>
      <p:sp>
        <p:nvSpPr>
          <p:cNvPr id="12" name="Oval 11"/>
          <p:cNvSpPr/>
          <p:nvPr/>
        </p:nvSpPr>
        <p:spPr>
          <a:xfrm>
            <a:off x="78638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896112"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Which number warns?</a:t>
            </a:r>
          </a:p>
        </p:txBody>
      </p:sp>
      <p:sp>
        <p:nvSpPr>
          <p:cNvPr id="14" name="Oval 13"/>
          <p:cNvSpPr/>
          <p:nvPr/>
        </p:nvSpPr>
        <p:spPr>
          <a:xfrm>
            <a:off x="213598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2245709"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Which four lines?</a:t>
            </a:r>
          </a:p>
        </p:txBody>
      </p:sp>
      <p:sp>
        <p:nvSpPr>
          <p:cNvPr id="16" name="Oval 15"/>
          <p:cNvSpPr/>
          <p:nvPr/>
        </p:nvSpPr>
        <p:spPr>
          <a:xfrm>
            <a:off x="3393567"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3503295" y="6437376"/>
            <a:ext cx="1286446" cy="152146"/>
          </a:xfrm>
          <a:prstGeom prst="rect">
            <a:avLst/>
          </a:prstGeom>
          <a:noFill/>
        </p:spPr>
        <p:txBody>
          <a:bodyPr wrap="square" anchor="t" lIns="0" rIns="0" tIns="0" bIns="0">
            <a:spAutoFit/>
          </a:bodyPr>
          <a:lstStyle/>
          <a:p>
            <a:pPr algn="l"/>
            <a:r>
              <a:rPr sz="700" b="1" i="0">
                <a:solidFill>
                  <a:srgbClr val="5B3FD6"/>
                </a:solidFill>
                <a:latin typeface="Calibri"/>
              </a:rPr>
              <a:t>How is a number gamed?</a:t>
            </a:r>
          </a:p>
        </p:txBody>
      </p:sp>
      <p:sp>
        <p:nvSpPr>
          <p:cNvPr id="18" name="Oval 17"/>
          <p:cNvSpPr/>
          <p:nvPr/>
        </p:nvSpPr>
        <p:spPr>
          <a:xfrm>
            <a:off x="488118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4990909"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the page hold?</a:t>
            </a:r>
          </a:p>
        </p:txBody>
      </p:sp>
      <p:sp>
        <p:nvSpPr>
          <p:cNvPr id="20" name="Oval 19"/>
          <p:cNvSpPr/>
          <p:nvPr/>
        </p:nvSpPr>
        <p:spPr>
          <a:xfrm>
            <a:off x="646080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6570535"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an hour count?</a:t>
            </a:r>
          </a:p>
        </p:txBody>
      </p:sp>
      <p:sp>
        <p:nvSpPr>
          <p:cNvPr id="22" name="Oval 21"/>
          <p:cNvSpPr/>
          <p:nvPr/>
        </p:nvSpPr>
        <p:spPr>
          <a:xfrm>
            <a:off x="804043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8150161"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Where did the fall sit?</a:t>
            </a:r>
          </a:p>
        </p:txBody>
      </p:sp>
      <p:sp>
        <p:nvSpPr>
          <p:cNvPr id="24" name="Oval 23"/>
          <p:cNvSpPr/>
          <p:nvPr/>
        </p:nvSpPr>
        <p:spPr>
          <a:xfrm>
            <a:off x="957405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9683781"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should it pay for?</a:t>
            </a:r>
          </a:p>
        </p:txBody>
      </p:sp>
      <p:sp>
        <p:nvSpPr>
          <p:cNvPr id="26" name="TextBox 25"/>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S42  ·  47 / 93</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MONDAY  ·  BUSINESS METRIC DESIGN  ·  UBER, HYDERABAD</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One condition turns a press into a delivery</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How does code reproduce the counts?</a:t>
            </a:r>
          </a:p>
        </p:txBody>
      </p:sp>
      <p:sp>
        <p:nvSpPr>
          <p:cNvPr id="9" name="Rounded Rectangle 8"/>
          <p:cNvSpPr/>
          <p:nvPr/>
        </p:nvSpPr>
        <p:spPr>
          <a:xfrm>
            <a:off x="530352" y="1956816"/>
            <a:ext cx="11130991" cy="1467104"/>
          </a:xfrm>
          <a:prstGeom prst="roundRect">
            <a:avLst>
              <a:gd name="adj" fmla="val 3500"/>
            </a:avLst>
          </a:prstGeom>
          <a:solidFill>
            <a:srgbClr val="1A1440"/>
          </a:soli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713232" y="2084832"/>
            <a:ext cx="91440" cy="91440"/>
          </a:xfrm>
          <a:prstGeom prst="ellipse">
            <a:avLst/>
          </a:prstGeom>
          <a:solidFill>
            <a:srgbClr val="D63A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868680" y="2084832"/>
            <a:ext cx="91440" cy="91440"/>
          </a:xfrm>
          <a:prstGeom prst="ellipse">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Oval 11"/>
          <p:cNvSpPr/>
          <p:nvPr/>
        </p:nvSpPr>
        <p:spPr>
          <a:xfrm>
            <a:off x="1024128" y="2084832"/>
            <a:ext cx="91440" cy="91440"/>
          </a:xfrm>
          <a:prstGeom prst="ellipse">
            <a:avLst/>
          </a:prstGeom>
          <a:solidFill>
            <a:srgbClr val="1F8A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804671" y="2286000"/>
            <a:ext cx="10673791" cy="1064768"/>
          </a:xfrm>
          <a:prstGeom prst="rect">
            <a:avLst/>
          </a:prstGeom>
          <a:noFill/>
        </p:spPr>
        <p:txBody>
          <a:bodyPr wrap="square" anchor="t" lIns="0" rIns="0" tIns="0" bIns="0">
            <a:spAutoFit/>
          </a:bodyPr>
          <a:lstStyle/>
          <a:p>
            <a:pPr>
              <a:spcAft>
                <a:spcPts val="200"/>
              </a:spcAft>
            </a:pPr>
            <a:r>
              <a:rPr sz="1400" b="0" i="0">
                <a:solidFill>
                  <a:srgbClr val="E4E1F1"/>
                </a:solidFill>
                <a:latin typeface="Consolas"/>
              </a:rPr>
              <a:t>orders = pd.read_csv("../data/C2_W04_D01_kirana_deliveries_STUDENT.csv")  # invented</a:t>
            </a:r>
          </a:p>
          <a:p>
            <a:pPr>
              <a:spcAft>
                <a:spcPts val="200"/>
              </a:spcAft>
            </a:pPr>
            <a:r>
              <a:rPr sz="1400" b="0" i="0">
                <a:solidFill>
                  <a:srgbClr val="E4E1F1"/>
                </a:solidFill>
                <a:latin typeface="Consolas"/>
              </a:rPr>
              <a:t>orders["marked_done"].sum()                     # 50, the boy's count</a:t>
            </a:r>
          </a:p>
          <a:p>
            <a:pPr>
              <a:spcAft>
                <a:spcPts val="200"/>
              </a:spcAft>
            </a:pPr>
            <a:r>
              <a:rPr sz="1400" b="0" i="0">
                <a:solidFill>
                  <a:srgbClr val="E4E1F1"/>
                </a:solidFill>
                <a:latin typeface="Consolas"/>
              </a:rPr>
              <a:t>orders["otp_confirmed"].sum()                   # 40, the customer's</a:t>
            </a:r>
          </a:p>
          <a:p>
            <a:pPr>
              <a:spcAft>
                <a:spcPts val="200"/>
              </a:spcAft>
            </a:pPr>
            <a:r>
              <a:rPr sz="1400" b="0" i="0">
                <a:solidFill>
                  <a:srgbClr val="E4E1F1"/>
                </a:solidFill>
                <a:latin typeface="Consolas"/>
              </a:rPr>
              <a:t>(orders["minutes_from_bill"] &lt;= 30).mean()      # 0.70, the shop's clock</a:t>
            </a:r>
          </a:p>
        </p:txBody>
      </p:sp>
      <p:sp>
        <p:nvSpPr>
          <p:cNvPr id="14" name="TextBox 13"/>
          <p:cNvSpPr txBox="1"/>
          <p:nvPr/>
        </p:nvSpPr>
        <p:spPr>
          <a:xfrm>
            <a:off x="530352" y="3588512"/>
            <a:ext cx="11130991" cy="772160"/>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Each line counts the same 50 orders under a different owner: summing True values counts them, and the mean of True and False is a share.</a:t>
            </a:r>
          </a:p>
        </p:txBody>
      </p:sp>
      <p:sp>
        <p:nvSpPr>
          <p:cNvPr id="15" name="TextBox 14"/>
          <p:cNvSpPr txBox="1"/>
          <p:nvPr/>
        </p:nvSpPr>
        <p:spPr>
          <a:xfrm>
            <a:off x="530352" y="6437376"/>
            <a:ext cx="256032" cy="152146"/>
          </a:xfrm>
          <a:prstGeom prst="rect">
            <a:avLst/>
          </a:prstGeom>
          <a:noFill/>
        </p:spPr>
        <p:txBody>
          <a:bodyPr wrap="square" anchor="t" lIns="0" rIns="0" tIns="0" bIns="0">
            <a:spAutoFit/>
          </a:bodyPr>
          <a:lstStyle/>
          <a:p>
            <a:pPr algn="l"/>
            <a:r>
              <a:rPr sz="700" b="0" i="0">
                <a:solidFill>
                  <a:srgbClr val="6B6690"/>
                </a:solidFill>
                <a:latin typeface="Calibri"/>
              </a:rPr>
              <a:t>…</a:t>
            </a:r>
          </a:p>
        </p:txBody>
      </p:sp>
      <p:sp>
        <p:nvSpPr>
          <p:cNvPr id="16" name="Oval 15"/>
          <p:cNvSpPr/>
          <p:nvPr/>
        </p:nvSpPr>
        <p:spPr>
          <a:xfrm>
            <a:off x="78638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896112"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Which number warns?</a:t>
            </a:r>
          </a:p>
        </p:txBody>
      </p:sp>
      <p:sp>
        <p:nvSpPr>
          <p:cNvPr id="18" name="Oval 17"/>
          <p:cNvSpPr/>
          <p:nvPr/>
        </p:nvSpPr>
        <p:spPr>
          <a:xfrm>
            <a:off x="213598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2245709"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Which four lines?</a:t>
            </a:r>
          </a:p>
        </p:txBody>
      </p:sp>
      <p:sp>
        <p:nvSpPr>
          <p:cNvPr id="20" name="Oval 19"/>
          <p:cNvSpPr/>
          <p:nvPr/>
        </p:nvSpPr>
        <p:spPr>
          <a:xfrm>
            <a:off x="3393567"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3503295" y="6437376"/>
            <a:ext cx="1286446" cy="152146"/>
          </a:xfrm>
          <a:prstGeom prst="rect">
            <a:avLst/>
          </a:prstGeom>
          <a:noFill/>
        </p:spPr>
        <p:txBody>
          <a:bodyPr wrap="square" anchor="t" lIns="0" rIns="0" tIns="0" bIns="0">
            <a:spAutoFit/>
          </a:bodyPr>
          <a:lstStyle/>
          <a:p>
            <a:pPr algn="l"/>
            <a:r>
              <a:rPr sz="700" b="1" i="0">
                <a:solidFill>
                  <a:srgbClr val="5B3FD6"/>
                </a:solidFill>
                <a:latin typeface="Calibri"/>
              </a:rPr>
              <a:t>How is a number gamed?</a:t>
            </a:r>
          </a:p>
        </p:txBody>
      </p:sp>
      <p:sp>
        <p:nvSpPr>
          <p:cNvPr id="22" name="Oval 21"/>
          <p:cNvSpPr/>
          <p:nvPr/>
        </p:nvSpPr>
        <p:spPr>
          <a:xfrm>
            <a:off x="488118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4990909"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the page hold?</a:t>
            </a:r>
          </a:p>
        </p:txBody>
      </p:sp>
      <p:sp>
        <p:nvSpPr>
          <p:cNvPr id="24" name="Oval 23"/>
          <p:cNvSpPr/>
          <p:nvPr/>
        </p:nvSpPr>
        <p:spPr>
          <a:xfrm>
            <a:off x="646080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6570535"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an hour count?</a:t>
            </a:r>
          </a:p>
        </p:txBody>
      </p:sp>
      <p:sp>
        <p:nvSpPr>
          <p:cNvPr id="26" name="Oval 25"/>
          <p:cNvSpPr/>
          <p:nvPr/>
        </p:nvSpPr>
        <p:spPr>
          <a:xfrm>
            <a:off x="804043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8150161"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Where did the fall sit?</a:t>
            </a:r>
          </a:p>
        </p:txBody>
      </p:sp>
      <p:sp>
        <p:nvSpPr>
          <p:cNvPr id="28" name="Oval 27"/>
          <p:cNvSpPr/>
          <p:nvPr/>
        </p:nvSpPr>
        <p:spPr>
          <a:xfrm>
            <a:off x="957405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9683781"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should it pay for?</a:t>
            </a:r>
          </a:p>
        </p:txBody>
      </p:sp>
      <p:sp>
        <p:nvSpPr>
          <p:cNvPr id="30" name="TextBox 29"/>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S43  ·  48 / 93</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MONDAY  ·  BUSINESS METRIC DESIGN  ·  UBER, HYDERABAD</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Four rules for a definition that resists gaming</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Which rules does the chapter leave, and what does an interviewer ask?</a:t>
            </a:r>
          </a:p>
        </p:txBody>
      </p:sp>
      <p:sp>
        <p:nvSpPr>
          <p:cNvPr id="9" name="TextBox 8"/>
          <p:cNvSpPr txBox="1"/>
          <p:nvPr/>
        </p:nvSpPr>
        <p:spPr>
          <a:xfrm>
            <a:off x="530352" y="1920240"/>
            <a:ext cx="502920" cy="333756"/>
          </a:xfrm>
          <a:prstGeom prst="rect">
            <a:avLst/>
          </a:prstGeom>
          <a:noFill/>
        </p:spPr>
        <p:txBody>
          <a:bodyPr wrap="square" anchor="t" lIns="0" rIns="0" tIns="0" bIns="0">
            <a:spAutoFit/>
          </a:bodyPr>
          <a:lstStyle/>
          <a:p>
            <a:pPr algn="l"/>
            <a:r>
              <a:rPr sz="1800" b="0" i="0">
                <a:solidFill>
                  <a:srgbClr val="5B3FD6"/>
                </a:solidFill>
                <a:latin typeface="Georgia"/>
              </a:rPr>
              <a:t>01</a:t>
            </a:r>
          </a:p>
        </p:txBody>
      </p:sp>
      <p:sp>
        <p:nvSpPr>
          <p:cNvPr id="10" name="TextBox 9"/>
          <p:cNvSpPr txBox="1"/>
          <p:nvPr/>
        </p:nvSpPr>
        <p:spPr>
          <a:xfrm>
            <a:off x="1097280" y="1956816"/>
            <a:ext cx="10564063" cy="368808"/>
          </a:xfrm>
          <a:prstGeom prst="rect">
            <a:avLst/>
          </a:prstGeom>
          <a:noFill/>
        </p:spPr>
        <p:txBody>
          <a:bodyPr wrap="square" anchor="t" lIns="0" rIns="0" tIns="0" bIns="0">
            <a:spAutoFit/>
          </a:bodyPr>
          <a:lstStyle/>
          <a:p>
            <a:r>
              <a:rPr sz="1500" b="0" i="0">
                <a:solidFill>
                  <a:srgbClr val="1A1440"/>
                </a:solidFill>
                <a:latin typeface="Calibri"/>
              </a:rPr>
              <a:t>Let the person served confirm the count, as an OTP does.</a:t>
            </a:r>
          </a:p>
        </p:txBody>
      </p:sp>
      <p:sp>
        <p:nvSpPr>
          <p:cNvPr id="11" name="TextBox 10"/>
          <p:cNvSpPr txBox="1"/>
          <p:nvPr/>
        </p:nvSpPr>
        <p:spPr>
          <a:xfrm>
            <a:off x="530352" y="2362200"/>
            <a:ext cx="502920" cy="333756"/>
          </a:xfrm>
          <a:prstGeom prst="rect">
            <a:avLst/>
          </a:prstGeom>
          <a:noFill/>
        </p:spPr>
        <p:txBody>
          <a:bodyPr wrap="square" anchor="t" lIns="0" rIns="0" tIns="0" bIns="0">
            <a:spAutoFit/>
          </a:bodyPr>
          <a:lstStyle/>
          <a:p>
            <a:pPr algn="l"/>
            <a:r>
              <a:rPr sz="1800" b="0" i="0">
                <a:solidFill>
                  <a:srgbClr val="5B3FD6"/>
                </a:solidFill>
                <a:latin typeface="Georgia"/>
              </a:rPr>
              <a:t>02</a:t>
            </a:r>
          </a:p>
        </p:txBody>
      </p:sp>
      <p:sp>
        <p:nvSpPr>
          <p:cNvPr id="12" name="TextBox 11"/>
          <p:cNvSpPr txBox="1"/>
          <p:nvPr/>
        </p:nvSpPr>
        <p:spPr>
          <a:xfrm>
            <a:off x="1097280" y="2398776"/>
            <a:ext cx="10564063" cy="368808"/>
          </a:xfrm>
          <a:prstGeom prst="rect">
            <a:avLst/>
          </a:prstGeom>
          <a:noFill/>
        </p:spPr>
        <p:txBody>
          <a:bodyPr wrap="square" anchor="t" lIns="0" rIns="0" tIns="0" bIns="0">
            <a:spAutoFit/>
          </a:bodyPr>
          <a:lstStyle/>
          <a:p>
            <a:r>
              <a:rPr sz="1500" b="0" i="0">
                <a:solidFill>
                  <a:srgbClr val="1A1440"/>
                </a:solidFill>
                <a:latin typeface="Calibri"/>
              </a:rPr>
              <a:t>Start the clock at a time the system records and the person timed cannot reset, never at one they type in.</a:t>
            </a:r>
          </a:p>
        </p:txBody>
      </p:sp>
      <p:sp>
        <p:nvSpPr>
          <p:cNvPr id="13" name="TextBox 12"/>
          <p:cNvSpPr txBox="1"/>
          <p:nvPr/>
        </p:nvSpPr>
        <p:spPr>
          <a:xfrm>
            <a:off x="530352" y="2804160"/>
            <a:ext cx="502920" cy="333756"/>
          </a:xfrm>
          <a:prstGeom prst="rect">
            <a:avLst/>
          </a:prstGeom>
          <a:noFill/>
        </p:spPr>
        <p:txBody>
          <a:bodyPr wrap="square" anchor="t" lIns="0" rIns="0" tIns="0" bIns="0">
            <a:spAutoFit/>
          </a:bodyPr>
          <a:lstStyle/>
          <a:p>
            <a:pPr algn="l"/>
            <a:r>
              <a:rPr sz="1800" b="0" i="0">
                <a:solidFill>
                  <a:srgbClr val="5B3FD6"/>
                </a:solidFill>
                <a:latin typeface="Georgia"/>
              </a:rPr>
              <a:t>03</a:t>
            </a:r>
          </a:p>
        </p:txBody>
      </p:sp>
      <p:sp>
        <p:nvSpPr>
          <p:cNvPr id="14" name="TextBox 13"/>
          <p:cNvSpPr txBox="1"/>
          <p:nvPr/>
        </p:nvSpPr>
        <p:spPr>
          <a:xfrm>
            <a:off x="1097280" y="2840736"/>
            <a:ext cx="10564063" cy="368808"/>
          </a:xfrm>
          <a:prstGeom prst="rect">
            <a:avLst/>
          </a:prstGeom>
          <a:noFill/>
        </p:spPr>
        <p:txBody>
          <a:bodyPr wrap="square" anchor="t" lIns="0" rIns="0" tIns="0" bIns="0">
            <a:spAutoFit/>
          </a:bodyPr>
          <a:lstStyle/>
          <a:p>
            <a:r>
              <a:rPr sz="1500" b="0" i="0">
                <a:solidFill>
                  <a:srgbClr val="1A1440"/>
                </a:solidFill>
                <a:latin typeface="Calibri"/>
              </a:rPr>
              <a:t>Date every change to what is counted, and print the change beside the number.</a:t>
            </a:r>
          </a:p>
        </p:txBody>
      </p:sp>
      <p:sp>
        <p:nvSpPr>
          <p:cNvPr id="15" name="TextBox 14"/>
          <p:cNvSpPr txBox="1"/>
          <p:nvPr/>
        </p:nvSpPr>
        <p:spPr>
          <a:xfrm>
            <a:off x="530352" y="3246120"/>
            <a:ext cx="502920" cy="333756"/>
          </a:xfrm>
          <a:prstGeom prst="rect">
            <a:avLst/>
          </a:prstGeom>
          <a:noFill/>
        </p:spPr>
        <p:txBody>
          <a:bodyPr wrap="square" anchor="t" lIns="0" rIns="0" tIns="0" bIns="0">
            <a:spAutoFit/>
          </a:bodyPr>
          <a:lstStyle/>
          <a:p>
            <a:pPr algn="l"/>
            <a:r>
              <a:rPr sz="1800" b="0" i="0">
                <a:solidFill>
                  <a:srgbClr val="5B3FD6"/>
                </a:solidFill>
                <a:latin typeface="Georgia"/>
              </a:rPr>
              <a:t>04</a:t>
            </a:r>
          </a:p>
        </p:txBody>
      </p:sp>
      <p:sp>
        <p:nvSpPr>
          <p:cNvPr id="16" name="TextBox 15"/>
          <p:cNvSpPr txBox="1"/>
          <p:nvPr/>
        </p:nvSpPr>
        <p:spPr>
          <a:xfrm>
            <a:off x="1097280" y="3282696"/>
            <a:ext cx="10564063" cy="368808"/>
          </a:xfrm>
          <a:prstGeom prst="rect">
            <a:avLst/>
          </a:prstGeom>
          <a:noFill/>
        </p:spPr>
        <p:txBody>
          <a:bodyPr wrap="square" anchor="t" lIns="0" rIns="0" tIns="0" bIns="0">
            <a:spAutoFit/>
          </a:bodyPr>
          <a:lstStyle/>
          <a:p>
            <a:r>
              <a:rPr sz="1500" b="0" i="0">
                <a:solidFill>
                  <a:srgbClr val="1A1440"/>
                </a:solidFill>
                <a:latin typeface="Calibri"/>
              </a:rPr>
              <a:t>Say in one line what the number deliberately does not reward.</a:t>
            </a:r>
          </a:p>
        </p:txBody>
      </p:sp>
      <p:sp>
        <p:nvSpPr>
          <p:cNvPr id="17" name="Rounded Rectangle 16"/>
          <p:cNvSpPr/>
          <p:nvPr/>
        </p:nvSpPr>
        <p:spPr>
          <a:xfrm>
            <a:off x="530352" y="3834384"/>
            <a:ext cx="11130991" cy="862584"/>
          </a:xfrm>
          <a:prstGeom prst="roundRect">
            <a:avLst>
              <a:gd name="adj" fmla="val 5000"/>
            </a:avLst>
          </a:prstGeom>
          <a:solidFill>
            <a:srgbClr val="F7F5FD"/>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Oval 17"/>
          <p:cNvSpPr/>
          <p:nvPr/>
        </p:nvSpPr>
        <p:spPr>
          <a:xfrm>
            <a:off x="758952" y="4037076"/>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9" name="Picture 18" descr="mic_caee7398c80d.png"/>
          <p:cNvPicPr>
            <a:picLocks noChangeAspect="1"/>
          </p:cNvPicPr>
          <p:nvPr/>
        </p:nvPicPr>
        <p:blipFill>
          <a:blip r:embed="rId4"/>
          <a:stretch>
            <a:fillRect/>
          </a:stretch>
        </p:blipFill>
        <p:spPr>
          <a:xfrm>
            <a:off x="868680" y="4146804"/>
            <a:ext cx="237744" cy="237744"/>
          </a:xfrm>
          <a:prstGeom prst="rect">
            <a:avLst/>
          </a:prstGeom>
        </p:spPr>
      </p:pic>
      <p:sp>
        <p:nvSpPr>
          <p:cNvPr id="20" name="TextBox 19"/>
          <p:cNvSpPr txBox="1"/>
          <p:nvPr/>
        </p:nvSpPr>
        <p:spPr>
          <a:xfrm>
            <a:off x="1399031" y="3980688"/>
            <a:ext cx="9987991" cy="160401"/>
          </a:xfrm>
          <a:prstGeom prst="rect">
            <a:avLst/>
          </a:prstGeom>
          <a:noFill/>
        </p:spPr>
        <p:txBody>
          <a:bodyPr wrap="square" anchor="t" lIns="0" rIns="0" tIns="0" bIns="0">
            <a:spAutoFit/>
          </a:bodyPr>
          <a:lstStyle/>
          <a:p>
            <a:pPr algn="l"/>
            <a:r>
              <a:rPr sz="750" b="1" i="0" spc="250">
                <a:solidFill>
                  <a:srgbClr val="5B3FD6"/>
                </a:solidFill>
                <a:latin typeface="Calibri"/>
              </a:rPr>
              <a:t>IN THE INTERVIEW</a:t>
            </a:r>
          </a:p>
        </p:txBody>
      </p:sp>
      <p:sp>
        <p:nvSpPr>
          <p:cNvPr id="21" name="TextBox 20"/>
          <p:cNvSpPr txBox="1"/>
          <p:nvPr/>
        </p:nvSpPr>
        <p:spPr>
          <a:xfrm>
            <a:off x="1399031" y="4200144"/>
            <a:ext cx="9987991" cy="423672"/>
          </a:xfrm>
          <a:prstGeom prst="rect">
            <a:avLst/>
          </a:prstGeom>
          <a:noFill/>
        </p:spPr>
        <p:txBody>
          <a:bodyPr wrap="square" anchor="t" lIns="0" rIns="0" tIns="0" bIns="0">
            <a:spAutoFit/>
          </a:bodyPr>
          <a:lstStyle/>
          <a:p>
            <a:r>
              <a:rPr sz="1500" b="0" i="0">
                <a:solidFill>
                  <a:srgbClr val="1A1440"/>
                </a:solidFill>
                <a:latin typeface="Calibri"/>
              </a:rPr>
              <a:t>[F] What makes a metric gameable, and how do you write one that is not?</a:t>
            </a:r>
          </a:p>
        </p:txBody>
      </p:sp>
      <p:sp>
        <p:nvSpPr>
          <p:cNvPr id="22" name="TextBox 21"/>
          <p:cNvSpPr txBox="1"/>
          <p:nvPr/>
        </p:nvSpPr>
        <p:spPr>
          <a:xfrm>
            <a:off x="530352" y="6437376"/>
            <a:ext cx="256032" cy="152146"/>
          </a:xfrm>
          <a:prstGeom prst="rect">
            <a:avLst/>
          </a:prstGeom>
          <a:noFill/>
        </p:spPr>
        <p:txBody>
          <a:bodyPr wrap="square" anchor="t" lIns="0" rIns="0" tIns="0" bIns="0">
            <a:spAutoFit/>
          </a:bodyPr>
          <a:lstStyle/>
          <a:p>
            <a:pPr algn="l"/>
            <a:r>
              <a:rPr sz="700" b="0" i="0">
                <a:solidFill>
                  <a:srgbClr val="6B6690"/>
                </a:solidFill>
                <a:latin typeface="Calibri"/>
              </a:rPr>
              <a:t>…</a:t>
            </a:r>
          </a:p>
        </p:txBody>
      </p:sp>
      <p:sp>
        <p:nvSpPr>
          <p:cNvPr id="23" name="Oval 22"/>
          <p:cNvSpPr/>
          <p:nvPr/>
        </p:nvSpPr>
        <p:spPr>
          <a:xfrm>
            <a:off x="78638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896112"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Which number warns?</a:t>
            </a:r>
          </a:p>
        </p:txBody>
      </p:sp>
      <p:sp>
        <p:nvSpPr>
          <p:cNvPr id="25" name="Oval 24"/>
          <p:cNvSpPr/>
          <p:nvPr/>
        </p:nvSpPr>
        <p:spPr>
          <a:xfrm>
            <a:off x="213598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2245709"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Which four lines?</a:t>
            </a:r>
          </a:p>
        </p:txBody>
      </p:sp>
      <p:sp>
        <p:nvSpPr>
          <p:cNvPr id="27" name="Oval 26"/>
          <p:cNvSpPr/>
          <p:nvPr/>
        </p:nvSpPr>
        <p:spPr>
          <a:xfrm>
            <a:off x="3393567"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3503295" y="6437376"/>
            <a:ext cx="1286446" cy="152146"/>
          </a:xfrm>
          <a:prstGeom prst="rect">
            <a:avLst/>
          </a:prstGeom>
          <a:noFill/>
        </p:spPr>
        <p:txBody>
          <a:bodyPr wrap="square" anchor="t" lIns="0" rIns="0" tIns="0" bIns="0">
            <a:spAutoFit/>
          </a:bodyPr>
          <a:lstStyle/>
          <a:p>
            <a:pPr algn="l"/>
            <a:r>
              <a:rPr sz="700" b="1" i="0">
                <a:solidFill>
                  <a:srgbClr val="5B3FD6"/>
                </a:solidFill>
                <a:latin typeface="Calibri"/>
              </a:rPr>
              <a:t>How is a number gamed?</a:t>
            </a:r>
          </a:p>
        </p:txBody>
      </p:sp>
      <p:sp>
        <p:nvSpPr>
          <p:cNvPr id="29" name="Oval 28"/>
          <p:cNvSpPr/>
          <p:nvPr/>
        </p:nvSpPr>
        <p:spPr>
          <a:xfrm>
            <a:off x="488118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4990909"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the page hold?</a:t>
            </a:r>
          </a:p>
        </p:txBody>
      </p:sp>
      <p:sp>
        <p:nvSpPr>
          <p:cNvPr id="31" name="Oval 30"/>
          <p:cNvSpPr/>
          <p:nvPr/>
        </p:nvSpPr>
        <p:spPr>
          <a:xfrm>
            <a:off x="646080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6570535"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an hour count?</a:t>
            </a:r>
          </a:p>
        </p:txBody>
      </p:sp>
      <p:sp>
        <p:nvSpPr>
          <p:cNvPr id="33" name="Oval 32"/>
          <p:cNvSpPr/>
          <p:nvPr/>
        </p:nvSpPr>
        <p:spPr>
          <a:xfrm>
            <a:off x="804043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8150161"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Where did the fall sit?</a:t>
            </a:r>
          </a:p>
        </p:txBody>
      </p:sp>
      <p:sp>
        <p:nvSpPr>
          <p:cNvPr id="35" name="Oval 34"/>
          <p:cNvSpPr/>
          <p:nvPr/>
        </p:nvSpPr>
        <p:spPr>
          <a:xfrm>
            <a:off x="957405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9683781"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should it pay for?</a:t>
            </a:r>
          </a:p>
        </p:txBody>
      </p:sp>
      <p:sp>
        <p:nvSpPr>
          <p:cNvPr id="37" name="TextBox 36"/>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S44  ·  49 / 93</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MONDAY  ·  BUSINESS METRIC DESIGN  ·  UBER, HYDERABAD</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Resistant lines feed the page and the case's pay rule</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Where did the idea come from, and where does it go next?</a:t>
            </a:r>
          </a:p>
        </p:txBody>
      </p:sp>
      <p:pic>
        <p:nvPicPr>
          <p:cNvPr id="9" name="mermaid diagram" descr="6a556e8e0e02e7af.png"/>
          <p:cNvPicPr>
            <a:picLocks noChangeAspect="1"/>
          </p:cNvPicPr>
          <p:nvPr/>
        </p:nvPicPr>
        <p:blipFill>
          <a:blip r:embed="rId5"/>
          <a:stretch>
            <a:fillRect/>
          </a:stretch>
        </p:blipFill>
        <p:spPr>
          <a:xfrm>
            <a:off x="2195360" y="1780317"/>
            <a:ext cx="7800975" cy="3300412"/>
          </a:xfrm>
          <a:prstGeom prst="rect">
            <a:avLst/>
          </a:prstGeom>
        </p:spPr>
      </p:pic>
      <p:sp>
        <p:nvSpPr>
          <p:cNvPr id="10" name="TextBox 9"/>
          <p:cNvSpPr txBox="1"/>
          <p:nvPr/>
        </p:nvSpPr>
        <p:spPr>
          <a:xfrm>
            <a:off x="530352" y="5242560"/>
            <a:ext cx="11130991" cy="957072"/>
          </a:xfrm>
          <a:prstGeom prst="rect">
            <a:avLst/>
          </a:prstGeom>
          <a:noFill/>
        </p:spPr>
        <p:txBody>
          <a:bodyPr wrap="square" anchor="t" lIns="0" rIns="0" tIns="0" bIns="0">
            <a:spAutoFit/>
          </a:bodyPr>
          <a:lstStyle/>
          <a:p>
            <a:r>
              <a:rPr sz="1600" b="0" i="0">
                <a:solidFill>
                  <a:srgbClr val="1A1440"/>
                </a:solidFill>
                <a:latin typeface="Calibri"/>
              </a:rPr>
              <a:t>At Uber the driver controls the count of online hours; chapter 9's redesign judges the scheme by completed trips, which need a rider's request, and chapter 10 pays the Rs 300 floor only to driver-weeks that clear an acceptance floor, a least share of offers accepted.</a:t>
            </a:r>
          </a:p>
        </p:txBody>
      </p:sp>
      <p:sp>
        <p:nvSpPr>
          <p:cNvPr id="11" name="TextBox 10"/>
          <p:cNvSpPr txBox="1"/>
          <p:nvPr/>
        </p:nvSpPr>
        <p:spPr>
          <a:xfrm>
            <a:off x="530352" y="6437376"/>
            <a:ext cx="256032" cy="152146"/>
          </a:xfrm>
          <a:prstGeom prst="rect">
            <a:avLst/>
          </a:prstGeom>
          <a:noFill/>
        </p:spPr>
        <p:txBody>
          <a:bodyPr wrap="square" anchor="t" lIns="0" rIns="0" tIns="0" bIns="0">
            <a:spAutoFit/>
          </a:bodyPr>
          <a:lstStyle/>
          <a:p>
            <a:pPr algn="l"/>
            <a:r>
              <a:rPr sz="700" b="0" i="0">
                <a:solidFill>
                  <a:srgbClr val="6B6690"/>
                </a:solidFill>
                <a:latin typeface="Calibri"/>
              </a:rPr>
              <a:t>…</a:t>
            </a:r>
          </a:p>
        </p:txBody>
      </p:sp>
      <p:sp>
        <p:nvSpPr>
          <p:cNvPr id="12" name="Oval 11"/>
          <p:cNvSpPr/>
          <p:nvPr/>
        </p:nvSpPr>
        <p:spPr>
          <a:xfrm>
            <a:off x="78638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896112"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Which number warns?</a:t>
            </a:r>
          </a:p>
        </p:txBody>
      </p:sp>
      <p:sp>
        <p:nvSpPr>
          <p:cNvPr id="14" name="Oval 13"/>
          <p:cNvSpPr/>
          <p:nvPr/>
        </p:nvSpPr>
        <p:spPr>
          <a:xfrm>
            <a:off x="213598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2245709"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Which four lines?</a:t>
            </a:r>
          </a:p>
        </p:txBody>
      </p:sp>
      <p:sp>
        <p:nvSpPr>
          <p:cNvPr id="16" name="Oval 15"/>
          <p:cNvSpPr/>
          <p:nvPr/>
        </p:nvSpPr>
        <p:spPr>
          <a:xfrm>
            <a:off x="3393567"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3503295" y="6437376"/>
            <a:ext cx="1286446" cy="152146"/>
          </a:xfrm>
          <a:prstGeom prst="rect">
            <a:avLst/>
          </a:prstGeom>
          <a:noFill/>
        </p:spPr>
        <p:txBody>
          <a:bodyPr wrap="square" anchor="t" lIns="0" rIns="0" tIns="0" bIns="0">
            <a:spAutoFit/>
          </a:bodyPr>
          <a:lstStyle/>
          <a:p>
            <a:pPr algn="l"/>
            <a:r>
              <a:rPr sz="700" b="1" i="0">
                <a:solidFill>
                  <a:srgbClr val="5B3FD6"/>
                </a:solidFill>
                <a:latin typeface="Calibri"/>
              </a:rPr>
              <a:t>How is a number gamed?</a:t>
            </a:r>
          </a:p>
        </p:txBody>
      </p:sp>
      <p:sp>
        <p:nvSpPr>
          <p:cNvPr id="18" name="Oval 17"/>
          <p:cNvSpPr/>
          <p:nvPr/>
        </p:nvSpPr>
        <p:spPr>
          <a:xfrm>
            <a:off x="488118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4990909"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the page hold?</a:t>
            </a:r>
          </a:p>
        </p:txBody>
      </p:sp>
      <p:sp>
        <p:nvSpPr>
          <p:cNvPr id="20" name="Oval 19"/>
          <p:cNvSpPr/>
          <p:nvPr/>
        </p:nvSpPr>
        <p:spPr>
          <a:xfrm>
            <a:off x="646080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6570535"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an hour count?</a:t>
            </a:r>
          </a:p>
        </p:txBody>
      </p:sp>
      <p:sp>
        <p:nvSpPr>
          <p:cNvPr id="22" name="Oval 21"/>
          <p:cNvSpPr/>
          <p:nvPr/>
        </p:nvSpPr>
        <p:spPr>
          <a:xfrm>
            <a:off x="804043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8150161"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Where did the fall sit?</a:t>
            </a:r>
          </a:p>
        </p:txBody>
      </p:sp>
      <p:sp>
        <p:nvSpPr>
          <p:cNvPr id="24" name="Oval 23"/>
          <p:cNvSpPr/>
          <p:nvPr/>
        </p:nvSpPr>
        <p:spPr>
          <a:xfrm>
            <a:off x="957405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9683781"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should it pay for?</a:t>
            </a:r>
          </a:p>
        </p:txBody>
      </p:sp>
      <p:sp>
        <p:nvSpPr>
          <p:cNvPr id="26" name="TextBox 25"/>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S45  ·  50 / 93</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dark.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FFFFFF"/>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CFC9EE"/>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CFC9EE"/>
                </a:solidFill>
                <a:latin typeface="Calibri"/>
              </a:rPr>
              <a:t>PG DIPLOMA IN AI-ML AND AGENTIC AI ENGINEERING  ·  COHORT 2</a:t>
            </a:r>
          </a:p>
        </p:txBody>
      </p:sp>
      <p:sp>
        <p:nvSpPr>
          <p:cNvPr id="7" name="TextBox 6"/>
          <p:cNvSpPr txBox="1"/>
          <p:nvPr/>
        </p:nvSpPr>
        <p:spPr>
          <a:xfrm>
            <a:off x="731519" y="1143000"/>
            <a:ext cx="3657600" cy="1371600"/>
          </a:xfrm>
          <a:prstGeom prst="rect">
            <a:avLst/>
          </a:prstGeom>
          <a:noFill/>
        </p:spPr>
        <p:txBody>
          <a:bodyPr wrap="square" anchor="t" lIns="0" rIns="0" tIns="0" bIns="0">
            <a:spAutoFit/>
          </a:bodyPr>
          <a:lstStyle/>
          <a:p>
            <a:pPr algn="l"/>
            <a:r>
              <a:rPr sz="9600" b="0" i="0">
                <a:solidFill>
                  <a:srgbClr val="D9A7FF"/>
                </a:solidFill>
                <a:latin typeface="Georgia"/>
              </a:rPr>
              <a:t>06</a:t>
            </a:r>
          </a:p>
        </p:txBody>
      </p:sp>
      <p:sp>
        <p:nvSpPr>
          <p:cNvPr id="8" name="TextBox 7"/>
          <p:cNvSpPr txBox="1"/>
          <p:nvPr/>
        </p:nvSpPr>
        <p:spPr>
          <a:xfrm>
            <a:off x="731519" y="2542032"/>
            <a:ext cx="10673791" cy="366776"/>
          </a:xfrm>
          <a:prstGeom prst="rect">
            <a:avLst/>
          </a:prstGeom>
          <a:noFill/>
        </p:spPr>
        <p:txBody>
          <a:bodyPr wrap="square" anchor="t" lIns="0" rIns="0" tIns="0" bIns="0">
            <a:spAutoFit/>
          </a:bodyPr>
          <a:lstStyle/>
          <a:p>
            <a:pPr algn="l"/>
            <a:r>
              <a:rPr sz="2000" b="1" i="0">
                <a:solidFill>
                  <a:srgbClr val="D9A7FF"/>
                </a:solidFill>
                <a:latin typeface="Calibri"/>
              </a:rPr>
              <a:t>The metric definition artifact</a:t>
            </a:r>
          </a:p>
        </p:txBody>
      </p:sp>
      <p:sp>
        <p:nvSpPr>
          <p:cNvPr id="9" name="TextBox 8"/>
          <p:cNvSpPr txBox="1"/>
          <p:nvPr/>
        </p:nvSpPr>
        <p:spPr>
          <a:xfrm>
            <a:off x="731519" y="3017520"/>
            <a:ext cx="10673791" cy="731520"/>
          </a:xfrm>
          <a:prstGeom prst="rect">
            <a:avLst/>
          </a:prstGeom>
          <a:noFill/>
        </p:spPr>
        <p:txBody>
          <a:bodyPr wrap="square" anchor="t" lIns="0" rIns="0" tIns="0" bIns="0">
            <a:spAutoFit/>
          </a:bodyPr>
          <a:lstStyle/>
          <a:p>
            <a:pPr algn="l"/>
            <a:r>
              <a:rPr sz="4000" b="0" i="0">
                <a:solidFill>
                  <a:srgbClr val="FFFFFF"/>
                </a:solidFill>
                <a:latin typeface="Georgia"/>
              </a:rPr>
              <a:t>What does the page hold?</a:t>
            </a:r>
          </a:p>
        </p:txBody>
      </p:sp>
      <p:sp>
        <p:nvSpPr>
          <p:cNvPr id="10" name="TextBox 9"/>
          <p:cNvSpPr txBox="1"/>
          <p:nvPr/>
        </p:nvSpPr>
        <p:spPr>
          <a:xfrm>
            <a:off x="731519" y="3931920"/>
            <a:ext cx="9509760" cy="284226"/>
          </a:xfrm>
          <a:prstGeom prst="rect">
            <a:avLst/>
          </a:prstGeom>
          <a:noFill/>
        </p:spPr>
        <p:txBody>
          <a:bodyPr wrap="square" anchor="t" lIns="0" rIns="0" tIns="0" bIns="0">
            <a:spAutoFit/>
          </a:bodyPr>
          <a:lstStyle/>
          <a:p>
            <a:pPr algn="l"/>
            <a:r>
              <a:rPr sz="1500" b="0" i="0">
                <a:solidFill>
                  <a:srgbClr val="E4E1F1"/>
                </a:solidFill>
                <a:latin typeface="Calibri"/>
              </a:rPr>
              <a:t>Fill the seven-line page a company can adopt, so that three teams argue about one written thing.</a:t>
            </a:r>
          </a:p>
        </p:txBody>
      </p:sp>
      <p:sp>
        <p:nvSpPr>
          <p:cNvPr id="11" name="Rounded Rectangle 10"/>
          <p:cNvSpPr/>
          <p:nvPr/>
        </p:nvSpPr>
        <p:spPr>
          <a:xfrm>
            <a:off x="731519" y="5074920"/>
            <a:ext cx="1082213"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What is a number for?</a:t>
            </a:r>
          </a:p>
        </p:txBody>
      </p:sp>
      <p:sp>
        <p:nvSpPr>
          <p:cNvPr id="12" name="Rounded Rectangle 11"/>
          <p:cNvSpPr/>
          <p:nvPr/>
        </p:nvSpPr>
        <p:spPr>
          <a:xfrm>
            <a:off x="1923461" y="5074920"/>
            <a:ext cx="1122034"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Which number to chase?</a:t>
            </a:r>
          </a:p>
        </p:txBody>
      </p:sp>
      <p:sp>
        <p:nvSpPr>
          <p:cNvPr id="13" name="Rounded Rectangle 12"/>
          <p:cNvSpPr/>
          <p:nvPr/>
        </p:nvSpPr>
        <p:spPr>
          <a:xfrm>
            <a:off x="3155223" y="5074920"/>
            <a:ext cx="1002570"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Which number warns?</a:t>
            </a:r>
          </a:p>
        </p:txBody>
      </p:sp>
      <p:sp>
        <p:nvSpPr>
          <p:cNvPr id="14" name="Rounded Rectangle 13"/>
          <p:cNvSpPr/>
          <p:nvPr/>
        </p:nvSpPr>
        <p:spPr>
          <a:xfrm>
            <a:off x="4267522" y="5074920"/>
            <a:ext cx="922927"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Which four lines?</a:t>
            </a:r>
          </a:p>
        </p:txBody>
      </p:sp>
      <p:sp>
        <p:nvSpPr>
          <p:cNvPr id="15" name="Rounded Rectangle 14"/>
          <p:cNvSpPr/>
          <p:nvPr/>
        </p:nvSpPr>
        <p:spPr>
          <a:xfrm>
            <a:off x="5300178" y="5074920"/>
            <a:ext cx="1122034"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How is a number gamed?</a:t>
            </a:r>
          </a:p>
        </p:txBody>
      </p:sp>
      <p:sp>
        <p:nvSpPr>
          <p:cNvPr id="16" name="Rounded Rectangle 15"/>
          <p:cNvSpPr/>
          <p:nvPr/>
        </p:nvSpPr>
        <p:spPr>
          <a:xfrm>
            <a:off x="6531940" y="5074920"/>
            <a:ext cx="1201677" cy="310896"/>
          </a:xfrm>
          <a:prstGeom prst="roundRect">
            <a:avLst>
              <a:gd name="adj" fmla="val 50000"/>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1">
                <a:solidFill>
                  <a:srgbClr val="1A0F5C"/>
                </a:solidFill>
                <a:latin typeface="Calibri"/>
              </a:rPr>
              <a:t>What does the page hold?</a:t>
            </a:r>
          </a:p>
        </p:txBody>
      </p:sp>
      <p:sp>
        <p:nvSpPr>
          <p:cNvPr id="17" name="Rounded Rectangle 16"/>
          <p:cNvSpPr/>
          <p:nvPr/>
        </p:nvSpPr>
        <p:spPr>
          <a:xfrm>
            <a:off x="7843346" y="5074920"/>
            <a:ext cx="1201677"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What does an hour count?</a:t>
            </a:r>
          </a:p>
        </p:txBody>
      </p:sp>
      <p:sp>
        <p:nvSpPr>
          <p:cNvPr id="18" name="Rounded Rectangle 17"/>
          <p:cNvSpPr/>
          <p:nvPr/>
        </p:nvSpPr>
        <p:spPr>
          <a:xfrm>
            <a:off x="9154751" y="5074920"/>
            <a:ext cx="1161855"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Where did the fall sit?</a:t>
            </a:r>
          </a:p>
        </p:txBody>
      </p:sp>
      <p:sp>
        <p:nvSpPr>
          <p:cNvPr id="19" name="Rounded Rectangle 18"/>
          <p:cNvSpPr/>
          <p:nvPr/>
        </p:nvSpPr>
        <p:spPr>
          <a:xfrm>
            <a:off x="10426335" y="5074920"/>
            <a:ext cx="1161855"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What should it pay for?</a:t>
            </a:r>
          </a:p>
        </p:txBody>
      </p:sp>
      <p:sp>
        <p:nvSpPr>
          <p:cNvPr id="20" name="TextBox 19"/>
          <p:cNvSpPr txBox="1"/>
          <p:nvPr/>
        </p:nvSpPr>
        <p:spPr>
          <a:xfrm>
            <a:off x="530352" y="6437376"/>
            <a:ext cx="9667951" cy="160401"/>
          </a:xfrm>
          <a:prstGeom prst="rect">
            <a:avLst/>
          </a:prstGeom>
          <a:noFill/>
        </p:spPr>
        <p:txBody>
          <a:bodyPr wrap="square" anchor="t" lIns="0" rIns="0" tIns="0" bIns="0">
            <a:spAutoFit/>
          </a:bodyPr>
          <a:lstStyle/>
          <a:p>
            <a:pPr algn="l"/>
            <a:r>
              <a:rPr sz="750" b="0" i="0">
                <a:solidFill>
                  <a:srgbClr val="CFC9EE"/>
                </a:solidFill>
                <a:latin typeface="Calibri"/>
              </a:rPr>
              <a:t>Week 4, Day 1. Business metric design: which number should the plan chase, and what stops it being gamed?</a:t>
            </a:r>
          </a:p>
        </p:txBody>
      </p:sp>
      <p:sp>
        <p:nvSpPr>
          <p:cNvPr id="21" name="TextBox 20"/>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CFC9EE"/>
                </a:solidFill>
                <a:latin typeface="Calibri"/>
              </a:rPr>
              <a:t>51 / 93</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MONDAY  ·  BUSINESS METRIC DESIGN  ·  UBER, HYDERABAD</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One written page ends three remembered numbers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Who needs the answer, and which questions lead to it?</a:t>
            </a:r>
          </a:p>
        </p:txBody>
      </p:sp>
      <p:sp>
        <p:nvSpPr>
          <p:cNvPr id="9" name="TextBox 8"/>
          <p:cNvSpPr txBox="1"/>
          <p:nvPr/>
        </p:nvSpPr>
        <p:spPr>
          <a:xfrm>
            <a:off x="530352" y="1956816"/>
            <a:ext cx="11130991" cy="1048512"/>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The </a:t>
            </a:r>
            <a:r>
              <a:rPr sz="1600" b="1" i="0">
                <a:solidFill>
                  <a:srgbClr val="1A1440"/>
                </a:solidFill>
                <a:latin typeface="Calibri"/>
              </a:rPr>
              <a:t>metric definition artifact</a:t>
            </a:r>
            <a:r>
              <a:rPr sz="1600" b="0" i="0">
                <a:solidFill>
                  <a:srgbClr val="1A1440"/>
                </a:solidFill>
                <a:latin typeface="Calibri"/>
              </a:rPr>
              <a:t> is one page a company adopts, so teams argue about one written thing instead of three remembered ones. Its first four lines, from chapter 4, make the number computable; its last three, from chapters 2 and 5, make it safe to pay for.</a:t>
            </a:r>
          </a:p>
        </p:txBody>
      </p:sp>
      <p:sp>
        <p:nvSpPr>
          <p:cNvPr id="10" name="Rounded Rectangle 9"/>
          <p:cNvSpPr/>
          <p:nvPr/>
        </p:nvSpPr>
        <p:spPr>
          <a:xfrm>
            <a:off x="530352" y="3133344"/>
            <a:ext cx="11130991" cy="8077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676656" y="3261360"/>
            <a:ext cx="45720" cy="5516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7824" y="3252216"/>
            <a:ext cx="10564063" cy="624840"/>
          </a:xfrm>
          <a:prstGeom prst="rect">
            <a:avLst/>
          </a:prstGeom>
          <a:noFill/>
        </p:spPr>
        <p:txBody>
          <a:bodyPr wrap="square" anchor="ctr" lIns="0" rIns="0" tIns="0" bIns="0">
            <a:spAutoFit/>
          </a:bodyPr>
          <a:lstStyle/>
          <a:p>
            <a:r>
              <a:rPr sz="1500" b="1">
                <a:solidFill>
                  <a:srgbClr val="5B3FD6"/>
                </a:solidFill>
                <a:latin typeface="Calibri"/>
              </a:rPr>
              <a:t>Who needs the answer. </a:t>
            </a:r>
            <a:r>
              <a:rPr sz="1500" b="0" i="0">
                <a:solidFill>
                  <a:srgbClr val="1A1440"/>
                </a:solidFill>
                <a:latin typeface="Calibri"/>
              </a:rPr>
              <a:t>The owner of Balaji Kirana (invented), whose son wants "deliveries up 20 percent" as the shop's growth target; after the break, the Hyderabad city head, who signs Uber's page.</a:t>
            </a:r>
          </a:p>
        </p:txBody>
      </p:sp>
      <p:sp>
        <p:nvSpPr>
          <p:cNvPr id="13" name="Rectangle 12"/>
          <p:cNvSpPr/>
          <p:nvPr/>
        </p:nvSpPr>
        <p:spPr>
          <a:xfrm>
            <a:off x="1853145" y="4672584"/>
            <a:ext cx="8485403" cy="18288"/>
          </a:xfrm>
          <a:prstGeom prst="rect">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530352" y="4105656"/>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THE SHAPE</a:t>
            </a:r>
          </a:p>
        </p:txBody>
      </p:sp>
      <p:sp>
        <p:nvSpPr>
          <p:cNvPr id="15" name="Oval 14"/>
          <p:cNvSpPr/>
          <p:nvPr/>
        </p:nvSpPr>
        <p:spPr>
          <a:xfrm>
            <a:off x="1752561" y="4581144"/>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ounded Rectangle 15"/>
          <p:cNvSpPr/>
          <p:nvPr/>
        </p:nvSpPr>
        <p:spPr>
          <a:xfrm>
            <a:off x="530352" y="4992624"/>
            <a:ext cx="2645587" cy="90424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694944" y="5138928"/>
            <a:ext cx="2316403" cy="251205"/>
          </a:xfrm>
          <a:prstGeom prst="rect">
            <a:avLst/>
          </a:prstGeom>
          <a:noFill/>
        </p:spPr>
        <p:txBody>
          <a:bodyPr wrap="square" anchor="t" lIns="0" rIns="0" tIns="0" bIns="0">
            <a:spAutoFit/>
          </a:bodyPr>
          <a:lstStyle/>
          <a:p>
            <a:pPr algn="l"/>
            <a:r>
              <a:rPr sz="1300" b="1" i="0">
                <a:solidFill>
                  <a:srgbClr val="1A0F5C"/>
                </a:solidFill>
                <a:latin typeface="Calibri"/>
              </a:rPr>
              <a:t>What are the seven lines?</a:t>
            </a:r>
          </a:p>
        </p:txBody>
      </p:sp>
      <p:sp>
        <p:nvSpPr>
          <p:cNvPr id="18" name="TextBox 17"/>
          <p:cNvSpPr txBox="1"/>
          <p:nvPr/>
        </p:nvSpPr>
        <p:spPr>
          <a:xfrm>
            <a:off x="694944" y="5426710"/>
            <a:ext cx="2316403" cy="201676"/>
          </a:xfrm>
          <a:prstGeom prst="rect">
            <a:avLst/>
          </a:prstGeom>
          <a:noFill/>
        </p:spPr>
        <p:txBody>
          <a:bodyPr wrap="square" anchor="t" lIns="0" rIns="0" tIns="0" bIns="0">
            <a:spAutoFit/>
          </a:bodyPr>
          <a:lstStyle/>
          <a:p>
            <a:pPr algn="l"/>
            <a:r>
              <a:rPr sz="1000" b="0" i="0">
                <a:solidFill>
                  <a:srgbClr val="6B6690"/>
                </a:solidFill>
                <a:latin typeface="Calibri"/>
              </a:rPr>
              <a:t>The skeleton, with blanks.</a:t>
            </a:r>
          </a:p>
        </p:txBody>
      </p:sp>
      <p:sp>
        <p:nvSpPr>
          <p:cNvPr id="19" name="TextBox 18"/>
          <p:cNvSpPr txBox="1"/>
          <p:nvPr/>
        </p:nvSpPr>
        <p:spPr>
          <a:xfrm>
            <a:off x="3358819" y="4105656"/>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THE GAP</a:t>
            </a:r>
          </a:p>
        </p:txBody>
      </p:sp>
      <p:sp>
        <p:nvSpPr>
          <p:cNvPr id="20" name="Oval 19"/>
          <p:cNvSpPr/>
          <p:nvPr/>
        </p:nvSpPr>
        <p:spPr>
          <a:xfrm>
            <a:off x="4581029" y="4581144"/>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ounded Rectangle 20"/>
          <p:cNvSpPr/>
          <p:nvPr/>
        </p:nvSpPr>
        <p:spPr>
          <a:xfrm>
            <a:off x="3358819" y="4992624"/>
            <a:ext cx="2645587" cy="90424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3523411" y="5138928"/>
            <a:ext cx="2316403" cy="251205"/>
          </a:xfrm>
          <a:prstGeom prst="rect">
            <a:avLst/>
          </a:prstGeom>
          <a:noFill/>
        </p:spPr>
        <p:txBody>
          <a:bodyPr wrap="square" anchor="t" lIns="0" rIns="0" tIns="0" bIns="0">
            <a:spAutoFit/>
          </a:bodyPr>
          <a:lstStyle/>
          <a:p>
            <a:pPr algn="l"/>
            <a:r>
              <a:rPr sz="1300" b="1" i="0">
                <a:solidFill>
                  <a:srgbClr val="1A0F5C"/>
                </a:solidFill>
                <a:latin typeface="Calibri"/>
              </a:rPr>
              <a:t>What does a weak page lack?</a:t>
            </a:r>
          </a:p>
        </p:txBody>
      </p:sp>
      <p:sp>
        <p:nvSpPr>
          <p:cNvPr id="23" name="TextBox 22"/>
          <p:cNvSpPr txBox="1"/>
          <p:nvPr/>
        </p:nvSpPr>
        <p:spPr>
          <a:xfrm>
            <a:off x="3523411" y="5426710"/>
            <a:ext cx="2316403" cy="201676"/>
          </a:xfrm>
          <a:prstGeom prst="rect">
            <a:avLst/>
          </a:prstGeom>
          <a:noFill/>
        </p:spPr>
        <p:txBody>
          <a:bodyPr wrap="square" anchor="t" lIns="0" rIns="0" tIns="0" bIns="0">
            <a:spAutoFit/>
          </a:bodyPr>
          <a:lstStyle/>
          <a:p>
            <a:pPr algn="l"/>
            <a:r>
              <a:rPr sz="1000" b="0" i="0">
                <a:solidFill>
                  <a:srgbClr val="6B6690"/>
                </a:solidFill>
                <a:latin typeface="Calibri"/>
              </a:rPr>
              <a:t>Five of the seven.</a:t>
            </a:r>
          </a:p>
        </p:txBody>
      </p:sp>
      <p:sp>
        <p:nvSpPr>
          <p:cNvPr id="24" name="TextBox 23"/>
          <p:cNvSpPr txBox="1"/>
          <p:nvPr/>
        </p:nvSpPr>
        <p:spPr>
          <a:xfrm>
            <a:off x="6187287" y="4105656"/>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THE FILL</a:t>
            </a:r>
          </a:p>
        </p:txBody>
      </p:sp>
      <p:sp>
        <p:nvSpPr>
          <p:cNvPr id="25" name="Oval 24"/>
          <p:cNvSpPr/>
          <p:nvPr/>
        </p:nvSpPr>
        <p:spPr>
          <a:xfrm>
            <a:off x="7409497" y="4581144"/>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ounded Rectangle 25"/>
          <p:cNvSpPr/>
          <p:nvPr/>
        </p:nvSpPr>
        <p:spPr>
          <a:xfrm>
            <a:off x="6187287" y="4992624"/>
            <a:ext cx="2645587" cy="90424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6351879" y="5138928"/>
            <a:ext cx="2316403" cy="251205"/>
          </a:xfrm>
          <a:prstGeom prst="rect">
            <a:avLst/>
          </a:prstGeom>
          <a:noFill/>
        </p:spPr>
        <p:txBody>
          <a:bodyPr wrap="square" anchor="t" lIns="0" rIns="0" tIns="0" bIns="0">
            <a:spAutoFit/>
          </a:bodyPr>
          <a:lstStyle/>
          <a:p>
            <a:pPr algn="l"/>
            <a:r>
              <a:rPr sz="1300" b="1" i="0">
                <a:solidFill>
                  <a:srgbClr val="1A0F5C"/>
                </a:solidFill>
                <a:latin typeface="Calibri"/>
              </a:rPr>
              <a:t>What does a full page say?</a:t>
            </a:r>
          </a:p>
        </p:txBody>
      </p:sp>
      <p:sp>
        <p:nvSpPr>
          <p:cNvPr id="28" name="TextBox 27"/>
          <p:cNvSpPr txBox="1"/>
          <p:nvPr/>
        </p:nvSpPr>
        <p:spPr>
          <a:xfrm>
            <a:off x="6351879" y="5426710"/>
            <a:ext cx="2316403" cy="201676"/>
          </a:xfrm>
          <a:prstGeom prst="rect">
            <a:avLst/>
          </a:prstGeom>
          <a:noFill/>
        </p:spPr>
        <p:txBody>
          <a:bodyPr wrap="square" anchor="t" lIns="0" rIns="0" tIns="0" bIns="0">
            <a:spAutoFit/>
          </a:bodyPr>
          <a:lstStyle/>
          <a:p>
            <a:pPr algn="l"/>
            <a:r>
              <a:rPr sz="1000" b="0" i="0">
                <a:solidFill>
                  <a:srgbClr val="6B6690"/>
                </a:solidFill>
                <a:latin typeface="Calibri"/>
              </a:rPr>
              <a:t>The shop's lines, filled.</a:t>
            </a:r>
          </a:p>
        </p:txBody>
      </p:sp>
      <p:sp>
        <p:nvSpPr>
          <p:cNvPr id="29" name="TextBox 28"/>
          <p:cNvSpPr txBox="1"/>
          <p:nvPr/>
        </p:nvSpPr>
        <p:spPr>
          <a:xfrm>
            <a:off x="9015755" y="4105656"/>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THE PROOF</a:t>
            </a:r>
          </a:p>
        </p:txBody>
      </p:sp>
      <p:sp>
        <p:nvSpPr>
          <p:cNvPr id="30" name="Oval 29"/>
          <p:cNvSpPr/>
          <p:nvPr/>
        </p:nvSpPr>
        <p:spPr>
          <a:xfrm>
            <a:off x="10237965" y="4581144"/>
            <a:ext cx="201168" cy="201168"/>
          </a:xfrm>
          <a:prstGeom prst="ellipse">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ounded Rectangle 30"/>
          <p:cNvSpPr/>
          <p:nvPr/>
        </p:nvSpPr>
        <p:spPr>
          <a:xfrm>
            <a:off x="9015755" y="4992624"/>
            <a:ext cx="2645587" cy="904240"/>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9180347" y="5138928"/>
            <a:ext cx="2316403" cy="251205"/>
          </a:xfrm>
          <a:prstGeom prst="rect">
            <a:avLst/>
          </a:prstGeom>
          <a:noFill/>
        </p:spPr>
        <p:txBody>
          <a:bodyPr wrap="square" anchor="t" lIns="0" rIns="0" tIns="0" bIns="0">
            <a:spAutoFit/>
          </a:bodyPr>
          <a:lstStyle/>
          <a:p>
            <a:pPr algn="l"/>
            <a:r>
              <a:rPr sz="1300" b="1" i="0">
                <a:solidFill>
                  <a:srgbClr val="FFFFFF"/>
                </a:solidFill>
                <a:latin typeface="Calibri"/>
              </a:rPr>
              <a:t>Is anything missing?</a:t>
            </a:r>
          </a:p>
        </p:txBody>
      </p:sp>
      <p:sp>
        <p:nvSpPr>
          <p:cNvPr id="33" name="TextBox 32"/>
          <p:cNvSpPr txBox="1"/>
          <p:nvPr/>
        </p:nvSpPr>
        <p:spPr>
          <a:xfrm>
            <a:off x="9180347" y="5426710"/>
            <a:ext cx="2316403" cy="201676"/>
          </a:xfrm>
          <a:prstGeom prst="rect">
            <a:avLst/>
          </a:prstGeom>
          <a:noFill/>
        </p:spPr>
        <p:txBody>
          <a:bodyPr wrap="square" anchor="t" lIns="0" rIns="0" tIns="0" bIns="0">
            <a:spAutoFit/>
          </a:bodyPr>
          <a:lstStyle/>
          <a:p>
            <a:pPr algn="l"/>
            <a:r>
              <a:rPr sz="1000" b="0" i="0">
                <a:solidFill>
                  <a:srgbClr val="CFC9EE"/>
                </a:solidFill>
                <a:latin typeface="Calibri"/>
              </a:rPr>
              <a:t>A check that names the gap.</a:t>
            </a:r>
          </a:p>
        </p:txBody>
      </p:sp>
      <p:sp>
        <p:nvSpPr>
          <p:cNvPr id="34" name="TextBox 33"/>
          <p:cNvSpPr txBox="1"/>
          <p:nvPr/>
        </p:nvSpPr>
        <p:spPr>
          <a:xfrm>
            <a:off x="530352" y="6437376"/>
            <a:ext cx="256032" cy="152146"/>
          </a:xfrm>
          <a:prstGeom prst="rect">
            <a:avLst/>
          </a:prstGeom>
          <a:noFill/>
        </p:spPr>
        <p:txBody>
          <a:bodyPr wrap="square" anchor="t" lIns="0" rIns="0" tIns="0" bIns="0">
            <a:spAutoFit/>
          </a:bodyPr>
          <a:lstStyle/>
          <a:p>
            <a:pPr algn="l"/>
            <a:r>
              <a:rPr sz="700" b="0" i="0">
                <a:solidFill>
                  <a:srgbClr val="6B6690"/>
                </a:solidFill>
                <a:latin typeface="Calibri"/>
              </a:rPr>
              <a:t>…</a:t>
            </a:r>
          </a:p>
        </p:txBody>
      </p:sp>
      <p:sp>
        <p:nvSpPr>
          <p:cNvPr id="35" name="Oval 34"/>
          <p:cNvSpPr/>
          <p:nvPr/>
        </p:nvSpPr>
        <p:spPr>
          <a:xfrm>
            <a:off x="78638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896112"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Which number warns?</a:t>
            </a:r>
          </a:p>
        </p:txBody>
      </p:sp>
      <p:sp>
        <p:nvSpPr>
          <p:cNvPr id="37" name="Oval 36"/>
          <p:cNvSpPr/>
          <p:nvPr/>
        </p:nvSpPr>
        <p:spPr>
          <a:xfrm>
            <a:off x="213598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2245709"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Which four lines?</a:t>
            </a:r>
          </a:p>
        </p:txBody>
      </p:sp>
      <p:sp>
        <p:nvSpPr>
          <p:cNvPr id="39" name="Oval 38"/>
          <p:cNvSpPr/>
          <p:nvPr/>
        </p:nvSpPr>
        <p:spPr>
          <a:xfrm>
            <a:off x="339356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3503295"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How is a number gamed?</a:t>
            </a:r>
          </a:p>
        </p:txBody>
      </p:sp>
      <p:sp>
        <p:nvSpPr>
          <p:cNvPr id="41" name="Oval 40"/>
          <p:cNvSpPr/>
          <p:nvPr/>
        </p:nvSpPr>
        <p:spPr>
          <a:xfrm>
            <a:off x="4881181"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4990909" y="6437376"/>
            <a:ext cx="1378457" cy="152146"/>
          </a:xfrm>
          <a:prstGeom prst="rect">
            <a:avLst/>
          </a:prstGeom>
          <a:noFill/>
        </p:spPr>
        <p:txBody>
          <a:bodyPr wrap="square" anchor="t" lIns="0" rIns="0" tIns="0" bIns="0">
            <a:spAutoFit/>
          </a:bodyPr>
          <a:lstStyle/>
          <a:p>
            <a:pPr algn="l"/>
            <a:r>
              <a:rPr sz="700" b="1" i="0">
                <a:solidFill>
                  <a:srgbClr val="5B3FD6"/>
                </a:solidFill>
                <a:latin typeface="Calibri"/>
              </a:rPr>
              <a:t>What does the page hold?</a:t>
            </a:r>
          </a:p>
        </p:txBody>
      </p:sp>
      <p:sp>
        <p:nvSpPr>
          <p:cNvPr id="43" name="Oval 42"/>
          <p:cNvSpPr/>
          <p:nvPr/>
        </p:nvSpPr>
        <p:spPr>
          <a:xfrm>
            <a:off x="646080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6570535"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an hour count?</a:t>
            </a:r>
          </a:p>
        </p:txBody>
      </p:sp>
      <p:sp>
        <p:nvSpPr>
          <p:cNvPr id="45" name="Oval 44"/>
          <p:cNvSpPr/>
          <p:nvPr/>
        </p:nvSpPr>
        <p:spPr>
          <a:xfrm>
            <a:off x="804043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TextBox 45"/>
          <p:cNvSpPr txBox="1"/>
          <p:nvPr/>
        </p:nvSpPr>
        <p:spPr>
          <a:xfrm>
            <a:off x="8150161"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Where did the fall sit?</a:t>
            </a:r>
          </a:p>
        </p:txBody>
      </p:sp>
      <p:sp>
        <p:nvSpPr>
          <p:cNvPr id="47" name="Oval 46"/>
          <p:cNvSpPr/>
          <p:nvPr/>
        </p:nvSpPr>
        <p:spPr>
          <a:xfrm>
            <a:off x="957405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TextBox 47"/>
          <p:cNvSpPr txBox="1"/>
          <p:nvPr/>
        </p:nvSpPr>
        <p:spPr>
          <a:xfrm>
            <a:off x="9683781"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should it pay for?</a:t>
            </a:r>
          </a:p>
        </p:txBody>
      </p:sp>
      <p:sp>
        <p:nvSpPr>
          <p:cNvPr id="49" name="TextBox 48"/>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S46  ·  52 / 93</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MONDAY  ·  BUSINESS METRIC DESIGN  ·  UBER, HYDERABAD</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How many of seven lines does this page hold?</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The shop's growth plan (invented) reads: "Deliveries, monthly, plus 20 percent". How many of a complete definition's seven lines are on it?</a:t>
            </a:r>
          </a:p>
        </p:txBody>
      </p:sp>
      <p:sp>
        <p:nvSpPr>
          <p:cNvPr id="9" name="Rounded Rectangle 8"/>
          <p:cNvSpPr/>
          <p:nvPr/>
        </p:nvSpPr>
        <p:spPr>
          <a:xfrm>
            <a:off x="530352" y="1956816"/>
            <a:ext cx="2645587" cy="1964436"/>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731519"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1" name="Picture 10" descr="list-ordered_6bff7db210fa.png"/>
          <p:cNvPicPr>
            <a:picLocks noChangeAspect="1"/>
          </p:cNvPicPr>
          <p:nvPr/>
        </p:nvPicPr>
        <p:blipFill>
          <a:blip r:embed="rId4"/>
          <a:stretch>
            <a:fillRect/>
          </a:stretch>
        </p:blipFill>
        <p:spPr>
          <a:xfrm>
            <a:off x="841247" y="2267712"/>
            <a:ext cx="237744" cy="237744"/>
          </a:xfrm>
          <a:prstGeom prst="rect">
            <a:avLst/>
          </a:prstGeom>
        </p:spPr>
      </p:pic>
      <p:sp>
        <p:nvSpPr>
          <p:cNvPr id="12" name="TextBox 11"/>
          <p:cNvSpPr txBox="1"/>
          <p:nvPr/>
        </p:nvSpPr>
        <p:spPr>
          <a:xfrm>
            <a:off x="731519" y="2724912"/>
            <a:ext cx="2243251" cy="160401"/>
          </a:xfrm>
          <a:prstGeom prst="rect">
            <a:avLst/>
          </a:prstGeom>
          <a:noFill/>
        </p:spPr>
        <p:txBody>
          <a:bodyPr wrap="square" anchor="t" lIns="0" rIns="0" tIns="0" bIns="0">
            <a:spAutoFit/>
          </a:bodyPr>
          <a:lstStyle/>
          <a:p>
            <a:pPr algn="l"/>
            <a:r>
              <a:rPr sz="750" b="1" i="0" spc="250">
                <a:solidFill>
                  <a:srgbClr val="5B3FD6"/>
                </a:solidFill>
                <a:latin typeface="Calibri"/>
              </a:rPr>
              <a:t>A</a:t>
            </a:r>
          </a:p>
        </p:txBody>
      </p:sp>
      <p:sp>
        <p:nvSpPr>
          <p:cNvPr id="13" name="TextBox 12"/>
          <p:cNvSpPr txBox="1"/>
          <p:nvPr/>
        </p:nvSpPr>
        <p:spPr>
          <a:xfrm>
            <a:off x="731519" y="2962656"/>
            <a:ext cx="2243251" cy="267716"/>
          </a:xfrm>
          <a:prstGeom prst="rect">
            <a:avLst/>
          </a:prstGeom>
          <a:noFill/>
        </p:spPr>
        <p:txBody>
          <a:bodyPr wrap="square" anchor="t" lIns="0" rIns="0" tIns="0" bIns="0">
            <a:spAutoFit/>
          </a:bodyPr>
          <a:lstStyle/>
          <a:p>
            <a:pPr algn="l"/>
            <a:r>
              <a:rPr sz="1400" b="1" i="0">
                <a:solidFill>
                  <a:srgbClr val="1A0F5C"/>
                </a:solidFill>
                <a:latin typeface="Calibri"/>
              </a:rPr>
              <a:t>One</a:t>
            </a:r>
          </a:p>
        </p:txBody>
      </p:sp>
      <p:sp>
        <p:nvSpPr>
          <p:cNvPr id="14" name="TextBox 13"/>
          <p:cNvSpPr txBox="1"/>
          <p:nvPr/>
        </p:nvSpPr>
        <p:spPr>
          <a:xfrm>
            <a:off x="731519" y="3303524"/>
            <a:ext cx="2243251" cy="218186"/>
          </a:xfrm>
          <a:prstGeom prst="rect">
            <a:avLst/>
          </a:prstGeom>
          <a:noFill/>
        </p:spPr>
        <p:txBody>
          <a:bodyPr wrap="square" anchor="t" lIns="0" rIns="0" tIns="0" bIns="0">
            <a:spAutoFit/>
          </a:bodyPr>
          <a:lstStyle/>
          <a:p>
            <a:pPr algn="l"/>
            <a:r>
              <a:rPr sz="1100" b="0" i="0">
                <a:solidFill>
                  <a:srgbClr val="6B6690"/>
                </a:solidFill>
                <a:latin typeface="Calibri"/>
              </a:rPr>
              <a:t>Only what is counted.</a:t>
            </a:r>
          </a:p>
        </p:txBody>
      </p:sp>
      <p:sp>
        <p:nvSpPr>
          <p:cNvPr id="15" name="Rounded Rectangle 14"/>
          <p:cNvSpPr/>
          <p:nvPr/>
        </p:nvSpPr>
        <p:spPr>
          <a:xfrm>
            <a:off x="3358819" y="1956816"/>
            <a:ext cx="2645587" cy="1964436"/>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Oval 15"/>
          <p:cNvSpPr/>
          <p:nvPr/>
        </p:nvSpPr>
        <p:spPr>
          <a:xfrm>
            <a:off x="3559987"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7" name="Picture 16" descr="list-ordered_6bff7db210fa.png"/>
          <p:cNvPicPr>
            <a:picLocks noChangeAspect="1"/>
          </p:cNvPicPr>
          <p:nvPr/>
        </p:nvPicPr>
        <p:blipFill>
          <a:blip r:embed="rId4"/>
          <a:stretch>
            <a:fillRect/>
          </a:stretch>
        </p:blipFill>
        <p:spPr>
          <a:xfrm>
            <a:off x="3669715" y="2267712"/>
            <a:ext cx="237744" cy="237744"/>
          </a:xfrm>
          <a:prstGeom prst="rect">
            <a:avLst/>
          </a:prstGeom>
        </p:spPr>
      </p:pic>
      <p:sp>
        <p:nvSpPr>
          <p:cNvPr id="18" name="TextBox 17"/>
          <p:cNvSpPr txBox="1"/>
          <p:nvPr/>
        </p:nvSpPr>
        <p:spPr>
          <a:xfrm>
            <a:off x="3559987" y="2724912"/>
            <a:ext cx="2243251" cy="160401"/>
          </a:xfrm>
          <a:prstGeom prst="rect">
            <a:avLst/>
          </a:prstGeom>
          <a:noFill/>
        </p:spPr>
        <p:txBody>
          <a:bodyPr wrap="square" anchor="t" lIns="0" rIns="0" tIns="0" bIns="0">
            <a:spAutoFit/>
          </a:bodyPr>
          <a:lstStyle/>
          <a:p>
            <a:pPr algn="l"/>
            <a:r>
              <a:rPr sz="750" b="1" i="0" spc="250">
                <a:solidFill>
                  <a:srgbClr val="5B3FD6"/>
                </a:solidFill>
                <a:latin typeface="Calibri"/>
              </a:rPr>
              <a:t>B</a:t>
            </a:r>
          </a:p>
        </p:txBody>
      </p:sp>
      <p:sp>
        <p:nvSpPr>
          <p:cNvPr id="19" name="TextBox 18"/>
          <p:cNvSpPr txBox="1"/>
          <p:nvPr/>
        </p:nvSpPr>
        <p:spPr>
          <a:xfrm>
            <a:off x="3559987" y="2962656"/>
            <a:ext cx="2243251" cy="267716"/>
          </a:xfrm>
          <a:prstGeom prst="rect">
            <a:avLst/>
          </a:prstGeom>
          <a:noFill/>
        </p:spPr>
        <p:txBody>
          <a:bodyPr wrap="square" anchor="t" lIns="0" rIns="0" tIns="0" bIns="0">
            <a:spAutoFit/>
          </a:bodyPr>
          <a:lstStyle/>
          <a:p>
            <a:pPr algn="l"/>
            <a:r>
              <a:rPr sz="1400" b="1" i="0">
                <a:solidFill>
                  <a:srgbClr val="1A0F5C"/>
                </a:solidFill>
                <a:latin typeface="Calibri"/>
              </a:rPr>
              <a:t>Two</a:t>
            </a:r>
          </a:p>
        </p:txBody>
      </p:sp>
      <p:sp>
        <p:nvSpPr>
          <p:cNvPr id="20" name="TextBox 19"/>
          <p:cNvSpPr txBox="1"/>
          <p:nvPr/>
        </p:nvSpPr>
        <p:spPr>
          <a:xfrm>
            <a:off x="3559987" y="3303524"/>
            <a:ext cx="2243251" cy="218186"/>
          </a:xfrm>
          <a:prstGeom prst="rect">
            <a:avLst/>
          </a:prstGeom>
          <a:noFill/>
        </p:spPr>
        <p:txBody>
          <a:bodyPr wrap="square" anchor="t" lIns="0" rIns="0" tIns="0" bIns="0">
            <a:spAutoFit/>
          </a:bodyPr>
          <a:lstStyle/>
          <a:p>
            <a:pPr algn="l"/>
            <a:r>
              <a:rPr sz="1100" b="0" i="0">
                <a:solidFill>
                  <a:srgbClr val="6B6690"/>
                </a:solidFill>
                <a:latin typeface="Calibri"/>
              </a:rPr>
              <a:t>What is counted, and over when.</a:t>
            </a:r>
          </a:p>
        </p:txBody>
      </p:sp>
      <p:sp>
        <p:nvSpPr>
          <p:cNvPr id="21" name="Rounded Rectangle 20"/>
          <p:cNvSpPr/>
          <p:nvPr/>
        </p:nvSpPr>
        <p:spPr>
          <a:xfrm>
            <a:off x="6187287" y="1956816"/>
            <a:ext cx="2645587" cy="1964436"/>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Oval 21"/>
          <p:cNvSpPr/>
          <p:nvPr/>
        </p:nvSpPr>
        <p:spPr>
          <a:xfrm>
            <a:off x="6388455"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3" name="Picture 22" descr="list-ordered_6bff7db210fa.png"/>
          <p:cNvPicPr>
            <a:picLocks noChangeAspect="1"/>
          </p:cNvPicPr>
          <p:nvPr/>
        </p:nvPicPr>
        <p:blipFill>
          <a:blip r:embed="rId4"/>
          <a:stretch>
            <a:fillRect/>
          </a:stretch>
        </p:blipFill>
        <p:spPr>
          <a:xfrm>
            <a:off x="6498183" y="2267712"/>
            <a:ext cx="237744" cy="237744"/>
          </a:xfrm>
          <a:prstGeom prst="rect">
            <a:avLst/>
          </a:prstGeom>
        </p:spPr>
      </p:pic>
      <p:sp>
        <p:nvSpPr>
          <p:cNvPr id="24" name="TextBox 23"/>
          <p:cNvSpPr txBox="1"/>
          <p:nvPr/>
        </p:nvSpPr>
        <p:spPr>
          <a:xfrm>
            <a:off x="6388455" y="2724912"/>
            <a:ext cx="2243251" cy="160401"/>
          </a:xfrm>
          <a:prstGeom prst="rect">
            <a:avLst/>
          </a:prstGeom>
          <a:noFill/>
        </p:spPr>
        <p:txBody>
          <a:bodyPr wrap="square" anchor="t" lIns="0" rIns="0" tIns="0" bIns="0">
            <a:spAutoFit/>
          </a:bodyPr>
          <a:lstStyle/>
          <a:p>
            <a:pPr algn="l"/>
            <a:r>
              <a:rPr sz="750" b="1" i="0" spc="250">
                <a:solidFill>
                  <a:srgbClr val="5B3FD6"/>
                </a:solidFill>
                <a:latin typeface="Calibri"/>
              </a:rPr>
              <a:t>C</a:t>
            </a:r>
          </a:p>
        </p:txBody>
      </p:sp>
      <p:sp>
        <p:nvSpPr>
          <p:cNvPr id="25" name="TextBox 24"/>
          <p:cNvSpPr txBox="1"/>
          <p:nvPr/>
        </p:nvSpPr>
        <p:spPr>
          <a:xfrm>
            <a:off x="6388455" y="2962656"/>
            <a:ext cx="2243251" cy="267716"/>
          </a:xfrm>
          <a:prstGeom prst="rect">
            <a:avLst/>
          </a:prstGeom>
          <a:noFill/>
        </p:spPr>
        <p:txBody>
          <a:bodyPr wrap="square" anchor="t" lIns="0" rIns="0" tIns="0" bIns="0">
            <a:spAutoFit/>
          </a:bodyPr>
          <a:lstStyle/>
          <a:p>
            <a:pPr algn="l"/>
            <a:r>
              <a:rPr sz="1400" b="1" i="0">
                <a:solidFill>
                  <a:srgbClr val="1A0F5C"/>
                </a:solidFill>
                <a:latin typeface="Calibri"/>
              </a:rPr>
              <a:t>Four</a:t>
            </a:r>
          </a:p>
        </p:txBody>
      </p:sp>
      <p:sp>
        <p:nvSpPr>
          <p:cNvPr id="26" name="TextBox 25"/>
          <p:cNvSpPr txBox="1"/>
          <p:nvPr/>
        </p:nvSpPr>
        <p:spPr>
          <a:xfrm>
            <a:off x="6388455" y="3303524"/>
            <a:ext cx="2243251" cy="399796"/>
          </a:xfrm>
          <a:prstGeom prst="rect">
            <a:avLst/>
          </a:prstGeom>
          <a:noFill/>
        </p:spPr>
        <p:txBody>
          <a:bodyPr wrap="square" anchor="t" lIns="0" rIns="0" tIns="0" bIns="0">
            <a:spAutoFit/>
          </a:bodyPr>
          <a:lstStyle/>
          <a:p>
            <a:pPr algn="l"/>
            <a:r>
              <a:rPr sz="1100" b="0" i="0">
                <a:solidFill>
                  <a:srgbClr val="6B6690"/>
                </a:solidFill>
                <a:latin typeface="Calibri"/>
              </a:rPr>
              <a:t>The lines that make it computable.</a:t>
            </a:r>
          </a:p>
        </p:txBody>
      </p:sp>
      <p:sp>
        <p:nvSpPr>
          <p:cNvPr id="27" name="Rounded Rectangle 26"/>
          <p:cNvSpPr/>
          <p:nvPr/>
        </p:nvSpPr>
        <p:spPr>
          <a:xfrm>
            <a:off x="9015755" y="1956816"/>
            <a:ext cx="2645587" cy="1964436"/>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Oval 27"/>
          <p:cNvSpPr/>
          <p:nvPr/>
        </p:nvSpPr>
        <p:spPr>
          <a:xfrm>
            <a:off x="9216923"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9" name="Picture 28" descr="list-ordered_6bff7db210fa.png"/>
          <p:cNvPicPr>
            <a:picLocks noChangeAspect="1"/>
          </p:cNvPicPr>
          <p:nvPr/>
        </p:nvPicPr>
        <p:blipFill>
          <a:blip r:embed="rId4"/>
          <a:stretch>
            <a:fillRect/>
          </a:stretch>
        </p:blipFill>
        <p:spPr>
          <a:xfrm>
            <a:off x="9326651" y="2267712"/>
            <a:ext cx="237744" cy="237744"/>
          </a:xfrm>
          <a:prstGeom prst="rect">
            <a:avLst/>
          </a:prstGeom>
        </p:spPr>
      </p:pic>
      <p:sp>
        <p:nvSpPr>
          <p:cNvPr id="30" name="TextBox 29"/>
          <p:cNvSpPr txBox="1"/>
          <p:nvPr/>
        </p:nvSpPr>
        <p:spPr>
          <a:xfrm>
            <a:off x="9216923" y="2724912"/>
            <a:ext cx="2243251" cy="160401"/>
          </a:xfrm>
          <a:prstGeom prst="rect">
            <a:avLst/>
          </a:prstGeom>
          <a:noFill/>
        </p:spPr>
        <p:txBody>
          <a:bodyPr wrap="square" anchor="t" lIns="0" rIns="0" tIns="0" bIns="0">
            <a:spAutoFit/>
          </a:bodyPr>
          <a:lstStyle/>
          <a:p>
            <a:pPr algn="l"/>
            <a:r>
              <a:rPr sz="750" b="1" i="0" spc="250">
                <a:solidFill>
                  <a:srgbClr val="5B3FD6"/>
                </a:solidFill>
                <a:latin typeface="Calibri"/>
              </a:rPr>
              <a:t>D</a:t>
            </a:r>
          </a:p>
        </p:txBody>
      </p:sp>
      <p:sp>
        <p:nvSpPr>
          <p:cNvPr id="31" name="TextBox 30"/>
          <p:cNvSpPr txBox="1"/>
          <p:nvPr/>
        </p:nvSpPr>
        <p:spPr>
          <a:xfrm>
            <a:off x="9216923" y="2962656"/>
            <a:ext cx="2243251" cy="267716"/>
          </a:xfrm>
          <a:prstGeom prst="rect">
            <a:avLst/>
          </a:prstGeom>
          <a:noFill/>
        </p:spPr>
        <p:txBody>
          <a:bodyPr wrap="square" anchor="t" lIns="0" rIns="0" tIns="0" bIns="0">
            <a:spAutoFit/>
          </a:bodyPr>
          <a:lstStyle/>
          <a:p>
            <a:pPr algn="l"/>
            <a:r>
              <a:rPr sz="1400" b="1" i="0">
                <a:solidFill>
                  <a:srgbClr val="1A0F5C"/>
                </a:solidFill>
                <a:latin typeface="Calibri"/>
              </a:rPr>
              <a:t>All seven</a:t>
            </a:r>
          </a:p>
        </p:txBody>
      </p:sp>
      <p:sp>
        <p:nvSpPr>
          <p:cNvPr id="32" name="TextBox 31"/>
          <p:cNvSpPr txBox="1"/>
          <p:nvPr/>
        </p:nvSpPr>
        <p:spPr>
          <a:xfrm>
            <a:off x="9216923" y="3303524"/>
            <a:ext cx="2243251" cy="218186"/>
          </a:xfrm>
          <a:prstGeom prst="rect">
            <a:avLst/>
          </a:prstGeom>
          <a:noFill/>
        </p:spPr>
        <p:txBody>
          <a:bodyPr wrap="square" anchor="t" lIns="0" rIns="0" tIns="0" bIns="0">
            <a:spAutoFit/>
          </a:bodyPr>
          <a:lstStyle/>
          <a:p>
            <a:pPr algn="l"/>
            <a:r>
              <a:rPr sz="1100" b="0" i="0">
                <a:solidFill>
                  <a:srgbClr val="6B6690"/>
                </a:solidFill>
                <a:latin typeface="Calibri"/>
              </a:rPr>
              <a:t>A name, a window and a target.</a:t>
            </a:r>
          </a:p>
        </p:txBody>
      </p:sp>
      <p:sp>
        <p:nvSpPr>
          <p:cNvPr id="33" name="TextBox 32"/>
          <p:cNvSpPr txBox="1"/>
          <p:nvPr/>
        </p:nvSpPr>
        <p:spPr>
          <a:xfrm>
            <a:off x="530352" y="6437376"/>
            <a:ext cx="256032" cy="152146"/>
          </a:xfrm>
          <a:prstGeom prst="rect">
            <a:avLst/>
          </a:prstGeom>
          <a:noFill/>
        </p:spPr>
        <p:txBody>
          <a:bodyPr wrap="square" anchor="t" lIns="0" rIns="0" tIns="0" bIns="0">
            <a:spAutoFit/>
          </a:bodyPr>
          <a:lstStyle/>
          <a:p>
            <a:pPr algn="l"/>
            <a:r>
              <a:rPr sz="700" b="0" i="0">
                <a:solidFill>
                  <a:srgbClr val="6B6690"/>
                </a:solidFill>
                <a:latin typeface="Calibri"/>
              </a:rPr>
              <a:t>…</a:t>
            </a:r>
          </a:p>
        </p:txBody>
      </p:sp>
      <p:sp>
        <p:nvSpPr>
          <p:cNvPr id="34" name="Oval 33"/>
          <p:cNvSpPr/>
          <p:nvPr/>
        </p:nvSpPr>
        <p:spPr>
          <a:xfrm>
            <a:off x="78638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896112"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Which number warns?</a:t>
            </a:r>
          </a:p>
        </p:txBody>
      </p:sp>
      <p:sp>
        <p:nvSpPr>
          <p:cNvPr id="36" name="Oval 35"/>
          <p:cNvSpPr/>
          <p:nvPr/>
        </p:nvSpPr>
        <p:spPr>
          <a:xfrm>
            <a:off x="213598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2245709"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Which four lines?</a:t>
            </a:r>
          </a:p>
        </p:txBody>
      </p:sp>
      <p:sp>
        <p:nvSpPr>
          <p:cNvPr id="38" name="Oval 37"/>
          <p:cNvSpPr/>
          <p:nvPr/>
        </p:nvSpPr>
        <p:spPr>
          <a:xfrm>
            <a:off x="339356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3503295"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How is a number gamed?</a:t>
            </a:r>
          </a:p>
        </p:txBody>
      </p:sp>
      <p:sp>
        <p:nvSpPr>
          <p:cNvPr id="40" name="Oval 39"/>
          <p:cNvSpPr/>
          <p:nvPr/>
        </p:nvSpPr>
        <p:spPr>
          <a:xfrm>
            <a:off x="4881181"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4990909" y="6437376"/>
            <a:ext cx="1378457" cy="152146"/>
          </a:xfrm>
          <a:prstGeom prst="rect">
            <a:avLst/>
          </a:prstGeom>
          <a:noFill/>
        </p:spPr>
        <p:txBody>
          <a:bodyPr wrap="square" anchor="t" lIns="0" rIns="0" tIns="0" bIns="0">
            <a:spAutoFit/>
          </a:bodyPr>
          <a:lstStyle/>
          <a:p>
            <a:pPr algn="l"/>
            <a:r>
              <a:rPr sz="700" b="1" i="0">
                <a:solidFill>
                  <a:srgbClr val="5B3FD6"/>
                </a:solidFill>
                <a:latin typeface="Calibri"/>
              </a:rPr>
              <a:t>What does the page hold?</a:t>
            </a:r>
          </a:p>
        </p:txBody>
      </p:sp>
      <p:sp>
        <p:nvSpPr>
          <p:cNvPr id="42" name="Oval 41"/>
          <p:cNvSpPr/>
          <p:nvPr/>
        </p:nvSpPr>
        <p:spPr>
          <a:xfrm>
            <a:off x="646080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TextBox 42"/>
          <p:cNvSpPr txBox="1"/>
          <p:nvPr/>
        </p:nvSpPr>
        <p:spPr>
          <a:xfrm>
            <a:off x="6570535"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an hour count?</a:t>
            </a:r>
          </a:p>
        </p:txBody>
      </p:sp>
      <p:sp>
        <p:nvSpPr>
          <p:cNvPr id="44" name="Oval 43"/>
          <p:cNvSpPr/>
          <p:nvPr/>
        </p:nvSpPr>
        <p:spPr>
          <a:xfrm>
            <a:off x="804043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TextBox 44"/>
          <p:cNvSpPr txBox="1"/>
          <p:nvPr/>
        </p:nvSpPr>
        <p:spPr>
          <a:xfrm>
            <a:off x="8150161"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Where did the fall sit?</a:t>
            </a:r>
          </a:p>
        </p:txBody>
      </p:sp>
      <p:sp>
        <p:nvSpPr>
          <p:cNvPr id="46" name="Oval 45"/>
          <p:cNvSpPr/>
          <p:nvPr/>
        </p:nvSpPr>
        <p:spPr>
          <a:xfrm>
            <a:off x="957405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TextBox 46"/>
          <p:cNvSpPr txBox="1"/>
          <p:nvPr/>
        </p:nvSpPr>
        <p:spPr>
          <a:xfrm>
            <a:off x="9683781"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should it pay for?</a:t>
            </a:r>
          </a:p>
        </p:txBody>
      </p:sp>
      <p:sp>
        <p:nvSpPr>
          <p:cNvPr id="48" name="TextBox 47"/>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S47  ·  53 / 93</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MONDAY  ·  BUSINESS METRIC DESIGN  ·  UBER, HYDERABAD</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Answer: b, what is counted and the window</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are the seven lines, and which two does the weak page hold?</a:t>
            </a:r>
          </a:p>
        </p:txBody>
      </p:sp>
      <p:sp>
        <p:nvSpPr>
          <p:cNvPr id="9" name="Rectangle 8"/>
          <p:cNvSpPr/>
          <p:nvPr/>
        </p:nvSpPr>
        <p:spPr>
          <a:xfrm>
            <a:off x="1247045" y="2523744"/>
            <a:ext cx="9697603" cy="18288"/>
          </a:xfrm>
          <a:prstGeom prst="rect">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530352" y="1956816"/>
            <a:ext cx="1433387" cy="168656"/>
          </a:xfrm>
          <a:prstGeom prst="rect">
            <a:avLst/>
          </a:prstGeom>
          <a:noFill/>
        </p:spPr>
        <p:txBody>
          <a:bodyPr wrap="square" anchor="t" lIns="0" rIns="0" tIns="0" bIns="0">
            <a:spAutoFit/>
          </a:bodyPr>
          <a:lstStyle/>
          <a:p>
            <a:pPr algn="ctr"/>
            <a:r>
              <a:rPr sz="800" b="1" i="0" spc="250">
                <a:solidFill>
                  <a:srgbClr val="5B3FD6"/>
                </a:solidFill>
                <a:latin typeface="Calibri"/>
              </a:rPr>
              <a:t>LINE 1</a:t>
            </a:r>
          </a:p>
        </p:txBody>
      </p:sp>
      <p:sp>
        <p:nvSpPr>
          <p:cNvPr id="11" name="Oval 10"/>
          <p:cNvSpPr/>
          <p:nvPr/>
        </p:nvSpPr>
        <p:spPr>
          <a:xfrm>
            <a:off x="1146461" y="2432304"/>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ounded Rectangle 11"/>
          <p:cNvSpPr/>
          <p:nvPr/>
        </p:nvSpPr>
        <p:spPr>
          <a:xfrm>
            <a:off x="530352" y="2843784"/>
            <a:ext cx="1433387" cy="142240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94944" y="2990088"/>
            <a:ext cx="1104203" cy="251205"/>
          </a:xfrm>
          <a:prstGeom prst="rect">
            <a:avLst/>
          </a:prstGeom>
          <a:noFill/>
        </p:spPr>
        <p:txBody>
          <a:bodyPr wrap="square" anchor="t" lIns="0" rIns="0" tIns="0" bIns="0">
            <a:spAutoFit/>
          </a:bodyPr>
          <a:lstStyle/>
          <a:p>
            <a:pPr algn="l"/>
            <a:r>
              <a:rPr sz="1300" b="1" i="0">
                <a:solidFill>
                  <a:srgbClr val="1A0F5C"/>
                </a:solidFill>
                <a:latin typeface="Calibri"/>
              </a:rPr>
              <a:t>Numerator</a:t>
            </a:r>
          </a:p>
        </p:txBody>
      </p:sp>
      <p:sp>
        <p:nvSpPr>
          <p:cNvPr id="14" name="TextBox 13"/>
          <p:cNvSpPr txBox="1"/>
          <p:nvPr/>
        </p:nvSpPr>
        <p:spPr>
          <a:xfrm>
            <a:off x="694944" y="3277870"/>
            <a:ext cx="1104203" cy="531876"/>
          </a:xfrm>
          <a:prstGeom prst="rect">
            <a:avLst/>
          </a:prstGeom>
          <a:noFill/>
        </p:spPr>
        <p:txBody>
          <a:bodyPr wrap="square" anchor="t" lIns="0" rIns="0" tIns="0" bIns="0">
            <a:spAutoFit/>
          </a:bodyPr>
          <a:lstStyle/>
          <a:p>
            <a:pPr algn="l"/>
            <a:r>
              <a:rPr sz="1000" b="0" i="0">
                <a:solidFill>
                  <a:srgbClr val="6B6690"/>
                </a:solidFill>
                <a:latin typeface="Calibri"/>
              </a:rPr>
              <a:t>What is counted, with its receipt.</a:t>
            </a:r>
          </a:p>
        </p:txBody>
      </p:sp>
      <p:sp>
        <p:nvSpPr>
          <p:cNvPr id="15" name="TextBox 14"/>
          <p:cNvSpPr txBox="1"/>
          <p:nvPr/>
        </p:nvSpPr>
        <p:spPr>
          <a:xfrm>
            <a:off x="2146619" y="1956816"/>
            <a:ext cx="1433387" cy="168656"/>
          </a:xfrm>
          <a:prstGeom prst="rect">
            <a:avLst/>
          </a:prstGeom>
          <a:noFill/>
        </p:spPr>
        <p:txBody>
          <a:bodyPr wrap="square" anchor="t" lIns="0" rIns="0" tIns="0" bIns="0">
            <a:spAutoFit/>
          </a:bodyPr>
          <a:lstStyle/>
          <a:p>
            <a:pPr algn="ctr"/>
            <a:r>
              <a:rPr sz="800" b="1" i="0" spc="250">
                <a:solidFill>
                  <a:srgbClr val="5B3FD6"/>
                </a:solidFill>
                <a:latin typeface="Calibri"/>
              </a:rPr>
              <a:t>LINE 2</a:t>
            </a:r>
          </a:p>
        </p:txBody>
      </p:sp>
      <p:sp>
        <p:nvSpPr>
          <p:cNvPr id="16" name="Oval 15"/>
          <p:cNvSpPr/>
          <p:nvPr/>
        </p:nvSpPr>
        <p:spPr>
          <a:xfrm>
            <a:off x="2762728" y="2432304"/>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ounded Rectangle 16"/>
          <p:cNvSpPr/>
          <p:nvPr/>
        </p:nvSpPr>
        <p:spPr>
          <a:xfrm>
            <a:off x="2146619" y="2843784"/>
            <a:ext cx="1433387" cy="142240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2311211" y="2990088"/>
            <a:ext cx="1104203" cy="251205"/>
          </a:xfrm>
          <a:prstGeom prst="rect">
            <a:avLst/>
          </a:prstGeom>
          <a:noFill/>
        </p:spPr>
        <p:txBody>
          <a:bodyPr wrap="square" anchor="t" lIns="0" rIns="0" tIns="0" bIns="0">
            <a:spAutoFit/>
          </a:bodyPr>
          <a:lstStyle/>
          <a:p>
            <a:pPr algn="l"/>
            <a:r>
              <a:rPr sz="1300" b="1" i="0">
                <a:solidFill>
                  <a:srgbClr val="1A0F5C"/>
                </a:solidFill>
                <a:latin typeface="Calibri"/>
              </a:rPr>
              <a:t>Denominator</a:t>
            </a:r>
          </a:p>
        </p:txBody>
      </p:sp>
      <p:sp>
        <p:nvSpPr>
          <p:cNvPr id="19" name="TextBox 18"/>
          <p:cNvSpPr txBox="1"/>
          <p:nvPr/>
        </p:nvSpPr>
        <p:spPr>
          <a:xfrm>
            <a:off x="2311211" y="3277870"/>
            <a:ext cx="1104203" cy="366776"/>
          </a:xfrm>
          <a:prstGeom prst="rect">
            <a:avLst/>
          </a:prstGeom>
          <a:noFill/>
        </p:spPr>
        <p:txBody>
          <a:bodyPr wrap="square" anchor="t" lIns="0" rIns="0" tIns="0" bIns="0">
            <a:spAutoFit/>
          </a:bodyPr>
          <a:lstStyle/>
          <a:p>
            <a:pPr algn="l"/>
            <a:r>
              <a:rPr sz="1000" b="0" i="0">
                <a:solidFill>
                  <a:srgbClr val="6B6690"/>
                </a:solidFill>
                <a:latin typeface="Calibri"/>
              </a:rPr>
              <a:t>Divided by what, count printed.</a:t>
            </a:r>
          </a:p>
        </p:txBody>
      </p:sp>
      <p:sp>
        <p:nvSpPr>
          <p:cNvPr id="20" name="TextBox 19"/>
          <p:cNvSpPr txBox="1"/>
          <p:nvPr/>
        </p:nvSpPr>
        <p:spPr>
          <a:xfrm>
            <a:off x="3762886" y="1956816"/>
            <a:ext cx="1433387" cy="168656"/>
          </a:xfrm>
          <a:prstGeom prst="rect">
            <a:avLst/>
          </a:prstGeom>
          <a:noFill/>
        </p:spPr>
        <p:txBody>
          <a:bodyPr wrap="square" anchor="t" lIns="0" rIns="0" tIns="0" bIns="0">
            <a:spAutoFit/>
          </a:bodyPr>
          <a:lstStyle/>
          <a:p>
            <a:pPr algn="ctr"/>
            <a:r>
              <a:rPr sz="800" b="1" i="0" spc="250">
                <a:solidFill>
                  <a:srgbClr val="5B3FD6"/>
                </a:solidFill>
                <a:latin typeface="Calibri"/>
              </a:rPr>
              <a:t>LINE 3</a:t>
            </a:r>
          </a:p>
        </p:txBody>
      </p:sp>
      <p:sp>
        <p:nvSpPr>
          <p:cNvPr id="21" name="Oval 20"/>
          <p:cNvSpPr/>
          <p:nvPr/>
        </p:nvSpPr>
        <p:spPr>
          <a:xfrm>
            <a:off x="4378996" y="2432304"/>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ounded Rectangle 21"/>
          <p:cNvSpPr/>
          <p:nvPr/>
        </p:nvSpPr>
        <p:spPr>
          <a:xfrm>
            <a:off x="3762886" y="2843784"/>
            <a:ext cx="1433387" cy="142240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3927478" y="2990088"/>
            <a:ext cx="1104203" cy="251205"/>
          </a:xfrm>
          <a:prstGeom prst="rect">
            <a:avLst/>
          </a:prstGeom>
          <a:noFill/>
        </p:spPr>
        <p:txBody>
          <a:bodyPr wrap="square" anchor="t" lIns="0" rIns="0" tIns="0" bIns="0">
            <a:spAutoFit/>
          </a:bodyPr>
          <a:lstStyle/>
          <a:p>
            <a:pPr algn="l"/>
            <a:r>
              <a:rPr sz="1300" b="1" i="0">
                <a:solidFill>
                  <a:srgbClr val="1A0F5C"/>
                </a:solidFill>
                <a:latin typeface="Calibri"/>
              </a:rPr>
              <a:t>Window</a:t>
            </a:r>
          </a:p>
        </p:txBody>
      </p:sp>
      <p:sp>
        <p:nvSpPr>
          <p:cNvPr id="24" name="TextBox 23"/>
          <p:cNvSpPr txBox="1"/>
          <p:nvPr/>
        </p:nvSpPr>
        <p:spPr>
          <a:xfrm>
            <a:off x="3927478" y="3277870"/>
            <a:ext cx="1104203" cy="366776"/>
          </a:xfrm>
          <a:prstGeom prst="rect">
            <a:avLst/>
          </a:prstGeom>
          <a:noFill/>
        </p:spPr>
        <p:txBody>
          <a:bodyPr wrap="square" anchor="t" lIns="0" rIns="0" tIns="0" bIns="0">
            <a:spAutoFit/>
          </a:bodyPr>
          <a:lstStyle/>
          <a:p>
            <a:pPr algn="l"/>
            <a:r>
              <a:rPr sz="1000" b="0" i="0">
                <a:solidFill>
                  <a:srgbClr val="6B6690"/>
                </a:solidFill>
                <a:latin typeface="Calibri"/>
              </a:rPr>
              <a:t>Over which period.</a:t>
            </a:r>
          </a:p>
        </p:txBody>
      </p:sp>
      <p:sp>
        <p:nvSpPr>
          <p:cNvPr id="25" name="TextBox 24"/>
          <p:cNvSpPr txBox="1"/>
          <p:nvPr/>
        </p:nvSpPr>
        <p:spPr>
          <a:xfrm>
            <a:off x="5379153" y="1956816"/>
            <a:ext cx="1433387" cy="168656"/>
          </a:xfrm>
          <a:prstGeom prst="rect">
            <a:avLst/>
          </a:prstGeom>
          <a:noFill/>
        </p:spPr>
        <p:txBody>
          <a:bodyPr wrap="square" anchor="t" lIns="0" rIns="0" tIns="0" bIns="0">
            <a:spAutoFit/>
          </a:bodyPr>
          <a:lstStyle/>
          <a:p>
            <a:pPr algn="ctr"/>
            <a:r>
              <a:rPr sz="800" b="1" i="0" spc="250">
                <a:solidFill>
                  <a:srgbClr val="5B3FD6"/>
                </a:solidFill>
                <a:latin typeface="Calibri"/>
              </a:rPr>
              <a:t>LINE 4</a:t>
            </a:r>
          </a:p>
        </p:txBody>
      </p:sp>
      <p:sp>
        <p:nvSpPr>
          <p:cNvPr id="26" name="Oval 25"/>
          <p:cNvSpPr/>
          <p:nvPr/>
        </p:nvSpPr>
        <p:spPr>
          <a:xfrm>
            <a:off x="5995263" y="2432304"/>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ounded Rectangle 26"/>
          <p:cNvSpPr/>
          <p:nvPr/>
        </p:nvSpPr>
        <p:spPr>
          <a:xfrm>
            <a:off x="5379153" y="2843784"/>
            <a:ext cx="1433387" cy="142240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5543745" y="2990088"/>
            <a:ext cx="1104203" cy="251205"/>
          </a:xfrm>
          <a:prstGeom prst="rect">
            <a:avLst/>
          </a:prstGeom>
          <a:noFill/>
        </p:spPr>
        <p:txBody>
          <a:bodyPr wrap="square" anchor="t" lIns="0" rIns="0" tIns="0" bIns="0">
            <a:spAutoFit/>
          </a:bodyPr>
          <a:lstStyle/>
          <a:p>
            <a:pPr algn="l"/>
            <a:r>
              <a:rPr sz="1300" b="1" i="0">
                <a:solidFill>
                  <a:srgbClr val="1A0F5C"/>
                </a:solidFill>
                <a:latin typeface="Calibri"/>
              </a:rPr>
              <a:t>Exclusions</a:t>
            </a:r>
          </a:p>
        </p:txBody>
      </p:sp>
      <p:sp>
        <p:nvSpPr>
          <p:cNvPr id="29" name="TextBox 28"/>
          <p:cNvSpPr txBox="1"/>
          <p:nvPr/>
        </p:nvSpPr>
        <p:spPr>
          <a:xfrm>
            <a:off x="5543745" y="3277870"/>
            <a:ext cx="1104203" cy="531876"/>
          </a:xfrm>
          <a:prstGeom prst="rect">
            <a:avLst/>
          </a:prstGeom>
          <a:noFill/>
        </p:spPr>
        <p:txBody>
          <a:bodyPr wrap="square" anchor="t" lIns="0" rIns="0" tIns="0" bIns="0">
            <a:spAutoFit/>
          </a:bodyPr>
          <a:lstStyle/>
          <a:p>
            <a:pPr algn="l"/>
            <a:r>
              <a:rPr sz="1000" b="0" i="0">
                <a:solidFill>
                  <a:srgbClr val="6B6690"/>
                </a:solidFill>
                <a:latin typeface="Calibri"/>
              </a:rPr>
              <a:t>Left out of both, each change dated.</a:t>
            </a:r>
          </a:p>
        </p:txBody>
      </p:sp>
      <p:sp>
        <p:nvSpPr>
          <p:cNvPr id="30" name="TextBox 29"/>
          <p:cNvSpPr txBox="1"/>
          <p:nvPr/>
        </p:nvSpPr>
        <p:spPr>
          <a:xfrm>
            <a:off x="6995421" y="1956816"/>
            <a:ext cx="1433387" cy="168656"/>
          </a:xfrm>
          <a:prstGeom prst="rect">
            <a:avLst/>
          </a:prstGeom>
          <a:noFill/>
        </p:spPr>
        <p:txBody>
          <a:bodyPr wrap="square" anchor="t" lIns="0" rIns="0" tIns="0" bIns="0">
            <a:spAutoFit/>
          </a:bodyPr>
          <a:lstStyle/>
          <a:p>
            <a:pPr algn="ctr"/>
            <a:r>
              <a:rPr sz="800" b="1" i="0" spc="250">
                <a:solidFill>
                  <a:srgbClr val="5B3FD6"/>
                </a:solidFill>
                <a:latin typeface="Calibri"/>
              </a:rPr>
              <a:t>LINE 5</a:t>
            </a:r>
          </a:p>
        </p:txBody>
      </p:sp>
      <p:sp>
        <p:nvSpPr>
          <p:cNvPr id="31" name="Oval 30"/>
          <p:cNvSpPr/>
          <p:nvPr/>
        </p:nvSpPr>
        <p:spPr>
          <a:xfrm>
            <a:off x="7611530" y="2432304"/>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ounded Rectangle 31"/>
          <p:cNvSpPr/>
          <p:nvPr/>
        </p:nvSpPr>
        <p:spPr>
          <a:xfrm>
            <a:off x="6995421" y="2843784"/>
            <a:ext cx="1433387" cy="142240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7160013" y="2990088"/>
            <a:ext cx="1104203" cy="251205"/>
          </a:xfrm>
          <a:prstGeom prst="rect">
            <a:avLst/>
          </a:prstGeom>
          <a:noFill/>
        </p:spPr>
        <p:txBody>
          <a:bodyPr wrap="square" anchor="t" lIns="0" rIns="0" tIns="0" bIns="0">
            <a:spAutoFit/>
          </a:bodyPr>
          <a:lstStyle/>
          <a:p>
            <a:pPr algn="l"/>
            <a:r>
              <a:rPr sz="1300" b="1" i="0">
                <a:solidFill>
                  <a:srgbClr val="1A0F5C"/>
                </a:solidFill>
                <a:latin typeface="Calibri"/>
              </a:rPr>
              <a:t>Not rewarded</a:t>
            </a:r>
          </a:p>
        </p:txBody>
      </p:sp>
      <p:sp>
        <p:nvSpPr>
          <p:cNvPr id="34" name="TextBox 33"/>
          <p:cNvSpPr txBox="1"/>
          <p:nvPr/>
        </p:nvSpPr>
        <p:spPr>
          <a:xfrm>
            <a:off x="7160013" y="3277870"/>
            <a:ext cx="1104203" cy="531876"/>
          </a:xfrm>
          <a:prstGeom prst="rect">
            <a:avLst/>
          </a:prstGeom>
          <a:noFill/>
        </p:spPr>
        <p:txBody>
          <a:bodyPr wrap="square" anchor="t" lIns="0" rIns="0" tIns="0" bIns="0">
            <a:spAutoFit/>
          </a:bodyPr>
          <a:lstStyle/>
          <a:p>
            <a:pPr algn="l"/>
            <a:r>
              <a:rPr sz="1000" b="0" i="0">
                <a:solidFill>
                  <a:srgbClr val="6B6690"/>
                </a:solidFill>
                <a:latin typeface="Calibri"/>
              </a:rPr>
              <a:t>Behaviour the number refuses to pay for.</a:t>
            </a:r>
          </a:p>
        </p:txBody>
      </p:sp>
      <p:sp>
        <p:nvSpPr>
          <p:cNvPr id="35" name="TextBox 34"/>
          <p:cNvSpPr txBox="1"/>
          <p:nvPr/>
        </p:nvSpPr>
        <p:spPr>
          <a:xfrm>
            <a:off x="8611688" y="1956816"/>
            <a:ext cx="1433387" cy="168656"/>
          </a:xfrm>
          <a:prstGeom prst="rect">
            <a:avLst/>
          </a:prstGeom>
          <a:noFill/>
        </p:spPr>
        <p:txBody>
          <a:bodyPr wrap="square" anchor="t" lIns="0" rIns="0" tIns="0" bIns="0">
            <a:spAutoFit/>
          </a:bodyPr>
          <a:lstStyle/>
          <a:p>
            <a:pPr algn="ctr"/>
            <a:r>
              <a:rPr sz="800" b="1" i="0" spc="250">
                <a:solidFill>
                  <a:srgbClr val="5B3FD6"/>
                </a:solidFill>
                <a:latin typeface="Calibri"/>
              </a:rPr>
              <a:t>LINE 6</a:t>
            </a:r>
          </a:p>
        </p:txBody>
      </p:sp>
      <p:sp>
        <p:nvSpPr>
          <p:cNvPr id="36" name="Oval 35"/>
          <p:cNvSpPr/>
          <p:nvPr/>
        </p:nvSpPr>
        <p:spPr>
          <a:xfrm>
            <a:off x="9227798" y="2432304"/>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ounded Rectangle 36"/>
          <p:cNvSpPr/>
          <p:nvPr/>
        </p:nvSpPr>
        <p:spPr>
          <a:xfrm>
            <a:off x="8611688" y="2843784"/>
            <a:ext cx="1433387" cy="142240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8776280" y="2990088"/>
            <a:ext cx="1104203" cy="251205"/>
          </a:xfrm>
          <a:prstGeom prst="rect">
            <a:avLst/>
          </a:prstGeom>
          <a:noFill/>
        </p:spPr>
        <p:txBody>
          <a:bodyPr wrap="square" anchor="t" lIns="0" rIns="0" tIns="0" bIns="0">
            <a:spAutoFit/>
          </a:bodyPr>
          <a:lstStyle/>
          <a:p>
            <a:pPr algn="l"/>
            <a:r>
              <a:rPr sz="1300" b="1" i="0">
                <a:solidFill>
                  <a:srgbClr val="1A0F5C"/>
                </a:solidFill>
                <a:latin typeface="Calibri"/>
              </a:rPr>
              <a:t>Guardrails</a:t>
            </a:r>
          </a:p>
        </p:txBody>
      </p:sp>
      <p:sp>
        <p:nvSpPr>
          <p:cNvPr id="39" name="TextBox 38"/>
          <p:cNvSpPr txBox="1"/>
          <p:nvPr/>
        </p:nvSpPr>
        <p:spPr>
          <a:xfrm>
            <a:off x="8776280" y="3277870"/>
            <a:ext cx="1104203" cy="696976"/>
          </a:xfrm>
          <a:prstGeom prst="rect">
            <a:avLst/>
          </a:prstGeom>
          <a:noFill/>
        </p:spPr>
        <p:txBody>
          <a:bodyPr wrap="square" anchor="t" lIns="0" rIns="0" tIns="0" bIns="0">
            <a:spAutoFit/>
          </a:bodyPr>
          <a:lstStyle/>
          <a:p>
            <a:pPr algn="l"/>
            <a:r>
              <a:rPr sz="1000" b="0" i="0">
                <a:solidFill>
                  <a:srgbClr val="6B6690"/>
                </a:solidFill>
                <a:latin typeface="Calibri"/>
              </a:rPr>
              <a:t>Two or three numbers that must not fall past a margin.</a:t>
            </a:r>
          </a:p>
        </p:txBody>
      </p:sp>
      <p:sp>
        <p:nvSpPr>
          <p:cNvPr id="40" name="TextBox 39"/>
          <p:cNvSpPr txBox="1"/>
          <p:nvPr/>
        </p:nvSpPr>
        <p:spPr>
          <a:xfrm>
            <a:off x="10227955" y="1956816"/>
            <a:ext cx="1433387" cy="168656"/>
          </a:xfrm>
          <a:prstGeom prst="rect">
            <a:avLst/>
          </a:prstGeom>
          <a:noFill/>
        </p:spPr>
        <p:txBody>
          <a:bodyPr wrap="square" anchor="t" lIns="0" rIns="0" tIns="0" bIns="0">
            <a:spAutoFit/>
          </a:bodyPr>
          <a:lstStyle/>
          <a:p>
            <a:pPr algn="ctr"/>
            <a:r>
              <a:rPr sz="800" b="1" i="0" spc="250">
                <a:solidFill>
                  <a:srgbClr val="5B3FD6"/>
                </a:solidFill>
                <a:latin typeface="Calibri"/>
              </a:rPr>
              <a:t>LINE 7</a:t>
            </a:r>
          </a:p>
        </p:txBody>
      </p:sp>
      <p:sp>
        <p:nvSpPr>
          <p:cNvPr id="41" name="Oval 40"/>
          <p:cNvSpPr/>
          <p:nvPr/>
        </p:nvSpPr>
        <p:spPr>
          <a:xfrm>
            <a:off x="10844065" y="2432304"/>
            <a:ext cx="201168" cy="201168"/>
          </a:xfrm>
          <a:prstGeom prst="ellipse">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Rounded Rectangle 41"/>
          <p:cNvSpPr/>
          <p:nvPr/>
        </p:nvSpPr>
        <p:spPr>
          <a:xfrm>
            <a:off x="10227955" y="2843784"/>
            <a:ext cx="1433387" cy="1422400"/>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TextBox 42"/>
          <p:cNvSpPr txBox="1"/>
          <p:nvPr/>
        </p:nvSpPr>
        <p:spPr>
          <a:xfrm>
            <a:off x="10392547" y="2990088"/>
            <a:ext cx="1104203" cy="251205"/>
          </a:xfrm>
          <a:prstGeom prst="rect">
            <a:avLst/>
          </a:prstGeom>
          <a:noFill/>
        </p:spPr>
        <p:txBody>
          <a:bodyPr wrap="square" anchor="t" lIns="0" rIns="0" tIns="0" bIns="0">
            <a:spAutoFit/>
          </a:bodyPr>
          <a:lstStyle/>
          <a:p>
            <a:pPr algn="l"/>
            <a:r>
              <a:rPr sz="1300" b="1" i="0">
                <a:solidFill>
                  <a:srgbClr val="FFFFFF"/>
                </a:solidFill>
                <a:latin typeface="Calibri"/>
              </a:rPr>
              <a:t>Gaming note</a:t>
            </a:r>
          </a:p>
        </p:txBody>
      </p:sp>
      <p:sp>
        <p:nvSpPr>
          <p:cNvPr id="44" name="TextBox 43"/>
          <p:cNvSpPr txBox="1"/>
          <p:nvPr/>
        </p:nvSpPr>
        <p:spPr>
          <a:xfrm>
            <a:off x="10392547" y="3277870"/>
            <a:ext cx="1104203" cy="531876"/>
          </a:xfrm>
          <a:prstGeom prst="rect">
            <a:avLst/>
          </a:prstGeom>
          <a:noFill/>
        </p:spPr>
        <p:txBody>
          <a:bodyPr wrap="square" anchor="t" lIns="0" rIns="0" tIns="0" bIns="0">
            <a:spAutoFit/>
          </a:bodyPr>
          <a:lstStyle/>
          <a:p>
            <a:pPr algn="l"/>
            <a:r>
              <a:rPr sz="1000" b="0" i="0">
                <a:solidFill>
                  <a:srgbClr val="CFC9EE"/>
                </a:solidFill>
                <a:latin typeface="Calibri"/>
              </a:rPr>
              <a:t>The way of gaming each guardrail catches.</a:t>
            </a:r>
          </a:p>
        </p:txBody>
      </p:sp>
      <p:sp>
        <p:nvSpPr>
          <p:cNvPr id="45" name="TextBox 44"/>
          <p:cNvSpPr txBox="1"/>
          <p:nvPr/>
        </p:nvSpPr>
        <p:spPr>
          <a:xfrm>
            <a:off x="530352" y="4449064"/>
            <a:ext cx="11130991" cy="772160"/>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"Deliveries" is line 1 with no receipt and "monthly" is line 3; "plus 20 percent" is a target, which says how much and never what. The weak page leaves five lines blank.</a:t>
            </a:r>
          </a:p>
        </p:txBody>
      </p:sp>
      <p:sp>
        <p:nvSpPr>
          <p:cNvPr id="46" name="TextBox 45"/>
          <p:cNvSpPr txBox="1"/>
          <p:nvPr/>
        </p:nvSpPr>
        <p:spPr>
          <a:xfrm>
            <a:off x="530352" y="6437376"/>
            <a:ext cx="256032" cy="152146"/>
          </a:xfrm>
          <a:prstGeom prst="rect">
            <a:avLst/>
          </a:prstGeom>
          <a:noFill/>
        </p:spPr>
        <p:txBody>
          <a:bodyPr wrap="square" anchor="t" lIns="0" rIns="0" tIns="0" bIns="0">
            <a:spAutoFit/>
          </a:bodyPr>
          <a:lstStyle/>
          <a:p>
            <a:pPr algn="l"/>
            <a:r>
              <a:rPr sz="700" b="0" i="0">
                <a:solidFill>
                  <a:srgbClr val="6B6690"/>
                </a:solidFill>
                <a:latin typeface="Calibri"/>
              </a:rPr>
              <a:t>…</a:t>
            </a:r>
          </a:p>
        </p:txBody>
      </p:sp>
      <p:sp>
        <p:nvSpPr>
          <p:cNvPr id="47" name="Oval 46"/>
          <p:cNvSpPr/>
          <p:nvPr/>
        </p:nvSpPr>
        <p:spPr>
          <a:xfrm>
            <a:off x="78638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TextBox 47"/>
          <p:cNvSpPr txBox="1"/>
          <p:nvPr/>
        </p:nvSpPr>
        <p:spPr>
          <a:xfrm>
            <a:off x="896112"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Which number warns?</a:t>
            </a:r>
          </a:p>
        </p:txBody>
      </p:sp>
      <p:sp>
        <p:nvSpPr>
          <p:cNvPr id="49" name="Oval 48"/>
          <p:cNvSpPr/>
          <p:nvPr/>
        </p:nvSpPr>
        <p:spPr>
          <a:xfrm>
            <a:off x="213598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TextBox 49"/>
          <p:cNvSpPr txBox="1"/>
          <p:nvPr/>
        </p:nvSpPr>
        <p:spPr>
          <a:xfrm>
            <a:off x="2245709"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Which four lines?</a:t>
            </a:r>
          </a:p>
        </p:txBody>
      </p:sp>
      <p:sp>
        <p:nvSpPr>
          <p:cNvPr id="51" name="Oval 50"/>
          <p:cNvSpPr/>
          <p:nvPr/>
        </p:nvSpPr>
        <p:spPr>
          <a:xfrm>
            <a:off x="339356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2" name="TextBox 51"/>
          <p:cNvSpPr txBox="1"/>
          <p:nvPr/>
        </p:nvSpPr>
        <p:spPr>
          <a:xfrm>
            <a:off x="3503295"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How is a number gamed?</a:t>
            </a:r>
          </a:p>
        </p:txBody>
      </p:sp>
      <p:sp>
        <p:nvSpPr>
          <p:cNvPr id="53" name="Oval 52"/>
          <p:cNvSpPr/>
          <p:nvPr/>
        </p:nvSpPr>
        <p:spPr>
          <a:xfrm>
            <a:off x="4881181"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4" name="TextBox 53"/>
          <p:cNvSpPr txBox="1"/>
          <p:nvPr/>
        </p:nvSpPr>
        <p:spPr>
          <a:xfrm>
            <a:off x="4990909" y="6437376"/>
            <a:ext cx="1378457" cy="152146"/>
          </a:xfrm>
          <a:prstGeom prst="rect">
            <a:avLst/>
          </a:prstGeom>
          <a:noFill/>
        </p:spPr>
        <p:txBody>
          <a:bodyPr wrap="square" anchor="t" lIns="0" rIns="0" tIns="0" bIns="0">
            <a:spAutoFit/>
          </a:bodyPr>
          <a:lstStyle/>
          <a:p>
            <a:pPr algn="l"/>
            <a:r>
              <a:rPr sz="700" b="1" i="0">
                <a:solidFill>
                  <a:srgbClr val="5B3FD6"/>
                </a:solidFill>
                <a:latin typeface="Calibri"/>
              </a:rPr>
              <a:t>What does the page hold?</a:t>
            </a:r>
          </a:p>
        </p:txBody>
      </p:sp>
      <p:sp>
        <p:nvSpPr>
          <p:cNvPr id="55" name="Oval 54"/>
          <p:cNvSpPr/>
          <p:nvPr/>
        </p:nvSpPr>
        <p:spPr>
          <a:xfrm>
            <a:off x="646080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6" name="TextBox 55"/>
          <p:cNvSpPr txBox="1"/>
          <p:nvPr/>
        </p:nvSpPr>
        <p:spPr>
          <a:xfrm>
            <a:off x="6570535"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an hour count?</a:t>
            </a:r>
          </a:p>
        </p:txBody>
      </p:sp>
      <p:sp>
        <p:nvSpPr>
          <p:cNvPr id="57" name="Oval 56"/>
          <p:cNvSpPr/>
          <p:nvPr/>
        </p:nvSpPr>
        <p:spPr>
          <a:xfrm>
            <a:off x="804043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8" name="TextBox 57"/>
          <p:cNvSpPr txBox="1"/>
          <p:nvPr/>
        </p:nvSpPr>
        <p:spPr>
          <a:xfrm>
            <a:off x="8150161"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Where did the fall sit?</a:t>
            </a:r>
          </a:p>
        </p:txBody>
      </p:sp>
      <p:sp>
        <p:nvSpPr>
          <p:cNvPr id="59" name="Oval 58"/>
          <p:cNvSpPr/>
          <p:nvPr/>
        </p:nvSpPr>
        <p:spPr>
          <a:xfrm>
            <a:off x="957405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0" name="TextBox 59"/>
          <p:cNvSpPr txBox="1"/>
          <p:nvPr/>
        </p:nvSpPr>
        <p:spPr>
          <a:xfrm>
            <a:off x="9683781"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should it pay for?</a:t>
            </a:r>
          </a:p>
        </p:txBody>
      </p:sp>
      <p:sp>
        <p:nvSpPr>
          <p:cNvPr id="61" name="TextBox 60"/>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S48  ·  54 / 93</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MONDAY  ·  BUSINESS METRIC DESIGN  ·  UBER, HYDERABAD</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Balaji Kirana's page, filled line by line</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does a full page say for the shop's deliveries?</a:t>
            </a:r>
          </a:p>
        </p:txBody>
      </p:sp>
      <p:graphicFrame>
        <p:nvGraphicFramePr>
          <p:cNvPr id="9" name="Table 8"/>
          <p:cNvGraphicFramePr>
            <a:graphicFrameLocks noGrp="1"/>
          </p:cNvGraphicFramePr>
          <p:nvPr/>
        </p:nvGraphicFramePr>
        <p:xfrm>
          <a:off x="530352" y="1956816"/>
          <a:ext cx="11130990" cy="2889504"/>
        </p:xfrm>
        <a:graphic>
          <a:graphicData uri="http://schemas.openxmlformats.org/drawingml/2006/table">
            <a:tbl>
              <a:tblPr firstRow="0" bandRow="0">
                <a:tableStyleId>{2D5ABB26-0587-4C30-8999-92F81FD0307C}</a:tableStyleId>
              </a:tblPr>
              <a:tblGrid>
                <a:gridCol w="2978555"/>
                <a:gridCol w="8152435"/>
              </a:tblGrid>
              <a:tr h="335280">
                <a:tc>
                  <a:txBody>
                    <a:bodyPr/>
                    <a:lstStyle/>
                    <a:p>
                      <a:r>
                        <a:rPr sz="1250" b="1" i="0">
                          <a:solidFill>
                            <a:srgbClr val="FFFFFF"/>
                          </a:solidFill>
                          <a:latin typeface="Calibri"/>
                        </a:rPr>
                        <a:t>Line</a:t>
                      </a:r>
                    </a:p>
                  </a:txBody>
                  <a:tcPr marL="101600" marR="101600" marT="38100" marB="38100" anchor="ctr">
                    <a:solidFill>
                      <a:srgbClr val="1A0F5C"/>
                    </a:solidFill>
                  </a:tcPr>
                </a:tc>
                <a:tc>
                  <a:txBody>
                    <a:bodyPr/>
                    <a:lstStyle/>
                    <a:p>
                      <a:r>
                        <a:rPr sz="1250" b="1" i="0">
                          <a:solidFill>
                            <a:srgbClr val="FFFFFF"/>
                          </a:solidFill>
                          <a:latin typeface="Calibri"/>
                        </a:rPr>
                        <a:t>Balaji Kirana's page (invented)</a:t>
                      </a:r>
                    </a:p>
                  </a:txBody>
                  <a:tcPr marL="101600" marR="101600" marT="38100" marB="38100" anchor="ctr">
                    <a:solidFill>
                      <a:srgbClr val="1A0F5C"/>
                    </a:solidFill>
                  </a:tcPr>
                </a:tc>
              </a:tr>
              <a:tr h="335280">
                <a:tc>
                  <a:txBody>
                    <a:bodyPr/>
                    <a:lstStyle/>
                    <a:p>
                      <a:r>
                        <a:rPr sz="1200" b="0" i="0">
                          <a:solidFill>
                            <a:srgbClr val="1A1440"/>
                          </a:solidFill>
                          <a:latin typeface="Calibri"/>
                        </a:rPr>
                        <a:t>Numerator</a:t>
                      </a:r>
                    </a:p>
                  </a:txBody>
                  <a:tcPr marL="101600" marR="101600" marT="38100" marB="38100" anchor="ctr">
                    <a:solidFill>
                      <a:srgbClr val="FFFFFF"/>
                    </a:solidFill>
                  </a:tcPr>
                </a:tc>
                <a:tc>
                  <a:txBody>
                    <a:bodyPr/>
                    <a:lstStyle/>
                    <a:p>
                      <a:r>
                        <a:rPr sz="1200" b="0" i="0">
                          <a:solidFill>
                            <a:srgbClr val="1A1440"/>
                          </a:solidFill>
                          <a:latin typeface="Calibri"/>
                        </a:rPr>
                        <a:t>Deliveries confirmed with the customer's OTP</a:t>
                      </a:r>
                    </a:p>
                  </a:txBody>
                  <a:tcPr marL="101600" marR="101600" marT="38100" marB="38100" anchor="ctr">
                    <a:solidFill>
                      <a:srgbClr val="FFFFFF"/>
                    </a:solidFill>
                  </a:tcPr>
                </a:tc>
              </a:tr>
              <a:tr h="335280">
                <a:tc>
                  <a:txBody>
                    <a:bodyPr/>
                    <a:lstStyle/>
                    <a:p>
                      <a:r>
                        <a:rPr sz="1200" b="0" i="0">
                          <a:solidFill>
                            <a:srgbClr val="1A1440"/>
                          </a:solidFill>
                          <a:latin typeface="Calibri"/>
                        </a:rPr>
                        <a:t>Denominator</a:t>
                      </a:r>
                    </a:p>
                  </a:txBody>
                  <a:tcPr marL="101600" marR="101600" marT="38100" marB="38100" anchor="ctr">
                    <a:solidFill>
                      <a:srgbClr val="F4F2FA"/>
                    </a:solidFill>
                  </a:tcPr>
                </a:tc>
                <a:tc>
                  <a:txBody>
                    <a:bodyPr/>
                    <a:lstStyle/>
                    <a:p>
                      <a:r>
                        <a:rPr sz="1200" b="0" i="0">
                          <a:solidFill>
                            <a:srgbClr val="1A1440"/>
                          </a:solidFill>
                          <a:latin typeface="Calibri"/>
                        </a:rPr>
                        <a:t>Orders billed that week, the count printed beside the rate</a:t>
                      </a:r>
                    </a:p>
                  </a:txBody>
                  <a:tcPr marL="101600" marR="101600" marT="38100" marB="38100" anchor="ctr">
                    <a:solidFill>
                      <a:srgbClr val="F4F2FA"/>
                    </a:solidFill>
                  </a:tcPr>
                </a:tc>
              </a:tr>
              <a:tr h="335280">
                <a:tc>
                  <a:txBody>
                    <a:bodyPr/>
                    <a:lstStyle/>
                    <a:p>
                      <a:r>
                        <a:rPr sz="1200" b="0" i="0">
                          <a:solidFill>
                            <a:srgbClr val="1A1440"/>
                          </a:solidFill>
                          <a:latin typeface="Calibri"/>
                        </a:rPr>
                        <a:t>Window</a:t>
                      </a:r>
                    </a:p>
                  </a:txBody>
                  <a:tcPr marL="101600" marR="101600" marT="38100" marB="38100" anchor="ctr">
                    <a:solidFill>
                      <a:srgbClr val="FFFFFF"/>
                    </a:solidFill>
                  </a:tcPr>
                </a:tc>
                <a:tc>
                  <a:txBody>
                    <a:bodyPr/>
                    <a:lstStyle/>
                    <a:p>
                      <a:r>
                        <a:rPr sz="1200" b="0" i="0">
                          <a:solidFill>
                            <a:srgbClr val="1A1440"/>
                          </a:solidFill>
                          <a:latin typeface="Calibri"/>
                        </a:rPr>
                        <a:t>The calendar week</a:t>
                      </a:r>
                    </a:p>
                  </a:txBody>
                  <a:tcPr marL="101600" marR="101600" marT="38100" marB="38100" anchor="ctr">
                    <a:solidFill>
                      <a:srgbClr val="FFFFFF"/>
                    </a:solidFill>
                  </a:tcPr>
                </a:tc>
              </a:tr>
              <a:tr h="335280">
                <a:tc>
                  <a:txBody>
                    <a:bodyPr/>
                    <a:lstStyle/>
                    <a:p>
                      <a:r>
                        <a:rPr sz="1200" b="0" i="0">
                          <a:solidFill>
                            <a:srgbClr val="1A1440"/>
                          </a:solidFill>
                          <a:latin typeface="Calibri"/>
                        </a:rPr>
                        <a:t>Exclusions</a:t>
                      </a:r>
                    </a:p>
                  </a:txBody>
                  <a:tcPr marL="101600" marR="101600" marT="38100" marB="38100" anchor="ctr">
                    <a:solidFill>
                      <a:srgbClr val="F4F2FA"/>
                    </a:solidFill>
                  </a:tcPr>
                </a:tc>
                <a:tc>
                  <a:txBody>
                    <a:bodyPr/>
                    <a:lstStyle/>
                    <a:p>
                      <a:r>
                        <a:rPr sz="1200" b="0" i="0">
                          <a:solidFill>
                            <a:srgbClr val="1A1440"/>
                          </a:solidFill>
                          <a:latin typeface="Calibri"/>
                        </a:rPr>
                        <a:t>Orders the customer cancelled before dispatch, each change dated; none in these four weeks</a:t>
                      </a:r>
                    </a:p>
                  </a:txBody>
                  <a:tcPr marL="101600" marR="101600" marT="38100" marB="38100" anchor="ctr">
                    <a:solidFill>
                      <a:srgbClr val="F4F2FA"/>
                    </a:solidFill>
                  </a:tcPr>
                </a:tc>
              </a:tr>
              <a:tr h="335280">
                <a:tc>
                  <a:txBody>
                    <a:bodyPr/>
                    <a:lstStyle/>
                    <a:p>
                      <a:r>
                        <a:rPr sz="1200" b="0" i="0">
                          <a:solidFill>
                            <a:srgbClr val="1A1440"/>
                          </a:solidFill>
                          <a:latin typeface="Calibri"/>
                        </a:rPr>
                        <a:t>What it does not reward</a:t>
                      </a:r>
                    </a:p>
                  </a:txBody>
                  <a:tcPr marL="101600" marR="101600" marT="38100" marB="38100" anchor="ctr">
                    <a:solidFill>
                      <a:srgbClr val="FFFFFF"/>
                    </a:solidFill>
                  </a:tcPr>
                </a:tc>
                <a:tc>
                  <a:txBody>
                    <a:bodyPr/>
                    <a:lstStyle/>
                    <a:p>
                      <a:r>
                        <a:rPr sz="1200" b="0" i="0">
                          <a:solidFill>
                            <a:srgbClr val="1A1440"/>
                          </a:solidFill>
                          <a:latin typeface="Calibri"/>
                        </a:rPr>
                        <a:t>A done press with no OTP, a dispatch time typed by hand, a shrinking order count</a:t>
                      </a:r>
                    </a:p>
                  </a:txBody>
                  <a:tcPr marL="101600" marR="101600" marT="38100" marB="38100" anchor="ctr">
                    <a:solidFill>
                      <a:srgbClr val="FFFFFF"/>
                    </a:solidFill>
                  </a:tcPr>
                </a:tc>
              </a:tr>
              <a:tr h="335280">
                <a:tc>
                  <a:txBody>
                    <a:bodyPr/>
                    <a:lstStyle/>
                    <a:p>
                      <a:r>
                        <a:rPr sz="1200" b="0" i="0">
                          <a:solidFill>
                            <a:srgbClr val="1A1440"/>
                          </a:solidFill>
                          <a:latin typeface="Calibri"/>
                        </a:rPr>
                        <a:t>Guardrails</a:t>
                      </a:r>
                    </a:p>
                  </a:txBody>
                  <a:tcPr marL="101600" marR="101600" marT="38100" marB="38100" anchor="ctr">
                    <a:solidFill>
                      <a:srgbClr val="F4F2FA"/>
                    </a:solidFill>
                  </a:tcPr>
                </a:tc>
                <a:tc>
                  <a:txBody>
                    <a:bodyPr/>
                    <a:lstStyle/>
                    <a:p>
                      <a:r>
                        <a:rPr sz="1200" b="0" i="0">
                          <a:solidFill>
                            <a:srgbClr val="1A1440"/>
                          </a:solidFill>
                          <a:latin typeface="Calibri"/>
                        </a:rPr>
                        <a:t>Complaints per 100 orders billed; the share of confirmed deliveries within 30 minutes of the bill</a:t>
                      </a:r>
                    </a:p>
                  </a:txBody>
                  <a:tcPr marL="101600" marR="101600" marT="38100" marB="38100" anchor="ctr">
                    <a:solidFill>
                      <a:srgbClr val="F4F2FA"/>
                    </a:solidFill>
                  </a:tcPr>
                </a:tc>
              </a:tr>
              <a:tr h="542544">
                <a:tc>
                  <a:txBody>
                    <a:bodyPr/>
                    <a:lstStyle/>
                    <a:p>
                      <a:r>
                        <a:rPr sz="1200" b="0" i="0">
                          <a:solidFill>
                            <a:srgbClr val="1A1440"/>
                          </a:solidFill>
                          <a:latin typeface="Calibri"/>
                        </a:rPr>
                        <a:t>Gaming note</a:t>
                      </a:r>
                    </a:p>
                  </a:txBody>
                  <a:tcPr marL="101600" marR="101600" marT="38100" marB="38100" anchor="ctr">
                    <a:solidFill>
                      <a:srgbClr val="FFFFFF"/>
                    </a:solidFill>
                  </a:tcPr>
                </a:tc>
                <a:tc>
                  <a:txBody>
                    <a:bodyPr/>
                    <a:lstStyle/>
                    <a:p>
                      <a:r>
                        <a:rPr sz="1200" b="0" i="0">
                          <a:solidFill>
                            <a:srgbClr val="1A1440"/>
                          </a:solidFill>
                          <a:latin typeface="Calibri"/>
                        </a:rPr>
                        <a:t>Complaints catch an OTP asked for by phone before the goods arrive; the bill clock catches a late-typed dispatch time</a:t>
                      </a:r>
                    </a:p>
                  </a:txBody>
                  <a:tcPr marL="101600" marR="101600" marT="38100" marB="38100" anchor="ctr">
                    <a:solidFill>
                      <a:srgbClr val="FFFFFF"/>
                    </a:solidFill>
                  </a:tcPr>
                </a:tc>
              </a:tr>
            </a:tbl>
          </a:graphicData>
        </a:graphic>
      </p:graphicFrame>
      <p:sp>
        <p:nvSpPr>
          <p:cNvPr id="10" name="TextBox 9"/>
          <p:cNvSpPr txBox="1"/>
          <p:nvPr/>
        </p:nvSpPr>
        <p:spPr>
          <a:xfrm>
            <a:off x="530352" y="5102352"/>
            <a:ext cx="11130991" cy="703072"/>
          </a:xfrm>
          <a:prstGeom prst="rect">
            <a:avLst/>
          </a:prstGeom>
          <a:noFill/>
        </p:spPr>
        <p:txBody>
          <a:bodyPr wrap="square" anchor="t" lIns="0" rIns="0" tIns="0" bIns="0">
            <a:spAutoFit/>
          </a:bodyPr>
          <a:lstStyle/>
          <a:p>
            <a:pPr>
              <a:spcAft>
                <a:spcPts val="700"/>
              </a:spcAft>
            </a:pPr>
            <a:r>
              <a:rPr sz="1400" b="0" i="0">
                <a:solidFill>
                  <a:srgbClr val="1A1440"/>
                </a:solidFill>
                <a:latin typeface="Calibri"/>
              </a:rPr>
              <a:t>Read on the four weeks: 40 of 50 orders confirmed, 0.80; complaints 12 per 100 orders billed; 30 of the 40 within 30 minutes of the bill, 0.75.</a:t>
            </a:r>
          </a:p>
        </p:txBody>
      </p:sp>
      <p:sp>
        <p:nvSpPr>
          <p:cNvPr id="11" name="TextBox 10"/>
          <p:cNvSpPr txBox="1"/>
          <p:nvPr/>
        </p:nvSpPr>
        <p:spPr>
          <a:xfrm>
            <a:off x="530352" y="6437376"/>
            <a:ext cx="256032" cy="152146"/>
          </a:xfrm>
          <a:prstGeom prst="rect">
            <a:avLst/>
          </a:prstGeom>
          <a:noFill/>
        </p:spPr>
        <p:txBody>
          <a:bodyPr wrap="square" anchor="t" lIns="0" rIns="0" tIns="0" bIns="0">
            <a:spAutoFit/>
          </a:bodyPr>
          <a:lstStyle/>
          <a:p>
            <a:pPr algn="l"/>
            <a:r>
              <a:rPr sz="700" b="0" i="0">
                <a:solidFill>
                  <a:srgbClr val="6B6690"/>
                </a:solidFill>
                <a:latin typeface="Calibri"/>
              </a:rPr>
              <a:t>…</a:t>
            </a:r>
          </a:p>
        </p:txBody>
      </p:sp>
      <p:sp>
        <p:nvSpPr>
          <p:cNvPr id="12" name="Oval 11"/>
          <p:cNvSpPr/>
          <p:nvPr/>
        </p:nvSpPr>
        <p:spPr>
          <a:xfrm>
            <a:off x="78638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896112"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Which number warns?</a:t>
            </a:r>
          </a:p>
        </p:txBody>
      </p:sp>
      <p:sp>
        <p:nvSpPr>
          <p:cNvPr id="14" name="Oval 13"/>
          <p:cNvSpPr/>
          <p:nvPr/>
        </p:nvSpPr>
        <p:spPr>
          <a:xfrm>
            <a:off x="213598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2245709"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Which four lines?</a:t>
            </a:r>
          </a:p>
        </p:txBody>
      </p:sp>
      <p:sp>
        <p:nvSpPr>
          <p:cNvPr id="16" name="Oval 15"/>
          <p:cNvSpPr/>
          <p:nvPr/>
        </p:nvSpPr>
        <p:spPr>
          <a:xfrm>
            <a:off x="339356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3503295"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How is a number gamed?</a:t>
            </a:r>
          </a:p>
        </p:txBody>
      </p:sp>
      <p:sp>
        <p:nvSpPr>
          <p:cNvPr id="18" name="Oval 17"/>
          <p:cNvSpPr/>
          <p:nvPr/>
        </p:nvSpPr>
        <p:spPr>
          <a:xfrm>
            <a:off x="4881181"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4990909" y="6437376"/>
            <a:ext cx="1378457" cy="152146"/>
          </a:xfrm>
          <a:prstGeom prst="rect">
            <a:avLst/>
          </a:prstGeom>
          <a:noFill/>
        </p:spPr>
        <p:txBody>
          <a:bodyPr wrap="square" anchor="t" lIns="0" rIns="0" tIns="0" bIns="0">
            <a:spAutoFit/>
          </a:bodyPr>
          <a:lstStyle/>
          <a:p>
            <a:pPr algn="l"/>
            <a:r>
              <a:rPr sz="700" b="1" i="0">
                <a:solidFill>
                  <a:srgbClr val="5B3FD6"/>
                </a:solidFill>
                <a:latin typeface="Calibri"/>
              </a:rPr>
              <a:t>What does the page hold?</a:t>
            </a:r>
          </a:p>
        </p:txBody>
      </p:sp>
      <p:sp>
        <p:nvSpPr>
          <p:cNvPr id="20" name="Oval 19"/>
          <p:cNvSpPr/>
          <p:nvPr/>
        </p:nvSpPr>
        <p:spPr>
          <a:xfrm>
            <a:off x="646080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6570535"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an hour count?</a:t>
            </a:r>
          </a:p>
        </p:txBody>
      </p:sp>
      <p:sp>
        <p:nvSpPr>
          <p:cNvPr id="22" name="Oval 21"/>
          <p:cNvSpPr/>
          <p:nvPr/>
        </p:nvSpPr>
        <p:spPr>
          <a:xfrm>
            <a:off x="804043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8150161"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Where did the fall sit?</a:t>
            </a:r>
          </a:p>
        </p:txBody>
      </p:sp>
      <p:sp>
        <p:nvSpPr>
          <p:cNvPr id="24" name="Oval 23"/>
          <p:cNvSpPr/>
          <p:nvPr/>
        </p:nvSpPr>
        <p:spPr>
          <a:xfrm>
            <a:off x="957405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9683781"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should it pay for?</a:t>
            </a:r>
          </a:p>
        </p:txBody>
      </p:sp>
      <p:sp>
        <p:nvSpPr>
          <p:cNvPr id="26" name="TextBox 25"/>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S49  ·  55 / 93</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MONDAY  ·  BUSINESS METRIC DESIGN  ·  UBER, HYDERABAD</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weak page counted presses; the full one, receipts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does the picture show, and what is the page called?</a:t>
            </a:r>
          </a:p>
        </p:txBody>
      </p:sp>
      <p:pic>
        <p:nvPicPr>
          <p:cNvPr id="9" name="mermaid diagram" descr="C2_W04_D01_kirana_weak_strong_STUDENT.png"/>
          <p:cNvPicPr>
            <a:picLocks noChangeAspect="1"/>
          </p:cNvPicPr>
          <p:nvPr/>
        </p:nvPicPr>
        <p:blipFill>
          <a:blip r:embed="rId4"/>
          <a:stretch>
            <a:fillRect/>
          </a:stretch>
        </p:blipFill>
        <p:spPr>
          <a:xfrm>
            <a:off x="2397861" y="1664208"/>
            <a:ext cx="7395972" cy="3215640"/>
          </a:xfrm>
          <a:prstGeom prst="rect">
            <a:avLst/>
          </a:prstGeom>
        </p:spPr>
      </p:pic>
      <p:sp>
        <p:nvSpPr>
          <p:cNvPr id="10" name="picture caption"/>
          <p:cNvSpPr txBox="1"/>
          <p:nvPr/>
        </p:nvSpPr>
        <p:spPr>
          <a:xfrm>
            <a:off x="530352" y="4916424"/>
            <a:ext cx="11130991" cy="316992"/>
          </a:xfrm>
          <a:prstGeom prst="rect">
            <a:avLst/>
          </a:prstGeom>
          <a:noFill/>
        </p:spPr>
        <p:txBody>
          <a:bodyPr wrap="square" anchor="t" lIns="0" rIns="0" tIns="0" bIns="0">
            <a:spAutoFit/>
          </a:bodyPr>
          <a:lstStyle/>
          <a:p>
            <a:pPr algn="ctr"/>
            <a:r>
              <a:rPr sz="1200" b="0" i="0">
                <a:solidFill>
                  <a:srgbClr val="6B6690"/>
                </a:solidFill>
                <a:latin typeface="Calibri"/>
              </a:rPr>
              <a:t>Balaji Kirana's four weeks (invented): deliveries marked done against OTP-confirmed deliveries over orders billed</a:t>
            </a:r>
          </a:p>
        </p:txBody>
      </p:sp>
      <p:sp>
        <p:nvSpPr>
          <p:cNvPr id="11" name="TextBox 10"/>
          <p:cNvSpPr txBox="1"/>
          <p:nvPr/>
        </p:nvSpPr>
        <p:spPr>
          <a:xfrm>
            <a:off x="530352" y="5242560"/>
            <a:ext cx="11130991" cy="957072"/>
          </a:xfrm>
          <a:prstGeom prst="rect">
            <a:avLst/>
          </a:prstGeom>
          <a:noFill/>
        </p:spPr>
        <p:txBody>
          <a:bodyPr wrap="square" anchor="t" lIns="0" rIns="0" tIns="0" bIns="0">
            <a:spAutoFit/>
          </a:bodyPr>
          <a:lstStyle/>
          <a:p>
            <a:r>
              <a:rPr sz="1600" b="0" i="0">
                <a:solidFill>
                  <a:srgbClr val="1A1440"/>
                </a:solidFill>
                <a:latin typeface="Calibri"/>
              </a:rPr>
              <a:t>Week by week the weak page reads 12 or 13 deliveries; the full page reads 10 confirmed of the orders billed. Named last: the </a:t>
            </a:r>
            <a:r>
              <a:rPr sz="1600" b="1" i="0">
                <a:solidFill>
                  <a:srgbClr val="1A1440"/>
                </a:solidFill>
                <a:latin typeface="Calibri"/>
              </a:rPr>
              <a:t>metric definition artifact</a:t>
            </a:r>
            <a:r>
              <a:rPr sz="1600" b="0" i="0">
                <a:solidFill>
                  <a:srgbClr val="1A1440"/>
                </a:solidFill>
                <a:latin typeface="Calibri"/>
              </a:rPr>
              <a:t> is the seven-line page a company adopts, four lines that make the number computable and three that make it safe to pay for.</a:t>
            </a:r>
          </a:p>
        </p:txBody>
      </p:sp>
      <p:sp>
        <p:nvSpPr>
          <p:cNvPr id="12" name="TextBox 11"/>
          <p:cNvSpPr txBox="1"/>
          <p:nvPr/>
        </p:nvSpPr>
        <p:spPr>
          <a:xfrm>
            <a:off x="530352" y="6437376"/>
            <a:ext cx="256032" cy="152146"/>
          </a:xfrm>
          <a:prstGeom prst="rect">
            <a:avLst/>
          </a:prstGeom>
          <a:noFill/>
        </p:spPr>
        <p:txBody>
          <a:bodyPr wrap="square" anchor="t" lIns="0" rIns="0" tIns="0" bIns="0">
            <a:spAutoFit/>
          </a:bodyPr>
          <a:lstStyle/>
          <a:p>
            <a:pPr algn="l"/>
            <a:r>
              <a:rPr sz="700" b="0" i="0">
                <a:solidFill>
                  <a:srgbClr val="6B6690"/>
                </a:solidFill>
                <a:latin typeface="Calibri"/>
              </a:rPr>
              <a:t>…</a:t>
            </a:r>
          </a:p>
        </p:txBody>
      </p:sp>
      <p:sp>
        <p:nvSpPr>
          <p:cNvPr id="13" name="Oval 12"/>
          <p:cNvSpPr/>
          <p:nvPr/>
        </p:nvSpPr>
        <p:spPr>
          <a:xfrm>
            <a:off x="78638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96112"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Which number warns?</a:t>
            </a:r>
          </a:p>
        </p:txBody>
      </p:sp>
      <p:sp>
        <p:nvSpPr>
          <p:cNvPr id="15" name="Oval 14"/>
          <p:cNvSpPr/>
          <p:nvPr/>
        </p:nvSpPr>
        <p:spPr>
          <a:xfrm>
            <a:off x="213598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2245709"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Which four lines?</a:t>
            </a:r>
          </a:p>
        </p:txBody>
      </p:sp>
      <p:sp>
        <p:nvSpPr>
          <p:cNvPr id="17" name="Oval 16"/>
          <p:cNvSpPr/>
          <p:nvPr/>
        </p:nvSpPr>
        <p:spPr>
          <a:xfrm>
            <a:off x="339356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503295"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How is a number gamed?</a:t>
            </a:r>
          </a:p>
        </p:txBody>
      </p:sp>
      <p:sp>
        <p:nvSpPr>
          <p:cNvPr id="19" name="Oval 18"/>
          <p:cNvSpPr/>
          <p:nvPr/>
        </p:nvSpPr>
        <p:spPr>
          <a:xfrm>
            <a:off x="4881181"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4990909" y="6437376"/>
            <a:ext cx="1378457" cy="152146"/>
          </a:xfrm>
          <a:prstGeom prst="rect">
            <a:avLst/>
          </a:prstGeom>
          <a:noFill/>
        </p:spPr>
        <p:txBody>
          <a:bodyPr wrap="square" anchor="t" lIns="0" rIns="0" tIns="0" bIns="0">
            <a:spAutoFit/>
          </a:bodyPr>
          <a:lstStyle/>
          <a:p>
            <a:pPr algn="l"/>
            <a:r>
              <a:rPr sz="700" b="1" i="0">
                <a:solidFill>
                  <a:srgbClr val="5B3FD6"/>
                </a:solidFill>
                <a:latin typeface="Calibri"/>
              </a:rPr>
              <a:t>What does the page hold?</a:t>
            </a:r>
          </a:p>
        </p:txBody>
      </p:sp>
      <p:sp>
        <p:nvSpPr>
          <p:cNvPr id="21" name="Oval 20"/>
          <p:cNvSpPr/>
          <p:nvPr/>
        </p:nvSpPr>
        <p:spPr>
          <a:xfrm>
            <a:off x="646080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6570535"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an hour count?</a:t>
            </a:r>
          </a:p>
        </p:txBody>
      </p:sp>
      <p:sp>
        <p:nvSpPr>
          <p:cNvPr id="23" name="Oval 22"/>
          <p:cNvSpPr/>
          <p:nvPr/>
        </p:nvSpPr>
        <p:spPr>
          <a:xfrm>
            <a:off x="804043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8150161"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Where did the fall sit?</a:t>
            </a:r>
          </a:p>
        </p:txBody>
      </p:sp>
      <p:sp>
        <p:nvSpPr>
          <p:cNvPr id="25" name="Oval 24"/>
          <p:cNvSpPr/>
          <p:nvPr/>
        </p:nvSpPr>
        <p:spPr>
          <a:xfrm>
            <a:off x="957405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9683781"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should it pay for?</a:t>
            </a:r>
          </a:p>
        </p:txBody>
      </p:sp>
      <p:sp>
        <p:nvSpPr>
          <p:cNvPr id="27" name="TextBox 26"/>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S50  ·  56 / 93</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MONDAY  ·  BUSINESS METRIC DESIGN  ·  UBER, HYDERABAD</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 seven-key dictionary and a one-line check</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How does code hold the page, and find what is missing?</a:t>
            </a:r>
          </a:p>
        </p:txBody>
      </p:sp>
      <p:sp>
        <p:nvSpPr>
          <p:cNvPr id="9" name="Rounded Rectangle 8"/>
          <p:cNvSpPr/>
          <p:nvPr/>
        </p:nvSpPr>
        <p:spPr>
          <a:xfrm>
            <a:off x="530352" y="1956816"/>
            <a:ext cx="11130991" cy="1467104"/>
          </a:xfrm>
          <a:prstGeom prst="roundRect">
            <a:avLst>
              <a:gd name="adj" fmla="val 3500"/>
            </a:avLst>
          </a:prstGeom>
          <a:solidFill>
            <a:srgbClr val="1A1440"/>
          </a:soli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713232" y="2084832"/>
            <a:ext cx="91440" cy="91440"/>
          </a:xfrm>
          <a:prstGeom prst="ellipse">
            <a:avLst/>
          </a:prstGeom>
          <a:solidFill>
            <a:srgbClr val="D63A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868680" y="2084832"/>
            <a:ext cx="91440" cy="91440"/>
          </a:xfrm>
          <a:prstGeom prst="ellipse">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Oval 11"/>
          <p:cNvSpPr/>
          <p:nvPr/>
        </p:nvSpPr>
        <p:spPr>
          <a:xfrm>
            <a:off x="1024128" y="2084832"/>
            <a:ext cx="91440" cy="91440"/>
          </a:xfrm>
          <a:prstGeom prst="ellipse">
            <a:avLst/>
          </a:prstGeom>
          <a:solidFill>
            <a:srgbClr val="1F8A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804671" y="2286000"/>
            <a:ext cx="10673791" cy="1064768"/>
          </a:xfrm>
          <a:prstGeom prst="rect">
            <a:avLst/>
          </a:prstGeom>
          <a:noFill/>
        </p:spPr>
        <p:txBody>
          <a:bodyPr wrap="square" anchor="t" lIns="0" rIns="0" tIns="0" bIns="0">
            <a:spAutoFit/>
          </a:bodyPr>
          <a:lstStyle/>
          <a:p>
            <a:pPr>
              <a:spcAft>
                <a:spcPts val="200"/>
              </a:spcAft>
            </a:pPr>
            <a:r>
              <a:rPr sz="1400" b="0" i="0">
                <a:solidFill>
                  <a:srgbClr val="E4E1F1"/>
                </a:solidFill>
                <a:latin typeface="Consolas"/>
              </a:rPr>
              <a:t>LINES = ["numerator", "denominator", "window", "exclusions",</a:t>
            </a:r>
          </a:p>
          <a:p>
            <a:pPr>
              <a:spcAft>
                <a:spcPts val="200"/>
              </a:spcAft>
            </a:pPr>
            <a:r>
              <a:rPr sz="1400" b="0" i="0">
                <a:solidFill>
                  <a:srgbClr val="E4E1F1"/>
                </a:solidFill>
                <a:latin typeface="Consolas"/>
              </a:rPr>
              <a:t>         "does_not_reward", "guardrails", "gaming_note"]</a:t>
            </a:r>
          </a:p>
          <a:p>
            <a:pPr>
              <a:spcAft>
                <a:spcPts val="200"/>
              </a:spcAft>
            </a:pPr>
            <a:r>
              <a:rPr sz="1400" b="0" i="0">
                <a:solidFill>
                  <a:srgbClr val="E4E1F1"/>
                </a:solidFill>
                <a:latin typeface="Consolas"/>
              </a:rPr>
              <a:t>weak = {"numerator": "deliveries", "window": "monthly"}</a:t>
            </a:r>
          </a:p>
          <a:p>
            <a:pPr>
              <a:spcAft>
                <a:spcPts val="200"/>
              </a:spcAft>
            </a:pPr>
            <a:r>
              <a:rPr sz="1400" b="0" i="0">
                <a:solidFill>
                  <a:srgbClr val="E4E1F1"/>
                </a:solidFill>
                <a:latin typeface="Consolas"/>
              </a:rPr>
              <a:t>[line for line in LINES if not weak.get(line)]   # the five blank lines</a:t>
            </a:r>
          </a:p>
        </p:txBody>
      </p:sp>
      <p:sp>
        <p:nvSpPr>
          <p:cNvPr id="14" name="TextBox 13"/>
          <p:cNvSpPr txBox="1"/>
          <p:nvPr/>
        </p:nvSpPr>
        <p:spPr>
          <a:xfrm>
            <a:off x="530352" y="3588512"/>
            <a:ext cx="11130991" cy="772160"/>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A page is a dictionary with one key per line, and the check lists every line left blank: five for the weak page, none for the full one.</a:t>
            </a:r>
          </a:p>
        </p:txBody>
      </p:sp>
      <p:sp>
        <p:nvSpPr>
          <p:cNvPr id="15" name="TextBox 14"/>
          <p:cNvSpPr txBox="1"/>
          <p:nvPr/>
        </p:nvSpPr>
        <p:spPr>
          <a:xfrm>
            <a:off x="530352" y="6437376"/>
            <a:ext cx="256032" cy="152146"/>
          </a:xfrm>
          <a:prstGeom prst="rect">
            <a:avLst/>
          </a:prstGeom>
          <a:noFill/>
        </p:spPr>
        <p:txBody>
          <a:bodyPr wrap="square" anchor="t" lIns="0" rIns="0" tIns="0" bIns="0">
            <a:spAutoFit/>
          </a:bodyPr>
          <a:lstStyle/>
          <a:p>
            <a:pPr algn="l"/>
            <a:r>
              <a:rPr sz="700" b="0" i="0">
                <a:solidFill>
                  <a:srgbClr val="6B6690"/>
                </a:solidFill>
                <a:latin typeface="Calibri"/>
              </a:rPr>
              <a:t>…</a:t>
            </a:r>
          </a:p>
        </p:txBody>
      </p:sp>
      <p:sp>
        <p:nvSpPr>
          <p:cNvPr id="16" name="Oval 15"/>
          <p:cNvSpPr/>
          <p:nvPr/>
        </p:nvSpPr>
        <p:spPr>
          <a:xfrm>
            <a:off x="78638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896112"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Which number warns?</a:t>
            </a:r>
          </a:p>
        </p:txBody>
      </p:sp>
      <p:sp>
        <p:nvSpPr>
          <p:cNvPr id="18" name="Oval 17"/>
          <p:cNvSpPr/>
          <p:nvPr/>
        </p:nvSpPr>
        <p:spPr>
          <a:xfrm>
            <a:off x="213598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2245709"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Which four lines?</a:t>
            </a:r>
          </a:p>
        </p:txBody>
      </p:sp>
      <p:sp>
        <p:nvSpPr>
          <p:cNvPr id="20" name="Oval 19"/>
          <p:cNvSpPr/>
          <p:nvPr/>
        </p:nvSpPr>
        <p:spPr>
          <a:xfrm>
            <a:off x="339356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3503295"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How is a number gamed?</a:t>
            </a:r>
          </a:p>
        </p:txBody>
      </p:sp>
      <p:sp>
        <p:nvSpPr>
          <p:cNvPr id="22" name="Oval 21"/>
          <p:cNvSpPr/>
          <p:nvPr/>
        </p:nvSpPr>
        <p:spPr>
          <a:xfrm>
            <a:off x="4881181"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4990909" y="6437376"/>
            <a:ext cx="1378457" cy="152146"/>
          </a:xfrm>
          <a:prstGeom prst="rect">
            <a:avLst/>
          </a:prstGeom>
          <a:noFill/>
        </p:spPr>
        <p:txBody>
          <a:bodyPr wrap="square" anchor="t" lIns="0" rIns="0" tIns="0" bIns="0">
            <a:spAutoFit/>
          </a:bodyPr>
          <a:lstStyle/>
          <a:p>
            <a:pPr algn="l"/>
            <a:r>
              <a:rPr sz="700" b="1" i="0">
                <a:solidFill>
                  <a:srgbClr val="5B3FD6"/>
                </a:solidFill>
                <a:latin typeface="Calibri"/>
              </a:rPr>
              <a:t>What does the page hold?</a:t>
            </a:r>
          </a:p>
        </p:txBody>
      </p:sp>
      <p:sp>
        <p:nvSpPr>
          <p:cNvPr id="24" name="Oval 23"/>
          <p:cNvSpPr/>
          <p:nvPr/>
        </p:nvSpPr>
        <p:spPr>
          <a:xfrm>
            <a:off x="646080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6570535"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an hour count?</a:t>
            </a:r>
          </a:p>
        </p:txBody>
      </p:sp>
      <p:sp>
        <p:nvSpPr>
          <p:cNvPr id="26" name="Oval 25"/>
          <p:cNvSpPr/>
          <p:nvPr/>
        </p:nvSpPr>
        <p:spPr>
          <a:xfrm>
            <a:off x="804043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8150161"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Where did the fall sit?</a:t>
            </a:r>
          </a:p>
        </p:txBody>
      </p:sp>
      <p:sp>
        <p:nvSpPr>
          <p:cNvPr id="28" name="Oval 27"/>
          <p:cNvSpPr/>
          <p:nvPr/>
        </p:nvSpPr>
        <p:spPr>
          <a:xfrm>
            <a:off x="957405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9683781"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should it pay for?</a:t>
            </a:r>
          </a:p>
        </p:txBody>
      </p:sp>
      <p:sp>
        <p:nvSpPr>
          <p:cNvPr id="30" name="TextBox 29"/>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S51  ·  57 / 93</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MONDAY  ·  BUSINESS METRIC DESIGN  ·  UBER, HYDERABAD</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Four rules for the page a company signs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Which rules does the chapter leave, and what does an interviewer ask?</a:t>
            </a:r>
          </a:p>
        </p:txBody>
      </p:sp>
      <p:sp>
        <p:nvSpPr>
          <p:cNvPr id="9" name="TextBox 8"/>
          <p:cNvSpPr txBox="1"/>
          <p:nvPr/>
        </p:nvSpPr>
        <p:spPr>
          <a:xfrm>
            <a:off x="530352" y="1920240"/>
            <a:ext cx="502920" cy="333756"/>
          </a:xfrm>
          <a:prstGeom prst="rect">
            <a:avLst/>
          </a:prstGeom>
          <a:noFill/>
        </p:spPr>
        <p:txBody>
          <a:bodyPr wrap="square" anchor="t" lIns="0" rIns="0" tIns="0" bIns="0">
            <a:spAutoFit/>
          </a:bodyPr>
          <a:lstStyle/>
          <a:p>
            <a:pPr algn="l"/>
            <a:r>
              <a:rPr sz="1800" b="0" i="0">
                <a:solidFill>
                  <a:srgbClr val="5B3FD6"/>
                </a:solidFill>
                <a:latin typeface="Georgia"/>
              </a:rPr>
              <a:t>01</a:t>
            </a:r>
          </a:p>
        </p:txBody>
      </p:sp>
      <p:sp>
        <p:nvSpPr>
          <p:cNvPr id="10" name="TextBox 9"/>
          <p:cNvSpPr txBox="1"/>
          <p:nvPr/>
        </p:nvSpPr>
        <p:spPr>
          <a:xfrm>
            <a:off x="1097280" y="1956816"/>
            <a:ext cx="10564063" cy="368808"/>
          </a:xfrm>
          <a:prstGeom prst="rect">
            <a:avLst/>
          </a:prstGeom>
          <a:noFill/>
        </p:spPr>
        <p:txBody>
          <a:bodyPr wrap="square" anchor="t" lIns="0" rIns="0" tIns="0" bIns="0">
            <a:spAutoFit/>
          </a:bodyPr>
          <a:lstStyle/>
          <a:p>
            <a:r>
              <a:rPr sz="1500" b="0" i="0">
                <a:solidFill>
                  <a:srgbClr val="1A1440"/>
                </a:solidFill>
                <a:latin typeface="Calibri"/>
              </a:rPr>
              <a:t>Write all seven lines before anyone is paid on the number.</a:t>
            </a:r>
          </a:p>
        </p:txBody>
      </p:sp>
      <p:sp>
        <p:nvSpPr>
          <p:cNvPr id="11" name="TextBox 10"/>
          <p:cNvSpPr txBox="1"/>
          <p:nvPr/>
        </p:nvSpPr>
        <p:spPr>
          <a:xfrm>
            <a:off x="530352" y="2362200"/>
            <a:ext cx="502920" cy="333756"/>
          </a:xfrm>
          <a:prstGeom prst="rect">
            <a:avLst/>
          </a:prstGeom>
          <a:noFill/>
        </p:spPr>
        <p:txBody>
          <a:bodyPr wrap="square" anchor="t" lIns="0" rIns="0" tIns="0" bIns="0">
            <a:spAutoFit/>
          </a:bodyPr>
          <a:lstStyle/>
          <a:p>
            <a:pPr algn="l"/>
            <a:r>
              <a:rPr sz="1800" b="0" i="0">
                <a:solidFill>
                  <a:srgbClr val="5B3FD6"/>
                </a:solidFill>
                <a:latin typeface="Georgia"/>
              </a:rPr>
              <a:t>02</a:t>
            </a:r>
          </a:p>
        </p:txBody>
      </p:sp>
      <p:sp>
        <p:nvSpPr>
          <p:cNvPr id="12" name="TextBox 11"/>
          <p:cNvSpPr txBox="1"/>
          <p:nvPr/>
        </p:nvSpPr>
        <p:spPr>
          <a:xfrm>
            <a:off x="1097280" y="2398776"/>
            <a:ext cx="10564063" cy="368808"/>
          </a:xfrm>
          <a:prstGeom prst="rect">
            <a:avLst/>
          </a:prstGeom>
          <a:noFill/>
        </p:spPr>
        <p:txBody>
          <a:bodyPr wrap="square" anchor="t" lIns="0" rIns="0" tIns="0" bIns="0">
            <a:spAutoFit/>
          </a:bodyPr>
          <a:lstStyle/>
          <a:p>
            <a:r>
              <a:rPr sz="1500" b="0" i="0">
                <a:solidFill>
                  <a:srgbClr val="1A1440"/>
                </a:solidFill>
                <a:latin typeface="Calibri"/>
              </a:rPr>
              <a:t>The first four lines make it computable; the last three make it safe to pay for.</a:t>
            </a:r>
          </a:p>
        </p:txBody>
      </p:sp>
      <p:sp>
        <p:nvSpPr>
          <p:cNvPr id="13" name="TextBox 12"/>
          <p:cNvSpPr txBox="1"/>
          <p:nvPr/>
        </p:nvSpPr>
        <p:spPr>
          <a:xfrm>
            <a:off x="530352" y="2804160"/>
            <a:ext cx="502920" cy="333756"/>
          </a:xfrm>
          <a:prstGeom prst="rect">
            <a:avLst/>
          </a:prstGeom>
          <a:noFill/>
        </p:spPr>
        <p:txBody>
          <a:bodyPr wrap="square" anchor="t" lIns="0" rIns="0" tIns="0" bIns="0">
            <a:spAutoFit/>
          </a:bodyPr>
          <a:lstStyle/>
          <a:p>
            <a:pPr algn="l"/>
            <a:r>
              <a:rPr sz="1800" b="0" i="0">
                <a:solidFill>
                  <a:srgbClr val="5B3FD6"/>
                </a:solidFill>
                <a:latin typeface="Georgia"/>
              </a:rPr>
              <a:t>03</a:t>
            </a:r>
          </a:p>
        </p:txBody>
      </p:sp>
      <p:sp>
        <p:nvSpPr>
          <p:cNvPr id="14" name="TextBox 13"/>
          <p:cNvSpPr txBox="1"/>
          <p:nvPr/>
        </p:nvSpPr>
        <p:spPr>
          <a:xfrm>
            <a:off x="1097280" y="2840736"/>
            <a:ext cx="10564063" cy="368808"/>
          </a:xfrm>
          <a:prstGeom prst="rect">
            <a:avLst/>
          </a:prstGeom>
          <a:noFill/>
        </p:spPr>
        <p:txBody>
          <a:bodyPr wrap="square" anchor="t" lIns="0" rIns="0" tIns="0" bIns="0">
            <a:spAutoFit/>
          </a:bodyPr>
          <a:lstStyle/>
          <a:p>
            <a:r>
              <a:rPr sz="1500" b="0" i="0">
                <a:solidFill>
                  <a:srgbClr val="1A1440"/>
                </a:solidFill>
                <a:latin typeface="Calibri"/>
              </a:rPr>
              <a:t>A target is no line of a definition: "plus 20 percent" says how much and never what.</a:t>
            </a:r>
          </a:p>
        </p:txBody>
      </p:sp>
      <p:sp>
        <p:nvSpPr>
          <p:cNvPr id="15" name="TextBox 14"/>
          <p:cNvSpPr txBox="1"/>
          <p:nvPr/>
        </p:nvSpPr>
        <p:spPr>
          <a:xfrm>
            <a:off x="530352" y="3246120"/>
            <a:ext cx="502920" cy="333756"/>
          </a:xfrm>
          <a:prstGeom prst="rect">
            <a:avLst/>
          </a:prstGeom>
          <a:noFill/>
        </p:spPr>
        <p:txBody>
          <a:bodyPr wrap="square" anchor="t" lIns="0" rIns="0" tIns="0" bIns="0">
            <a:spAutoFit/>
          </a:bodyPr>
          <a:lstStyle/>
          <a:p>
            <a:pPr algn="l"/>
            <a:r>
              <a:rPr sz="1800" b="0" i="0">
                <a:solidFill>
                  <a:srgbClr val="5B3FD6"/>
                </a:solidFill>
                <a:latin typeface="Georgia"/>
              </a:rPr>
              <a:t>04</a:t>
            </a:r>
          </a:p>
        </p:txBody>
      </p:sp>
      <p:sp>
        <p:nvSpPr>
          <p:cNvPr id="16" name="TextBox 15"/>
          <p:cNvSpPr txBox="1"/>
          <p:nvPr/>
        </p:nvSpPr>
        <p:spPr>
          <a:xfrm>
            <a:off x="1097280" y="3282696"/>
            <a:ext cx="10564063" cy="368808"/>
          </a:xfrm>
          <a:prstGeom prst="rect">
            <a:avLst/>
          </a:prstGeom>
          <a:noFill/>
        </p:spPr>
        <p:txBody>
          <a:bodyPr wrap="square" anchor="t" lIns="0" rIns="0" tIns="0" bIns="0">
            <a:spAutoFit/>
          </a:bodyPr>
          <a:lstStyle/>
          <a:p>
            <a:r>
              <a:rPr sz="1500" b="0" i="0">
                <a:solidFill>
                  <a:srgbClr val="1A1440"/>
                </a:solidFill>
                <a:latin typeface="Calibri"/>
              </a:rPr>
              <a:t>When teams disagree, change a line on the page and date it.</a:t>
            </a:r>
          </a:p>
        </p:txBody>
      </p:sp>
      <p:sp>
        <p:nvSpPr>
          <p:cNvPr id="17" name="Rounded Rectangle 16"/>
          <p:cNvSpPr/>
          <p:nvPr/>
        </p:nvSpPr>
        <p:spPr>
          <a:xfrm>
            <a:off x="530352" y="3834384"/>
            <a:ext cx="11130991" cy="1121664"/>
          </a:xfrm>
          <a:prstGeom prst="roundRect">
            <a:avLst>
              <a:gd name="adj" fmla="val 5000"/>
            </a:avLst>
          </a:prstGeom>
          <a:solidFill>
            <a:srgbClr val="F7F5FD"/>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Oval 17"/>
          <p:cNvSpPr/>
          <p:nvPr/>
        </p:nvSpPr>
        <p:spPr>
          <a:xfrm>
            <a:off x="758952" y="4166616"/>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9" name="Picture 18" descr="mic_caee7398c80d.png"/>
          <p:cNvPicPr>
            <a:picLocks noChangeAspect="1"/>
          </p:cNvPicPr>
          <p:nvPr/>
        </p:nvPicPr>
        <p:blipFill>
          <a:blip r:embed="rId4"/>
          <a:stretch>
            <a:fillRect/>
          </a:stretch>
        </p:blipFill>
        <p:spPr>
          <a:xfrm>
            <a:off x="868680" y="4276344"/>
            <a:ext cx="237744" cy="237744"/>
          </a:xfrm>
          <a:prstGeom prst="rect">
            <a:avLst/>
          </a:prstGeom>
        </p:spPr>
      </p:pic>
      <p:sp>
        <p:nvSpPr>
          <p:cNvPr id="20" name="TextBox 19"/>
          <p:cNvSpPr txBox="1"/>
          <p:nvPr/>
        </p:nvSpPr>
        <p:spPr>
          <a:xfrm>
            <a:off x="1399031" y="3980688"/>
            <a:ext cx="9987991" cy="160401"/>
          </a:xfrm>
          <a:prstGeom prst="rect">
            <a:avLst/>
          </a:prstGeom>
          <a:noFill/>
        </p:spPr>
        <p:txBody>
          <a:bodyPr wrap="square" anchor="t" lIns="0" rIns="0" tIns="0" bIns="0">
            <a:spAutoFit/>
          </a:bodyPr>
          <a:lstStyle/>
          <a:p>
            <a:pPr algn="l"/>
            <a:r>
              <a:rPr sz="750" b="1" i="0" spc="250">
                <a:solidFill>
                  <a:srgbClr val="5B3FD6"/>
                </a:solidFill>
                <a:latin typeface="Calibri"/>
              </a:rPr>
              <a:t>IN THE INTERVIEW</a:t>
            </a:r>
          </a:p>
        </p:txBody>
      </p:sp>
      <p:sp>
        <p:nvSpPr>
          <p:cNvPr id="21" name="TextBox 20"/>
          <p:cNvSpPr txBox="1"/>
          <p:nvPr/>
        </p:nvSpPr>
        <p:spPr>
          <a:xfrm>
            <a:off x="1399031" y="4200144"/>
            <a:ext cx="9987991" cy="682752"/>
          </a:xfrm>
          <a:prstGeom prst="rect">
            <a:avLst/>
          </a:prstGeom>
          <a:noFill/>
        </p:spPr>
        <p:txBody>
          <a:bodyPr wrap="square" anchor="t" lIns="0" rIns="0" tIns="0" bIns="0">
            <a:spAutoFit/>
          </a:bodyPr>
          <a:lstStyle/>
          <a:p>
            <a:r>
              <a:rPr sz="1500" b="0" i="0">
                <a:solidFill>
                  <a:srgbClr val="1A1440"/>
                </a:solidFill>
                <a:latin typeface="Calibri"/>
              </a:rPr>
              <a:t>[D] Three departments each want their own target; how do you get to one, and what do you say to the two who lose?</a:t>
            </a:r>
          </a:p>
        </p:txBody>
      </p:sp>
      <p:sp>
        <p:nvSpPr>
          <p:cNvPr id="22" name="TextBox 21"/>
          <p:cNvSpPr txBox="1"/>
          <p:nvPr/>
        </p:nvSpPr>
        <p:spPr>
          <a:xfrm>
            <a:off x="530352" y="6437376"/>
            <a:ext cx="256032" cy="152146"/>
          </a:xfrm>
          <a:prstGeom prst="rect">
            <a:avLst/>
          </a:prstGeom>
          <a:noFill/>
        </p:spPr>
        <p:txBody>
          <a:bodyPr wrap="square" anchor="t" lIns="0" rIns="0" tIns="0" bIns="0">
            <a:spAutoFit/>
          </a:bodyPr>
          <a:lstStyle/>
          <a:p>
            <a:pPr algn="l"/>
            <a:r>
              <a:rPr sz="700" b="0" i="0">
                <a:solidFill>
                  <a:srgbClr val="6B6690"/>
                </a:solidFill>
                <a:latin typeface="Calibri"/>
              </a:rPr>
              <a:t>…</a:t>
            </a:r>
          </a:p>
        </p:txBody>
      </p:sp>
      <p:sp>
        <p:nvSpPr>
          <p:cNvPr id="23" name="Oval 22"/>
          <p:cNvSpPr/>
          <p:nvPr/>
        </p:nvSpPr>
        <p:spPr>
          <a:xfrm>
            <a:off x="78638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896112"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Which number warns?</a:t>
            </a:r>
          </a:p>
        </p:txBody>
      </p:sp>
      <p:sp>
        <p:nvSpPr>
          <p:cNvPr id="25" name="Oval 24"/>
          <p:cNvSpPr/>
          <p:nvPr/>
        </p:nvSpPr>
        <p:spPr>
          <a:xfrm>
            <a:off x="213598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2245709"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Which four lines?</a:t>
            </a:r>
          </a:p>
        </p:txBody>
      </p:sp>
      <p:sp>
        <p:nvSpPr>
          <p:cNvPr id="27" name="Oval 26"/>
          <p:cNvSpPr/>
          <p:nvPr/>
        </p:nvSpPr>
        <p:spPr>
          <a:xfrm>
            <a:off x="339356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3503295"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How is a number gamed?</a:t>
            </a:r>
          </a:p>
        </p:txBody>
      </p:sp>
      <p:sp>
        <p:nvSpPr>
          <p:cNvPr id="29" name="Oval 28"/>
          <p:cNvSpPr/>
          <p:nvPr/>
        </p:nvSpPr>
        <p:spPr>
          <a:xfrm>
            <a:off x="4881181"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4990909" y="6437376"/>
            <a:ext cx="1378457" cy="152146"/>
          </a:xfrm>
          <a:prstGeom prst="rect">
            <a:avLst/>
          </a:prstGeom>
          <a:noFill/>
        </p:spPr>
        <p:txBody>
          <a:bodyPr wrap="square" anchor="t" lIns="0" rIns="0" tIns="0" bIns="0">
            <a:spAutoFit/>
          </a:bodyPr>
          <a:lstStyle/>
          <a:p>
            <a:pPr algn="l"/>
            <a:r>
              <a:rPr sz="700" b="1" i="0">
                <a:solidFill>
                  <a:srgbClr val="5B3FD6"/>
                </a:solidFill>
                <a:latin typeface="Calibri"/>
              </a:rPr>
              <a:t>What does the page hold?</a:t>
            </a:r>
          </a:p>
        </p:txBody>
      </p:sp>
      <p:sp>
        <p:nvSpPr>
          <p:cNvPr id="31" name="Oval 30"/>
          <p:cNvSpPr/>
          <p:nvPr/>
        </p:nvSpPr>
        <p:spPr>
          <a:xfrm>
            <a:off x="646080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6570535"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an hour count?</a:t>
            </a:r>
          </a:p>
        </p:txBody>
      </p:sp>
      <p:sp>
        <p:nvSpPr>
          <p:cNvPr id="33" name="Oval 32"/>
          <p:cNvSpPr/>
          <p:nvPr/>
        </p:nvSpPr>
        <p:spPr>
          <a:xfrm>
            <a:off x="804043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8150161"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Where did the fall sit?</a:t>
            </a:r>
          </a:p>
        </p:txBody>
      </p:sp>
      <p:sp>
        <p:nvSpPr>
          <p:cNvPr id="35" name="Oval 34"/>
          <p:cNvSpPr/>
          <p:nvPr/>
        </p:nvSpPr>
        <p:spPr>
          <a:xfrm>
            <a:off x="957405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9683781"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should it pay for?</a:t>
            </a:r>
          </a:p>
        </p:txBody>
      </p:sp>
      <p:sp>
        <p:nvSpPr>
          <p:cNvPr id="37" name="TextBox 36"/>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S52  ·  58 / 93</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MONDAY  ·  BUSINESS METRIC DESIGN  ·  UBER, HYDERABAD</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page is filled for Uber in chapter 9</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Where do the six ideas go next?</a:t>
            </a:r>
          </a:p>
        </p:txBody>
      </p:sp>
      <p:pic>
        <p:nvPicPr>
          <p:cNvPr id="9" name="mermaid diagram" descr="e7678eca822a591a.png"/>
          <p:cNvPicPr>
            <a:picLocks noChangeAspect="1"/>
          </p:cNvPicPr>
          <p:nvPr/>
        </p:nvPicPr>
        <p:blipFill>
          <a:blip r:embed="rId5"/>
          <a:stretch>
            <a:fillRect/>
          </a:stretch>
        </p:blipFill>
        <p:spPr>
          <a:xfrm>
            <a:off x="1559566" y="1844802"/>
            <a:ext cx="9072562" cy="2971800"/>
          </a:xfrm>
          <a:prstGeom prst="rect">
            <a:avLst/>
          </a:prstGeom>
        </p:spPr>
      </p:pic>
      <p:sp>
        <p:nvSpPr>
          <p:cNvPr id="10" name="Rounded Rectangle 9"/>
          <p:cNvSpPr/>
          <p:nvPr/>
        </p:nvSpPr>
        <p:spPr>
          <a:xfrm>
            <a:off x="530352" y="4962906"/>
            <a:ext cx="11130991" cy="10744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676656" y="5090922"/>
            <a:ext cx="45720" cy="8183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7824" y="5081778"/>
            <a:ext cx="10564063" cy="891540"/>
          </a:xfrm>
          <a:prstGeom prst="rect">
            <a:avLst/>
          </a:prstGeom>
          <a:noFill/>
        </p:spPr>
        <p:txBody>
          <a:bodyPr wrap="square" anchor="ctr" lIns="0" rIns="0" tIns="0" bIns="0">
            <a:spAutoFit/>
          </a:bodyPr>
          <a:lstStyle/>
          <a:p>
            <a:r>
              <a:rPr sz="1500" b="1">
                <a:solidFill>
                  <a:srgbClr val="5B3FD6"/>
                </a:solidFill>
                <a:latin typeface="Calibri"/>
              </a:rPr>
              <a:t>A published page. </a:t>
            </a:r>
            <a:r>
              <a:rPr sz="1500" b="0" i="0">
                <a:solidFill>
                  <a:srgbClr val="1A1440"/>
                </a:solidFill>
                <a:latin typeface="Calibri"/>
              </a:rPr>
              <a:t>Uber's annual report defines a monthly active platform consumer as a unique consumer who completed a ride or received a delivery at least once in a month, averaged over the quarter: a count with a receipt and a window, written down; as a count, it has no denominator.</a:t>
            </a:r>
          </a:p>
        </p:txBody>
      </p:sp>
      <p:sp>
        <p:nvSpPr>
          <p:cNvPr id="13" name="TextBox 12"/>
          <p:cNvSpPr txBox="1"/>
          <p:nvPr/>
        </p:nvSpPr>
        <p:spPr>
          <a:xfrm>
            <a:off x="530352" y="6437376"/>
            <a:ext cx="256032" cy="152146"/>
          </a:xfrm>
          <a:prstGeom prst="rect">
            <a:avLst/>
          </a:prstGeom>
          <a:noFill/>
        </p:spPr>
        <p:txBody>
          <a:bodyPr wrap="square" anchor="t" lIns="0" rIns="0" tIns="0" bIns="0">
            <a:spAutoFit/>
          </a:bodyPr>
          <a:lstStyle/>
          <a:p>
            <a:pPr algn="l"/>
            <a:r>
              <a:rPr sz="700" b="0" i="0">
                <a:solidFill>
                  <a:srgbClr val="6B6690"/>
                </a:solidFill>
                <a:latin typeface="Calibri"/>
              </a:rPr>
              <a:t>…</a:t>
            </a:r>
          </a:p>
        </p:txBody>
      </p:sp>
      <p:sp>
        <p:nvSpPr>
          <p:cNvPr id="14" name="Oval 13"/>
          <p:cNvSpPr/>
          <p:nvPr/>
        </p:nvSpPr>
        <p:spPr>
          <a:xfrm>
            <a:off x="78638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96112"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Which number warns?</a:t>
            </a:r>
          </a:p>
        </p:txBody>
      </p:sp>
      <p:sp>
        <p:nvSpPr>
          <p:cNvPr id="16" name="Oval 15"/>
          <p:cNvSpPr/>
          <p:nvPr/>
        </p:nvSpPr>
        <p:spPr>
          <a:xfrm>
            <a:off x="213598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2245709"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Which four lines?</a:t>
            </a:r>
          </a:p>
        </p:txBody>
      </p:sp>
      <p:sp>
        <p:nvSpPr>
          <p:cNvPr id="18" name="Oval 17"/>
          <p:cNvSpPr/>
          <p:nvPr/>
        </p:nvSpPr>
        <p:spPr>
          <a:xfrm>
            <a:off x="339356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3503295"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How is a number gamed?</a:t>
            </a:r>
          </a:p>
        </p:txBody>
      </p:sp>
      <p:sp>
        <p:nvSpPr>
          <p:cNvPr id="20" name="Oval 19"/>
          <p:cNvSpPr/>
          <p:nvPr/>
        </p:nvSpPr>
        <p:spPr>
          <a:xfrm>
            <a:off x="4881181"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4990909" y="6437376"/>
            <a:ext cx="1378457" cy="152146"/>
          </a:xfrm>
          <a:prstGeom prst="rect">
            <a:avLst/>
          </a:prstGeom>
          <a:noFill/>
        </p:spPr>
        <p:txBody>
          <a:bodyPr wrap="square" anchor="t" lIns="0" rIns="0" tIns="0" bIns="0">
            <a:spAutoFit/>
          </a:bodyPr>
          <a:lstStyle/>
          <a:p>
            <a:pPr algn="l"/>
            <a:r>
              <a:rPr sz="700" b="1" i="0">
                <a:solidFill>
                  <a:srgbClr val="5B3FD6"/>
                </a:solidFill>
                <a:latin typeface="Calibri"/>
              </a:rPr>
              <a:t>What does the page hold?</a:t>
            </a:r>
          </a:p>
        </p:txBody>
      </p:sp>
      <p:sp>
        <p:nvSpPr>
          <p:cNvPr id="22" name="Oval 21"/>
          <p:cNvSpPr/>
          <p:nvPr/>
        </p:nvSpPr>
        <p:spPr>
          <a:xfrm>
            <a:off x="646080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6570535"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an hour count?</a:t>
            </a:r>
          </a:p>
        </p:txBody>
      </p:sp>
      <p:sp>
        <p:nvSpPr>
          <p:cNvPr id="24" name="Oval 23"/>
          <p:cNvSpPr/>
          <p:nvPr/>
        </p:nvSpPr>
        <p:spPr>
          <a:xfrm>
            <a:off x="804043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8150161"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Where did the fall sit?</a:t>
            </a:r>
          </a:p>
        </p:txBody>
      </p:sp>
      <p:sp>
        <p:nvSpPr>
          <p:cNvPr id="26" name="Oval 25"/>
          <p:cNvSpPr/>
          <p:nvPr/>
        </p:nvSpPr>
        <p:spPr>
          <a:xfrm>
            <a:off x="957405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9683781"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should it pay for?</a:t>
            </a:r>
          </a:p>
        </p:txBody>
      </p:sp>
      <p:sp>
        <p:nvSpPr>
          <p:cNvPr id="28" name="TextBox 27"/>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S53  ·  59 / 93</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dark.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FFFFFF"/>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CFC9EE"/>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CFC9EE"/>
                </a:solidFill>
                <a:latin typeface="Calibri"/>
              </a:rPr>
              <a:t>PG DIPLOMA IN AI-ML AND AGENTIC AI ENGINEERING  ·  COHORT 2</a:t>
            </a:r>
          </a:p>
        </p:txBody>
      </p:sp>
      <p:sp>
        <p:nvSpPr>
          <p:cNvPr id="7" name="TextBox 6"/>
          <p:cNvSpPr txBox="1"/>
          <p:nvPr/>
        </p:nvSpPr>
        <p:spPr>
          <a:xfrm>
            <a:off x="731519" y="1143000"/>
            <a:ext cx="3657600" cy="1371600"/>
          </a:xfrm>
          <a:prstGeom prst="rect">
            <a:avLst/>
          </a:prstGeom>
          <a:noFill/>
        </p:spPr>
        <p:txBody>
          <a:bodyPr wrap="square" anchor="t" lIns="0" rIns="0" tIns="0" bIns="0">
            <a:spAutoFit/>
          </a:bodyPr>
          <a:lstStyle/>
          <a:p>
            <a:pPr algn="l"/>
            <a:r>
              <a:rPr sz="9600" b="0" i="0">
                <a:solidFill>
                  <a:srgbClr val="D9A7FF"/>
                </a:solidFill>
                <a:latin typeface="Georgia"/>
              </a:rPr>
              <a:t>07</a:t>
            </a:r>
          </a:p>
        </p:txBody>
      </p:sp>
      <p:sp>
        <p:nvSpPr>
          <p:cNvPr id="8" name="TextBox 7"/>
          <p:cNvSpPr txBox="1"/>
          <p:nvPr/>
        </p:nvSpPr>
        <p:spPr>
          <a:xfrm>
            <a:off x="731519" y="2542032"/>
            <a:ext cx="10673791" cy="350266"/>
          </a:xfrm>
          <a:prstGeom prst="rect">
            <a:avLst/>
          </a:prstGeom>
          <a:noFill/>
        </p:spPr>
        <p:txBody>
          <a:bodyPr wrap="square" anchor="t" lIns="0" rIns="0" tIns="0" bIns="0">
            <a:spAutoFit/>
          </a:bodyPr>
          <a:lstStyle/>
          <a:p>
            <a:pPr algn="l"/>
            <a:r>
              <a:rPr sz="1900" b="1" i="0">
                <a:solidFill>
                  <a:srgbClr val="D9A7FF"/>
                </a:solidFill>
                <a:latin typeface="Calibri"/>
              </a:rPr>
              <a:t>Twelve driver-weeks by hand, with the proxy test and the four definition lines</a:t>
            </a:r>
          </a:p>
        </p:txBody>
      </p:sp>
      <p:sp>
        <p:nvSpPr>
          <p:cNvPr id="9" name="TextBox 8"/>
          <p:cNvSpPr txBox="1"/>
          <p:nvPr/>
        </p:nvSpPr>
        <p:spPr>
          <a:xfrm>
            <a:off x="731519" y="3017520"/>
            <a:ext cx="10673791" cy="731520"/>
          </a:xfrm>
          <a:prstGeom prst="rect">
            <a:avLst/>
          </a:prstGeom>
          <a:noFill/>
        </p:spPr>
        <p:txBody>
          <a:bodyPr wrap="square" anchor="t" lIns="0" rIns="0" tIns="0" bIns="0">
            <a:spAutoFit/>
          </a:bodyPr>
          <a:lstStyle/>
          <a:p>
            <a:pPr algn="l"/>
            <a:r>
              <a:rPr sz="4000" b="0" i="0">
                <a:solidFill>
                  <a:srgbClr val="FFFFFF"/>
                </a:solidFill>
                <a:latin typeface="Georgia"/>
              </a:rPr>
              <a:t>What does an hour count?</a:t>
            </a:r>
          </a:p>
        </p:txBody>
      </p:sp>
      <p:sp>
        <p:nvSpPr>
          <p:cNvPr id="10" name="TextBox 9"/>
          <p:cNvSpPr txBox="1"/>
          <p:nvPr/>
        </p:nvSpPr>
        <p:spPr>
          <a:xfrm>
            <a:off x="731519" y="3931920"/>
            <a:ext cx="9509760" cy="531876"/>
          </a:xfrm>
          <a:prstGeom prst="rect">
            <a:avLst/>
          </a:prstGeom>
          <a:noFill/>
        </p:spPr>
        <p:txBody>
          <a:bodyPr wrap="square" anchor="t" lIns="0" rIns="0" tIns="0" bIns="0">
            <a:spAutoFit/>
          </a:bodyPr>
          <a:lstStyle/>
          <a:p>
            <a:pPr algn="l"/>
            <a:r>
              <a:rPr sz="1500" b="0" i="0">
                <a:solidFill>
                  <a:srgbClr val="E4E1F1"/>
                </a:solidFill>
                <a:latin typeface="Calibri"/>
              </a:rPr>
              <a:t>Applies the proxy test (chapter 1) and the four lines of a definition (chapter 4) to six drivers counted by hand, before the city head reads "hours up 24 percent" as success.</a:t>
            </a:r>
          </a:p>
        </p:txBody>
      </p:sp>
      <p:sp>
        <p:nvSpPr>
          <p:cNvPr id="11" name="Rounded Rectangle 10"/>
          <p:cNvSpPr/>
          <p:nvPr/>
        </p:nvSpPr>
        <p:spPr>
          <a:xfrm>
            <a:off x="731519" y="5074920"/>
            <a:ext cx="1082213"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What is a number for?</a:t>
            </a:r>
          </a:p>
        </p:txBody>
      </p:sp>
      <p:sp>
        <p:nvSpPr>
          <p:cNvPr id="12" name="Rounded Rectangle 11"/>
          <p:cNvSpPr/>
          <p:nvPr/>
        </p:nvSpPr>
        <p:spPr>
          <a:xfrm>
            <a:off x="1923461" y="5074920"/>
            <a:ext cx="1122034"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Which number to chase?</a:t>
            </a:r>
          </a:p>
        </p:txBody>
      </p:sp>
      <p:sp>
        <p:nvSpPr>
          <p:cNvPr id="13" name="Rounded Rectangle 12"/>
          <p:cNvSpPr/>
          <p:nvPr/>
        </p:nvSpPr>
        <p:spPr>
          <a:xfrm>
            <a:off x="3155223" y="5074920"/>
            <a:ext cx="1002570"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Which number warns?</a:t>
            </a:r>
          </a:p>
        </p:txBody>
      </p:sp>
      <p:sp>
        <p:nvSpPr>
          <p:cNvPr id="14" name="Rounded Rectangle 13"/>
          <p:cNvSpPr/>
          <p:nvPr/>
        </p:nvSpPr>
        <p:spPr>
          <a:xfrm>
            <a:off x="4267522" y="5074920"/>
            <a:ext cx="922927"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Which four lines?</a:t>
            </a:r>
          </a:p>
        </p:txBody>
      </p:sp>
      <p:sp>
        <p:nvSpPr>
          <p:cNvPr id="15" name="Rounded Rectangle 14"/>
          <p:cNvSpPr/>
          <p:nvPr/>
        </p:nvSpPr>
        <p:spPr>
          <a:xfrm>
            <a:off x="5300178" y="5074920"/>
            <a:ext cx="1122034"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How is a number gamed?</a:t>
            </a:r>
          </a:p>
        </p:txBody>
      </p:sp>
      <p:sp>
        <p:nvSpPr>
          <p:cNvPr id="16" name="Rounded Rectangle 15"/>
          <p:cNvSpPr/>
          <p:nvPr/>
        </p:nvSpPr>
        <p:spPr>
          <a:xfrm>
            <a:off x="6531940" y="5074920"/>
            <a:ext cx="1201677"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What does the page hold?</a:t>
            </a:r>
          </a:p>
        </p:txBody>
      </p:sp>
      <p:sp>
        <p:nvSpPr>
          <p:cNvPr id="17" name="Rounded Rectangle 16"/>
          <p:cNvSpPr/>
          <p:nvPr/>
        </p:nvSpPr>
        <p:spPr>
          <a:xfrm>
            <a:off x="7843346" y="5074920"/>
            <a:ext cx="1201677" cy="310896"/>
          </a:xfrm>
          <a:prstGeom prst="roundRect">
            <a:avLst>
              <a:gd name="adj" fmla="val 50000"/>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1">
                <a:solidFill>
                  <a:srgbClr val="1A0F5C"/>
                </a:solidFill>
                <a:latin typeface="Calibri"/>
              </a:rPr>
              <a:t>What does an hour count?</a:t>
            </a:r>
          </a:p>
        </p:txBody>
      </p:sp>
      <p:sp>
        <p:nvSpPr>
          <p:cNvPr id="18" name="Rounded Rectangle 17"/>
          <p:cNvSpPr/>
          <p:nvPr/>
        </p:nvSpPr>
        <p:spPr>
          <a:xfrm>
            <a:off x="9154751" y="5074920"/>
            <a:ext cx="1161855"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Where did the fall sit?</a:t>
            </a:r>
          </a:p>
        </p:txBody>
      </p:sp>
      <p:sp>
        <p:nvSpPr>
          <p:cNvPr id="19" name="Rounded Rectangle 18"/>
          <p:cNvSpPr/>
          <p:nvPr/>
        </p:nvSpPr>
        <p:spPr>
          <a:xfrm>
            <a:off x="10426335" y="5074920"/>
            <a:ext cx="1161855"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What should it pay for?</a:t>
            </a:r>
          </a:p>
        </p:txBody>
      </p:sp>
      <p:sp>
        <p:nvSpPr>
          <p:cNvPr id="20" name="TextBox 19"/>
          <p:cNvSpPr txBox="1"/>
          <p:nvPr/>
        </p:nvSpPr>
        <p:spPr>
          <a:xfrm>
            <a:off x="530352" y="6437376"/>
            <a:ext cx="9667951" cy="160401"/>
          </a:xfrm>
          <a:prstGeom prst="rect">
            <a:avLst/>
          </a:prstGeom>
          <a:noFill/>
        </p:spPr>
        <p:txBody>
          <a:bodyPr wrap="square" anchor="t" lIns="0" rIns="0" tIns="0" bIns="0">
            <a:spAutoFit/>
          </a:bodyPr>
          <a:lstStyle/>
          <a:p>
            <a:pPr algn="l"/>
            <a:r>
              <a:rPr sz="750" b="0" i="0">
                <a:solidFill>
                  <a:srgbClr val="CFC9EE"/>
                </a:solidFill>
                <a:latin typeface="Calibri"/>
              </a:rPr>
              <a:t>Week 4, Day 1. Business metric design: which number should the plan chase, and what stops it being gamed?</a:t>
            </a:r>
          </a:p>
        </p:txBody>
      </p:sp>
      <p:sp>
        <p:nvSpPr>
          <p:cNvPr id="21" name="TextBox 20"/>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CFC9EE"/>
                </a:solidFill>
                <a:latin typeface="Calibri"/>
              </a:rPr>
              <a:t>60 / 93</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MONDAY  ·  BUSINESS METRIC DESIGN  ·  UBER, HYDERABAD</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Twelve rows apply the proxy test and the four lines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Who needs the answer, and which questions lead to it?</a:t>
            </a:r>
          </a:p>
        </p:txBody>
      </p:sp>
      <p:sp>
        <p:nvSpPr>
          <p:cNvPr id="9" name="Rounded Rectangle 8"/>
          <p:cNvSpPr/>
          <p:nvPr/>
        </p:nvSpPr>
        <p:spPr>
          <a:xfrm>
            <a:off x="530352" y="1853438"/>
            <a:ext cx="11130991" cy="8077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unded Rectangle 9"/>
          <p:cNvSpPr/>
          <p:nvPr/>
        </p:nvSpPr>
        <p:spPr>
          <a:xfrm>
            <a:off x="676656" y="1981454"/>
            <a:ext cx="45720" cy="5516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77824" y="1972310"/>
            <a:ext cx="10564063" cy="624840"/>
          </a:xfrm>
          <a:prstGeom prst="rect">
            <a:avLst/>
          </a:prstGeom>
          <a:noFill/>
        </p:spPr>
        <p:txBody>
          <a:bodyPr wrap="square" anchor="ctr" lIns="0" rIns="0" tIns="0" bIns="0">
            <a:spAutoFit/>
          </a:bodyPr>
          <a:lstStyle/>
          <a:p>
            <a:r>
              <a:rPr sz="1500" b="1">
                <a:solidFill>
                  <a:srgbClr val="5B3FD6"/>
                </a:solidFill>
                <a:latin typeface="Calibri"/>
              </a:rPr>
              <a:t>Applies: </a:t>
            </a:r>
            <a:r>
              <a:rPr sz="1500" b="0" i="0">
                <a:solidFill>
                  <a:srgbClr val="1A1440"/>
                </a:solidFill>
                <a:latin typeface="Calibri"/>
              </a:rPr>
              <a:t>What to measure and why; the proxy test (chapter 1); Definitions: numerator, denominator, window, exclusions (chapter 4).</a:t>
            </a:r>
          </a:p>
        </p:txBody>
      </p:sp>
      <p:sp>
        <p:nvSpPr>
          <p:cNvPr id="12" name="Rounded Rectangle 11"/>
          <p:cNvSpPr/>
          <p:nvPr/>
        </p:nvSpPr>
        <p:spPr>
          <a:xfrm>
            <a:off x="530352" y="2825750"/>
            <a:ext cx="11130991" cy="10744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ounded Rectangle 12"/>
          <p:cNvSpPr/>
          <p:nvPr/>
        </p:nvSpPr>
        <p:spPr>
          <a:xfrm>
            <a:off x="676656" y="2953766"/>
            <a:ext cx="45720" cy="8183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77824" y="2944622"/>
            <a:ext cx="10564063" cy="891540"/>
          </a:xfrm>
          <a:prstGeom prst="rect">
            <a:avLst/>
          </a:prstGeom>
          <a:noFill/>
        </p:spPr>
        <p:txBody>
          <a:bodyPr wrap="square" anchor="ctr" lIns="0" rIns="0" tIns="0" bIns="0">
            <a:spAutoFit/>
          </a:bodyPr>
          <a:lstStyle/>
          <a:p>
            <a:r>
              <a:rPr sz="1500" b="1">
                <a:solidFill>
                  <a:srgbClr val="5B3FD6"/>
                </a:solidFill>
                <a:latin typeface="Calibri"/>
              </a:rPr>
              <a:t>Who needs the answer. </a:t>
            </a:r>
            <a:r>
              <a:rPr sz="1500" b="0" i="0">
                <a:solidFill>
                  <a:srgbClr val="1A1440"/>
                </a:solidFill>
                <a:latin typeface="Calibri"/>
              </a:rPr>
              <a:t>The Hyderabad city head, who decides on Friday whether the scheme is working and whether to extend it to two more cities: if "hours up 24 percent" is read as "riders picked up much faster" while the wait moved only from 4.8 to 4.6 minutes, the same top-up goes to two more cities.</a:t>
            </a:r>
          </a:p>
        </p:txBody>
      </p:sp>
      <p:sp>
        <p:nvSpPr>
          <p:cNvPr id="15" name="Rectangle 14"/>
          <p:cNvSpPr/>
          <p:nvPr/>
        </p:nvSpPr>
        <p:spPr>
          <a:xfrm>
            <a:off x="1853145" y="4631690"/>
            <a:ext cx="8485403" cy="18288"/>
          </a:xfrm>
          <a:prstGeom prst="rect">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530352" y="4064762"/>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THE TICKET</a:t>
            </a:r>
          </a:p>
        </p:txBody>
      </p:sp>
      <p:sp>
        <p:nvSpPr>
          <p:cNvPr id="17" name="Oval 16"/>
          <p:cNvSpPr/>
          <p:nvPr/>
        </p:nvSpPr>
        <p:spPr>
          <a:xfrm>
            <a:off x="1752561" y="4540250"/>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ounded Rectangle 17"/>
          <p:cNvSpPr/>
          <p:nvPr/>
        </p:nvSpPr>
        <p:spPr>
          <a:xfrm>
            <a:off x="530352" y="4951730"/>
            <a:ext cx="2645587"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694944" y="5098034"/>
            <a:ext cx="2316403" cy="465836"/>
          </a:xfrm>
          <a:prstGeom prst="rect">
            <a:avLst/>
          </a:prstGeom>
          <a:noFill/>
        </p:spPr>
        <p:txBody>
          <a:bodyPr wrap="square" anchor="t" lIns="0" rIns="0" tIns="0" bIns="0">
            <a:spAutoFit/>
          </a:bodyPr>
          <a:lstStyle/>
          <a:p>
            <a:pPr algn="l"/>
            <a:r>
              <a:rPr sz="1300" b="1" i="0">
                <a:solidFill>
                  <a:srgbClr val="1A0F5C"/>
                </a:solidFill>
                <a:latin typeface="Calibri"/>
              </a:rPr>
              <a:t>What launched, and what moved?</a:t>
            </a:r>
          </a:p>
        </p:txBody>
      </p:sp>
      <p:sp>
        <p:nvSpPr>
          <p:cNvPr id="20" name="TextBox 19"/>
          <p:cNvSpPr txBox="1"/>
          <p:nvPr/>
        </p:nvSpPr>
        <p:spPr>
          <a:xfrm>
            <a:off x="694944" y="5600446"/>
            <a:ext cx="2316403" cy="201676"/>
          </a:xfrm>
          <a:prstGeom prst="rect">
            <a:avLst/>
          </a:prstGeom>
          <a:noFill/>
        </p:spPr>
        <p:txBody>
          <a:bodyPr wrap="square" anchor="t" lIns="0" rIns="0" tIns="0" bIns="0">
            <a:spAutoFit/>
          </a:bodyPr>
          <a:lstStyle/>
          <a:p>
            <a:pPr algn="l"/>
            <a:r>
              <a:rPr sz="1000" b="0" i="0">
                <a:solidFill>
                  <a:srgbClr val="6B6690"/>
                </a:solidFill>
                <a:latin typeface="Calibri"/>
              </a:rPr>
              <a:t>The full ticket, read in order.</a:t>
            </a:r>
          </a:p>
        </p:txBody>
      </p:sp>
      <p:sp>
        <p:nvSpPr>
          <p:cNvPr id="21" name="TextBox 20"/>
          <p:cNvSpPr txBox="1"/>
          <p:nvPr/>
        </p:nvSpPr>
        <p:spPr>
          <a:xfrm>
            <a:off x="3358819" y="4064762"/>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THE ROLES</a:t>
            </a:r>
          </a:p>
        </p:txBody>
      </p:sp>
      <p:sp>
        <p:nvSpPr>
          <p:cNvPr id="22" name="Oval 21"/>
          <p:cNvSpPr/>
          <p:nvPr/>
        </p:nvSpPr>
        <p:spPr>
          <a:xfrm>
            <a:off x="4581029" y="4540250"/>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ounded Rectangle 22"/>
          <p:cNvSpPr/>
          <p:nvPr/>
        </p:nvSpPr>
        <p:spPr>
          <a:xfrm>
            <a:off x="3358819" y="4951730"/>
            <a:ext cx="2645587"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3523411" y="5098034"/>
            <a:ext cx="2316403" cy="465836"/>
          </a:xfrm>
          <a:prstGeom prst="rect">
            <a:avLst/>
          </a:prstGeom>
          <a:noFill/>
        </p:spPr>
        <p:txBody>
          <a:bodyPr wrap="square" anchor="t" lIns="0" rIns="0" tIns="0" bIns="0">
            <a:spAutoFit/>
          </a:bodyPr>
          <a:lstStyle/>
          <a:p>
            <a:pPr algn="l"/>
            <a:r>
              <a:rPr sz="1300" b="1" i="0">
                <a:solidFill>
                  <a:srgbClr val="1A0F5C"/>
                </a:solidFill>
                <a:latin typeface="Calibri"/>
              </a:rPr>
              <a:t>How could each number rise badly?</a:t>
            </a:r>
          </a:p>
        </p:txBody>
      </p:sp>
      <p:sp>
        <p:nvSpPr>
          <p:cNvPr id="25" name="TextBox 24"/>
          <p:cNvSpPr txBox="1"/>
          <p:nvPr/>
        </p:nvSpPr>
        <p:spPr>
          <a:xfrm>
            <a:off x="3523411" y="5600446"/>
            <a:ext cx="2316403" cy="201676"/>
          </a:xfrm>
          <a:prstGeom prst="rect">
            <a:avLst/>
          </a:prstGeom>
          <a:noFill/>
        </p:spPr>
        <p:txBody>
          <a:bodyPr wrap="square" anchor="t" lIns="0" rIns="0" tIns="0" bIns="0">
            <a:spAutoFit/>
          </a:bodyPr>
          <a:lstStyle/>
          <a:p>
            <a:pPr algn="l"/>
            <a:r>
              <a:rPr sz="1000" b="0" i="0">
                <a:solidFill>
                  <a:srgbClr val="6B6690"/>
                </a:solidFill>
                <a:latin typeface="Calibri"/>
              </a:rPr>
              <a:t>Round 1 of the war game.</a:t>
            </a:r>
          </a:p>
        </p:txBody>
      </p:sp>
      <p:sp>
        <p:nvSpPr>
          <p:cNvPr id="26" name="TextBox 25"/>
          <p:cNvSpPr txBox="1"/>
          <p:nvPr/>
        </p:nvSpPr>
        <p:spPr>
          <a:xfrm>
            <a:off x="6187287" y="4064762"/>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THE ROWS</a:t>
            </a:r>
          </a:p>
        </p:txBody>
      </p:sp>
      <p:sp>
        <p:nvSpPr>
          <p:cNvPr id="27" name="Oval 26"/>
          <p:cNvSpPr/>
          <p:nvPr/>
        </p:nvSpPr>
        <p:spPr>
          <a:xfrm>
            <a:off x="7409497" y="4540250"/>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ounded Rectangle 27"/>
          <p:cNvSpPr/>
          <p:nvPr/>
        </p:nvSpPr>
        <p:spPr>
          <a:xfrm>
            <a:off x="6187287" y="4951730"/>
            <a:ext cx="2645587"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6351879" y="5098034"/>
            <a:ext cx="2316403" cy="251205"/>
          </a:xfrm>
          <a:prstGeom prst="rect">
            <a:avLst/>
          </a:prstGeom>
          <a:noFill/>
        </p:spPr>
        <p:txBody>
          <a:bodyPr wrap="square" anchor="t" lIns="0" rIns="0" tIns="0" bIns="0">
            <a:spAutoFit/>
          </a:bodyPr>
          <a:lstStyle/>
          <a:p>
            <a:pPr algn="l"/>
            <a:r>
              <a:rPr sz="1300" b="1" i="0">
                <a:solidFill>
                  <a:srgbClr val="1A0F5C"/>
                </a:solidFill>
                <a:latin typeface="Calibri"/>
              </a:rPr>
              <a:t>What did six drivers do?</a:t>
            </a:r>
          </a:p>
        </p:txBody>
      </p:sp>
      <p:sp>
        <p:nvSpPr>
          <p:cNvPr id="30" name="TextBox 29"/>
          <p:cNvSpPr txBox="1"/>
          <p:nvPr/>
        </p:nvSpPr>
        <p:spPr>
          <a:xfrm>
            <a:off x="6351879" y="5385816"/>
            <a:ext cx="2316403" cy="366776"/>
          </a:xfrm>
          <a:prstGeom prst="rect">
            <a:avLst/>
          </a:prstGeom>
          <a:noFill/>
        </p:spPr>
        <p:txBody>
          <a:bodyPr wrap="square" anchor="t" lIns="0" rIns="0" tIns="0" bIns="0">
            <a:spAutoFit/>
          </a:bodyPr>
          <a:lstStyle/>
          <a:p>
            <a:pPr algn="l"/>
            <a:r>
              <a:rPr sz="1000" b="0" i="0">
                <a:solidFill>
                  <a:srgbClr val="6B6690"/>
                </a:solidFill>
                <a:latin typeface="Calibri"/>
              </a:rPr>
              <a:t>Twelve driver-weeks, counted by hand.</a:t>
            </a:r>
          </a:p>
        </p:txBody>
      </p:sp>
      <p:sp>
        <p:nvSpPr>
          <p:cNvPr id="31" name="TextBox 30"/>
          <p:cNvSpPr txBox="1"/>
          <p:nvPr/>
        </p:nvSpPr>
        <p:spPr>
          <a:xfrm>
            <a:off x="9015755" y="4064762"/>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THE GAP</a:t>
            </a:r>
          </a:p>
        </p:txBody>
      </p:sp>
      <p:sp>
        <p:nvSpPr>
          <p:cNvPr id="32" name="Oval 31"/>
          <p:cNvSpPr/>
          <p:nvPr/>
        </p:nvSpPr>
        <p:spPr>
          <a:xfrm>
            <a:off x="10237965" y="4540250"/>
            <a:ext cx="201168" cy="201168"/>
          </a:xfrm>
          <a:prstGeom prst="ellipse">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ounded Rectangle 32"/>
          <p:cNvSpPr/>
          <p:nvPr/>
        </p:nvSpPr>
        <p:spPr>
          <a:xfrm>
            <a:off x="9015755" y="4951730"/>
            <a:ext cx="2645587" cy="1076960"/>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9180347" y="5098034"/>
            <a:ext cx="2316403" cy="251205"/>
          </a:xfrm>
          <a:prstGeom prst="rect">
            <a:avLst/>
          </a:prstGeom>
          <a:noFill/>
        </p:spPr>
        <p:txBody>
          <a:bodyPr wrap="square" anchor="t" lIns="0" rIns="0" tIns="0" bIns="0">
            <a:spAutoFit/>
          </a:bodyPr>
          <a:lstStyle/>
          <a:p>
            <a:pPr algn="l"/>
            <a:r>
              <a:rPr sz="1300" b="1" i="0">
                <a:solidFill>
                  <a:srgbClr val="FFFFFF"/>
                </a:solidFill>
                <a:latin typeface="Calibri"/>
              </a:rPr>
              <a:t>Why do six fall further?</a:t>
            </a:r>
          </a:p>
        </p:txBody>
      </p:sp>
      <p:sp>
        <p:nvSpPr>
          <p:cNvPr id="35" name="TextBox 34"/>
          <p:cNvSpPr txBox="1"/>
          <p:nvPr/>
        </p:nvSpPr>
        <p:spPr>
          <a:xfrm>
            <a:off x="9180347" y="5385816"/>
            <a:ext cx="2316403" cy="366776"/>
          </a:xfrm>
          <a:prstGeom prst="rect">
            <a:avLst/>
          </a:prstGeom>
          <a:noFill/>
        </p:spPr>
        <p:txBody>
          <a:bodyPr wrap="square" anchor="t" lIns="0" rIns="0" tIns="0" bIns="0">
            <a:spAutoFit/>
          </a:bodyPr>
          <a:lstStyle/>
          <a:p>
            <a:pPr algn="l"/>
            <a:r>
              <a:rPr sz="1000" b="0" i="0">
                <a:solidFill>
                  <a:srgbClr val="CFC9EE"/>
                </a:solidFill>
                <a:latin typeface="Calibri"/>
              </a:rPr>
              <a:t>Two of the six logged hours with almost no trips.</a:t>
            </a:r>
          </a:p>
        </p:txBody>
      </p:sp>
      <p:sp>
        <p:nvSpPr>
          <p:cNvPr id="36" name="TextBox 35"/>
          <p:cNvSpPr txBox="1"/>
          <p:nvPr/>
        </p:nvSpPr>
        <p:spPr>
          <a:xfrm>
            <a:off x="530352" y="6437376"/>
            <a:ext cx="256032" cy="152146"/>
          </a:xfrm>
          <a:prstGeom prst="rect">
            <a:avLst/>
          </a:prstGeom>
          <a:noFill/>
        </p:spPr>
        <p:txBody>
          <a:bodyPr wrap="square" anchor="t" lIns="0" rIns="0" tIns="0" bIns="0">
            <a:spAutoFit/>
          </a:bodyPr>
          <a:lstStyle/>
          <a:p>
            <a:pPr algn="l"/>
            <a:r>
              <a:rPr sz="700" b="0" i="0">
                <a:solidFill>
                  <a:srgbClr val="6B6690"/>
                </a:solidFill>
                <a:latin typeface="Calibri"/>
              </a:rPr>
              <a:t>…</a:t>
            </a:r>
          </a:p>
        </p:txBody>
      </p:sp>
      <p:sp>
        <p:nvSpPr>
          <p:cNvPr id="37" name="Oval 36"/>
          <p:cNvSpPr/>
          <p:nvPr/>
        </p:nvSpPr>
        <p:spPr>
          <a:xfrm>
            <a:off x="78638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896112"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Which number warns?</a:t>
            </a:r>
          </a:p>
        </p:txBody>
      </p:sp>
      <p:sp>
        <p:nvSpPr>
          <p:cNvPr id="39" name="Oval 38"/>
          <p:cNvSpPr/>
          <p:nvPr/>
        </p:nvSpPr>
        <p:spPr>
          <a:xfrm>
            <a:off x="213598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2245709"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Which four lines?</a:t>
            </a:r>
          </a:p>
        </p:txBody>
      </p:sp>
      <p:sp>
        <p:nvSpPr>
          <p:cNvPr id="41" name="Oval 40"/>
          <p:cNvSpPr/>
          <p:nvPr/>
        </p:nvSpPr>
        <p:spPr>
          <a:xfrm>
            <a:off x="339356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3503295"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How is a number gamed?</a:t>
            </a:r>
          </a:p>
        </p:txBody>
      </p:sp>
      <p:sp>
        <p:nvSpPr>
          <p:cNvPr id="43" name="Oval 42"/>
          <p:cNvSpPr/>
          <p:nvPr/>
        </p:nvSpPr>
        <p:spPr>
          <a:xfrm>
            <a:off x="488118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4990909"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the page hold?</a:t>
            </a:r>
          </a:p>
        </p:txBody>
      </p:sp>
      <p:sp>
        <p:nvSpPr>
          <p:cNvPr id="45" name="Oval 44"/>
          <p:cNvSpPr/>
          <p:nvPr/>
        </p:nvSpPr>
        <p:spPr>
          <a:xfrm>
            <a:off x="6460807"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TextBox 45"/>
          <p:cNvSpPr txBox="1"/>
          <p:nvPr/>
        </p:nvSpPr>
        <p:spPr>
          <a:xfrm>
            <a:off x="6570535" y="6437376"/>
            <a:ext cx="1378457" cy="152146"/>
          </a:xfrm>
          <a:prstGeom prst="rect">
            <a:avLst/>
          </a:prstGeom>
          <a:noFill/>
        </p:spPr>
        <p:txBody>
          <a:bodyPr wrap="square" anchor="t" lIns="0" rIns="0" tIns="0" bIns="0">
            <a:spAutoFit/>
          </a:bodyPr>
          <a:lstStyle/>
          <a:p>
            <a:pPr algn="l"/>
            <a:r>
              <a:rPr sz="700" b="1" i="0">
                <a:solidFill>
                  <a:srgbClr val="5B3FD6"/>
                </a:solidFill>
                <a:latin typeface="Calibri"/>
              </a:rPr>
              <a:t>What does an hour count?</a:t>
            </a:r>
          </a:p>
        </p:txBody>
      </p:sp>
      <p:sp>
        <p:nvSpPr>
          <p:cNvPr id="47" name="Oval 46"/>
          <p:cNvSpPr/>
          <p:nvPr/>
        </p:nvSpPr>
        <p:spPr>
          <a:xfrm>
            <a:off x="804043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TextBox 47"/>
          <p:cNvSpPr txBox="1"/>
          <p:nvPr/>
        </p:nvSpPr>
        <p:spPr>
          <a:xfrm>
            <a:off x="8150161"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Where did the fall sit?</a:t>
            </a:r>
          </a:p>
        </p:txBody>
      </p:sp>
      <p:sp>
        <p:nvSpPr>
          <p:cNvPr id="49" name="Oval 48"/>
          <p:cNvSpPr/>
          <p:nvPr/>
        </p:nvSpPr>
        <p:spPr>
          <a:xfrm>
            <a:off x="957405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TextBox 49"/>
          <p:cNvSpPr txBox="1"/>
          <p:nvPr/>
        </p:nvSpPr>
        <p:spPr>
          <a:xfrm>
            <a:off x="9683781"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should it pay for?</a:t>
            </a:r>
          </a:p>
        </p:txBody>
      </p:sp>
      <p:sp>
        <p:nvSpPr>
          <p:cNvPr id="51" name="TextBox 50"/>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S54  ·  61 / 93</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MONDAY  ·  BUSINESS METRIC DESIGN  ·  UBER, HYDERABAD</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Ticket: Uber Hyderabad's peak-hour guarantee</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did the city team launch, what moved in six weeks, and what does the city head ask?</a:t>
            </a:r>
          </a:p>
        </p:txBody>
      </p:sp>
      <p:sp>
        <p:nvSpPr>
          <p:cNvPr id="9" name="Rounded Rectangle 8"/>
          <p:cNvSpPr/>
          <p:nvPr/>
        </p:nvSpPr>
        <p:spPr>
          <a:xfrm>
            <a:off x="530352" y="1682496"/>
            <a:ext cx="5291175" cy="11633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unded Rectangle 9"/>
          <p:cNvSpPr/>
          <p:nvPr/>
        </p:nvSpPr>
        <p:spPr>
          <a:xfrm>
            <a:off x="676656" y="1810512"/>
            <a:ext cx="45720" cy="907287"/>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77824" y="1801368"/>
            <a:ext cx="4724247" cy="980440"/>
          </a:xfrm>
          <a:prstGeom prst="rect">
            <a:avLst/>
          </a:prstGeom>
          <a:noFill/>
        </p:spPr>
        <p:txBody>
          <a:bodyPr wrap="square" anchor="ctr" lIns="0" rIns="0" tIns="0" bIns="0">
            <a:spAutoFit/>
          </a:bodyPr>
          <a:lstStyle/>
          <a:p>
            <a:r>
              <a:rPr sz="1000" b="1">
                <a:solidFill>
                  <a:srgbClr val="5B3FD6"/>
                </a:solidFill>
                <a:latin typeface="Calibri"/>
              </a:rPr>
              <a:t>Uber, Hyderabad, the driver app. </a:t>
            </a:r>
            <a:r>
              <a:rPr sz="1000" b="0" i="0">
                <a:solidFill>
                  <a:srgbClr val="1A1440"/>
                </a:solidFill>
                <a:latin typeface="Calibri"/>
              </a:rPr>
              <a:t>From Monday 31 August 2026 an enrolled driver (one signed up for the scheme) online through a whole peak window (two a day, three hours each) is guaranteed Rs 300 per peak online hour: Uber tops up the gap between the driver's trip earnings and that floor. The goal: riders picked up faster.</a:t>
            </a:r>
          </a:p>
        </p:txBody>
      </p:sp>
      <p:graphicFrame>
        <p:nvGraphicFramePr>
          <p:cNvPr id="12" name="Table 11"/>
          <p:cNvGraphicFramePr>
            <a:graphicFrameLocks noGrp="1"/>
          </p:cNvGraphicFramePr>
          <p:nvPr/>
        </p:nvGraphicFramePr>
        <p:xfrm>
          <a:off x="530352" y="3010408"/>
          <a:ext cx="5291174" cy="2505456"/>
        </p:xfrm>
        <a:graphic>
          <a:graphicData uri="http://schemas.openxmlformats.org/drawingml/2006/table">
            <a:tbl>
              <a:tblPr firstRow="0" bandRow="0">
                <a:tableStyleId>{2D5ABB26-0587-4C30-8999-92F81FD0307C}</a:tableStyleId>
              </a:tblPr>
              <a:tblGrid>
                <a:gridCol w="2296141"/>
                <a:gridCol w="1110433"/>
                <a:gridCol w="1884600"/>
              </a:tblGrid>
              <a:tr h="438912">
                <a:tc>
                  <a:txBody>
                    <a:bodyPr/>
                    <a:lstStyle/>
                    <a:p>
                      <a:r>
                        <a:rPr sz="950" b="1" i="0">
                          <a:solidFill>
                            <a:srgbClr val="FFFFFF"/>
                          </a:solidFill>
                          <a:latin typeface="Calibri"/>
                        </a:rPr>
                        <a:t>Six weeks each side</a:t>
                      </a:r>
                    </a:p>
                  </a:txBody>
                  <a:tcPr marL="101600" marR="101600" marT="38100" marB="38100" anchor="ctr">
                    <a:solidFill>
                      <a:srgbClr val="1A0F5C"/>
                    </a:solidFill>
                  </a:tcPr>
                </a:tc>
                <a:tc>
                  <a:txBody>
                    <a:bodyPr/>
                    <a:lstStyle/>
                    <a:p>
                      <a:r>
                        <a:rPr sz="950" b="1" i="0">
                          <a:solidFill>
                            <a:srgbClr val="FFFFFF"/>
                          </a:solidFill>
                          <a:latin typeface="Calibri"/>
                        </a:rPr>
                        <a:t>20 Jul to 30 Aug</a:t>
                      </a:r>
                    </a:p>
                  </a:txBody>
                  <a:tcPr marL="101600" marR="101600" marT="38100" marB="38100" anchor="ctr">
                    <a:solidFill>
                      <a:srgbClr val="1A0F5C"/>
                    </a:solidFill>
                  </a:tcPr>
                </a:tc>
                <a:tc>
                  <a:txBody>
                    <a:bodyPr/>
                    <a:lstStyle/>
                    <a:p>
                      <a:r>
                        <a:rPr sz="950" b="1" i="0">
                          <a:solidFill>
                            <a:srgbClr val="FFFFFF"/>
                          </a:solidFill>
                          <a:latin typeface="Calibri"/>
                        </a:rPr>
                        <a:t>31 Aug to 11 Oct</a:t>
                      </a:r>
                    </a:p>
                  </a:txBody>
                  <a:tcPr marL="101600" marR="101600" marT="38100" marB="38100" anchor="ctr">
                    <a:solidFill>
                      <a:srgbClr val="1A0F5C"/>
                    </a:solidFill>
                  </a:tcPr>
                </a:tc>
              </a:tr>
              <a:tr h="438912">
                <a:tc>
                  <a:txBody>
                    <a:bodyPr/>
                    <a:lstStyle/>
                    <a:p>
                      <a:r>
                        <a:rPr sz="900" b="0" i="0">
                          <a:solidFill>
                            <a:srgbClr val="1A1440"/>
                          </a:solidFill>
                          <a:latin typeface="Calibri"/>
                        </a:rPr>
                        <a:t>Peak online hours; completed peak trips</a:t>
                      </a:r>
                    </a:p>
                  </a:txBody>
                  <a:tcPr marL="101600" marR="101600" marT="38100" marB="38100" anchor="ctr">
                    <a:solidFill>
                      <a:srgbClr val="FFFFFF"/>
                    </a:solidFill>
                  </a:tcPr>
                </a:tc>
                <a:tc>
                  <a:txBody>
                    <a:bodyPr/>
                    <a:lstStyle/>
                    <a:p>
                      <a:r>
                        <a:rPr sz="900" b="0" i="0">
                          <a:solidFill>
                            <a:srgbClr val="1A1440"/>
                          </a:solidFill>
                          <a:latin typeface="Calibri"/>
                        </a:rPr>
                        <a:t>118,000; 224,200</a:t>
                      </a:r>
                    </a:p>
                  </a:txBody>
                  <a:tcPr marL="101600" marR="101600" marT="38100" marB="38100" anchor="ctr">
                    <a:solidFill>
                      <a:srgbClr val="FFFFFF"/>
                    </a:solidFill>
                  </a:tcPr>
                </a:tc>
                <a:tc>
                  <a:txBody>
                    <a:bodyPr/>
                    <a:lstStyle/>
                    <a:p>
                      <a:r>
                        <a:rPr sz="900" b="0" i="0">
                          <a:solidFill>
                            <a:srgbClr val="1A1440"/>
                          </a:solidFill>
                          <a:latin typeface="Calibri"/>
                        </a:rPr>
                        <a:t>146,300 (up 24%); 230,900 (up 3%)</a:t>
                      </a:r>
                    </a:p>
                  </a:txBody>
                  <a:tcPr marL="101600" marR="101600" marT="38100" marB="38100" anchor="ctr">
                    <a:solidFill>
                      <a:srgbClr val="FFFFFF"/>
                    </a:solidFill>
                  </a:tcPr>
                </a:tc>
              </a:tr>
              <a:tr h="310896">
                <a:tc>
                  <a:txBody>
                    <a:bodyPr/>
                    <a:lstStyle/>
                    <a:p>
                      <a:r>
                        <a:rPr sz="900" b="0" i="0">
                          <a:solidFill>
                            <a:srgbClr val="1A1440"/>
                          </a:solidFill>
                          <a:latin typeface="Calibri"/>
                        </a:rPr>
                        <a:t>Trips per peak online hour</a:t>
                      </a:r>
                    </a:p>
                  </a:txBody>
                  <a:tcPr marL="101600" marR="101600" marT="38100" marB="38100" anchor="ctr">
                    <a:solidFill>
                      <a:srgbClr val="F4F2FA"/>
                    </a:solidFill>
                  </a:tcPr>
                </a:tc>
                <a:tc>
                  <a:txBody>
                    <a:bodyPr/>
                    <a:lstStyle/>
                    <a:p>
                      <a:r>
                        <a:rPr sz="900" b="0" i="0">
                          <a:solidFill>
                            <a:srgbClr val="1A1440"/>
                          </a:solidFill>
                          <a:latin typeface="Calibri"/>
                        </a:rPr>
                        <a:t>1.90</a:t>
                      </a:r>
                    </a:p>
                  </a:txBody>
                  <a:tcPr marL="101600" marR="101600" marT="38100" marB="38100" anchor="ctr">
                    <a:solidFill>
                      <a:srgbClr val="F4F2FA"/>
                    </a:solidFill>
                  </a:tcPr>
                </a:tc>
                <a:tc>
                  <a:txBody>
                    <a:bodyPr/>
                    <a:lstStyle/>
                    <a:p>
                      <a:r>
                        <a:rPr sz="900" b="0" i="0">
                          <a:solidFill>
                            <a:srgbClr val="1A1440"/>
                          </a:solidFill>
                          <a:latin typeface="Calibri"/>
                        </a:rPr>
                        <a:t>1.58</a:t>
                      </a:r>
                    </a:p>
                  </a:txBody>
                  <a:tcPr marL="101600" marR="101600" marT="38100" marB="38100" anchor="ctr">
                    <a:solidFill>
                      <a:srgbClr val="F4F2FA"/>
                    </a:solidFill>
                  </a:tcPr>
                </a:tc>
              </a:tr>
              <a:tr h="438912">
                <a:tc>
                  <a:txBody>
                    <a:bodyPr/>
                    <a:lstStyle/>
                    <a:p>
                      <a:r>
                        <a:rPr sz="900" b="0" i="0">
                          <a:solidFill>
                            <a:srgbClr val="1A1440"/>
                          </a:solidFill>
                          <a:latin typeface="Calibri"/>
                        </a:rPr>
                        <a:t>Share of offers accepted; share of accepted trips the driver cancelled</a:t>
                      </a:r>
                    </a:p>
                  </a:txBody>
                  <a:tcPr marL="101600" marR="101600" marT="38100" marB="38100" anchor="ctr">
                    <a:solidFill>
                      <a:srgbClr val="FFFFFF"/>
                    </a:solidFill>
                  </a:tcPr>
                </a:tc>
                <a:tc>
                  <a:txBody>
                    <a:bodyPr/>
                    <a:lstStyle/>
                    <a:p>
                      <a:r>
                        <a:rPr sz="900" b="0" i="0">
                          <a:solidFill>
                            <a:srgbClr val="1A1440"/>
                          </a:solidFill>
                          <a:latin typeface="Calibri"/>
                        </a:rPr>
                        <a:t>0.86; 0.04</a:t>
                      </a:r>
                    </a:p>
                  </a:txBody>
                  <a:tcPr marL="101600" marR="101600" marT="38100" marB="38100" anchor="ctr">
                    <a:solidFill>
                      <a:srgbClr val="FFFFFF"/>
                    </a:solidFill>
                  </a:tcPr>
                </a:tc>
                <a:tc>
                  <a:txBody>
                    <a:bodyPr/>
                    <a:lstStyle/>
                    <a:p>
                      <a:r>
                        <a:rPr sz="900" b="0" i="0">
                          <a:solidFill>
                            <a:srgbClr val="1A1440"/>
                          </a:solidFill>
                          <a:latin typeface="Calibri"/>
                        </a:rPr>
                        <a:t>0.73; 0.09</a:t>
                      </a:r>
                    </a:p>
                  </a:txBody>
                  <a:tcPr marL="101600" marR="101600" marT="38100" marB="38100" anchor="ctr">
                    <a:solidFill>
                      <a:srgbClr val="FFFFFF"/>
                    </a:solidFill>
                  </a:tcPr>
                </a:tc>
              </a:tr>
              <a:tr h="438912">
                <a:tc>
                  <a:txBody>
                    <a:bodyPr/>
                    <a:lstStyle/>
                    <a:p>
                      <a:r>
                        <a:rPr sz="900" b="0" i="0">
                          <a:solidFill>
                            <a:srgbClr val="1A1440"/>
                          </a:solidFill>
                          <a:latin typeface="Calibri"/>
                        </a:rPr>
                        <a:t>Share of online hours with no trip; median rider wait</a:t>
                      </a:r>
                    </a:p>
                  </a:txBody>
                  <a:tcPr marL="101600" marR="101600" marT="38100" marB="38100" anchor="ctr">
                    <a:solidFill>
                      <a:srgbClr val="F4F2FA"/>
                    </a:solidFill>
                  </a:tcPr>
                </a:tc>
                <a:tc>
                  <a:txBody>
                    <a:bodyPr/>
                    <a:lstStyle/>
                    <a:p>
                      <a:r>
                        <a:rPr sz="900" b="0" i="0">
                          <a:solidFill>
                            <a:srgbClr val="1A1440"/>
                          </a:solidFill>
                          <a:latin typeface="Calibri"/>
                        </a:rPr>
                        <a:t>0.22; 4.8 min</a:t>
                      </a:r>
                    </a:p>
                  </a:txBody>
                  <a:tcPr marL="101600" marR="101600" marT="38100" marB="38100" anchor="ctr">
                    <a:solidFill>
                      <a:srgbClr val="F4F2FA"/>
                    </a:solidFill>
                  </a:tcPr>
                </a:tc>
                <a:tc>
                  <a:txBody>
                    <a:bodyPr/>
                    <a:lstStyle/>
                    <a:p>
                      <a:r>
                        <a:rPr sz="900" b="0" i="0">
                          <a:solidFill>
                            <a:srgbClr val="1A1440"/>
                          </a:solidFill>
                          <a:latin typeface="Calibri"/>
                        </a:rPr>
                        <a:t>0.38; 4.6 min</a:t>
                      </a:r>
                    </a:p>
                  </a:txBody>
                  <a:tcPr marL="101600" marR="101600" marT="38100" marB="38100" anchor="ctr">
                    <a:solidFill>
                      <a:srgbClr val="F4F2FA"/>
                    </a:solidFill>
                  </a:tcPr>
                </a:tc>
              </a:tr>
              <a:tr h="438912">
                <a:tc>
                  <a:txBody>
                    <a:bodyPr/>
                    <a:lstStyle/>
                    <a:p>
                      <a:r>
                        <a:rPr sz="900" b="0" i="0">
                          <a:solidFill>
                            <a:srgbClr val="1A1440"/>
                          </a:solidFill>
                          <a:latin typeface="Calibri"/>
                        </a:rPr>
                        <a:t>Share of rider requests unfulfilled; top-up paid</a:t>
                      </a:r>
                    </a:p>
                  </a:txBody>
                  <a:tcPr marL="101600" marR="101600" marT="38100" marB="38100" anchor="ctr">
                    <a:solidFill>
                      <a:srgbClr val="FFFFFF"/>
                    </a:solidFill>
                  </a:tcPr>
                </a:tc>
                <a:tc>
                  <a:txBody>
                    <a:bodyPr/>
                    <a:lstStyle/>
                    <a:p>
                      <a:r>
                        <a:rPr sz="900" b="0" i="0">
                          <a:solidFill>
                            <a:srgbClr val="1A1440"/>
                          </a:solidFill>
                          <a:latin typeface="Calibri"/>
                        </a:rPr>
                        <a:t>0.11; Rs 0</a:t>
                      </a:r>
                    </a:p>
                  </a:txBody>
                  <a:tcPr marL="101600" marR="101600" marT="38100" marB="38100" anchor="ctr">
                    <a:solidFill>
                      <a:srgbClr val="FFFFFF"/>
                    </a:solidFill>
                  </a:tcPr>
                </a:tc>
                <a:tc>
                  <a:txBody>
                    <a:bodyPr/>
                    <a:lstStyle/>
                    <a:p>
                      <a:r>
                        <a:rPr sz="900" b="0" i="0">
                          <a:solidFill>
                            <a:srgbClr val="1A1440"/>
                          </a:solidFill>
                          <a:latin typeface="Calibri"/>
                        </a:rPr>
                        <a:t>0.10; Rs 1.9 crore</a:t>
                      </a:r>
                    </a:p>
                  </a:txBody>
                  <a:tcPr marL="101600" marR="101600" marT="38100" marB="38100" anchor="ctr">
                    <a:solidFill>
                      <a:srgbClr val="FFFFFF"/>
                    </a:solidFill>
                  </a:tcPr>
                </a:tc>
              </a:tr>
            </a:tbl>
          </a:graphicData>
        </a:graphic>
      </p:graphicFrame>
      <p:sp>
        <p:nvSpPr>
          <p:cNvPr id="13" name="Rounded Rectangle 12"/>
          <p:cNvSpPr/>
          <p:nvPr/>
        </p:nvSpPr>
        <p:spPr>
          <a:xfrm>
            <a:off x="6370167" y="1682496"/>
            <a:ext cx="5291175" cy="22301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ounded Rectangle 13"/>
          <p:cNvSpPr/>
          <p:nvPr/>
        </p:nvSpPr>
        <p:spPr>
          <a:xfrm>
            <a:off x="6516471" y="1810512"/>
            <a:ext cx="45720" cy="19740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6717639" y="1801368"/>
            <a:ext cx="4724247" cy="2047239"/>
          </a:xfrm>
          <a:prstGeom prst="rect">
            <a:avLst/>
          </a:prstGeom>
          <a:noFill/>
        </p:spPr>
        <p:txBody>
          <a:bodyPr wrap="square" anchor="ctr" lIns="0" rIns="0" tIns="0" bIns="0">
            <a:spAutoFit/>
          </a:bodyPr>
          <a:lstStyle/>
          <a:p>
            <a:r>
              <a:rPr sz="1000" b="1">
                <a:solidFill>
                  <a:srgbClr val="5B3FD6"/>
                </a:solidFill>
                <a:latin typeface="Calibri"/>
              </a:rPr>
              <a:t>Data: </a:t>
            </a:r>
            <a:r>
              <a:rPr sz="1000" b="0" i="0">
                <a:solidFill>
                  <a:srgbClr val="1A1440"/>
                </a:solidFill>
                <a:latin typeface="Calibri"/>
              </a:rPr>
              <a:t>drivers (1,200; 140 joined after the launch), driver_weeks (one row per driver per week: hours, offers, accepted, cancels, trips, hours with no trip, bookings as fares riders paid, top-up; a request one driver declines is shown to the next, so one request can appear as several offers), zone_weeks (rider requests, fulfilled, median wait). </a:t>
            </a:r>
            <a:r>
              <a:rPr sz="1000" b="1" i="0">
                <a:solidFill>
                  <a:srgbClr val="1A1440"/>
                </a:solidFill>
                <a:latin typeface="Calibri"/>
              </a:rPr>
              <a:t>Ask, due Friday:</a:t>
            </a:r>
            <a:r>
              <a:rPr sz="1000" b="0" i="0">
                <a:solidFill>
                  <a:srgbClr val="1A1440"/>
                </a:solidFill>
                <a:latin typeface="Calibri"/>
              </a:rPr>
              <a:t> is it working, what should it pay for, is anyone gaming it, raising the number without doing what it stands for? </a:t>
            </a:r>
            <a:r>
              <a:rPr sz="1000" b="1" i="0">
                <a:solidFill>
                  <a:srgbClr val="1A1440"/>
                </a:solidFill>
                <a:latin typeface="Calibri"/>
              </a:rPr>
              <a:t>Caveats:</a:t>
            </a:r>
            <a:r>
              <a:rPr sz="1000" b="0" i="0">
                <a:solidFill>
                  <a:srgbClr val="1A1440"/>
                </a:solidFill>
                <a:latin typeface="Calibri"/>
              </a:rPr>
              <a:t> the monsoon ended mid-window; 140 drivers are new; online means the app is open; three outer zones (Shamshabad, Rajendranagar, Patancheru) get few requests; drivers can be on two apps; trip earnings, the driver's share of the fares, are not in the data.</a:t>
            </a:r>
          </a:p>
        </p:txBody>
      </p:sp>
      <p:sp>
        <p:nvSpPr>
          <p:cNvPr id="16" name="Rounded Rectangle 15"/>
          <p:cNvSpPr/>
          <p:nvPr/>
        </p:nvSpPr>
        <p:spPr>
          <a:xfrm>
            <a:off x="6370167" y="4077208"/>
            <a:ext cx="45720" cy="574040"/>
          </a:xfrm>
          <a:prstGeom prst="roundRect">
            <a:avLst>
              <a:gd name="adj" fmla="val 50000"/>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6626199" y="4077208"/>
            <a:ext cx="4980279" cy="574040"/>
          </a:xfrm>
          <a:prstGeom prst="rect">
            <a:avLst/>
          </a:prstGeom>
          <a:noFill/>
        </p:spPr>
        <p:txBody>
          <a:bodyPr wrap="square" anchor="t" lIns="0" rIns="0" tIns="0" bIns="0">
            <a:spAutoFit/>
          </a:bodyPr>
          <a:lstStyle/>
          <a:p>
            <a:r>
              <a:rPr sz="1100" b="0" i="1">
                <a:solidFill>
                  <a:srgbClr val="1A0F5C"/>
                </a:solidFill>
                <a:latin typeface="Georgia"/>
              </a:rPr>
              <a:t>*Illustrative case: the company is real, the situation and the data are synthetic, built for this class.*</a:t>
            </a:r>
          </a:p>
        </p:txBody>
      </p:sp>
      <p:sp>
        <p:nvSpPr>
          <p:cNvPr id="18" name="TextBox 17"/>
          <p:cNvSpPr txBox="1"/>
          <p:nvPr/>
        </p:nvSpPr>
        <p:spPr>
          <a:xfrm>
            <a:off x="530352" y="6437376"/>
            <a:ext cx="256032" cy="152146"/>
          </a:xfrm>
          <a:prstGeom prst="rect">
            <a:avLst/>
          </a:prstGeom>
          <a:noFill/>
        </p:spPr>
        <p:txBody>
          <a:bodyPr wrap="square" anchor="t" lIns="0" rIns="0" tIns="0" bIns="0">
            <a:spAutoFit/>
          </a:bodyPr>
          <a:lstStyle/>
          <a:p>
            <a:pPr algn="l"/>
            <a:r>
              <a:rPr sz="700" b="0" i="0">
                <a:solidFill>
                  <a:srgbClr val="6B6690"/>
                </a:solidFill>
                <a:latin typeface="Calibri"/>
              </a:rPr>
              <a:t>…</a:t>
            </a:r>
          </a:p>
        </p:txBody>
      </p:sp>
      <p:sp>
        <p:nvSpPr>
          <p:cNvPr id="19" name="Oval 18"/>
          <p:cNvSpPr/>
          <p:nvPr/>
        </p:nvSpPr>
        <p:spPr>
          <a:xfrm>
            <a:off x="78638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896112"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Which number warns?</a:t>
            </a:r>
          </a:p>
        </p:txBody>
      </p:sp>
      <p:sp>
        <p:nvSpPr>
          <p:cNvPr id="21" name="Oval 20"/>
          <p:cNvSpPr/>
          <p:nvPr/>
        </p:nvSpPr>
        <p:spPr>
          <a:xfrm>
            <a:off x="213598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2245709"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Which four lines?</a:t>
            </a:r>
          </a:p>
        </p:txBody>
      </p:sp>
      <p:sp>
        <p:nvSpPr>
          <p:cNvPr id="23" name="Oval 22"/>
          <p:cNvSpPr/>
          <p:nvPr/>
        </p:nvSpPr>
        <p:spPr>
          <a:xfrm>
            <a:off x="339356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3503295"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How is a number gamed?</a:t>
            </a:r>
          </a:p>
        </p:txBody>
      </p:sp>
      <p:sp>
        <p:nvSpPr>
          <p:cNvPr id="25" name="Oval 24"/>
          <p:cNvSpPr/>
          <p:nvPr/>
        </p:nvSpPr>
        <p:spPr>
          <a:xfrm>
            <a:off x="488118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4990909"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the page hold?</a:t>
            </a:r>
          </a:p>
        </p:txBody>
      </p:sp>
      <p:sp>
        <p:nvSpPr>
          <p:cNvPr id="27" name="Oval 26"/>
          <p:cNvSpPr/>
          <p:nvPr/>
        </p:nvSpPr>
        <p:spPr>
          <a:xfrm>
            <a:off x="6460807"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6570535" y="6437376"/>
            <a:ext cx="1378457" cy="152146"/>
          </a:xfrm>
          <a:prstGeom prst="rect">
            <a:avLst/>
          </a:prstGeom>
          <a:noFill/>
        </p:spPr>
        <p:txBody>
          <a:bodyPr wrap="square" anchor="t" lIns="0" rIns="0" tIns="0" bIns="0">
            <a:spAutoFit/>
          </a:bodyPr>
          <a:lstStyle/>
          <a:p>
            <a:pPr algn="l"/>
            <a:r>
              <a:rPr sz="700" b="1" i="0">
                <a:solidFill>
                  <a:srgbClr val="5B3FD6"/>
                </a:solidFill>
                <a:latin typeface="Calibri"/>
              </a:rPr>
              <a:t>What does an hour count?</a:t>
            </a:r>
          </a:p>
        </p:txBody>
      </p:sp>
      <p:sp>
        <p:nvSpPr>
          <p:cNvPr id="29" name="Oval 28"/>
          <p:cNvSpPr/>
          <p:nvPr/>
        </p:nvSpPr>
        <p:spPr>
          <a:xfrm>
            <a:off x="804043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8150161"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Where did the fall sit?</a:t>
            </a:r>
          </a:p>
        </p:txBody>
      </p:sp>
      <p:sp>
        <p:nvSpPr>
          <p:cNvPr id="31" name="Oval 30"/>
          <p:cNvSpPr/>
          <p:nvPr/>
        </p:nvSpPr>
        <p:spPr>
          <a:xfrm>
            <a:off x="957405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9683781"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should it pay for?</a:t>
            </a:r>
          </a:p>
        </p:txBody>
      </p:sp>
      <p:sp>
        <p:nvSpPr>
          <p:cNvPr id="33" name="TextBox 32"/>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S55  ·  62 / 93</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MONDAY  ·  BUSINESS METRIC DESIGN  ·  UBER, HYDERABAD</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Where today ends: one sentence and seven lines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will the room hand the city head when the morning is done?</a:t>
            </a:r>
          </a:p>
        </p:txBody>
      </p:sp>
      <p:sp>
        <p:nvSpPr>
          <p:cNvPr id="9" name="TextBox 8"/>
          <p:cNvSpPr txBox="1"/>
          <p:nvPr/>
        </p:nvSpPr>
        <p:spPr>
          <a:xfrm>
            <a:off x="530352" y="1682496"/>
            <a:ext cx="11130991" cy="703072"/>
          </a:xfrm>
          <a:prstGeom prst="rect">
            <a:avLst/>
          </a:prstGeom>
          <a:noFill/>
        </p:spPr>
        <p:txBody>
          <a:bodyPr wrap="square" anchor="t" lIns="0" rIns="0" tIns="0" bIns="0">
            <a:spAutoFit/>
          </a:bodyPr>
          <a:lstStyle/>
          <a:p>
            <a:pPr>
              <a:spcAft>
                <a:spcPts val="700"/>
              </a:spcAft>
            </a:pPr>
            <a:r>
              <a:rPr sz="1400" b="0" i="0">
                <a:solidFill>
                  <a:srgbClr val="1A1440"/>
                </a:solidFill>
                <a:latin typeface="Calibri"/>
              </a:rPr>
              <a:t>By the close of the afternoon's first hour the room writes one sentence with its blanks filled from the data, and chapter 6's seven-line page for the city, which the three city-team roles, who each lose something under it, cannot break.</a:t>
            </a:r>
          </a:p>
        </p:txBody>
      </p:sp>
      <p:sp>
        <p:nvSpPr>
          <p:cNvPr id="10" name="Rounded Rectangle 9"/>
          <p:cNvSpPr/>
          <p:nvPr/>
        </p:nvSpPr>
        <p:spPr>
          <a:xfrm>
            <a:off x="530352" y="2513584"/>
            <a:ext cx="45720" cy="680720"/>
          </a:xfrm>
          <a:prstGeom prst="roundRect">
            <a:avLst>
              <a:gd name="adj" fmla="val 50000"/>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786384" y="2513584"/>
            <a:ext cx="10820095" cy="680720"/>
          </a:xfrm>
          <a:prstGeom prst="rect">
            <a:avLst/>
          </a:prstGeom>
          <a:noFill/>
        </p:spPr>
        <p:txBody>
          <a:bodyPr wrap="square" anchor="t" lIns="0" rIns="0" tIns="0" bIns="0">
            <a:spAutoFit/>
          </a:bodyPr>
          <a:lstStyle/>
          <a:p>
            <a:r>
              <a:rPr sz="1400" b="0" i="1">
                <a:solidFill>
                  <a:srgbClr val="1A0F5C"/>
                </a:solidFill>
                <a:latin typeface="Georgia"/>
              </a:rPr>
              <a:t>"Judge the scheme by ________, guarded by ________ and ________, because paying for hours cost Rs ____ in six weeks for ________."</a:t>
            </a:r>
          </a:p>
        </p:txBody>
      </p:sp>
      <p:sp>
        <p:nvSpPr>
          <p:cNvPr id="12" name="TextBox 11"/>
          <p:cNvSpPr txBox="1"/>
          <p:nvPr/>
        </p:nvSpPr>
        <p:spPr>
          <a:xfrm>
            <a:off x="530352" y="3340608"/>
            <a:ext cx="11130991" cy="461264"/>
          </a:xfrm>
          <a:prstGeom prst="rect">
            <a:avLst/>
          </a:prstGeom>
          <a:noFill/>
        </p:spPr>
        <p:txBody>
          <a:bodyPr wrap="square" anchor="t" lIns="0" rIns="0" tIns="0" bIns="0">
            <a:spAutoFit/>
          </a:bodyPr>
          <a:lstStyle/>
          <a:p>
            <a:pPr>
              <a:spcAft>
                <a:spcPts val="700"/>
              </a:spcAft>
            </a:pPr>
            <a:r>
              <a:rPr sz="1400" b="0" i="0">
                <a:solidFill>
                  <a:srgbClr val="1A1440"/>
                </a:solidFill>
                <a:latin typeface="Calibri"/>
              </a:rPr>
              <a:t>The sentence names the two guardrails for riders; the budget's guardrail, top-up per trip, sits on the page.</a:t>
            </a:r>
          </a:p>
        </p:txBody>
      </p:sp>
      <p:sp>
        <p:nvSpPr>
          <p:cNvPr id="13" name="Rectangle 12"/>
          <p:cNvSpPr/>
          <p:nvPr/>
        </p:nvSpPr>
        <p:spPr>
          <a:xfrm>
            <a:off x="1247045" y="4496816"/>
            <a:ext cx="9697603" cy="18288"/>
          </a:xfrm>
          <a:prstGeom prst="rect">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530352" y="3929888"/>
            <a:ext cx="1433387" cy="168656"/>
          </a:xfrm>
          <a:prstGeom prst="rect">
            <a:avLst/>
          </a:prstGeom>
          <a:noFill/>
        </p:spPr>
        <p:txBody>
          <a:bodyPr wrap="square" anchor="t" lIns="0" rIns="0" tIns="0" bIns="0">
            <a:spAutoFit/>
          </a:bodyPr>
          <a:lstStyle/>
          <a:p>
            <a:pPr algn="ctr"/>
            <a:r>
              <a:rPr sz="800" b="1" i="0" spc="250">
                <a:solidFill>
                  <a:srgbClr val="5B3FD6"/>
                </a:solidFill>
                <a:latin typeface="Calibri"/>
              </a:rPr>
              <a:t>LINE 1</a:t>
            </a:r>
          </a:p>
        </p:txBody>
      </p:sp>
      <p:sp>
        <p:nvSpPr>
          <p:cNvPr id="15" name="Oval 14"/>
          <p:cNvSpPr/>
          <p:nvPr/>
        </p:nvSpPr>
        <p:spPr>
          <a:xfrm>
            <a:off x="1146461" y="4405376"/>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ounded Rectangle 15"/>
          <p:cNvSpPr/>
          <p:nvPr/>
        </p:nvSpPr>
        <p:spPr>
          <a:xfrm>
            <a:off x="530352" y="4816856"/>
            <a:ext cx="1433387" cy="1197864"/>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694944" y="4963160"/>
            <a:ext cx="1104203" cy="218186"/>
          </a:xfrm>
          <a:prstGeom prst="rect">
            <a:avLst/>
          </a:prstGeom>
          <a:noFill/>
        </p:spPr>
        <p:txBody>
          <a:bodyPr wrap="square" anchor="t" lIns="0" rIns="0" tIns="0" bIns="0">
            <a:spAutoFit/>
          </a:bodyPr>
          <a:lstStyle/>
          <a:p>
            <a:pPr algn="l"/>
            <a:r>
              <a:rPr sz="1100" b="1" i="0">
                <a:solidFill>
                  <a:srgbClr val="1A0F5C"/>
                </a:solidFill>
                <a:latin typeface="Calibri"/>
              </a:rPr>
              <a:t>Numerator</a:t>
            </a:r>
          </a:p>
        </p:txBody>
      </p:sp>
      <p:sp>
        <p:nvSpPr>
          <p:cNvPr id="18" name="TextBox 17"/>
          <p:cNvSpPr txBox="1"/>
          <p:nvPr/>
        </p:nvSpPr>
        <p:spPr>
          <a:xfrm>
            <a:off x="694944" y="5217922"/>
            <a:ext cx="1104203" cy="333756"/>
          </a:xfrm>
          <a:prstGeom prst="rect">
            <a:avLst/>
          </a:prstGeom>
          <a:noFill/>
        </p:spPr>
        <p:txBody>
          <a:bodyPr wrap="square" anchor="t" lIns="0" rIns="0" tIns="0" bIns="0">
            <a:spAutoFit/>
          </a:bodyPr>
          <a:lstStyle/>
          <a:p>
            <a:pPr algn="l"/>
            <a:r>
              <a:rPr sz="900" b="0" i="0">
                <a:solidFill>
                  <a:srgbClr val="6B6690"/>
                </a:solidFill>
                <a:latin typeface="Calibri"/>
              </a:rPr>
              <a:t>What is counted, and when it counts</a:t>
            </a:r>
          </a:p>
        </p:txBody>
      </p:sp>
      <p:sp>
        <p:nvSpPr>
          <p:cNvPr id="19" name="TextBox 18"/>
          <p:cNvSpPr txBox="1"/>
          <p:nvPr/>
        </p:nvSpPr>
        <p:spPr>
          <a:xfrm>
            <a:off x="2146619" y="3929888"/>
            <a:ext cx="1433387" cy="168656"/>
          </a:xfrm>
          <a:prstGeom prst="rect">
            <a:avLst/>
          </a:prstGeom>
          <a:noFill/>
        </p:spPr>
        <p:txBody>
          <a:bodyPr wrap="square" anchor="t" lIns="0" rIns="0" tIns="0" bIns="0">
            <a:spAutoFit/>
          </a:bodyPr>
          <a:lstStyle/>
          <a:p>
            <a:pPr algn="ctr"/>
            <a:r>
              <a:rPr sz="800" b="1" i="0" spc="250">
                <a:solidFill>
                  <a:srgbClr val="5B3FD6"/>
                </a:solidFill>
                <a:latin typeface="Calibri"/>
              </a:rPr>
              <a:t>LINE 2</a:t>
            </a:r>
          </a:p>
        </p:txBody>
      </p:sp>
      <p:sp>
        <p:nvSpPr>
          <p:cNvPr id="20" name="Oval 19"/>
          <p:cNvSpPr/>
          <p:nvPr/>
        </p:nvSpPr>
        <p:spPr>
          <a:xfrm>
            <a:off x="2762728" y="4405376"/>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ounded Rectangle 20"/>
          <p:cNvSpPr/>
          <p:nvPr/>
        </p:nvSpPr>
        <p:spPr>
          <a:xfrm>
            <a:off x="2146619" y="4816856"/>
            <a:ext cx="1433387" cy="1197864"/>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2311211" y="4963160"/>
            <a:ext cx="1104203" cy="218186"/>
          </a:xfrm>
          <a:prstGeom prst="rect">
            <a:avLst/>
          </a:prstGeom>
          <a:noFill/>
        </p:spPr>
        <p:txBody>
          <a:bodyPr wrap="square" anchor="t" lIns="0" rIns="0" tIns="0" bIns="0">
            <a:spAutoFit/>
          </a:bodyPr>
          <a:lstStyle/>
          <a:p>
            <a:pPr algn="l"/>
            <a:r>
              <a:rPr sz="1100" b="1" i="0">
                <a:solidFill>
                  <a:srgbClr val="1A0F5C"/>
                </a:solidFill>
                <a:latin typeface="Calibri"/>
              </a:rPr>
              <a:t>Denominator</a:t>
            </a:r>
          </a:p>
        </p:txBody>
      </p:sp>
      <p:sp>
        <p:nvSpPr>
          <p:cNvPr id="23" name="TextBox 22"/>
          <p:cNvSpPr txBox="1"/>
          <p:nvPr/>
        </p:nvSpPr>
        <p:spPr>
          <a:xfrm>
            <a:off x="2311211" y="5217922"/>
            <a:ext cx="1104203" cy="482346"/>
          </a:xfrm>
          <a:prstGeom prst="rect">
            <a:avLst/>
          </a:prstGeom>
          <a:noFill/>
        </p:spPr>
        <p:txBody>
          <a:bodyPr wrap="square" anchor="t" lIns="0" rIns="0" tIns="0" bIns="0">
            <a:spAutoFit/>
          </a:bodyPr>
          <a:lstStyle/>
          <a:p>
            <a:pPr algn="l"/>
            <a:r>
              <a:rPr sz="900" b="0" i="0">
                <a:solidFill>
                  <a:srgbClr val="6B6690"/>
                </a:solidFill>
                <a:latin typeface="Calibri"/>
              </a:rPr>
              <a:t>Per whom, with the count printed beside the rate</a:t>
            </a:r>
          </a:p>
        </p:txBody>
      </p:sp>
      <p:sp>
        <p:nvSpPr>
          <p:cNvPr id="24" name="TextBox 23"/>
          <p:cNvSpPr txBox="1"/>
          <p:nvPr/>
        </p:nvSpPr>
        <p:spPr>
          <a:xfrm>
            <a:off x="3762886" y="3929888"/>
            <a:ext cx="1433387" cy="168656"/>
          </a:xfrm>
          <a:prstGeom prst="rect">
            <a:avLst/>
          </a:prstGeom>
          <a:noFill/>
        </p:spPr>
        <p:txBody>
          <a:bodyPr wrap="square" anchor="t" lIns="0" rIns="0" tIns="0" bIns="0">
            <a:spAutoFit/>
          </a:bodyPr>
          <a:lstStyle/>
          <a:p>
            <a:pPr algn="ctr"/>
            <a:r>
              <a:rPr sz="800" b="1" i="0" spc="250">
                <a:solidFill>
                  <a:srgbClr val="5B3FD6"/>
                </a:solidFill>
                <a:latin typeface="Calibri"/>
              </a:rPr>
              <a:t>LINE 3</a:t>
            </a:r>
          </a:p>
        </p:txBody>
      </p:sp>
      <p:sp>
        <p:nvSpPr>
          <p:cNvPr id="25" name="Oval 24"/>
          <p:cNvSpPr/>
          <p:nvPr/>
        </p:nvSpPr>
        <p:spPr>
          <a:xfrm>
            <a:off x="4378996" y="4405376"/>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ounded Rectangle 25"/>
          <p:cNvSpPr/>
          <p:nvPr/>
        </p:nvSpPr>
        <p:spPr>
          <a:xfrm>
            <a:off x="3762886" y="4816856"/>
            <a:ext cx="1433387" cy="1197864"/>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3927478" y="4963160"/>
            <a:ext cx="1104203" cy="218186"/>
          </a:xfrm>
          <a:prstGeom prst="rect">
            <a:avLst/>
          </a:prstGeom>
          <a:noFill/>
        </p:spPr>
        <p:txBody>
          <a:bodyPr wrap="square" anchor="t" lIns="0" rIns="0" tIns="0" bIns="0">
            <a:spAutoFit/>
          </a:bodyPr>
          <a:lstStyle/>
          <a:p>
            <a:pPr algn="l"/>
            <a:r>
              <a:rPr sz="1100" b="1" i="0">
                <a:solidFill>
                  <a:srgbClr val="1A0F5C"/>
                </a:solidFill>
                <a:latin typeface="Calibri"/>
              </a:rPr>
              <a:t>Window</a:t>
            </a:r>
          </a:p>
        </p:txBody>
      </p:sp>
      <p:sp>
        <p:nvSpPr>
          <p:cNvPr id="28" name="TextBox 27"/>
          <p:cNvSpPr txBox="1"/>
          <p:nvPr/>
        </p:nvSpPr>
        <p:spPr>
          <a:xfrm>
            <a:off x="3927478" y="5217922"/>
            <a:ext cx="1104203" cy="185166"/>
          </a:xfrm>
          <a:prstGeom prst="rect">
            <a:avLst/>
          </a:prstGeom>
          <a:noFill/>
        </p:spPr>
        <p:txBody>
          <a:bodyPr wrap="square" anchor="t" lIns="0" rIns="0" tIns="0" bIns="0">
            <a:spAutoFit/>
          </a:bodyPr>
          <a:lstStyle/>
          <a:p>
            <a:pPr algn="l"/>
            <a:r>
              <a:rPr sz="900" b="0" i="0">
                <a:solidFill>
                  <a:srgbClr val="6B6690"/>
                </a:solidFill>
                <a:latin typeface="Calibri"/>
              </a:rPr>
              <a:t>Over which period</a:t>
            </a:r>
          </a:p>
        </p:txBody>
      </p:sp>
      <p:sp>
        <p:nvSpPr>
          <p:cNvPr id="29" name="TextBox 28"/>
          <p:cNvSpPr txBox="1"/>
          <p:nvPr/>
        </p:nvSpPr>
        <p:spPr>
          <a:xfrm>
            <a:off x="5379153" y="3929888"/>
            <a:ext cx="1433387" cy="168656"/>
          </a:xfrm>
          <a:prstGeom prst="rect">
            <a:avLst/>
          </a:prstGeom>
          <a:noFill/>
        </p:spPr>
        <p:txBody>
          <a:bodyPr wrap="square" anchor="t" lIns="0" rIns="0" tIns="0" bIns="0">
            <a:spAutoFit/>
          </a:bodyPr>
          <a:lstStyle/>
          <a:p>
            <a:pPr algn="ctr"/>
            <a:r>
              <a:rPr sz="800" b="1" i="0" spc="250">
                <a:solidFill>
                  <a:srgbClr val="5B3FD6"/>
                </a:solidFill>
                <a:latin typeface="Calibri"/>
              </a:rPr>
              <a:t>LINE 4</a:t>
            </a:r>
          </a:p>
        </p:txBody>
      </p:sp>
      <p:sp>
        <p:nvSpPr>
          <p:cNvPr id="30" name="Oval 29"/>
          <p:cNvSpPr/>
          <p:nvPr/>
        </p:nvSpPr>
        <p:spPr>
          <a:xfrm>
            <a:off x="5995263" y="4405376"/>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ounded Rectangle 30"/>
          <p:cNvSpPr/>
          <p:nvPr/>
        </p:nvSpPr>
        <p:spPr>
          <a:xfrm>
            <a:off x="5379153" y="4816856"/>
            <a:ext cx="1433387" cy="1197864"/>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5543745" y="4963160"/>
            <a:ext cx="1104203" cy="218186"/>
          </a:xfrm>
          <a:prstGeom prst="rect">
            <a:avLst/>
          </a:prstGeom>
          <a:noFill/>
        </p:spPr>
        <p:txBody>
          <a:bodyPr wrap="square" anchor="t" lIns="0" rIns="0" tIns="0" bIns="0">
            <a:spAutoFit/>
          </a:bodyPr>
          <a:lstStyle/>
          <a:p>
            <a:pPr algn="l"/>
            <a:r>
              <a:rPr sz="1100" b="1" i="0">
                <a:solidFill>
                  <a:srgbClr val="1A0F5C"/>
                </a:solidFill>
                <a:latin typeface="Calibri"/>
              </a:rPr>
              <a:t>Exclusions</a:t>
            </a:r>
          </a:p>
        </p:txBody>
      </p:sp>
      <p:sp>
        <p:nvSpPr>
          <p:cNvPr id="33" name="TextBox 32"/>
          <p:cNvSpPr txBox="1"/>
          <p:nvPr/>
        </p:nvSpPr>
        <p:spPr>
          <a:xfrm>
            <a:off x="5543745" y="5217922"/>
            <a:ext cx="1104203" cy="482346"/>
          </a:xfrm>
          <a:prstGeom prst="rect">
            <a:avLst/>
          </a:prstGeom>
          <a:noFill/>
        </p:spPr>
        <p:txBody>
          <a:bodyPr wrap="square" anchor="t" lIns="0" rIns="0" tIns="0" bIns="0">
            <a:spAutoFit/>
          </a:bodyPr>
          <a:lstStyle/>
          <a:p>
            <a:pPr algn="l"/>
            <a:r>
              <a:rPr sz="900" b="0" i="0">
                <a:solidFill>
                  <a:srgbClr val="6B6690"/>
                </a:solidFill>
                <a:latin typeface="Calibri"/>
              </a:rPr>
              <a:t>What is left out on purpose, each change dated</a:t>
            </a:r>
          </a:p>
        </p:txBody>
      </p:sp>
      <p:sp>
        <p:nvSpPr>
          <p:cNvPr id="34" name="TextBox 33"/>
          <p:cNvSpPr txBox="1"/>
          <p:nvPr/>
        </p:nvSpPr>
        <p:spPr>
          <a:xfrm>
            <a:off x="6995421" y="3929888"/>
            <a:ext cx="1433387" cy="168656"/>
          </a:xfrm>
          <a:prstGeom prst="rect">
            <a:avLst/>
          </a:prstGeom>
          <a:noFill/>
        </p:spPr>
        <p:txBody>
          <a:bodyPr wrap="square" anchor="t" lIns="0" rIns="0" tIns="0" bIns="0">
            <a:spAutoFit/>
          </a:bodyPr>
          <a:lstStyle/>
          <a:p>
            <a:pPr algn="ctr"/>
            <a:r>
              <a:rPr sz="800" b="1" i="0" spc="250">
                <a:solidFill>
                  <a:srgbClr val="5B3FD6"/>
                </a:solidFill>
                <a:latin typeface="Calibri"/>
              </a:rPr>
              <a:t>LINE 5</a:t>
            </a:r>
          </a:p>
        </p:txBody>
      </p:sp>
      <p:sp>
        <p:nvSpPr>
          <p:cNvPr id="35" name="Oval 34"/>
          <p:cNvSpPr/>
          <p:nvPr/>
        </p:nvSpPr>
        <p:spPr>
          <a:xfrm>
            <a:off x="7611530" y="4405376"/>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ounded Rectangle 35"/>
          <p:cNvSpPr/>
          <p:nvPr/>
        </p:nvSpPr>
        <p:spPr>
          <a:xfrm>
            <a:off x="6995421" y="4816856"/>
            <a:ext cx="1433387" cy="1197864"/>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7160013" y="4963160"/>
            <a:ext cx="1104203" cy="399796"/>
          </a:xfrm>
          <a:prstGeom prst="rect">
            <a:avLst/>
          </a:prstGeom>
          <a:noFill/>
        </p:spPr>
        <p:txBody>
          <a:bodyPr wrap="square" anchor="t" lIns="0" rIns="0" tIns="0" bIns="0">
            <a:spAutoFit/>
          </a:bodyPr>
          <a:lstStyle/>
          <a:p>
            <a:pPr algn="l"/>
            <a:r>
              <a:rPr sz="1100" b="1" i="0">
                <a:solidFill>
                  <a:srgbClr val="1A0F5C"/>
                </a:solidFill>
                <a:latin typeface="Calibri"/>
              </a:rPr>
              <a:t>What it does not reward</a:t>
            </a:r>
          </a:p>
        </p:txBody>
      </p:sp>
      <p:sp>
        <p:nvSpPr>
          <p:cNvPr id="38" name="TextBox 37"/>
          <p:cNvSpPr txBox="1"/>
          <p:nvPr/>
        </p:nvSpPr>
        <p:spPr>
          <a:xfrm>
            <a:off x="7160013" y="5399532"/>
            <a:ext cx="1104203" cy="333756"/>
          </a:xfrm>
          <a:prstGeom prst="rect">
            <a:avLst/>
          </a:prstGeom>
          <a:noFill/>
        </p:spPr>
        <p:txBody>
          <a:bodyPr wrap="square" anchor="t" lIns="0" rIns="0" tIns="0" bIns="0">
            <a:spAutoFit/>
          </a:bodyPr>
          <a:lstStyle/>
          <a:p>
            <a:pPr algn="l"/>
            <a:r>
              <a:rPr sz="900" b="0" i="0">
                <a:solidFill>
                  <a:srgbClr val="6B6690"/>
                </a:solidFill>
                <a:latin typeface="Calibri"/>
              </a:rPr>
              <a:t>The behaviour it refuses to pay for</a:t>
            </a:r>
          </a:p>
        </p:txBody>
      </p:sp>
      <p:sp>
        <p:nvSpPr>
          <p:cNvPr id="39" name="TextBox 38"/>
          <p:cNvSpPr txBox="1"/>
          <p:nvPr/>
        </p:nvSpPr>
        <p:spPr>
          <a:xfrm>
            <a:off x="8611688" y="3929888"/>
            <a:ext cx="1433387" cy="168656"/>
          </a:xfrm>
          <a:prstGeom prst="rect">
            <a:avLst/>
          </a:prstGeom>
          <a:noFill/>
        </p:spPr>
        <p:txBody>
          <a:bodyPr wrap="square" anchor="t" lIns="0" rIns="0" tIns="0" bIns="0">
            <a:spAutoFit/>
          </a:bodyPr>
          <a:lstStyle/>
          <a:p>
            <a:pPr algn="ctr"/>
            <a:r>
              <a:rPr sz="800" b="1" i="0" spc="250">
                <a:solidFill>
                  <a:srgbClr val="5B3FD6"/>
                </a:solidFill>
                <a:latin typeface="Calibri"/>
              </a:rPr>
              <a:t>LINE 6</a:t>
            </a:r>
          </a:p>
        </p:txBody>
      </p:sp>
      <p:sp>
        <p:nvSpPr>
          <p:cNvPr id="40" name="Oval 39"/>
          <p:cNvSpPr/>
          <p:nvPr/>
        </p:nvSpPr>
        <p:spPr>
          <a:xfrm>
            <a:off x="9227798" y="4405376"/>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Rounded Rectangle 40"/>
          <p:cNvSpPr/>
          <p:nvPr/>
        </p:nvSpPr>
        <p:spPr>
          <a:xfrm>
            <a:off x="8611688" y="4816856"/>
            <a:ext cx="1433387" cy="1197864"/>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8776280" y="4963160"/>
            <a:ext cx="1104203" cy="218186"/>
          </a:xfrm>
          <a:prstGeom prst="rect">
            <a:avLst/>
          </a:prstGeom>
          <a:noFill/>
        </p:spPr>
        <p:txBody>
          <a:bodyPr wrap="square" anchor="t" lIns="0" rIns="0" tIns="0" bIns="0">
            <a:spAutoFit/>
          </a:bodyPr>
          <a:lstStyle/>
          <a:p>
            <a:pPr algn="l"/>
            <a:r>
              <a:rPr sz="1100" b="1" i="0">
                <a:solidFill>
                  <a:srgbClr val="1A0F5C"/>
                </a:solidFill>
                <a:latin typeface="Calibri"/>
              </a:rPr>
              <a:t>Guardrails</a:t>
            </a:r>
          </a:p>
        </p:txBody>
      </p:sp>
      <p:sp>
        <p:nvSpPr>
          <p:cNvPr id="43" name="TextBox 42"/>
          <p:cNvSpPr txBox="1"/>
          <p:nvPr/>
        </p:nvSpPr>
        <p:spPr>
          <a:xfrm>
            <a:off x="8776280" y="5217922"/>
            <a:ext cx="1104203" cy="482346"/>
          </a:xfrm>
          <a:prstGeom prst="rect">
            <a:avLst/>
          </a:prstGeom>
          <a:noFill/>
        </p:spPr>
        <p:txBody>
          <a:bodyPr wrap="square" anchor="t" lIns="0" rIns="0" tIns="0" bIns="0">
            <a:spAutoFit/>
          </a:bodyPr>
          <a:lstStyle/>
          <a:p>
            <a:pPr algn="l"/>
            <a:r>
              <a:rPr sz="900" b="0" i="0">
                <a:solidFill>
                  <a:srgbClr val="6B6690"/>
                </a:solidFill>
                <a:latin typeface="Calibri"/>
              </a:rPr>
              <a:t>Must not get worse: two for riders, one for the budget</a:t>
            </a:r>
          </a:p>
        </p:txBody>
      </p:sp>
      <p:sp>
        <p:nvSpPr>
          <p:cNvPr id="44" name="TextBox 43"/>
          <p:cNvSpPr txBox="1"/>
          <p:nvPr/>
        </p:nvSpPr>
        <p:spPr>
          <a:xfrm>
            <a:off x="10227955" y="3929888"/>
            <a:ext cx="1433387" cy="168656"/>
          </a:xfrm>
          <a:prstGeom prst="rect">
            <a:avLst/>
          </a:prstGeom>
          <a:noFill/>
        </p:spPr>
        <p:txBody>
          <a:bodyPr wrap="square" anchor="t" lIns="0" rIns="0" tIns="0" bIns="0">
            <a:spAutoFit/>
          </a:bodyPr>
          <a:lstStyle/>
          <a:p>
            <a:pPr algn="ctr"/>
            <a:r>
              <a:rPr sz="800" b="1" i="0" spc="250">
                <a:solidFill>
                  <a:srgbClr val="5B3FD6"/>
                </a:solidFill>
                <a:latin typeface="Calibri"/>
              </a:rPr>
              <a:t>LINE 7</a:t>
            </a:r>
          </a:p>
        </p:txBody>
      </p:sp>
      <p:sp>
        <p:nvSpPr>
          <p:cNvPr id="45" name="Oval 44"/>
          <p:cNvSpPr/>
          <p:nvPr/>
        </p:nvSpPr>
        <p:spPr>
          <a:xfrm>
            <a:off x="10844065" y="4405376"/>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Rounded Rectangle 45"/>
          <p:cNvSpPr/>
          <p:nvPr/>
        </p:nvSpPr>
        <p:spPr>
          <a:xfrm>
            <a:off x="10227955" y="4816856"/>
            <a:ext cx="1433387" cy="1197864"/>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TextBox 46"/>
          <p:cNvSpPr txBox="1"/>
          <p:nvPr/>
        </p:nvSpPr>
        <p:spPr>
          <a:xfrm>
            <a:off x="10392547" y="4963160"/>
            <a:ext cx="1104203" cy="218186"/>
          </a:xfrm>
          <a:prstGeom prst="rect">
            <a:avLst/>
          </a:prstGeom>
          <a:noFill/>
        </p:spPr>
        <p:txBody>
          <a:bodyPr wrap="square" anchor="t" lIns="0" rIns="0" tIns="0" bIns="0">
            <a:spAutoFit/>
          </a:bodyPr>
          <a:lstStyle/>
          <a:p>
            <a:pPr algn="l"/>
            <a:r>
              <a:rPr sz="1100" b="1" i="0">
                <a:solidFill>
                  <a:srgbClr val="1A0F5C"/>
                </a:solidFill>
                <a:latin typeface="Calibri"/>
              </a:rPr>
              <a:t>Gaming note</a:t>
            </a:r>
          </a:p>
        </p:txBody>
      </p:sp>
      <p:sp>
        <p:nvSpPr>
          <p:cNvPr id="48" name="TextBox 47"/>
          <p:cNvSpPr txBox="1"/>
          <p:nvPr/>
        </p:nvSpPr>
        <p:spPr>
          <a:xfrm>
            <a:off x="10392547" y="5217922"/>
            <a:ext cx="1104203" cy="482346"/>
          </a:xfrm>
          <a:prstGeom prst="rect">
            <a:avLst/>
          </a:prstGeom>
          <a:noFill/>
        </p:spPr>
        <p:txBody>
          <a:bodyPr wrap="square" anchor="t" lIns="0" rIns="0" tIns="0" bIns="0">
            <a:spAutoFit/>
          </a:bodyPr>
          <a:lstStyle/>
          <a:p>
            <a:pPr algn="l"/>
            <a:r>
              <a:rPr sz="900" b="0" i="0">
                <a:solidFill>
                  <a:srgbClr val="6B6690"/>
                </a:solidFill>
                <a:latin typeface="Calibri"/>
              </a:rPr>
              <a:t>How each guardrail catches a way of hitting the number</a:t>
            </a:r>
          </a:p>
        </p:txBody>
      </p:sp>
      <p:sp>
        <p:nvSpPr>
          <p:cNvPr id="49" name="TextBox 48"/>
          <p:cNvSpPr txBox="1"/>
          <p:nvPr/>
        </p:nvSpPr>
        <p:spPr>
          <a:xfrm>
            <a:off x="530352" y="6437376"/>
            <a:ext cx="256032" cy="152146"/>
          </a:xfrm>
          <a:prstGeom prst="rect">
            <a:avLst/>
          </a:prstGeom>
          <a:noFill/>
        </p:spPr>
        <p:txBody>
          <a:bodyPr wrap="square" anchor="t" lIns="0" rIns="0" tIns="0" bIns="0">
            <a:spAutoFit/>
          </a:bodyPr>
          <a:lstStyle/>
          <a:p>
            <a:pPr algn="l"/>
            <a:r>
              <a:rPr sz="700" b="0" i="0">
                <a:solidFill>
                  <a:srgbClr val="6B6690"/>
                </a:solidFill>
                <a:latin typeface="Calibri"/>
              </a:rPr>
              <a:t>…</a:t>
            </a:r>
          </a:p>
        </p:txBody>
      </p:sp>
      <p:sp>
        <p:nvSpPr>
          <p:cNvPr id="50" name="Oval 49"/>
          <p:cNvSpPr/>
          <p:nvPr/>
        </p:nvSpPr>
        <p:spPr>
          <a:xfrm>
            <a:off x="78638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TextBox 50"/>
          <p:cNvSpPr txBox="1"/>
          <p:nvPr/>
        </p:nvSpPr>
        <p:spPr>
          <a:xfrm>
            <a:off x="896112"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Which number warns?</a:t>
            </a:r>
          </a:p>
        </p:txBody>
      </p:sp>
      <p:sp>
        <p:nvSpPr>
          <p:cNvPr id="52" name="Oval 51"/>
          <p:cNvSpPr/>
          <p:nvPr/>
        </p:nvSpPr>
        <p:spPr>
          <a:xfrm>
            <a:off x="213598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3" name="TextBox 52"/>
          <p:cNvSpPr txBox="1"/>
          <p:nvPr/>
        </p:nvSpPr>
        <p:spPr>
          <a:xfrm>
            <a:off x="2245709"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Which four lines?</a:t>
            </a:r>
          </a:p>
        </p:txBody>
      </p:sp>
      <p:sp>
        <p:nvSpPr>
          <p:cNvPr id="54" name="Oval 53"/>
          <p:cNvSpPr/>
          <p:nvPr/>
        </p:nvSpPr>
        <p:spPr>
          <a:xfrm>
            <a:off x="339356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5" name="TextBox 54"/>
          <p:cNvSpPr txBox="1"/>
          <p:nvPr/>
        </p:nvSpPr>
        <p:spPr>
          <a:xfrm>
            <a:off x="3503295"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How is a number gamed?</a:t>
            </a:r>
          </a:p>
        </p:txBody>
      </p:sp>
      <p:sp>
        <p:nvSpPr>
          <p:cNvPr id="56" name="Oval 55"/>
          <p:cNvSpPr/>
          <p:nvPr/>
        </p:nvSpPr>
        <p:spPr>
          <a:xfrm>
            <a:off x="488118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7" name="TextBox 56"/>
          <p:cNvSpPr txBox="1"/>
          <p:nvPr/>
        </p:nvSpPr>
        <p:spPr>
          <a:xfrm>
            <a:off x="4990909"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the page hold?</a:t>
            </a:r>
          </a:p>
        </p:txBody>
      </p:sp>
      <p:sp>
        <p:nvSpPr>
          <p:cNvPr id="58" name="Oval 57"/>
          <p:cNvSpPr/>
          <p:nvPr/>
        </p:nvSpPr>
        <p:spPr>
          <a:xfrm>
            <a:off x="6460807"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9" name="TextBox 58"/>
          <p:cNvSpPr txBox="1"/>
          <p:nvPr/>
        </p:nvSpPr>
        <p:spPr>
          <a:xfrm>
            <a:off x="6570535" y="6437376"/>
            <a:ext cx="1378457" cy="152146"/>
          </a:xfrm>
          <a:prstGeom prst="rect">
            <a:avLst/>
          </a:prstGeom>
          <a:noFill/>
        </p:spPr>
        <p:txBody>
          <a:bodyPr wrap="square" anchor="t" lIns="0" rIns="0" tIns="0" bIns="0">
            <a:spAutoFit/>
          </a:bodyPr>
          <a:lstStyle/>
          <a:p>
            <a:pPr algn="l"/>
            <a:r>
              <a:rPr sz="700" b="1" i="0">
                <a:solidFill>
                  <a:srgbClr val="5B3FD6"/>
                </a:solidFill>
                <a:latin typeface="Calibri"/>
              </a:rPr>
              <a:t>What does an hour count?</a:t>
            </a:r>
          </a:p>
        </p:txBody>
      </p:sp>
      <p:sp>
        <p:nvSpPr>
          <p:cNvPr id="60" name="Oval 59"/>
          <p:cNvSpPr/>
          <p:nvPr/>
        </p:nvSpPr>
        <p:spPr>
          <a:xfrm>
            <a:off x="804043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1" name="TextBox 60"/>
          <p:cNvSpPr txBox="1"/>
          <p:nvPr/>
        </p:nvSpPr>
        <p:spPr>
          <a:xfrm>
            <a:off x="8150161"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Where did the fall sit?</a:t>
            </a:r>
          </a:p>
        </p:txBody>
      </p:sp>
      <p:sp>
        <p:nvSpPr>
          <p:cNvPr id="62" name="Oval 61"/>
          <p:cNvSpPr/>
          <p:nvPr/>
        </p:nvSpPr>
        <p:spPr>
          <a:xfrm>
            <a:off x="957405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3" name="TextBox 62"/>
          <p:cNvSpPr txBox="1"/>
          <p:nvPr/>
        </p:nvSpPr>
        <p:spPr>
          <a:xfrm>
            <a:off x="9683781"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should it pay for?</a:t>
            </a:r>
          </a:p>
        </p:txBody>
      </p:sp>
      <p:sp>
        <p:nvSpPr>
          <p:cNvPr id="64" name="TextBox 63"/>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S56  ·  63 / 93</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MONDAY  ·  BUSINESS METRIC DESIGN  ·  UBER, HYDERABAD</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day's board: four questions before paying</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Which questions must a number answer before anyone is paid for it?</a:t>
            </a:r>
          </a:p>
        </p:txBody>
      </p:sp>
      <p:pic>
        <p:nvPicPr>
          <p:cNvPr id="9" name="mermaid diagram" descr="464d4b0f2cf21ae5.png"/>
          <p:cNvPicPr>
            <a:picLocks noChangeAspect="1"/>
          </p:cNvPicPr>
          <p:nvPr/>
        </p:nvPicPr>
        <p:blipFill>
          <a:blip r:embed="rId5"/>
          <a:stretch>
            <a:fillRect/>
          </a:stretch>
        </p:blipFill>
        <p:spPr>
          <a:xfrm>
            <a:off x="3461712" y="1664208"/>
            <a:ext cx="5268270" cy="3808984"/>
          </a:xfrm>
          <a:prstGeom prst="rect">
            <a:avLst/>
          </a:prstGeom>
        </p:spPr>
      </p:pic>
      <p:sp>
        <p:nvSpPr>
          <p:cNvPr id="10" name="TextBox 9"/>
          <p:cNvSpPr txBox="1"/>
          <p:nvPr/>
        </p:nvSpPr>
        <p:spPr>
          <a:xfrm>
            <a:off x="530352" y="5518912"/>
            <a:ext cx="11130991" cy="680720"/>
          </a:xfrm>
          <a:prstGeom prst="rect">
            <a:avLst/>
          </a:prstGeom>
          <a:noFill/>
        </p:spPr>
        <p:txBody>
          <a:bodyPr wrap="square" anchor="t" lIns="0" rIns="0" tIns="0" bIns="0">
            <a:spAutoFit/>
          </a:bodyPr>
          <a:lstStyle/>
          <a:p>
            <a:r>
              <a:rPr sz="1600" b="0" i="0">
                <a:solidFill>
                  <a:srgbClr val="1A1440"/>
                </a:solidFill>
                <a:latin typeface="Calibri"/>
              </a:rPr>
              <a:t>Each case chapter fills one region of this board: chapter 7 answers what the number is for, chapter 8 how it rose while riders gained little, chapter 9 what stops it.</a:t>
            </a:r>
          </a:p>
        </p:txBody>
      </p:sp>
      <p:sp>
        <p:nvSpPr>
          <p:cNvPr id="11" name="TextBox 10"/>
          <p:cNvSpPr txBox="1"/>
          <p:nvPr/>
        </p:nvSpPr>
        <p:spPr>
          <a:xfrm>
            <a:off x="530352" y="6437376"/>
            <a:ext cx="256032" cy="152146"/>
          </a:xfrm>
          <a:prstGeom prst="rect">
            <a:avLst/>
          </a:prstGeom>
          <a:noFill/>
        </p:spPr>
        <p:txBody>
          <a:bodyPr wrap="square" anchor="t" lIns="0" rIns="0" tIns="0" bIns="0">
            <a:spAutoFit/>
          </a:bodyPr>
          <a:lstStyle/>
          <a:p>
            <a:pPr algn="l"/>
            <a:r>
              <a:rPr sz="700" b="0" i="0">
                <a:solidFill>
                  <a:srgbClr val="6B6690"/>
                </a:solidFill>
                <a:latin typeface="Calibri"/>
              </a:rPr>
              <a:t>…</a:t>
            </a:r>
          </a:p>
        </p:txBody>
      </p:sp>
      <p:sp>
        <p:nvSpPr>
          <p:cNvPr id="12" name="Oval 11"/>
          <p:cNvSpPr/>
          <p:nvPr/>
        </p:nvSpPr>
        <p:spPr>
          <a:xfrm>
            <a:off x="78638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896112"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Which number warns?</a:t>
            </a:r>
          </a:p>
        </p:txBody>
      </p:sp>
      <p:sp>
        <p:nvSpPr>
          <p:cNvPr id="14" name="Oval 13"/>
          <p:cNvSpPr/>
          <p:nvPr/>
        </p:nvSpPr>
        <p:spPr>
          <a:xfrm>
            <a:off x="213598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2245709"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Which four lines?</a:t>
            </a:r>
          </a:p>
        </p:txBody>
      </p:sp>
      <p:sp>
        <p:nvSpPr>
          <p:cNvPr id="16" name="Oval 15"/>
          <p:cNvSpPr/>
          <p:nvPr/>
        </p:nvSpPr>
        <p:spPr>
          <a:xfrm>
            <a:off x="339356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3503295"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How is a number gamed?</a:t>
            </a:r>
          </a:p>
        </p:txBody>
      </p:sp>
      <p:sp>
        <p:nvSpPr>
          <p:cNvPr id="18" name="Oval 17"/>
          <p:cNvSpPr/>
          <p:nvPr/>
        </p:nvSpPr>
        <p:spPr>
          <a:xfrm>
            <a:off x="488118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4990909"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the page hold?</a:t>
            </a:r>
          </a:p>
        </p:txBody>
      </p:sp>
      <p:sp>
        <p:nvSpPr>
          <p:cNvPr id="20" name="Oval 19"/>
          <p:cNvSpPr/>
          <p:nvPr/>
        </p:nvSpPr>
        <p:spPr>
          <a:xfrm>
            <a:off x="6460807"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6570535" y="6437376"/>
            <a:ext cx="1378457" cy="152146"/>
          </a:xfrm>
          <a:prstGeom prst="rect">
            <a:avLst/>
          </a:prstGeom>
          <a:noFill/>
        </p:spPr>
        <p:txBody>
          <a:bodyPr wrap="square" anchor="t" lIns="0" rIns="0" tIns="0" bIns="0">
            <a:spAutoFit/>
          </a:bodyPr>
          <a:lstStyle/>
          <a:p>
            <a:pPr algn="l"/>
            <a:r>
              <a:rPr sz="700" b="1" i="0">
                <a:solidFill>
                  <a:srgbClr val="5B3FD6"/>
                </a:solidFill>
                <a:latin typeface="Calibri"/>
              </a:rPr>
              <a:t>What does an hour count?</a:t>
            </a:r>
          </a:p>
        </p:txBody>
      </p:sp>
      <p:sp>
        <p:nvSpPr>
          <p:cNvPr id="22" name="Oval 21"/>
          <p:cNvSpPr/>
          <p:nvPr/>
        </p:nvSpPr>
        <p:spPr>
          <a:xfrm>
            <a:off x="804043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8150161"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Where did the fall sit?</a:t>
            </a:r>
          </a:p>
        </p:txBody>
      </p:sp>
      <p:sp>
        <p:nvSpPr>
          <p:cNvPr id="24" name="Oval 23"/>
          <p:cNvSpPr/>
          <p:nvPr/>
        </p:nvSpPr>
        <p:spPr>
          <a:xfrm>
            <a:off x="957405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9683781"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should it pay for?</a:t>
            </a:r>
          </a:p>
        </p:txBody>
      </p:sp>
      <p:sp>
        <p:nvSpPr>
          <p:cNvPr id="26" name="TextBox 25"/>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S57  ·  64 / 93</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MONDAY  ·  BUSINESS METRIC DESIGN  ·  UBER, HYDERABAD</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War game, round 1: three roles, three numbers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Which number does each of the city team's three roles want the scheme judged on, and how could each look good while riders gained little?</a:t>
            </a:r>
          </a:p>
        </p:txBody>
      </p:sp>
      <p:sp>
        <p:nvSpPr>
          <p:cNvPr id="9" name="Rounded Rectangle 8"/>
          <p:cNvSpPr/>
          <p:nvPr/>
        </p:nvSpPr>
        <p:spPr>
          <a:xfrm>
            <a:off x="530352" y="1956816"/>
            <a:ext cx="3588410" cy="1964436"/>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731519"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1" name="Picture 10" descr="car_2853f22980e2.png"/>
          <p:cNvPicPr>
            <a:picLocks noChangeAspect="1"/>
          </p:cNvPicPr>
          <p:nvPr/>
        </p:nvPicPr>
        <p:blipFill>
          <a:blip r:embed="rId4"/>
          <a:stretch>
            <a:fillRect/>
          </a:stretch>
        </p:blipFill>
        <p:spPr>
          <a:xfrm>
            <a:off x="841247" y="2267712"/>
            <a:ext cx="237744" cy="237744"/>
          </a:xfrm>
          <a:prstGeom prst="rect">
            <a:avLst/>
          </a:prstGeom>
        </p:spPr>
      </p:pic>
      <p:sp>
        <p:nvSpPr>
          <p:cNvPr id="12" name="TextBox 11"/>
          <p:cNvSpPr txBox="1"/>
          <p:nvPr/>
        </p:nvSpPr>
        <p:spPr>
          <a:xfrm>
            <a:off x="731519" y="2724912"/>
            <a:ext cx="3186074" cy="160401"/>
          </a:xfrm>
          <a:prstGeom prst="rect">
            <a:avLst/>
          </a:prstGeom>
          <a:noFill/>
        </p:spPr>
        <p:txBody>
          <a:bodyPr wrap="square" anchor="t" lIns="0" rIns="0" tIns="0" bIns="0">
            <a:spAutoFit/>
          </a:bodyPr>
          <a:lstStyle/>
          <a:p>
            <a:pPr algn="l"/>
            <a:r>
              <a:rPr sz="750" b="1" i="0" spc="250">
                <a:solidFill>
                  <a:srgbClr val="5B3FD6"/>
                </a:solidFill>
                <a:latin typeface="Calibri"/>
              </a:rPr>
              <a:t>DRIVER-OPERATIONS LEAD</a:t>
            </a:r>
          </a:p>
        </p:txBody>
      </p:sp>
      <p:sp>
        <p:nvSpPr>
          <p:cNvPr id="13" name="TextBox 12"/>
          <p:cNvSpPr txBox="1"/>
          <p:nvPr/>
        </p:nvSpPr>
        <p:spPr>
          <a:xfrm>
            <a:off x="731519" y="2962656"/>
            <a:ext cx="3186074" cy="267716"/>
          </a:xfrm>
          <a:prstGeom prst="rect">
            <a:avLst/>
          </a:prstGeom>
          <a:noFill/>
        </p:spPr>
        <p:txBody>
          <a:bodyPr wrap="square" anchor="t" lIns="0" rIns="0" tIns="0" bIns="0">
            <a:spAutoFit/>
          </a:bodyPr>
          <a:lstStyle/>
          <a:p>
            <a:pPr algn="l"/>
            <a:r>
              <a:rPr sz="1400" b="1" i="0">
                <a:solidFill>
                  <a:srgbClr val="1A0F5C"/>
                </a:solidFill>
                <a:latin typeface="Calibri"/>
              </a:rPr>
              <a:t>Peak online hours</a:t>
            </a:r>
          </a:p>
        </p:txBody>
      </p:sp>
      <p:sp>
        <p:nvSpPr>
          <p:cNvPr id="14" name="TextBox 13"/>
          <p:cNvSpPr txBox="1"/>
          <p:nvPr/>
        </p:nvSpPr>
        <p:spPr>
          <a:xfrm>
            <a:off x="731519" y="3303524"/>
            <a:ext cx="3186074" cy="399796"/>
          </a:xfrm>
          <a:prstGeom prst="rect">
            <a:avLst/>
          </a:prstGeom>
          <a:noFill/>
        </p:spPr>
        <p:txBody>
          <a:bodyPr wrap="square" anchor="t" lIns="0" rIns="0" tIns="0" bIns="0">
            <a:spAutoFit/>
          </a:bodyPr>
          <a:lstStyle/>
          <a:p>
            <a:pPr algn="l"/>
            <a:r>
              <a:rPr sz="1100" b="0" i="0">
                <a:solidFill>
                  <a:srgbClr val="6B6690"/>
                </a:solidFill>
                <a:latin typeface="Calibri"/>
              </a:rPr>
              <a:t>Wants supply at peak, the city's oldest problem; hours rose 24 percent</a:t>
            </a:r>
          </a:p>
        </p:txBody>
      </p:sp>
      <p:sp>
        <p:nvSpPr>
          <p:cNvPr id="15" name="Rounded Rectangle 14"/>
          <p:cNvSpPr/>
          <p:nvPr/>
        </p:nvSpPr>
        <p:spPr>
          <a:xfrm>
            <a:off x="4301642" y="1956816"/>
            <a:ext cx="3588410" cy="1964436"/>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Oval 15"/>
          <p:cNvSpPr/>
          <p:nvPr/>
        </p:nvSpPr>
        <p:spPr>
          <a:xfrm>
            <a:off x="4502810"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7" name="Picture 16" descr="megaphone_df6318bcf2f9.png"/>
          <p:cNvPicPr>
            <a:picLocks noChangeAspect="1"/>
          </p:cNvPicPr>
          <p:nvPr/>
        </p:nvPicPr>
        <p:blipFill>
          <a:blip r:embed="rId5"/>
          <a:stretch>
            <a:fillRect/>
          </a:stretch>
        </p:blipFill>
        <p:spPr>
          <a:xfrm>
            <a:off x="4612538" y="2267712"/>
            <a:ext cx="237744" cy="237744"/>
          </a:xfrm>
          <a:prstGeom prst="rect">
            <a:avLst/>
          </a:prstGeom>
        </p:spPr>
      </p:pic>
      <p:sp>
        <p:nvSpPr>
          <p:cNvPr id="18" name="TextBox 17"/>
          <p:cNvSpPr txBox="1"/>
          <p:nvPr/>
        </p:nvSpPr>
        <p:spPr>
          <a:xfrm>
            <a:off x="4502810" y="2724912"/>
            <a:ext cx="3186074" cy="160401"/>
          </a:xfrm>
          <a:prstGeom prst="rect">
            <a:avLst/>
          </a:prstGeom>
          <a:noFill/>
        </p:spPr>
        <p:txBody>
          <a:bodyPr wrap="square" anchor="t" lIns="0" rIns="0" tIns="0" bIns="0">
            <a:spAutoFit/>
          </a:bodyPr>
          <a:lstStyle/>
          <a:p>
            <a:pPr algn="l"/>
            <a:r>
              <a:rPr sz="750" b="1" i="0" spc="250">
                <a:solidFill>
                  <a:srgbClr val="5B3FD6"/>
                </a:solidFill>
                <a:latin typeface="Calibri"/>
              </a:rPr>
              <a:t>MARKETING LEAD</a:t>
            </a:r>
          </a:p>
        </p:txBody>
      </p:sp>
      <p:sp>
        <p:nvSpPr>
          <p:cNvPr id="19" name="TextBox 18"/>
          <p:cNvSpPr txBox="1"/>
          <p:nvPr/>
        </p:nvSpPr>
        <p:spPr>
          <a:xfrm>
            <a:off x="4502810" y="2962656"/>
            <a:ext cx="3186074" cy="267716"/>
          </a:xfrm>
          <a:prstGeom prst="rect">
            <a:avLst/>
          </a:prstGeom>
          <a:noFill/>
        </p:spPr>
        <p:txBody>
          <a:bodyPr wrap="square" anchor="t" lIns="0" rIns="0" tIns="0" bIns="0">
            <a:spAutoFit/>
          </a:bodyPr>
          <a:lstStyle/>
          <a:p>
            <a:pPr algn="l"/>
            <a:r>
              <a:rPr sz="1400" b="1" i="0">
                <a:solidFill>
                  <a:srgbClr val="1A0F5C"/>
                </a:solidFill>
                <a:latin typeface="Calibri"/>
              </a:rPr>
              <a:t>Enrolled drivers</a:t>
            </a:r>
          </a:p>
        </p:txBody>
      </p:sp>
      <p:sp>
        <p:nvSpPr>
          <p:cNvPr id="20" name="TextBox 19"/>
          <p:cNvSpPr txBox="1"/>
          <p:nvPr/>
        </p:nvSpPr>
        <p:spPr>
          <a:xfrm>
            <a:off x="4502810" y="3303524"/>
            <a:ext cx="3186074" cy="399796"/>
          </a:xfrm>
          <a:prstGeom prst="rect">
            <a:avLst/>
          </a:prstGeom>
          <a:noFill/>
        </p:spPr>
        <p:txBody>
          <a:bodyPr wrap="square" anchor="t" lIns="0" rIns="0" tIns="0" bIns="0">
            <a:spAutoFit/>
          </a:bodyPr>
          <a:lstStyle/>
          <a:p>
            <a:pPr algn="l"/>
            <a:r>
              <a:rPr sz="1100" b="0" i="0">
                <a:solidFill>
                  <a:srgbClr val="6B6690"/>
                </a:solidFill>
                <a:latin typeface="Calibri"/>
              </a:rPr>
              <a:t>The guarantee is the story that wins new drivers; every sign-up counts</a:t>
            </a:r>
          </a:p>
        </p:txBody>
      </p:sp>
      <p:sp>
        <p:nvSpPr>
          <p:cNvPr id="21" name="Rounded Rectangle 20"/>
          <p:cNvSpPr/>
          <p:nvPr/>
        </p:nvSpPr>
        <p:spPr>
          <a:xfrm>
            <a:off x="8072932" y="1956816"/>
            <a:ext cx="3588410" cy="1964436"/>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Oval 21"/>
          <p:cNvSpPr/>
          <p:nvPr/>
        </p:nvSpPr>
        <p:spPr>
          <a:xfrm>
            <a:off x="8274100"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3" name="Picture 22" descr="wallet_3a2d2f5ade12.png"/>
          <p:cNvPicPr>
            <a:picLocks noChangeAspect="1"/>
          </p:cNvPicPr>
          <p:nvPr/>
        </p:nvPicPr>
        <p:blipFill>
          <a:blip r:embed="rId6"/>
          <a:stretch>
            <a:fillRect/>
          </a:stretch>
        </p:blipFill>
        <p:spPr>
          <a:xfrm>
            <a:off x="8383828" y="2267712"/>
            <a:ext cx="237744" cy="237744"/>
          </a:xfrm>
          <a:prstGeom prst="rect">
            <a:avLst/>
          </a:prstGeom>
        </p:spPr>
      </p:pic>
      <p:sp>
        <p:nvSpPr>
          <p:cNvPr id="24" name="TextBox 23"/>
          <p:cNvSpPr txBox="1"/>
          <p:nvPr/>
        </p:nvSpPr>
        <p:spPr>
          <a:xfrm>
            <a:off x="8274100" y="2724912"/>
            <a:ext cx="3186074" cy="160401"/>
          </a:xfrm>
          <a:prstGeom prst="rect">
            <a:avLst/>
          </a:prstGeom>
          <a:noFill/>
        </p:spPr>
        <p:txBody>
          <a:bodyPr wrap="square" anchor="t" lIns="0" rIns="0" tIns="0" bIns="0">
            <a:spAutoFit/>
          </a:bodyPr>
          <a:lstStyle/>
          <a:p>
            <a:pPr algn="l"/>
            <a:r>
              <a:rPr sz="750" b="1" i="0" spc="250">
                <a:solidFill>
                  <a:srgbClr val="5B3FD6"/>
                </a:solidFill>
                <a:latin typeface="Calibri"/>
              </a:rPr>
              <a:t>FINANCE PARTNER</a:t>
            </a:r>
          </a:p>
        </p:txBody>
      </p:sp>
      <p:sp>
        <p:nvSpPr>
          <p:cNvPr id="25" name="TextBox 24"/>
          <p:cNvSpPr txBox="1"/>
          <p:nvPr/>
        </p:nvSpPr>
        <p:spPr>
          <a:xfrm>
            <a:off x="8274100" y="2962656"/>
            <a:ext cx="3186074" cy="267716"/>
          </a:xfrm>
          <a:prstGeom prst="rect">
            <a:avLst/>
          </a:prstGeom>
          <a:noFill/>
        </p:spPr>
        <p:txBody>
          <a:bodyPr wrap="square" anchor="t" lIns="0" rIns="0" tIns="0" bIns="0">
            <a:spAutoFit/>
          </a:bodyPr>
          <a:lstStyle/>
          <a:p>
            <a:pPr algn="l"/>
            <a:r>
              <a:rPr sz="1400" b="1" i="0">
                <a:solidFill>
                  <a:srgbClr val="1A0F5C"/>
                </a:solidFill>
                <a:latin typeface="Calibri"/>
              </a:rPr>
              <a:t>Top-up per trip</a:t>
            </a:r>
          </a:p>
        </p:txBody>
      </p:sp>
      <p:sp>
        <p:nvSpPr>
          <p:cNvPr id="26" name="TextBox 25"/>
          <p:cNvSpPr txBox="1"/>
          <p:nvPr/>
        </p:nvSpPr>
        <p:spPr>
          <a:xfrm>
            <a:off x="8274100" y="3303524"/>
            <a:ext cx="3186074" cy="399796"/>
          </a:xfrm>
          <a:prstGeom prst="rect">
            <a:avLst/>
          </a:prstGeom>
          <a:noFill/>
        </p:spPr>
        <p:txBody>
          <a:bodyPr wrap="square" anchor="t" lIns="0" rIns="0" tIns="0" bIns="0">
            <a:spAutoFit/>
          </a:bodyPr>
          <a:lstStyle/>
          <a:p>
            <a:pPr algn="l"/>
            <a:r>
              <a:rPr sz="1100" b="0" i="0">
                <a:solidFill>
                  <a:srgbClr val="6B6690"/>
                </a:solidFill>
                <a:latin typeface="Calibri"/>
              </a:rPr>
              <a:t>Holds the budget; wants each rupee of top-up to buy a trip, so wants this number low</a:t>
            </a:r>
          </a:p>
        </p:txBody>
      </p:sp>
      <p:sp>
        <p:nvSpPr>
          <p:cNvPr id="27" name="Rounded Rectangle 26"/>
          <p:cNvSpPr/>
          <p:nvPr/>
        </p:nvSpPr>
        <p:spPr>
          <a:xfrm>
            <a:off x="530352" y="4104132"/>
            <a:ext cx="11130991" cy="10744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ounded Rectangle 27"/>
          <p:cNvSpPr/>
          <p:nvPr/>
        </p:nvSpPr>
        <p:spPr>
          <a:xfrm>
            <a:off x="676656" y="4232148"/>
            <a:ext cx="45720" cy="8183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877824" y="4223004"/>
            <a:ext cx="10564063" cy="891540"/>
          </a:xfrm>
          <a:prstGeom prst="rect">
            <a:avLst/>
          </a:prstGeom>
          <a:noFill/>
        </p:spPr>
        <p:txBody>
          <a:bodyPr wrap="square" anchor="ctr" lIns="0" rIns="0" tIns="0" bIns="0">
            <a:spAutoFit/>
          </a:bodyPr>
          <a:lstStyle/>
          <a:p>
            <a:r>
              <a:rPr sz="1500" b="1">
                <a:solidFill>
                  <a:srgbClr val="5B3FD6"/>
                </a:solidFill>
                <a:latin typeface="Calibri"/>
              </a:rPr>
              <a:t>Three questions per number. </a:t>
            </a:r>
            <a:r>
              <a:rPr sz="1500" b="0" i="0">
                <a:solidFill>
                  <a:srgbClr val="1A1440"/>
                </a:solidFill>
                <a:latin typeface="Calibri"/>
              </a:rPr>
              <a:t>Could a team hit it while riders gained little (the proxy test, chapter 1)? Who controls the count (chapter 5)? What does it deliberately not reward (chapter 6)? Round 2 is the data in chapters 7 to 9; round 3, after lunch, attacks the redesign.</a:t>
            </a:r>
          </a:p>
        </p:txBody>
      </p:sp>
      <p:sp>
        <p:nvSpPr>
          <p:cNvPr id="30" name="TextBox 29"/>
          <p:cNvSpPr txBox="1"/>
          <p:nvPr/>
        </p:nvSpPr>
        <p:spPr>
          <a:xfrm>
            <a:off x="530352" y="6437376"/>
            <a:ext cx="256032" cy="152146"/>
          </a:xfrm>
          <a:prstGeom prst="rect">
            <a:avLst/>
          </a:prstGeom>
          <a:noFill/>
        </p:spPr>
        <p:txBody>
          <a:bodyPr wrap="square" anchor="t" lIns="0" rIns="0" tIns="0" bIns="0">
            <a:spAutoFit/>
          </a:bodyPr>
          <a:lstStyle/>
          <a:p>
            <a:pPr algn="l"/>
            <a:r>
              <a:rPr sz="700" b="0" i="0">
                <a:solidFill>
                  <a:srgbClr val="6B6690"/>
                </a:solidFill>
                <a:latin typeface="Calibri"/>
              </a:rPr>
              <a:t>…</a:t>
            </a:r>
          </a:p>
        </p:txBody>
      </p:sp>
      <p:sp>
        <p:nvSpPr>
          <p:cNvPr id="31" name="Oval 30"/>
          <p:cNvSpPr/>
          <p:nvPr/>
        </p:nvSpPr>
        <p:spPr>
          <a:xfrm>
            <a:off x="78638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896112"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Which number warns?</a:t>
            </a:r>
          </a:p>
        </p:txBody>
      </p:sp>
      <p:sp>
        <p:nvSpPr>
          <p:cNvPr id="33" name="Oval 32"/>
          <p:cNvSpPr/>
          <p:nvPr/>
        </p:nvSpPr>
        <p:spPr>
          <a:xfrm>
            <a:off x="213598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2245709"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Which four lines?</a:t>
            </a:r>
          </a:p>
        </p:txBody>
      </p:sp>
      <p:sp>
        <p:nvSpPr>
          <p:cNvPr id="35" name="Oval 34"/>
          <p:cNvSpPr/>
          <p:nvPr/>
        </p:nvSpPr>
        <p:spPr>
          <a:xfrm>
            <a:off x="339356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3503295"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How is a number gamed?</a:t>
            </a:r>
          </a:p>
        </p:txBody>
      </p:sp>
      <p:sp>
        <p:nvSpPr>
          <p:cNvPr id="37" name="Oval 36"/>
          <p:cNvSpPr/>
          <p:nvPr/>
        </p:nvSpPr>
        <p:spPr>
          <a:xfrm>
            <a:off x="488118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4990909"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the page hold?</a:t>
            </a:r>
          </a:p>
        </p:txBody>
      </p:sp>
      <p:sp>
        <p:nvSpPr>
          <p:cNvPr id="39" name="Oval 38"/>
          <p:cNvSpPr/>
          <p:nvPr/>
        </p:nvSpPr>
        <p:spPr>
          <a:xfrm>
            <a:off x="6460807"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6570535" y="6437376"/>
            <a:ext cx="1378457" cy="152146"/>
          </a:xfrm>
          <a:prstGeom prst="rect">
            <a:avLst/>
          </a:prstGeom>
          <a:noFill/>
        </p:spPr>
        <p:txBody>
          <a:bodyPr wrap="square" anchor="t" lIns="0" rIns="0" tIns="0" bIns="0">
            <a:spAutoFit/>
          </a:bodyPr>
          <a:lstStyle/>
          <a:p>
            <a:pPr algn="l"/>
            <a:r>
              <a:rPr sz="700" b="1" i="0">
                <a:solidFill>
                  <a:srgbClr val="5B3FD6"/>
                </a:solidFill>
                <a:latin typeface="Calibri"/>
              </a:rPr>
              <a:t>What does an hour count?</a:t>
            </a:r>
          </a:p>
        </p:txBody>
      </p:sp>
      <p:sp>
        <p:nvSpPr>
          <p:cNvPr id="41" name="Oval 40"/>
          <p:cNvSpPr/>
          <p:nvPr/>
        </p:nvSpPr>
        <p:spPr>
          <a:xfrm>
            <a:off x="804043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8150161"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Where did the fall sit?</a:t>
            </a:r>
          </a:p>
        </p:txBody>
      </p:sp>
      <p:sp>
        <p:nvSpPr>
          <p:cNvPr id="43" name="Oval 42"/>
          <p:cNvSpPr/>
          <p:nvPr/>
        </p:nvSpPr>
        <p:spPr>
          <a:xfrm>
            <a:off x="957405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9683781"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should it pay for?</a:t>
            </a:r>
          </a:p>
        </p:txBody>
      </p:sp>
      <p:sp>
        <p:nvSpPr>
          <p:cNvPr id="45" name="TextBox 44"/>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S58  ·  65 / 93</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MONDAY  ·  BUSINESS METRIC DESIGN  ·  UBER, HYDERABAD</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An hour needs only an open app, as a token did</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Which of the city's numbers can a driver raise with no rider at all, by chapter 1's proxy test?</a:t>
            </a:r>
          </a:p>
        </p:txBody>
      </p:sp>
      <p:pic>
        <p:nvPicPr>
          <p:cNvPr id="9" name="mermaid diagram" descr="5d090568c51f9616.png"/>
          <p:cNvPicPr>
            <a:picLocks noChangeAspect="1"/>
          </p:cNvPicPr>
          <p:nvPr/>
        </p:nvPicPr>
        <p:blipFill>
          <a:blip r:embed="rId5"/>
          <a:stretch>
            <a:fillRect/>
          </a:stretch>
        </p:blipFill>
        <p:spPr>
          <a:xfrm>
            <a:off x="530352" y="1956816"/>
            <a:ext cx="11130991" cy="1931713"/>
          </a:xfrm>
          <a:prstGeom prst="rect">
            <a:avLst/>
          </a:prstGeom>
        </p:spPr>
      </p:pic>
      <p:sp>
        <p:nvSpPr>
          <p:cNvPr id="10" name="TextBox 9"/>
          <p:cNvSpPr txBox="1"/>
          <p:nvPr/>
        </p:nvSpPr>
        <p:spPr>
          <a:xfrm>
            <a:off x="530352" y="4034833"/>
            <a:ext cx="11130991" cy="1324864"/>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Peak online hours fail chapter 1's test the way the canteen's tokens did: the app logs a driver as online whenever the driver app is open and the driver is marked available, wherever the phone is. Trips need a rider who asked, accepted offers need an offer, and the wait is measured on riders; hours need only an open app.</a:t>
            </a:r>
          </a:p>
        </p:txBody>
      </p:sp>
      <p:sp>
        <p:nvSpPr>
          <p:cNvPr id="11" name="TextBox 10"/>
          <p:cNvSpPr txBox="1"/>
          <p:nvPr/>
        </p:nvSpPr>
        <p:spPr>
          <a:xfrm>
            <a:off x="530352" y="6437376"/>
            <a:ext cx="256032" cy="152146"/>
          </a:xfrm>
          <a:prstGeom prst="rect">
            <a:avLst/>
          </a:prstGeom>
          <a:noFill/>
        </p:spPr>
        <p:txBody>
          <a:bodyPr wrap="square" anchor="t" lIns="0" rIns="0" tIns="0" bIns="0">
            <a:spAutoFit/>
          </a:bodyPr>
          <a:lstStyle/>
          <a:p>
            <a:pPr algn="l"/>
            <a:r>
              <a:rPr sz="700" b="0" i="0">
                <a:solidFill>
                  <a:srgbClr val="6B6690"/>
                </a:solidFill>
                <a:latin typeface="Calibri"/>
              </a:rPr>
              <a:t>…</a:t>
            </a:r>
          </a:p>
        </p:txBody>
      </p:sp>
      <p:sp>
        <p:nvSpPr>
          <p:cNvPr id="12" name="Oval 11"/>
          <p:cNvSpPr/>
          <p:nvPr/>
        </p:nvSpPr>
        <p:spPr>
          <a:xfrm>
            <a:off x="78638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896112"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Which number warns?</a:t>
            </a:r>
          </a:p>
        </p:txBody>
      </p:sp>
      <p:sp>
        <p:nvSpPr>
          <p:cNvPr id="14" name="Oval 13"/>
          <p:cNvSpPr/>
          <p:nvPr/>
        </p:nvSpPr>
        <p:spPr>
          <a:xfrm>
            <a:off x="213598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2245709"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Which four lines?</a:t>
            </a:r>
          </a:p>
        </p:txBody>
      </p:sp>
      <p:sp>
        <p:nvSpPr>
          <p:cNvPr id="16" name="Oval 15"/>
          <p:cNvSpPr/>
          <p:nvPr/>
        </p:nvSpPr>
        <p:spPr>
          <a:xfrm>
            <a:off x="339356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3503295"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How is a number gamed?</a:t>
            </a:r>
          </a:p>
        </p:txBody>
      </p:sp>
      <p:sp>
        <p:nvSpPr>
          <p:cNvPr id="18" name="Oval 17"/>
          <p:cNvSpPr/>
          <p:nvPr/>
        </p:nvSpPr>
        <p:spPr>
          <a:xfrm>
            <a:off x="488118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4990909"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the page hold?</a:t>
            </a:r>
          </a:p>
        </p:txBody>
      </p:sp>
      <p:sp>
        <p:nvSpPr>
          <p:cNvPr id="20" name="Oval 19"/>
          <p:cNvSpPr/>
          <p:nvPr/>
        </p:nvSpPr>
        <p:spPr>
          <a:xfrm>
            <a:off x="6460807"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6570535" y="6437376"/>
            <a:ext cx="1378457" cy="152146"/>
          </a:xfrm>
          <a:prstGeom prst="rect">
            <a:avLst/>
          </a:prstGeom>
          <a:noFill/>
        </p:spPr>
        <p:txBody>
          <a:bodyPr wrap="square" anchor="t" lIns="0" rIns="0" tIns="0" bIns="0">
            <a:spAutoFit/>
          </a:bodyPr>
          <a:lstStyle/>
          <a:p>
            <a:pPr algn="l"/>
            <a:r>
              <a:rPr sz="700" b="1" i="0">
                <a:solidFill>
                  <a:srgbClr val="5B3FD6"/>
                </a:solidFill>
                <a:latin typeface="Calibri"/>
              </a:rPr>
              <a:t>What does an hour count?</a:t>
            </a:r>
          </a:p>
        </p:txBody>
      </p:sp>
      <p:sp>
        <p:nvSpPr>
          <p:cNvPr id="22" name="Oval 21"/>
          <p:cNvSpPr/>
          <p:nvPr/>
        </p:nvSpPr>
        <p:spPr>
          <a:xfrm>
            <a:off x="804043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8150161"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Where did the fall sit?</a:t>
            </a:r>
          </a:p>
        </p:txBody>
      </p:sp>
      <p:sp>
        <p:nvSpPr>
          <p:cNvPr id="24" name="Oval 23"/>
          <p:cNvSpPr/>
          <p:nvPr/>
        </p:nvSpPr>
        <p:spPr>
          <a:xfrm>
            <a:off x="957405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9683781"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should it pay for?</a:t>
            </a:r>
          </a:p>
        </p:txBody>
      </p:sp>
      <p:sp>
        <p:nvSpPr>
          <p:cNvPr id="26" name="TextBox 25"/>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S59  ·  66 / 93</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MONDAY  ·  BUSINESS METRIC DESIGN  ·  UBER, HYDERABAD</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Six drivers, two weeks, counted by hand</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did six drivers' hours, offers and trips do between one week before and one week after?</a:t>
            </a:r>
          </a:p>
        </p:txBody>
      </p:sp>
      <p:graphicFrame>
        <p:nvGraphicFramePr>
          <p:cNvPr id="9" name="Table 8"/>
          <p:cNvGraphicFramePr>
            <a:graphicFrameLocks noGrp="1"/>
          </p:cNvGraphicFramePr>
          <p:nvPr/>
        </p:nvGraphicFramePr>
        <p:xfrm>
          <a:off x="530352" y="1956816"/>
          <a:ext cx="11130990" cy="2346960"/>
        </p:xfrm>
        <a:graphic>
          <a:graphicData uri="http://schemas.openxmlformats.org/drawingml/2006/table">
            <a:tbl>
              <a:tblPr firstRow="0" bandRow="0">
                <a:tableStyleId>{2D5ABB26-0587-4C30-8999-92F81FD0307C}</a:tableStyleId>
              </a:tblPr>
              <a:tblGrid>
                <a:gridCol w="914400"/>
                <a:gridCol w="1682953"/>
                <a:gridCol w="2804736"/>
                <a:gridCol w="2804736"/>
                <a:gridCol w="2924165"/>
              </a:tblGrid>
              <a:tr h="335280">
                <a:tc>
                  <a:txBody>
                    <a:bodyPr/>
                    <a:lstStyle/>
                    <a:p>
                      <a:r>
                        <a:rPr sz="1250" b="1" i="0">
                          <a:solidFill>
                            <a:srgbClr val="FFFFFF"/>
                          </a:solidFill>
                          <a:latin typeface="Calibri"/>
                        </a:rPr>
                        <a:t>Driver</a:t>
                      </a:r>
                    </a:p>
                  </a:txBody>
                  <a:tcPr marL="101600" marR="101600" marT="38100" marB="38100" anchor="ctr">
                    <a:solidFill>
                      <a:srgbClr val="1A0F5C"/>
                    </a:solidFill>
                  </a:tcPr>
                </a:tc>
                <a:tc>
                  <a:txBody>
                    <a:bodyPr/>
                    <a:lstStyle/>
                    <a:p>
                      <a:r>
                        <a:rPr sz="1250" b="1" i="0">
                          <a:solidFill>
                            <a:srgbClr val="FFFFFF"/>
                          </a:solidFill>
                          <a:latin typeface="Calibri"/>
                        </a:rPr>
                        <a:t>Zone</a:t>
                      </a:r>
                    </a:p>
                  </a:txBody>
                  <a:tcPr marL="101600" marR="101600" marT="38100" marB="38100" anchor="ctr">
                    <a:solidFill>
                      <a:srgbClr val="1A0F5C"/>
                    </a:solidFill>
                  </a:tcPr>
                </a:tc>
                <a:tc>
                  <a:txBody>
                    <a:bodyPr/>
                    <a:lstStyle/>
                    <a:p>
                      <a:r>
                        <a:rPr sz="1250" b="1" i="0">
                          <a:solidFill>
                            <a:srgbClr val="FFFFFF"/>
                          </a:solidFill>
                          <a:latin typeface="Calibri"/>
                        </a:rPr>
                        <a:t>Hours, before → after</a:t>
                      </a:r>
                    </a:p>
                  </a:txBody>
                  <a:tcPr marL="101600" marR="101600" marT="38100" marB="38100" anchor="ctr">
                    <a:solidFill>
                      <a:srgbClr val="1A0F5C"/>
                    </a:solidFill>
                  </a:tcPr>
                </a:tc>
                <a:tc>
                  <a:txBody>
                    <a:bodyPr/>
                    <a:lstStyle/>
                    <a:p>
                      <a:r>
                        <a:rPr sz="1250" b="1" i="0">
                          <a:solidFill>
                            <a:srgbClr val="FFFFFF"/>
                          </a:solidFill>
                          <a:latin typeface="Calibri"/>
                        </a:rPr>
                        <a:t>Trips, before → after</a:t>
                      </a:r>
                    </a:p>
                  </a:txBody>
                  <a:tcPr marL="101600" marR="101600" marT="38100" marB="38100" anchor="ctr">
                    <a:solidFill>
                      <a:srgbClr val="1A0F5C"/>
                    </a:solidFill>
                  </a:tcPr>
                </a:tc>
                <a:tc>
                  <a:txBody>
                    <a:bodyPr/>
                    <a:lstStyle/>
                    <a:p>
                      <a:r>
                        <a:rPr sz="1250" b="1" i="0">
                          <a:solidFill>
                            <a:srgbClr val="FFFFFF"/>
                          </a:solidFill>
                          <a:latin typeface="Calibri"/>
                        </a:rPr>
                        <a:t>Offers accepted, after</a:t>
                      </a:r>
                    </a:p>
                  </a:txBody>
                  <a:tcPr marL="101600" marR="101600" marT="38100" marB="38100" anchor="ctr">
                    <a:solidFill>
                      <a:srgbClr val="1A0F5C"/>
                    </a:solidFill>
                  </a:tcPr>
                </a:tc>
              </a:tr>
              <a:tr h="335280">
                <a:tc>
                  <a:txBody>
                    <a:bodyPr/>
                    <a:lstStyle/>
                    <a:p>
                      <a:r>
                        <a:rPr sz="1200" b="0" i="0">
                          <a:solidFill>
                            <a:srgbClr val="1A1440"/>
                          </a:solidFill>
                          <a:latin typeface="Calibri"/>
                        </a:rPr>
                        <a:t>A</a:t>
                      </a:r>
                    </a:p>
                  </a:txBody>
                  <a:tcPr marL="101600" marR="101600" marT="38100" marB="38100" anchor="ctr">
                    <a:solidFill>
                      <a:srgbClr val="FFFFFF"/>
                    </a:solidFill>
                  </a:tcPr>
                </a:tc>
                <a:tc>
                  <a:txBody>
                    <a:bodyPr/>
                    <a:lstStyle/>
                    <a:p>
                      <a:r>
                        <a:rPr sz="1200" b="0" i="0">
                          <a:solidFill>
                            <a:srgbClr val="1A1440"/>
                          </a:solidFill>
                          <a:latin typeface="Calibri"/>
                        </a:rPr>
                        <a:t>Jubilee Hills</a:t>
                      </a:r>
                    </a:p>
                  </a:txBody>
                  <a:tcPr marL="101600" marR="101600" marT="38100" marB="38100" anchor="ctr">
                    <a:solidFill>
                      <a:srgbClr val="FFFFFF"/>
                    </a:solidFill>
                  </a:tcPr>
                </a:tc>
                <a:tc>
                  <a:txBody>
                    <a:bodyPr/>
                    <a:lstStyle/>
                    <a:p>
                      <a:r>
                        <a:rPr sz="1200" b="0" i="0">
                          <a:solidFill>
                            <a:srgbClr val="1A1440"/>
                          </a:solidFill>
                          <a:latin typeface="Calibri"/>
                        </a:rPr>
                        <a:t>10 → 11</a:t>
                      </a:r>
                    </a:p>
                  </a:txBody>
                  <a:tcPr marL="101600" marR="101600" marT="38100" marB="38100" anchor="ctr">
                    <a:solidFill>
                      <a:srgbClr val="FFFFFF"/>
                    </a:solidFill>
                  </a:tcPr>
                </a:tc>
                <a:tc>
                  <a:txBody>
                    <a:bodyPr/>
                    <a:lstStyle/>
                    <a:p>
                      <a:r>
                        <a:rPr sz="1200" b="0" i="0">
                          <a:solidFill>
                            <a:srgbClr val="1A1440"/>
                          </a:solidFill>
                          <a:latin typeface="Calibri"/>
                        </a:rPr>
                        <a:t>21 → 22</a:t>
                      </a:r>
                    </a:p>
                  </a:txBody>
                  <a:tcPr marL="101600" marR="101600" marT="38100" marB="38100" anchor="ctr">
                    <a:solidFill>
                      <a:srgbClr val="FFFFFF"/>
                    </a:solidFill>
                  </a:tcPr>
                </a:tc>
                <a:tc>
                  <a:txBody>
                    <a:bodyPr/>
                    <a:lstStyle/>
                    <a:p>
                      <a:r>
                        <a:rPr sz="1200" b="0" i="0">
                          <a:solidFill>
                            <a:srgbClr val="1A1440"/>
                          </a:solidFill>
                          <a:latin typeface="Calibri"/>
                        </a:rPr>
                        <a:t>22 of 25</a:t>
                      </a:r>
                    </a:p>
                  </a:txBody>
                  <a:tcPr marL="101600" marR="101600" marT="38100" marB="38100" anchor="ctr">
                    <a:solidFill>
                      <a:srgbClr val="FFFFFF"/>
                    </a:solidFill>
                  </a:tcPr>
                </a:tc>
              </a:tr>
              <a:tr h="335280">
                <a:tc>
                  <a:txBody>
                    <a:bodyPr/>
                    <a:lstStyle/>
                    <a:p>
                      <a:r>
                        <a:rPr sz="1200" b="0" i="0">
                          <a:solidFill>
                            <a:srgbClr val="1A1440"/>
                          </a:solidFill>
                          <a:latin typeface="Calibri"/>
                        </a:rPr>
                        <a:t>B</a:t>
                      </a:r>
                    </a:p>
                  </a:txBody>
                  <a:tcPr marL="101600" marR="101600" marT="38100" marB="38100" anchor="ctr">
                    <a:solidFill>
                      <a:srgbClr val="F4F2FA"/>
                    </a:solidFill>
                  </a:tcPr>
                </a:tc>
                <a:tc>
                  <a:txBody>
                    <a:bodyPr/>
                    <a:lstStyle/>
                    <a:p>
                      <a:r>
                        <a:rPr sz="1200" b="0" i="0">
                          <a:solidFill>
                            <a:srgbClr val="1A1440"/>
                          </a:solidFill>
                          <a:latin typeface="Calibri"/>
                        </a:rPr>
                        <a:t>Banjara Hills</a:t>
                      </a:r>
                    </a:p>
                  </a:txBody>
                  <a:tcPr marL="101600" marR="101600" marT="38100" marB="38100" anchor="ctr">
                    <a:solidFill>
                      <a:srgbClr val="F4F2FA"/>
                    </a:solidFill>
                  </a:tcPr>
                </a:tc>
                <a:tc>
                  <a:txBody>
                    <a:bodyPr/>
                    <a:lstStyle/>
                    <a:p>
                      <a:r>
                        <a:rPr sz="1200" b="0" i="0">
                          <a:solidFill>
                            <a:srgbClr val="1A1440"/>
                          </a:solidFill>
                          <a:latin typeface="Calibri"/>
                        </a:rPr>
                        <a:t>9 → 10</a:t>
                      </a:r>
                    </a:p>
                  </a:txBody>
                  <a:tcPr marL="101600" marR="101600" marT="38100" marB="38100" anchor="ctr">
                    <a:solidFill>
                      <a:srgbClr val="F4F2FA"/>
                    </a:solidFill>
                  </a:tcPr>
                </a:tc>
                <a:tc>
                  <a:txBody>
                    <a:bodyPr/>
                    <a:lstStyle/>
                    <a:p>
                      <a:r>
                        <a:rPr sz="1200" b="0" i="0">
                          <a:solidFill>
                            <a:srgbClr val="1A1440"/>
                          </a:solidFill>
                          <a:latin typeface="Calibri"/>
                        </a:rPr>
                        <a:t>17 → 18</a:t>
                      </a:r>
                    </a:p>
                  </a:txBody>
                  <a:tcPr marL="101600" marR="101600" marT="38100" marB="38100" anchor="ctr">
                    <a:solidFill>
                      <a:srgbClr val="F4F2FA"/>
                    </a:solidFill>
                  </a:tcPr>
                </a:tc>
                <a:tc>
                  <a:txBody>
                    <a:bodyPr/>
                    <a:lstStyle/>
                    <a:p>
                      <a:r>
                        <a:rPr sz="1200" b="0" i="0">
                          <a:solidFill>
                            <a:srgbClr val="1A1440"/>
                          </a:solidFill>
                          <a:latin typeface="Calibri"/>
                        </a:rPr>
                        <a:t>18 of 21</a:t>
                      </a:r>
                    </a:p>
                  </a:txBody>
                  <a:tcPr marL="101600" marR="101600" marT="38100" marB="38100" anchor="ctr">
                    <a:solidFill>
                      <a:srgbClr val="F4F2FA"/>
                    </a:solidFill>
                  </a:tcPr>
                </a:tc>
              </a:tr>
              <a:tr h="335280">
                <a:tc>
                  <a:txBody>
                    <a:bodyPr/>
                    <a:lstStyle/>
                    <a:p>
                      <a:r>
                        <a:rPr sz="1200" b="0" i="0">
                          <a:solidFill>
                            <a:srgbClr val="1A1440"/>
                          </a:solidFill>
                          <a:latin typeface="Calibri"/>
                        </a:rPr>
                        <a:t>C</a:t>
                      </a:r>
                    </a:p>
                  </a:txBody>
                  <a:tcPr marL="101600" marR="101600" marT="38100" marB="38100" anchor="ctr">
                    <a:solidFill>
                      <a:srgbClr val="FFFFFF"/>
                    </a:solidFill>
                  </a:tcPr>
                </a:tc>
                <a:tc>
                  <a:txBody>
                    <a:bodyPr/>
                    <a:lstStyle/>
                    <a:p>
                      <a:r>
                        <a:rPr sz="1200" b="0" i="0">
                          <a:solidFill>
                            <a:srgbClr val="1A1440"/>
                          </a:solidFill>
                          <a:latin typeface="Calibri"/>
                        </a:rPr>
                        <a:t>Gachibowli</a:t>
                      </a:r>
                    </a:p>
                  </a:txBody>
                  <a:tcPr marL="101600" marR="101600" marT="38100" marB="38100" anchor="ctr">
                    <a:solidFill>
                      <a:srgbClr val="FFFFFF"/>
                    </a:solidFill>
                  </a:tcPr>
                </a:tc>
                <a:tc>
                  <a:txBody>
                    <a:bodyPr/>
                    <a:lstStyle/>
                    <a:p>
                      <a:r>
                        <a:rPr sz="1200" b="0" i="0">
                          <a:solidFill>
                            <a:srgbClr val="1A1440"/>
                          </a:solidFill>
                          <a:latin typeface="Calibri"/>
                        </a:rPr>
                        <a:t>11 → 12</a:t>
                      </a:r>
                    </a:p>
                  </a:txBody>
                  <a:tcPr marL="101600" marR="101600" marT="38100" marB="38100" anchor="ctr">
                    <a:solidFill>
                      <a:srgbClr val="FFFFFF"/>
                    </a:solidFill>
                  </a:tcPr>
                </a:tc>
                <a:tc>
                  <a:txBody>
                    <a:bodyPr/>
                    <a:lstStyle/>
                    <a:p>
                      <a:r>
                        <a:rPr sz="1200" b="0" i="0">
                          <a:solidFill>
                            <a:srgbClr val="1A1440"/>
                          </a:solidFill>
                          <a:latin typeface="Calibri"/>
                        </a:rPr>
                        <a:t>22 → 23</a:t>
                      </a:r>
                    </a:p>
                  </a:txBody>
                  <a:tcPr marL="101600" marR="101600" marT="38100" marB="38100" anchor="ctr">
                    <a:solidFill>
                      <a:srgbClr val="FFFFFF"/>
                    </a:solidFill>
                  </a:tcPr>
                </a:tc>
                <a:tc>
                  <a:txBody>
                    <a:bodyPr/>
                    <a:lstStyle/>
                    <a:p>
                      <a:r>
                        <a:rPr sz="1200" b="0" i="0">
                          <a:solidFill>
                            <a:srgbClr val="1A1440"/>
                          </a:solidFill>
                          <a:latin typeface="Calibri"/>
                        </a:rPr>
                        <a:t>23 of 26</a:t>
                      </a:r>
                    </a:p>
                  </a:txBody>
                  <a:tcPr marL="101600" marR="101600" marT="38100" marB="38100" anchor="ctr">
                    <a:solidFill>
                      <a:srgbClr val="FFFFFF"/>
                    </a:solidFill>
                  </a:tcPr>
                </a:tc>
              </a:tr>
              <a:tr h="335280">
                <a:tc>
                  <a:txBody>
                    <a:bodyPr/>
                    <a:lstStyle/>
                    <a:p>
                      <a:r>
                        <a:rPr sz="1200" b="0" i="0">
                          <a:solidFill>
                            <a:srgbClr val="1A1440"/>
                          </a:solidFill>
                          <a:latin typeface="Calibri"/>
                        </a:rPr>
                        <a:t>D</a:t>
                      </a:r>
                    </a:p>
                  </a:txBody>
                  <a:tcPr marL="101600" marR="101600" marT="38100" marB="38100" anchor="ctr">
                    <a:solidFill>
                      <a:srgbClr val="F4F2FA"/>
                    </a:solidFill>
                  </a:tcPr>
                </a:tc>
                <a:tc>
                  <a:txBody>
                    <a:bodyPr/>
                    <a:lstStyle/>
                    <a:p>
                      <a:r>
                        <a:rPr sz="1200" b="0" i="0">
                          <a:solidFill>
                            <a:srgbClr val="1A1440"/>
                          </a:solidFill>
                          <a:latin typeface="Calibri"/>
                        </a:rPr>
                        <a:t>Madhapur</a:t>
                      </a:r>
                    </a:p>
                  </a:txBody>
                  <a:tcPr marL="101600" marR="101600" marT="38100" marB="38100" anchor="ctr">
                    <a:solidFill>
                      <a:srgbClr val="F4F2FA"/>
                    </a:solidFill>
                  </a:tcPr>
                </a:tc>
                <a:tc>
                  <a:txBody>
                    <a:bodyPr/>
                    <a:lstStyle/>
                    <a:p>
                      <a:r>
                        <a:rPr sz="1200" b="0" i="0">
                          <a:solidFill>
                            <a:srgbClr val="1A1440"/>
                          </a:solidFill>
                          <a:latin typeface="Calibri"/>
                        </a:rPr>
                        <a:t>10 → 11</a:t>
                      </a:r>
                    </a:p>
                  </a:txBody>
                  <a:tcPr marL="101600" marR="101600" marT="38100" marB="38100" anchor="ctr">
                    <a:solidFill>
                      <a:srgbClr val="F4F2FA"/>
                    </a:solidFill>
                  </a:tcPr>
                </a:tc>
                <a:tc>
                  <a:txBody>
                    <a:bodyPr/>
                    <a:lstStyle/>
                    <a:p>
                      <a:r>
                        <a:rPr sz="1200" b="0" i="0">
                          <a:solidFill>
                            <a:srgbClr val="1A1440"/>
                          </a:solidFill>
                          <a:latin typeface="Calibri"/>
                        </a:rPr>
                        <a:t>19 → 20</a:t>
                      </a:r>
                    </a:p>
                  </a:txBody>
                  <a:tcPr marL="101600" marR="101600" marT="38100" marB="38100" anchor="ctr">
                    <a:solidFill>
                      <a:srgbClr val="F4F2FA"/>
                    </a:solidFill>
                  </a:tcPr>
                </a:tc>
                <a:tc>
                  <a:txBody>
                    <a:bodyPr/>
                    <a:lstStyle/>
                    <a:p>
                      <a:r>
                        <a:rPr sz="1200" b="0" i="0">
                          <a:solidFill>
                            <a:srgbClr val="1A1440"/>
                          </a:solidFill>
                          <a:latin typeface="Calibri"/>
                        </a:rPr>
                        <a:t>20 of 23</a:t>
                      </a:r>
                    </a:p>
                  </a:txBody>
                  <a:tcPr marL="101600" marR="101600" marT="38100" marB="38100" anchor="ctr">
                    <a:solidFill>
                      <a:srgbClr val="F4F2FA"/>
                    </a:solidFill>
                  </a:tcPr>
                </a:tc>
              </a:tr>
              <a:tr h="335280">
                <a:tc>
                  <a:txBody>
                    <a:bodyPr/>
                    <a:lstStyle/>
                    <a:p>
                      <a:r>
                        <a:rPr sz="1200" b="0" i="0">
                          <a:solidFill>
                            <a:srgbClr val="1A1440"/>
                          </a:solidFill>
                          <a:latin typeface="Calibri"/>
                        </a:rPr>
                        <a:t>E</a:t>
                      </a:r>
                    </a:p>
                  </a:txBody>
                  <a:tcPr marL="101600" marR="101600" marT="38100" marB="38100" anchor="ctr">
                    <a:solidFill>
                      <a:srgbClr val="FFFFFF"/>
                    </a:solidFill>
                  </a:tcPr>
                </a:tc>
                <a:tc>
                  <a:txBody>
                    <a:bodyPr/>
                    <a:lstStyle/>
                    <a:p>
                      <a:r>
                        <a:rPr sz="1200" b="0" i="0">
                          <a:solidFill>
                            <a:srgbClr val="1A1440"/>
                          </a:solidFill>
                          <a:latin typeface="Calibri"/>
                        </a:rPr>
                        <a:t>Shamshabad</a:t>
                      </a:r>
                    </a:p>
                  </a:txBody>
                  <a:tcPr marL="101600" marR="101600" marT="38100" marB="38100" anchor="ctr">
                    <a:solidFill>
                      <a:srgbClr val="FFFFFF"/>
                    </a:solidFill>
                  </a:tcPr>
                </a:tc>
                <a:tc>
                  <a:txBody>
                    <a:bodyPr/>
                    <a:lstStyle/>
                    <a:p>
                      <a:r>
                        <a:rPr sz="1200" b="0" i="0">
                          <a:solidFill>
                            <a:srgbClr val="1A1440"/>
                          </a:solidFill>
                          <a:latin typeface="Calibri"/>
                        </a:rPr>
                        <a:t>10 → 16</a:t>
                      </a:r>
                    </a:p>
                  </a:txBody>
                  <a:tcPr marL="101600" marR="101600" marT="38100" marB="38100" anchor="ctr">
                    <a:solidFill>
                      <a:srgbClr val="FFFFFF"/>
                    </a:solidFill>
                  </a:tcPr>
                </a:tc>
                <a:tc>
                  <a:txBody>
                    <a:bodyPr/>
                    <a:lstStyle/>
                    <a:p>
                      <a:r>
                        <a:rPr sz="1200" b="0" i="0">
                          <a:solidFill>
                            <a:srgbClr val="1A1440"/>
                          </a:solidFill>
                          <a:latin typeface="Calibri"/>
                        </a:rPr>
                        <a:t>18 → 3</a:t>
                      </a:r>
                    </a:p>
                  </a:txBody>
                  <a:tcPr marL="101600" marR="101600" marT="38100" marB="38100" anchor="ctr">
                    <a:solidFill>
                      <a:srgbClr val="FFFFFF"/>
                    </a:solidFill>
                  </a:tcPr>
                </a:tc>
                <a:tc>
                  <a:txBody>
                    <a:bodyPr/>
                    <a:lstStyle/>
                    <a:p>
                      <a:r>
                        <a:rPr sz="1200" b="0" i="0">
                          <a:solidFill>
                            <a:srgbClr val="1A1440"/>
                          </a:solidFill>
                          <a:latin typeface="Calibri"/>
                        </a:rPr>
                        <a:t>4 of 14</a:t>
                      </a:r>
                    </a:p>
                  </a:txBody>
                  <a:tcPr marL="101600" marR="101600" marT="38100" marB="38100" anchor="ctr">
                    <a:solidFill>
                      <a:srgbClr val="FFFFFF"/>
                    </a:solidFill>
                  </a:tcPr>
                </a:tc>
              </a:tr>
              <a:tr h="335280">
                <a:tc>
                  <a:txBody>
                    <a:bodyPr/>
                    <a:lstStyle/>
                    <a:p>
                      <a:r>
                        <a:rPr sz="1200" b="0" i="0">
                          <a:solidFill>
                            <a:srgbClr val="1A1440"/>
                          </a:solidFill>
                          <a:latin typeface="Calibri"/>
                        </a:rPr>
                        <a:t>F</a:t>
                      </a:r>
                    </a:p>
                  </a:txBody>
                  <a:tcPr marL="101600" marR="101600" marT="38100" marB="38100" anchor="ctr">
                    <a:solidFill>
                      <a:srgbClr val="F4F2FA"/>
                    </a:solidFill>
                  </a:tcPr>
                </a:tc>
                <a:tc>
                  <a:txBody>
                    <a:bodyPr/>
                    <a:lstStyle/>
                    <a:p>
                      <a:r>
                        <a:rPr sz="1200" b="0" i="0">
                          <a:solidFill>
                            <a:srgbClr val="1A1440"/>
                          </a:solidFill>
                          <a:latin typeface="Calibri"/>
                        </a:rPr>
                        <a:t>Rajendranagar</a:t>
                      </a:r>
                    </a:p>
                  </a:txBody>
                  <a:tcPr marL="101600" marR="101600" marT="38100" marB="38100" anchor="ctr">
                    <a:solidFill>
                      <a:srgbClr val="F4F2FA"/>
                    </a:solidFill>
                  </a:tcPr>
                </a:tc>
                <a:tc>
                  <a:txBody>
                    <a:bodyPr/>
                    <a:lstStyle/>
                    <a:p>
                      <a:r>
                        <a:rPr sz="1200" b="0" i="0">
                          <a:solidFill>
                            <a:srgbClr val="1A1440"/>
                          </a:solidFill>
                          <a:latin typeface="Calibri"/>
                        </a:rPr>
                        <a:t>10 → 14</a:t>
                      </a:r>
                    </a:p>
                  </a:txBody>
                  <a:tcPr marL="101600" marR="101600" marT="38100" marB="38100" anchor="ctr">
                    <a:solidFill>
                      <a:srgbClr val="F4F2FA"/>
                    </a:solidFill>
                  </a:tcPr>
                </a:tc>
                <a:tc>
                  <a:txBody>
                    <a:bodyPr/>
                    <a:lstStyle/>
                    <a:p>
                      <a:r>
                        <a:rPr sz="1200" b="0" i="0">
                          <a:solidFill>
                            <a:srgbClr val="1A1440"/>
                          </a:solidFill>
                          <a:latin typeface="Calibri"/>
                        </a:rPr>
                        <a:t>17 → 2</a:t>
                      </a:r>
                    </a:p>
                  </a:txBody>
                  <a:tcPr marL="101600" marR="101600" marT="38100" marB="38100" anchor="ctr">
                    <a:solidFill>
                      <a:srgbClr val="F4F2FA"/>
                    </a:solidFill>
                  </a:tcPr>
                </a:tc>
                <a:tc>
                  <a:txBody>
                    <a:bodyPr/>
                    <a:lstStyle/>
                    <a:p>
                      <a:r>
                        <a:rPr sz="1200" b="0" i="0">
                          <a:solidFill>
                            <a:srgbClr val="1A1440"/>
                          </a:solidFill>
                          <a:latin typeface="Calibri"/>
                        </a:rPr>
                        <a:t>3 of 12</a:t>
                      </a:r>
                    </a:p>
                  </a:txBody>
                  <a:tcPr marL="101600" marR="101600" marT="38100" marB="38100" anchor="ctr">
                    <a:solidFill>
                      <a:srgbClr val="F4F2FA"/>
                    </a:solidFill>
                  </a:tcPr>
                </a:tc>
              </a:tr>
            </a:tbl>
          </a:graphicData>
        </a:graphic>
      </p:graphicFrame>
      <p:sp>
        <p:nvSpPr>
          <p:cNvPr id="10" name="TextBox 9"/>
          <p:cNvSpPr txBox="1"/>
          <p:nvPr/>
        </p:nvSpPr>
        <p:spPr>
          <a:xfrm>
            <a:off x="530352" y="4559808"/>
            <a:ext cx="11130991" cy="1324864"/>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The before week begins 10 August 2026 and the after week 21 September 2026. These are twelve rows of the case's own driver_weeks; E and F drive in two of the three outer zones, where riders are few. Their 16 and 14 hours are short beside the drivers who idle like them, who average about 39 peak online hours a week after the launch, as chapter 8's full data shows.</a:t>
            </a:r>
          </a:p>
        </p:txBody>
      </p:sp>
      <p:sp>
        <p:nvSpPr>
          <p:cNvPr id="11" name="TextBox 10"/>
          <p:cNvSpPr txBox="1"/>
          <p:nvPr/>
        </p:nvSpPr>
        <p:spPr>
          <a:xfrm>
            <a:off x="530352" y="6437376"/>
            <a:ext cx="256032" cy="152146"/>
          </a:xfrm>
          <a:prstGeom prst="rect">
            <a:avLst/>
          </a:prstGeom>
          <a:noFill/>
        </p:spPr>
        <p:txBody>
          <a:bodyPr wrap="square" anchor="t" lIns="0" rIns="0" tIns="0" bIns="0">
            <a:spAutoFit/>
          </a:bodyPr>
          <a:lstStyle/>
          <a:p>
            <a:pPr algn="l"/>
            <a:r>
              <a:rPr sz="700" b="0" i="0">
                <a:solidFill>
                  <a:srgbClr val="6B6690"/>
                </a:solidFill>
                <a:latin typeface="Calibri"/>
              </a:rPr>
              <a:t>…</a:t>
            </a:r>
          </a:p>
        </p:txBody>
      </p:sp>
      <p:sp>
        <p:nvSpPr>
          <p:cNvPr id="12" name="Oval 11"/>
          <p:cNvSpPr/>
          <p:nvPr/>
        </p:nvSpPr>
        <p:spPr>
          <a:xfrm>
            <a:off x="78638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896112"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Which number warns?</a:t>
            </a:r>
          </a:p>
        </p:txBody>
      </p:sp>
      <p:sp>
        <p:nvSpPr>
          <p:cNvPr id="14" name="Oval 13"/>
          <p:cNvSpPr/>
          <p:nvPr/>
        </p:nvSpPr>
        <p:spPr>
          <a:xfrm>
            <a:off x="213598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2245709"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Which four lines?</a:t>
            </a:r>
          </a:p>
        </p:txBody>
      </p:sp>
      <p:sp>
        <p:nvSpPr>
          <p:cNvPr id="16" name="Oval 15"/>
          <p:cNvSpPr/>
          <p:nvPr/>
        </p:nvSpPr>
        <p:spPr>
          <a:xfrm>
            <a:off x="339356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3503295"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How is a number gamed?</a:t>
            </a:r>
          </a:p>
        </p:txBody>
      </p:sp>
      <p:sp>
        <p:nvSpPr>
          <p:cNvPr id="18" name="Oval 17"/>
          <p:cNvSpPr/>
          <p:nvPr/>
        </p:nvSpPr>
        <p:spPr>
          <a:xfrm>
            <a:off x="488118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4990909"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the page hold?</a:t>
            </a:r>
          </a:p>
        </p:txBody>
      </p:sp>
      <p:sp>
        <p:nvSpPr>
          <p:cNvPr id="20" name="Oval 19"/>
          <p:cNvSpPr/>
          <p:nvPr/>
        </p:nvSpPr>
        <p:spPr>
          <a:xfrm>
            <a:off x="6460807"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6570535" y="6437376"/>
            <a:ext cx="1378457" cy="152146"/>
          </a:xfrm>
          <a:prstGeom prst="rect">
            <a:avLst/>
          </a:prstGeom>
          <a:noFill/>
        </p:spPr>
        <p:txBody>
          <a:bodyPr wrap="square" anchor="t" lIns="0" rIns="0" tIns="0" bIns="0">
            <a:spAutoFit/>
          </a:bodyPr>
          <a:lstStyle/>
          <a:p>
            <a:pPr algn="l"/>
            <a:r>
              <a:rPr sz="700" b="1" i="0">
                <a:solidFill>
                  <a:srgbClr val="5B3FD6"/>
                </a:solidFill>
                <a:latin typeface="Calibri"/>
              </a:rPr>
              <a:t>What does an hour count?</a:t>
            </a:r>
          </a:p>
        </p:txBody>
      </p:sp>
      <p:sp>
        <p:nvSpPr>
          <p:cNvPr id="22" name="Oval 21"/>
          <p:cNvSpPr/>
          <p:nvPr/>
        </p:nvSpPr>
        <p:spPr>
          <a:xfrm>
            <a:off x="804043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8150161"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Where did the fall sit?</a:t>
            </a:r>
          </a:p>
        </p:txBody>
      </p:sp>
      <p:sp>
        <p:nvSpPr>
          <p:cNvPr id="24" name="Oval 23"/>
          <p:cNvSpPr/>
          <p:nvPr/>
        </p:nvSpPr>
        <p:spPr>
          <a:xfrm>
            <a:off x="957405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9683781"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should it pay for?</a:t>
            </a:r>
          </a:p>
        </p:txBody>
      </p:sp>
      <p:sp>
        <p:nvSpPr>
          <p:cNvPr id="26" name="TextBox 25"/>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S60  ·  67 / 93</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MONDAY  ·  BUSINESS METRIC DESIGN  ·  UBER, HYDERABAD</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What does trips per hour do on the six?</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Before dividing, what will trips per peak online hour do on the six drivers?</a:t>
            </a:r>
          </a:p>
        </p:txBody>
      </p:sp>
      <p:sp>
        <p:nvSpPr>
          <p:cNvPr id="9" name="TextBox 8"/>
          <p:cNvSpPr txBox="1"/>
          <p:nvPr/>
        </p:nvSpPr>
        <p:spPr>
          <a:xfrm>
            <a:off x="530352" y="1956816"/>
            <a:ext cx="11130991" cy="1654048"/>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a) Holds near 1.9</a:t>
            </a:r>
          </a:p>
          <a:p>
            <a:pPr>
              <a:spcAft>
                <a:spcPts val="800"/>
              </a:spcAft>
            </a:pPr>
            <a:r>
              <a:rPr sz="1600" b="0" i="0">
                <a:solidFill>
                  <a:srgbClr val="1A1440"/>
                </a:solidFill>
                <a:latin typeface="Calibri"/>
              </a:rPr>
              <a:t>b) Falls to about 1.6, as the city's did</a:t>
            </a:r>
          </a:p>
          <a:p>
            <a:pPr>
              <a:spcAft>
                <a:spcPts val="800"/>
              </a:spcAft>
            </a:pPr>
            <a:r>
              <a:rPr sz="1600" b="0" i="0">
                <a:solidFill>
                  <a:srgbClr val="1A1440"/>
                </a:solidFill>
                <a:latin typeface="Calibri"/>
              </a:rPr>
              <a:t>c) Falls to about 1.2</a:t>
            </a:r>
          </a:p>
          <a:p>
            <a:pPr>
              <a:spcAft>
                <a:spcPts val="800"/>
              </a:spcAft>
            </a:pPr>
            <a:r>
              <a:rPr sz="1600" b="0" i="0">
                <a:solidFill>
                  <a:srgbClr val="1A1440"/>
                </a:solidFill>
                <a:latin typeface="Calibri"/>
              </a:rPr>
              <a:t>d) Rises above 2.0</a:t>
            </a:r>
          </a:p>
        </p:txBody>
      </p:sp>
      <p:sp>
        <p:nvSpPr>
          <p:cNvPr id="10" name="TextBox 9"/>
          <p:cNvSpPr txBox="1"/>
          <p:nvPr/>
        </p:nvSpPr>
        <p:spPr>
          <a:xfrm>
            <a:off x="530352" y="6437376"/>
            <a:ext cx="256032" cy="152146"/>
          </a:xfrm>
          <a:prstGeom prst="rect">
            <a:avLst/>
          </a:prstGeom>
          <a:noFill/>
        </p:spPr>
        <p:txBody>
          <a:bodyPr wrap="square" anchor="t" lIns="0" rIns="0" tIns="0" bIns="0">
            <a:spAutoFit/>
          </a:bodyPr>
          <a:lstStyle/>
          <a:p>
            <a:pPr algn="l"/>
            <a:r>
              <a:rPr sz="700" b="0" i="0">
                <a:solidFill>
                  <a:srgbClr val="6B6690"/>
                </a:solidFill>
                <a:latin typeface="Calibri"/>
              </a:rPr>
              <a:t>…</a:t>
            </a:r>
          </a:p>
        </p:txBody>
      </p:sp>
      <p:sp>
        <p:nvSpPr>
          <p:cNvPr id="11" name="Oval 10"/>
          <p:cNvSpPr/>
          <p:nvPr/>
        </p:nvSpPr>
        <p:spPr>
          <a:xfrm>
            <a:off x="78638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96112"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Which number warns?</a:t>
            </a:r>
          </a:p>
        </p:txBody>
      </p:sp>
      <p:sp>
        <p:nvSpPr>
          <p:cNvPr id="13" name="Oval 12"/>
          <p:cNvSpPr/>
          <p:nvPr/>
        </p:nvSpPr>
        <p:spPr>
          <a:xfrm>
            <a:off x="213598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2245709"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Which four lines?</a:t>
            </a:r>
          </a:p>
        </p:txBody>
      </p:sp>
      <p:sp>
        <p:nvSpPr>
          <p:cNvPr id="15" name="Oval 14"/>
          <p:cNvSpPr/>
          <p:nvPr/>
        </p:nvSpPr>
        <p:spPr>
          <a:xfrm>
            <a:off x="339356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3503295"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How is a number gamed?</a:t>
            </a:r>
          </a:p>
        </p:txBody>
      </p:sp>
      <p:sp>
        <p:nvSpPr>
          <p:cNvPr id="17" name="Oval 16"/>
          <p:cNvSpPr/>
          <p:nvPr/>
        </p:nvSpPr>
        <p:spPr>
          <a:xfrm>
            <a:off x="488118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4990909"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the page hold?</a:t>
            </a:r>
          </a:p>
        </p:txBody>
      </p:sp>
      <p:sp>
        <p:nvSpPr>
          <p:cNvPr id="19" name="Oval 18"/>
          <p:cNvSpPr/>
          <p:nvPr/>
        </p:nvSpPr>
        <p:spPr>
          <a:xfrm>
            <a:off x="6460807"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570535" y="6437376"/>
            <a:ext cx="1378457" cy="152146"/>
          </a:xfrm>
          <a:prstGeom prst="rect">
            <a:avLst/>
          </a:prstGeom>
          <a:noFill/>
        </p:spPr>
        <p:txBody>
          <a:bodyPr wrap="square" anchor="t" lIns="0" rIns="0" tIns="0" bIns="0">
            <a:spAutoFit/>
          </a:bodyPr>
          <a:lstStyle/>
          <a:p>
            <a:pPr algn="l"/>
            <a:r>
              <a:rPr sz="700" b="1" i="0">
                <a:solidFill>
                  <a:srgbClr val="5B3FD6"/>
                </a:solidFill>
                <a:latin typeface="Calibri"/>
              </a:rPr>
              <a:t>What does an hour count?</a:t>
            </a:r>
          </a:p>
        </p:txBody>
      </p:sp>
      <p:sp>
        <p:nvSpPr>
          <p:cNvPr id="21" name="Oval 20"/>
          <p:cNvSpPr/>
          <p:nvPr/>
        </p:nvSpPr>
        <p:spPr>
          <a:xfrm>
            <a:off x="804043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8150161"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Where did the fall sit?</a:t>
            </a:r>
          </a:p>
        </p:txBody>
      </p:sp>
      <p:sp>
        <p:nvSpPr>
          <p:cNvPr id="23" name="Oval 22"/>
          <p:cNvSpPr/>
          <p:nvPr/>
        </p:nvSpPr>
        <p:spPr>
          <a:xfrm>
            <a:off x="957405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9683781"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should it pay for?</a:t>
            </a:r>
          </a:p>
        </p:txBody>
      </p:sp>
      <p:sp>
        <p:nvSpPr>
          <p:cNvPr id="25" name="TextBox 24"/>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S61  ·  68 / 93</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MONDAY  ·  BUSINESS METRIC DESIGN  ·  UBER, HYDERABAD</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Answer: 1.90 before, 1.19 after, by hand</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How is the ratio counted, and why do the six fall further than the city's 1.58?</a:t>
            </a:r>
          </a:p>
        </p:txBody>
      </p:sp>
      <p:pic>
        <p:nvPicPr>
          <p:cNvPr id="9" name="mermaid diagram" descr="9dc97cb1fa8c8e3a.png"/>
          <p:cNvPicPr>
            <a:picLocks noChangeAspect="1"/>
          </p:cNvPicPr>
          <p:nvPr/>
        </p:nvPicPr>
        <p:blipFill>
          <a:blip r:embed="rId5"/>
          <a:stretch>
            <a:fillRect/>
          </a:stretch>
        </p:blipFill>
        <p:spPr>
          <a:xfrm>
            <a:off x="3102616" y="1956816"/>
            <a:ext cx="5986462" cy="1800225"/>
          </a:xfrm>
          <a:prstGeom prst="rect">
            <a:avLst/>
          </a:prstGeom>
        </p:spPr>
      </p:pic>
      <p:sp>
        <p:nvSpPr>
          <p:cNvPr id="10" name="Rounded Rectangle 9"/>
          <p:cNvSpPr/>
          <p:nvPr/>
        </p:nvSpPr>
        <p:spPr>
          <a:xfrm>
            <a:off x="530352" y="3903345"/>
            <a:ext cx="11130991" cy="16078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676656" y="4031360"/>
            <a:ext cx="45720" cy="13517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7824" y="4022217"/>
            <a:ext cx="10564063" cy="1424940"/>
          </a:xfrm>
          <a:prstGeom prst="rect">
            <a:avLst/>
          </a:prstGeom>
          <a:noFill/>
        </p:spPr>
        <p:txBody>
          <a:bodyPr wrap="square" anchor="ctr" lIns="0" rIns="0" tIns="0" bIns="0">
            <a:spAutoFit/>
          </a:bodyPr>
          <a:lstStyle/>
          <a:p>
            <a:r>
              <a:rPr sz="1500" b="1">
                <a:solidFill>
                  <a:srgbClr val="5B3FD6"/>
                </a:solidFill>
                <a:latin typeface="Calibri"/>
              </a:rPr>
              <a:t>Answer: c. </a:t>
            </a:r>
            <a:r>
              <a:rPr sz="1500" b="0" i="0">
                <a:solidFill>
                  <a:srgbClr val="1A1440"/>
                </a:solidFill>
                <a:latin typeface="Calibri"/>
              </a:rPr>
              <a:t>Hours rose 23 percent and trips fell 23 percent, so trips per peak online hour fell from 1.90 to 1.19: add the trips, add the hours, divide once, chapter 4's numerator over its denominator. The city fell to 1.58; the six fall further because they were chosen to show the mechanism, and two of them, E and F, logged hours with almost no trips, a third of this sample. How common such drivers are in the city is chapter 8's question.</a:t>
            </a:r>
          </a:p>
        </p:txBody>
      </p:sp>
      <p:sp>
        <p:nvSpPr>
          <p:cNvPr id="13" name="TextBox 12"/>
          <p:cNvSpPr txBox="1"/>
          <p:nvPr/>
        </p:nvSpPr>
        <p:spPr>
          <a:xfrm>
            <a:off x="530352" y="6437376"/>
            <a:ext cx="256032" cy="152146"/>
          </a:xfrm>
          <a:prstGeom prst="rect">
            <a:avLst/>
          </a:prstGeom>
          <a:noFill/>
        </p:spPr>
        <p:txBody>
          <a:bodyPr wrap="square" anchor="t" lIns="0" rIns="0" tIns="0" bIns="0">
            <a:spAutoFit/>
          </a:bodyPr>
          <a:lstStyle/>
          <a:p>
            <a:pPr algn="l"/>
            <a:r>
              <a:rPr sz="700" b="0" i="0">
                <a:solidFill>
                  <a:srgbClr val="6B6690"/>
                </a:solidFill>
                <a:latin typeface="Calibri"/>
              </a:rPr>
              <a:t>…</a:t>
            </a:r>
          </a:p>
        </p:txBody>
      </p:sp>
      <p:sp>
        <p:nvSpPr>
          <p:cNvPr id="14" name="Oval 13"/>
          <p:cNvSpPr/>
          <p:nvPr/>
        </p:nvSpPr>
        <p:spPr>
          <a:xfrm>
            <a:off x="78638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96112"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Which number warns?</a:t>
            </a:r>
          </a:p>
        </p:txBody>
      </p:sp>
      <p:sp>
        <p:nvSpPr>
          <p:cNvPr id="16" name="Oval 15"/>
          <p:cNvSpPr/>
          <p:nvPr/>
        </p:nvSpPr>
        <p:spPr>
          <a:xfrm>
            <a:off x="213598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2245709"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Which four lines?</a:t>
            </a:r>
          </a:p>
        </p:txBody>
      </p:sp>
      <p:sp>
        <p:nvSpPr>
          <p:cNvPr id="18" name="Oval 17"/>
          <p:cNvSpPr/>
          <p:nvPr/>
        </p:nvSpPr>
        <p:spPr>
          <a:xfrm>
            <a:off x="339356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3503295"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How is a number gamed?</a:t>
            </a:r>
          </a:p>
        </p:txBody>
      </p:sp>
      <p:sp>
        <p:nvSpPr>
          <p:cNvPr id="20" name="Oval 19"/>
          <p:cNvSpPr/>
          <p:nvPr/>
        </p:nvSpPr>
        <p:spPr>
          <a:xfrm>
            <a:off x="488118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4990909"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the page hold?</a:t>
            </a:r>
          </a:p>
        </p:txBody>
      </p:sp>
      <p:sp>
        <p:nvSpPr>
          <p:cNvPr id="22" name="Oval 21"/>
          <p:cNvSpPr/>
          <p:nvPr/>
        </p:nvSpPr>
        <p:spPr>
          <a:xfrm>
            <a:off x="6460807"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6570535" y="6437376"/>
            <a:ext cx="1378457" cy="152146"/>
          </a:xfrm>
          <a:prstGeom prst="rect">
            <a:avLst/>
          </a:prstGeom>
          <a:noFill/>
        </p:spPr>
        <p:txBody>
          <a:bodyPr wrap="square" anchor="t" lIns="0" rIns="0" tIns="0" bIns="0">
            <a:spAutoFit/>
          </a:bodyPr>
          <a:lstStyle/>
          <a:p>
            <a:pPr algn="l"/>
            <a:r>
              <a:rPr sz="700" b="1" i="0">
                <a:solidFill>
                  <a:srgbClr val="5B3FD6"/>
                </a:solidFill>
                <a:latin typeface="Calibri"/>
              </a:rPr>
              <a:t>What does an hour count?</a:t>
            </a:r>
          </a:p>
        </p:txBody>
      </p:sp>
      <p:sp>
        <p:nvSpPr>
          <p:cNvPr id="24" name="Oval 23"/>
          <p:cNvSpPr/>
          <p:nvPr/>
        </p:nvSpPr>
        <p:spPr>
          <a:xfrm>
            <a:off x="804043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8150161"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Where did the fall sit?</a:t>
            </a:r>
          </a:p>
        </p:txBody>
      </p:sp>
      <p:sp>
        <p:nvSpPr>
          <p:cNvPr id="26" name="Oval 25"/>
          <p:cNvSpPr/>
          <p:nvPr/>
        </p:nvSpPr>
        <p:spPr>
          <a:xfrm>
            <a:off x="957405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9683781"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should it pay for?</a:t>
            </a:r>
          </a:p>
        </p:txBody>
      </p:sp>
      <p:sp>
        <p:nvSpPr>
          <p:cNvPr id="28" name="TextBox 27"/>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S62  ·  69 / 93</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MONDAY  ·  BUSINESS METRIC DESIGN  ·  UBER, HYDERABAD</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Close: a paid proxy drifts from its goal</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has chapter 7 answered, and what does the board now hold?</a:t>
            </a:r>
          </a:p>
        </p:txBody>
      </p:sp>
      <p:pic>
        <p:nvPicPr>
          <p:cNvPr id="9" name="mermaid diagram" descr="b553731a5ef07449.png"/>
          <p:cNvPicPr>
            <a:picLocks noChangeAspect="1"/>
          </p:cNvPicPr>
          <p:nvPr/>
        </p:nvPicPr>
        <p:blipFill>
          <a:blip r:embed="rId5"/>
          <a:stretch>
            <a:fillRect/>
          </a:stretch>
        </p:blipFill>
        <p:spPr>
          <a:xfrm>
            <a:off x="530352" y="2769213"/>
            <a:ext cx="4786326" cy="2343701"/>
          </a:xfrm>
          <a:prstGeom prst="rect">
            <a:avLst/>
          </a:prstGeom>
        </p:spPr>
      </p:pic>
      <p:sp>
        <p:nvSpPr>
          <p:cNvPr id="10" name="Rounded Rectangle 9"/>
          <p:cNvSpPr/>
          <p:nvPr/>
        </p:nvSpPr>
        <p:spPr>
          <a:xfrm>
            <a:off x="5761917" y="1956816"/>
            <a:ext cx="5899425" cy="10744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5908221" y="2084832"/>
            <a:ext cx="45720" cy="8183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109389" y="2075688"/>
            <a:ext cx="5332497" cy="891540"/>
          </a:xfrm>
          <a:prstGeom prst="rect">
            <a:avLst/>
          </a:prstGeom>
          <a:noFill/>
        </p:spPr>
        <p:txBody>
          <a:bodyPr wrap="square" anchor="ctr" lIns="0" rIns="0" tIns="0" bIns="0">
            <a:spAutoFit/>
          </a:bodyPr>
          <a:lstStyle/>
          <a:p>
            <a:r>
              <a:rPr sz="1500" b="1">
                <a:solidFill>
                  <a:srgbClr val="5B3FD6"/>
                </a:solidFill>
                <a:latin typeface="Calibri"/>
              </a:rPr>
              <a:t>The crux. </a:t>
            </a:r>
            <a:r>
              <a:rPr sz="1500" b="0" i="0">
                <a:solidFill>
                  <a:srgbClr val="1A1440"/>
                </a:solidFill>
                <a:latin typeface="Calibri"/>
              </a:rPr>
              <a:t>A number is safe to pay for only if hitting it requires the thing it stands for; hours online do not require a rider.</a:t>
            </a:r>
          </a:p>
        </p:txBody>
      </p:sp>
      <p:sp>
        <p:nvSpPr>
          <p:cNvPr id="13" name="Rounded Rectangle 12"/>
          <p:cNvSpPr/>
          <p:nvPr/>
        </p:nvSpPr>
        <p:spPr>
          <a:xfrm>
            <a:off x="5761917" y="3195828"/>
            <a:ext cx="5899425" cy="16078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ounded Rectangle 13"/>
          <p:cNvSpPr/>
          <p:nvPr/>
        </p:nvSpPr>
        <p:spPr>
          <a:xfrm>
            <a:off x="5908221" y="3323844"/>
            <a:ext cx="45720" cy="13517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6109389" y="3314700"/>
            <a:ext cx="5332497" cy="1424940"/>
          </a:xfrm>
          <a:prstGeom prst="rect">
            <a:avLst/>
          </a:prstGeom>
          <a:noFill/>
        </p:spPr>
        <p:txBody>
          <a:bodyPr wrap="square" anchor="ctr" lIns="0" rIns="0" tIns="0" bIns="0">
            <a:spAutoFit/>
          </a:bodyPr>
          <a:lstStyle/>
          <a:p>
            <a:r>
              <a:rPr sz="1500" b="1">
                <a:solidFill>
                  <a:srgbClr val="5B3FD6"/>
                </a:solidFill>
                <a:latin typeface="Calibri"/>
              </a:rPr>
              <a:t>The senior analyst's check. </a:t>
            </a:r>
            <a:r>
              <a:rPr sz="1500" b="0" i="0">
                <a:solidFill>
                  <a:srgbClr val="1A1440"/>
                </a:solidFill>
                <a:latin typeface="Calibri"/>
              </a:rPr>
              <a:t>Before trusting a rate, read its baseline (1.90 before), its denominator (hours the app was open, which the driver controls) and the evidence that the goal moved (city trips rose only 3 percent).</a:t>
            </a:r>
          </a:p>
        </p:txBody>
      </p:sp>
      <p:sp>
        <p:nvSpPr>
          <p:cNvPr id="16" name="TextBox 15"/>
          <p:cNvSpPr txBox="1"/>
          <p:nvPr/>
        </p:nvSpPr>
        <p:spPr>
          <a:xfrm>
            <a:off x="530352" y="6437376"/>
            <a:ext cx="256032" cy="152146"/>
          </a:xfrm>
          <a:prstGeom prst="rect">
            <a:avLst/>
          </a:prstGeom>
          <a:noFill/>
        </p:spPr>
        <p:txBody>
          <a:bodyPr wrap="square" anchor="t" lIns="0" rIns="0" tIns="0" bIns="0">
            <a:spAutoFit/>
          </a:bodyPr>
          <a:lstStyle/>
          <a:p>
            <a:pPr algn="l"/>
            <a:r>
              <a:rPr sz="700" b="0" i="0">
                <a:solidFill>
                  <a:srgbClr val="6B6690"/>
                </a:solidFill>
                <a:latin typeface="Calibri"/>
              </a:rPr>
              <a:t>…</a:t>
            </a:r>
          </a:p>
        </p:txBody>
      </p:sp>
      <p:sp>
        <p:nvSpPr>
          <p:cNvPr id="17" name="Oval 16"/>
          <p:cNvSpPr/>
          <p:nvPr/>
        </p:nvSpPr>
        <p:spPr>
          <a:xfrm>
            <a:off x="78638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96112"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Which number warns?</a:t>
            </a:r>
          </a:p>
        </p:txBody>
      </p:sp>
      <p:sp>
        <p:nvSpPr>
          <p:cNvPr id="19" name="Oval 18"/>
          <p:cNvSpPr/>
          <p:nvPr/>
        </p:nvSpPr>
        <p:spPr>
          <a:xfrm>
            <a:off x="213598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2245709"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Which four lines?</a:t>
            </a:r>
          </a:p>
        </p:txBody>
      </p:sp>
      <p:sp>
        <p:nvSpPr>
          <p:cNvPr id="21" name="Oval 20"/>
          <p:cNvSpPr/>
          <p:nvPr/>
        </p:nvSpPr>
        <p:spPr>
          <a:xfrm>
            <a:off x="339356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3503295"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How is a number gamed?</a:t>
            </a:r>
          </a:p>
        </p:txBody>
      </p:sp>
      <p:sp>
        <p:nvSpPr>
          <p:cNvPr id="23" name="Oval 22"/>
          <p:cNvSpPr/>
          <p:nvPr/>
        </p:nvSpPr>
        <p:spPr>
          <a:xfrm>
            <a:off x="488118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4990909"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the page hold?</a:t>
            </a:r>
          </a:p>
        </p:txBody>
      </p:sp>
      <p:sp>
        <p:nvSpPr>
          <p:cNvPr id="25" name="Oval 24"/>
          <p:cNvSpPr/>
          <p:nvPr/>
        </p:nvSpPr>
        <p:spPr>
          <a:xfrm>
            <a:off x="6460807"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6570535" y="6437376"/>
            <a:ext cx="1378457" cy="152146"/>
          </a:xfrm>
          <a:prstGeom prst="rect">
            <a:avLst/>
          </a:prstGeom>
          <a:noFill/>
        </p:spPr>
        <p:txBody>
          <a:bodyPr wrap="square" anchor="t" lIns="0" rIns="0" tIns="0" bIns="0">
            <a:spAutoFit/>
          </a:bodyPr>
          <a:lstStyle/>
          <a:p>
            <a:pPr algn="l"/>
            <a:r>
              <a:rPr sz="700" b="1" i="0">
                <a:solidFill>
                  <a:srgbClr val="5B3FD6"/>
                </a:solidFill>
                <a:latin typeface="Calibri"/>
              </a:rPr>
              <a:t>What does an hour count?</a:t>
            </a:r>
          </a:p>
        </p:txBody>
      </p:sp>
      <p:sp>
        <p:nvSpPr>
          <p:cNvPr id="27" name="Oval 26"/>
          <p:cNvSpPr/>
          <p:nvPr/>
        </p:nvSpPr>
        <p:spPr>
          <a:xfrm>
            <a:off x="804043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8150161"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Where did the fall sit?</a:t>
            </a:r>
          </a:p>
        </p:txBody>
      </p:sp>
      <p:sp>
        <p:nvSpPr>
          <p:cNvPr id="29" name="Oval 28"/>
          <p:cNvSpPr/>
          <p:nvPr/>
        </p:nvSpPr>
        <p:spPr>
          <a:xfrm>
            <a:off x="957405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9683781"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should it pay for?</a:t>
            </a:r>
          </a:p>
        </p:txBody>
      </p:sp>
      <p:sp>
        <p:nvSpPr>
          <p:cNvPr id="31" name="TextBox 30"/>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S63  ·  70 / 93</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dark.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FFFFFF"/>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CFC9EE"/>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CFC9EE"/>
                </a:solidFill>
                <a:latin typeface="Calibri"/>
              </a:rPr>
              <a:t>PG DIPLOMA IN AI-ML AND AGENTIC AI ENGINEERING  ·  COHORT 2</a:t>
            </a:r>
          </a:p>
        </p:txBody>
      </p:sp>
      <p:sp>
        <p:nvSpPr>
          <p:cNvPr id="7" name="TextBox 6"/>
          <p:cNvSpPr txBox="1"/>
          <p:nvPr/>
        </p:nvSpPr>
        <p:spPr>
          <a:xfrm>
            <a:off x="731519" y="1143000"/>
            <a:ext cx="3657600" cy="1371600"/>
          </a:xfrm>
          <a:prstGeom prst="rect">
            <a:avLst/>
          </a:prstGeom>
          <a:noFill/>
        </p:spPr>
        <p:txBody>
          <a:bodyPr wrap="square" anchor="t" lIns="0" rIns="0" tIns="0" bIns="0">
            <a:spAutoFit/>
          </a:bodyPr>
          <a:lstStyle/>
          <a:p>
            <a:pPr algn="l"/>
            <a:r>
              <a:rPr sz="9600" b="0" i="0">
                <a:solidFill>
                  <a:srgbClr val="D9A7FF"/>
                </a:solidFill>
                <a:latin typeface="Georgia"/>
              </a:rPr>
              <a:t>08</a:t>
            </a:r>
          </a:p>
        </p:txBody>
      </p:sp>
      <p:sp>
        <p:nvSpPr>
          <p:cNvPr id="8" name="TextBox 7"/>
          <p:cNvSpPr txBox="1"/>
          <p:nvPr/>
        </p:nvSpPr>
        <p:spPr>
          <a:xfrm>
            <a:off x="731519" y="2542032"/>
            <a:ext cx="10673791" cy="366776"/>
          </a:xfrm>
          <a:prstGeom prst="rect">
            <a:avLst/>
          </a:prstGeom>
          <a:noFill/>
        </p:spPr>
        <p:txBody>
          <a:bodyPr wrap="square" anchor="t" lIns="0" rIns="0" tIns="0" bIns="0">
            <a:spAutoFit/>
          </a:bodyPr>
          <a:lstStyle/>
          <a:p>
            <a:pPr algn="l"/>
            <a:r>
              <a:rPr sz="2000" b="1" i="0">
                <a:solidFill>
                  <a:srgbClr val="D9A7FF"/>
                </a:solidFill>
                <a:latin typeface="Calibri"/>
              </a:rPr>
              <a:t>All 12,860 driver-weeks, with the definition lines and gaming</a:t>
            </a:r>
          </a:p>
        </p:txBody>
      </p:sp>
      <p:sp>
        <p:nvSpPr>
          <p:cNvPr id="9" name="TextBox 8"/>
          <p:cNvSpPr txBox="1"/>
          <p:nvPr/>
        </p:nvSpPr>
        <p:spPr>
          <a:xfrm>
            <a:off x="731519" y="3017520"/>
            <a:ext cx="10673791" cy="731520"/>
          </a:xfrm>
          <a:prstGeom prst="rect">
            <a:avLst/>
          </a:prstGeom>
          <a:noFill/>
        </p:spPr>
        <p:txBody>
          <a:bodyPr wrap="square" anchor="t" lIns="0" rIns="0" tIns="0" bIns="0">
            <a:spAutoFit/>
          </a:bodyPr>
          <a:lstStyle/>
          <a:p>
            <a:pPr algn="l"/>
            <a:r>
              <a:rPr sz="4000" b="0" i="0">
                <a:solidFill>
                  <a:srgbClr val="FFFFFF"/>
                </a:solidFill>
                <a:latin typeface="Georgia"/>
              </a:rPr>
              <a:t>Where did the fall sit?</a:t>
            </a:r>
          </a:p>
        </p:txBody>
      </p:sp>
      <p:sp>
        <p:nvSpPr>
          <p:cNvPr id="10" name="TextBox 9"/>
          <p:cNvSpPr txBox="1"/>
          <p:nvPr/>
        </p:nvSpPr>
        <p:spPr>
          <a:xfrm>
            <a:off x="731519" y="3931920"/>
            <a:ext cx="9509760" cy="531876"/>
          </a:xfrm>
          <a:prstGeom prst="rect">
            <a:avLst/>
          </a:prstGeom>
          <a:noFill/>
        </p:spPr>
        <p:txBody>
          <a:bodyPr wrap="square" anchor="t" lIns="0" rIns="0" tIns="0" bIns="0">
            <a:spAutoFit/>
          </a:bodyPr>
          <a:lstStyle/>
          <a:p>
            <a:pPr algn="l"/>
            <a:r>
              <a:rPr sz="1500" b="0" i="0">
                <a:solidFill>
                  <a:srgbClr val="E4E1F1"/>
                </a:solidFill>
                <a:latin typeface="Calibri"/>
              </a:rPr>
              <a:t>Applies the denominator and the window (chapter 4) and who controls the count (chapter 5) to every driver-week, before a proposal goes out to extend the scheme.</a:t>
            </a:r>
          </a:p>
        </p:txBody>
      </p:sp>
      <p:sp>
        <p:nvSpPr>
          <p:cNvPr id="11" name="Rounded Rectangle 10"/>
          <p:cNvSpPr/>
          <p:nvPr/>
        </p:nvSpPr>
        <p:spPr>
          <a:xfrm>
            <a:off x="731519" y="5074920"/>
            <a:ext cx="1082213"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What is a number for?</a:t>
            </a:r>
          </a:p>
        </p:txBody>
      </p:sp>
      <p:sp>
        <p:nvSpPr>
          <p:cNvPr id="12" name="Rounded Rectangle 11"/>
          <p:cNvSpPr/>
          <p:nvPr/>
        </p:nvSpPr>
        <p:spPr>
          <a:xfrm>
            <a:off x="1923461" y="5074920"/>
            <a:ext cx="1122034"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Which number to chase?</a:t>
            </a:r>
          </a:p>
        </p:txBody>
      </p:sp>
      <p:sp>
        <p:nvSpPr>
          <p:cNvPr id="13" name="Rounded Rectangle 12"/>
          <p:cNvSpPr/>
          <p:nvPr/>
        </p:nvSpPr>
        <p:spPr>
          <a:xfrm>
            <a:off x="3155223" y="5074920"/>
            <a:ext cx="1002570"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Which number warns?</a:t>
            </a:r>
          </a:p>
        </p:txBody>
      </p:sp>
      <p:sp>
        <p:nvSpPr>
          <p:cNvPr id="14" name="Rounded Rectangle 13"/>
          <p:cNvSpPr/>
          <p:nvPr/>
        </p:nvSpPr>
        <p:spPr>
          <a:xfrm>
            <a:off x="4267522" y="5074920"/>
            <a:ext cx="922927"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Which four lines?</a:t>
            </a:r>
          </a:p>
        </p:txBody>
      </p:sp>
      <p:sp>
        <p:nvSpPr>
          <p:cNvPr id="15" name="Rounded Rectangle 14"/>
          <p:cNvSpPr/>
          <p:nvPr/>
        </p:nvSpPr>
        <p:spPr>
          <a:xfrm>
            <a:off x="5300178" y="5074920"/>
            <a:ext cx="1122034"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How is a number gamed?</a:t>
            </a:r>
          </a:p>
        </p:txBody>
      </p:sp>
      <p:sp>
        <p:nvSpPr>
          <p:cNvPr id="16" name="Rounded Rectangle 15"/>
          <p:cNvSpPr/>
          <p:nvPr/>
        </p:nvSpPr>
        <p:spPr>
          <a:xfrm>
            <a:off x="6531940" y="5074920"/>
            <a:ext cx="1201677"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What does the page hold?</a:t>
            </a:r>
          </a:p>
        </p:txBody>
      </p:sp>
      <p:sp>
        <p:nvSpPr>
          <p:cNvPr id="17" name="Rounded Rectangle 16"/>
          <p:cNvSpPr/>
          <p:nvPr/>
        </p:nvSpPr>
        <p:spPr>
          <a:xfrm>
            <a:off x="7843346" y="5074920"/>
            <a:ext cx="1201677"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What does an hour count?</a:t>
            </a:r>
          </a:p>
        </p:txBody>
      </p:sp>
      <p:sp>
        <p:nvSpPr>
          <p:cNvPr id="18" name="Rounded Rectangle 17"/>
          <p:cNvSpPr/>
          <p:nvPr/>
        </p:nvSpPr>
        <p:spPr>
          <a:xfrm>
            <a:off x="9154751" y="5074920"/>
            <a:ext cx="1161855" cy="310896"/>
          </a:xfrm>
          <a:prstGeom prst="roundRect">
            <a:avLst>
              <a:gd name="adj" fmla="val 50000"/>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1">
                <a:solidFill>
                  <a:srgbClr val="1A0F5C"/>
                </a:solidFill>
                <a:latin typeface="Calibri"/>
              </a:rPr>
              <a:t>Where did the fall sit?</a:t>
            </a:r>
          </a:p>
        </p:txBody>
      </p:sp>
      <p:sp>
        <p:nvSpPr>
          <p:cNvPr id="19" name="Rounded Rectangle 18"/>
          <p:cNvSpPr/>
          <p:nvPr/>
        </p:nvSpPr>
        <p:spPr>
          <a:xfrm>
            <a:off x="10426335" y="5074920"/>
            <a:ext cx="1161855"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What should it pay for?</a:t>
            </a:r>
          </a:p>
        </p:txBody>
      </p:sp>
      <p:sp>
        <p:nvSpPr>
          <p:cNvPr id="20" name="TextBox 19"/>
          <p:cNvSpPr txBox="1"/>
          <p:nvPr/>
        </p:nvSpPr>
        <p:spPr>
          <a:xfrm>
            <a:off x="530352" y="6437376"/>
            <a:ext cx="9667951" cy="160401"/>
          </a:xfrm>
          <a:prstGeom prst="rect">
            <a:avLst/>
          </a:prstGeom>
          <a:noFill/>
        </p:spPr>
        <p:txBody>
          <a:bodyPr wrap="square" anchor="t" lIns="0" rIns="0" tIns="0" bIns="0">
            <a:spAutoFit/>
          </a:bodyPr>
          <a:lstStyle/>
          <a:p>
            <a:pPr algn="l"/>
            <a:r>
              <a:rPr sz="750" b="0" i="0">
                <a:solidFill>
                  <a:srgbClr val="CFC9EE"/>
                </a:solidFill>
                <a:latin typeface="Calibri"/>
              </a:rPr>
              <a:t>Week 4, Day 1. Business metric design: which number should the plan chase, and what stops it being gamed?</a:t>
            </a:r>
          </a:p>
        </p:txBody>
      </p:sp>
      <p:sp>
        <p:nvSpPr>
          <p:cNvPr id="21" name="TextBox 20"/>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CFC9EE"/>
                </a:solidFill>
                <a:latin typeface="Calibri"/>
              </a:rPr>
              <a:t>71 / 93</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MONDAY  ·  BUSINESS METRIC DESIGN  ·  UBER, HYDERABAD</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full data apply chapters 4 and 5</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Who needs the answer, and which questions lead to it?</a:t>
            </a:r>
          </a:p>
        </p:txBody>
      </p:sp>
      <p:sp>
        <p:nvSpPr>
          <p:cNvPr id="9" name="Rounded Rectangle 8"/>
          <p:cNvSpPr/>
          <p:nvPr/>
        </p:nvSpPr>
        <p:spPr>
          <a:xfrm>
            <a:off x="530352" y="1956816"/>
            <a:ext cx="11130991" cy="8077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unded Rectangle 9"/>
          <p:cNvSpPr/>
          <p:nvPr/>
        </p:nvSpPr>
        <p:spPr>
          <a:xfrm>
            <a:off x="676656" y="2084832"/>
            <a:ext cx="45720" cy="5516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77824" y="2075688"/>
            <a:ext cx="10564063" cy="624840"/>
          </a:xfrm>
          <a:prstGeom prst="rect">
            <a:avLst/>
          </a:prstGeom>
          <a:noFill/>
        </p:spPr>
        <p:txBody>
          <a:bodyPr wrap="square" anchor="ctr" lIns="0" rIns="0" tIns="0" bIns="0">
            <a:spAutoFit/>
          </a:bodyPr>
          <a:lstStyle/>
          <a:p>
            <a:r>
              <a:rPr sz="1500" b="1">
                <a:solidFill>
                  <a:srgbClr val="5B3FD6"/>
                </a:solidFill>
                <a:latin typeface="Calibri"/>
              </a:rPr>
              <a:t>Applies: </a:t>
            </a:r>
            <a:r>
              <a:rPr sz="1500" b="0" i="0">
                <a:solidFill>
                  <a:srgbClr val="1A1440"/>
                </a:solidFill>
                <a:latin typeface="Calibri"/>
              </a:rPr>
              <a:t>Definitions: numerator, denominator, window, exclusions (chapter 4); Gaming, and definitions that resist it (chapter 5).</a:t>
            </a:r>
          </a:p>
        </p:txBody>
      </p:sp>
      <p:sp>
        <p:nvSpPr>
          <p:cNvPr id="12" name="Rounded Rectangle 11"/>
          <p:cNvSpPr/>
          <p:nvPr/>
        </p:nvSpPr>
        <p:spPr>
          <a:xfrm>
            <a:off x="530352" y="2929128"/>
            <a:ext cx="11130991" cy="8077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ounded Rectangle 12"/>
          <p:cNvSpPr/>
          <p:nvPr/>
        </p:nvSpPr>
        <p:spPr>
          <a:xfrm>
            <a:off x="676656" y="3057144"/>
            <a:ext cx="45720" cy="5516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77824" y="3048000"/>
            <a:ext cx="10564063" cy="624840"/>
          </a:xfrm>
          <a:prstGeom prst="rect">
            <a:avLst/>
          </a:prstGeom>
          <a:noFill/>
        </p:spPr>
        <p:txBody>
          <a:bodyPr wrap="square" anchor="ctr" lIns="0" rIns="0" tIns="0" bIns="0">
            <a:spAutoFit/>
          </a:bodyPr>
          <a:lstStyle/>
          <a:p>
            <a:r>
              <a:rPr sz="1500" b="1">
                <a:solidFill>
                  <a:srgbClr val="5B3FD6"/>
                </a:solidFill>
                <a:latin typeface="Calibri"/>
              </a:rPr>
              <a:t>Who needs the answer. </a:t>
            </a:r>
            <a:r>
              <a:rPr sz="1500" b="0" i="0">
                <a:solidFill>
                  <a:srgbClr val="1A1440"/>
                </a:solidFill>
                <a:latin typeface="Calibri"/>
              </a:rPr>
              <a:t>The city head, before a proposal to extend the scheme to two more cities goes out: a fall read as weak demand, or measured with the wrong denominator, sends the same top-up further.</a:t>
            </a:r>
          </a:p>
        </p:txBody>
      </p:sp>
      <p:sp>
        <p:nvSpPr>
          <p:cNvPr id="15" name="Rectangle 14"/>
          <p:cNvSpPr/>
          <p:nvPr/>
        </p:nvSpPr>
        <p:spPr>
          <a:xfrm>
            <a:off x="1853145" y="4468368"/>
            <a:ext cx="8485403" cy="18288"/>
          </a:xfrm>
          <a:prstGeom prst="rect">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530352" y="3901440"/>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DEMAND</a:t>
            </a:r>
          </a:p>
        </p:txBody>
      </p:sp>
      <p:sp>
        <p:nvSpPr>
          <p:cNvPr id="17" name="Oval 16"/>
          <p:cNvSpPr/>
          <p:nvPr/>
        </p:nvSpPr>
        <p:spPr>
          <a:xfrm>
            <a:off x="1752561" y="4376928"/>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ounded Rectangle 17"/>
          <p:cNvSpPr/>
          <p:nvPr/>
        </p:nvSpPr>
        <p:spPr>
          <a:xfrm>
            <a:off x="530352" y="4788408"/>
            <a:ext cx="2645587"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694944" y="4934712"/>
            <a:ext cx="2316403" cy="251205"/>
          </a:xfrm>
          <a:prstGeom prst="rect">
            <a:avLst/>
          </a:prstGeom>
          <a:noFill/>
        </p:spPr>
        <p:txBody>
          <a:bodyPr wrap="square" anchor="t" lIns="0" rIns="0" tIns="0" bIns="0">
            <a:spAutoFit/>
          </a:bodyPr>
          <a:lstStyle/>
          <a:p>
            <a:pPr algn="l"/>
            <a:r>
              <a:rPr sz="1300" b="1" i="0">
                <a:solidFill>
                  <a:srgbClr val="1A0F5C"/>
                </a:solidFill>
                <a:latin typeface="Calibri"/>
              </a:rPr>
              <a:t>Did riders ask for less?</a:t>
            </a:r>
          </a:p>
        </p:txBody>
      </p:sp>
      <p:sp>
        <p:nvSpPr>
          <p:cNvPr id="20" name="TextBox 19"/>
          <p:cNvSpPr txBox="1"/>
          <p:nvPr/>
        </p:nvSpPr>
        <p:spPr>
          <a:xfrm>
            <a:off x="694944" y="5222494"/>
            <a:ext cx="2316403" cy="366776"/>
          </a:xfrm>
          <a:prstGeom prst="rect">
            <a:avLst/>
          </a:prstGeom>
          <a:noFill/>
        </p:spPr>
        <p:txBody>
          <a:bodyPr wrap="square" anchor="t" lIns="0" rIns="0" tIns="0" bIns="0">
            <a:spAutoFit/>
          </a:bodyPr>
          <a:lstStyle/>
          <a:p>
            <a:pPr algn="l"/>
            <a:r>
              <a:rPr sz="1000" b="0" i="0">
                <a:solidFill>
                  <a:srgbClr val="6B6690"/>
                </a:solidFill>
                <a:latin typeface="Calibri"/>
              </a:rPr>
              <a:t>Rider requests, from a second table.</a:t>
            </a:r>
          </a:p>
        </p:txBody>
      </p:sp>
      <p:sp>
        <p:nvSpPr>
          <p:cNvPr id="21" name="TextBox 20"/>
          <p:cNvSpPr txBox="1"/>
          <p:nvPr/>
        </p:nvSpPr>
        <p:spPr>
          <a:xfrm>
            <a:off x="3358819" y="3901440"/>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THE WEEKS</a:t>
            </a:r>
          </a:p>
        </p:txBody>
      </p:sp>
      <p:sp>
        <p:nvSpPr>
          <p:cNvPr id="22" name="Oval 21"/>
          <p:cNvSpPr/>
          <p:nvPr/>
        </p:nvSpPr>
        <p:spPr>
          <a:xfrm>
            <a:off x="4581029" y="4376928"/>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ounded Rectangle 22"/>
          <p:cNvSpPr/>
          <p:nvPr/>
        </p:nvSpPr>
        <p:spPr>
          <a:xfrm>
            <a:off x="3358819" y="4788408"/>
            <a:ext cx="2645587"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3523411" y="4934712"/>
            <a:ext cx="2316403" cy="251205"/>
          </a:xfrm>
          <a:prstGeom prst="rect">
            <a:avLst/>
          </a:prstGeom>
          <a:noFill/>
        </p:spPr>
        <p:txBody>
          <a:bodyPr wrap="square" anchor="t" lIns="0" rIns="0" tIns="0" bIns="0">
            <a:spAutoFit/>
          </a:bodyPr>
          <a:lstStyle/>
          <a:p>
            <a:pPr algn="l"/>
            <a:r>
              <a:rPr sz="1300" b="1" i="0">
                <a:solidFill>
                  <a:srgbClr val="1A0F5C"/>
                </a:solidFill>
                <a:latin typeface="Calibri"/>
              </a:rPr>
              <a:t>What do twelve weeks show?</a:t>
            </a:r>
          </a:p>
        </p:txBody>
      </p:sp>
      <p:sp>
        <p:nvSpPr>
          <p:cNvPr id="25" name="TextBox 24"/>
          <p:cNvSpPr txBox="1"/>
          <p:nvPr/>
        </p:nvSpPr>
        <p:spPr>
          <a:xfrm>
            <a:off x="3523411" y="5222494"/>
            <a:ext cx="2316403" cy="201676"/>
          </a:xfrm>
          <a:prstGeom prst="rect">
            <a:avLst/>
          </a:prstGeom>
          <a:noFill/>
        </p:spPr>
        <p:txBody>
          <a:bodyPr wrap="square" anchor="t" lIns="0" rIns="0" tIns="0" bIns="0">
            <a:spAutoFit/>
          </a:bodyPr>
          <a:lstStyle/>
          <a:p>
            <a:pPr algn="l"/>
            <a:r>
              <a:rPr sz="1000" b="0" i="0">
                <a:solidFill>
                  <a:srgbClr val="6B6690"/>
                </a:solidFill>
                <a:latin typeface="Calibri"/>
              </a:rPr>
              <a:t>One groupby, a ratio of two sums.</a:t>
            </a:r>
          </a:p>
        </p:txBody>
      </p:sp>
      <p:sp>
        <p:nvSpPr>
          <p:cNvPr id="26" name="TextBox 25"/>
          <p:cNvSpPr txBox="1"/>
          <p:nvPr/>
        </p:nvSpPr>
        <p:spPr>
          <a:xfrm>
            <a:off x="6187287" y="3901440"/>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THE TRAP</a:t>
            </a:r>
          </a:p>
        </p:txBody>
      </p:sp>
      <p:sp>
        <p:nvSpPr>
          <p:cNvPr id="27" name="Oval 26"/>
          <p:cNvSpPr/>
          <p:nvPr/>
        </p:nvSpPr>
        <p:spPr>
          <a:xfrm>
            <a:off x="7409497" y="4376928"/>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ounded Rectangle 27"/>
          <p:cNvSpPr/>
          <p:nvPr/>
        </p:nvSpPr>
        <p:spPr>
          <a:xfrm>
            <a:off x="6187287" y="4788408"/>
            <a:ext cx="2645587"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6351879" y="4934712"/>
            <a:ext cx="2316403" cy="251205"/>
          </a:xfrm>
          <a:prstGeom prst="rect">
            <a:avLst/>
          </a:prstGeom>
          <a:noFill/>
        </p:spPr>
        <p:txBody>
          <a:bodyPr wrap="square" anchor="t" lIns="0" rIns="0" tIns="0" bIns="0">
            <a:spAutoFit/>
          </a:bodyPr>
          <a:lstStyle/>
          <a:p>
            <a:pPr algn="l"/>
            <a:r>
              <a:rPr sz="1300" b="1" i="0">
                <a:solidFill>
                  <a:srgbClr val="1A0F5C"/>
                </a:solidFill>
                <a:latin typeface="Calibri"/>
              </a:rPr>
              <a:t>What does an average print?</a:t>
            </a:r>
          </a:p>
        </p:txBody>
      </p:sp>
      <p:sp>
        <p:nvSpPr>
          <p:cNvPr id="30" name="TextBox 29"/>
          <p:cNvSpPr txBox="1"/>
          <p:nvPr/>
        </p:nvSpPr>
        <p:spPr>
          <a:xfrm>
            <a:off x="6351879" y="5222494"/>
            <a:ext cx="2316403" cy="201676"/>
          </a:xfrm>
          <a:prstGeom prst="rect">
            <a:avLst/>
          </a:prstGeom>
          <a:noFill/>
        </p:spPr>
        <p:txBody>
          <a:bodyPr wrap="square" anchor="t" lIns="0" rIns="0" tIns="0" bIns="0">
            <a:spAutoFit/>
          </a:bodyPr>
          <a:lstStyle/>
          <a:p>
            <a:pPr algn="l"/>
            <a:r>
              <a:rPr sz="1000" b="0" i="0">
                <a:solidFill>
                  <a:srgbClr val="6B6690"/>
                </a:solidFill>
                <a:latin typeface="Calibri"/>
              </a:rPr>
              <a:t>The mean of each week's rate.</a:t>
            </a:r>
          </a:p>
        </p:txBody>
      </p:sp>
      <p:sp>
        <p:nvSpPr>
          <p:cNvPr id="31" name="TextBox 30"/>
          <p:cNvSpPr txBox="1"/>
          <p:nvPr/>
        </p:nvSpPr>
        <p:spPr>
          <a:xfrm>
            <a:off x="9015755" y="3901440"/>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THE TAIL</a:t>
            </a:r>
          </a:p>
        </p:txBody>
      </p:sp>
      <p:sp>
        <p:nvSpPr>
          <p:cNvPr id="32" name="Oval 31"/>
          <p:cNvSpPr/>
          <p:nvPr/>
        </p:nvSpPr>
        <p:spPr>
          <a:xfrm>
            <a:off x="10237965" y="4376928"/>
            <a:ext cx="201168" cy="201168"/>
          </a:xfrm>
          <a:prstGeom prst="ellipse">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ounded Rectangle 32"/>
          <p:cNvSpPr/>
          <p:nvPr/>
        </p:nvSpPr>
        <p:spPr>
          <a:xfrm>
            <a:off x="9015755" y="4788408"/>
            <a:ext cx="2645587" cy="1076960"/>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9180347" y="4934712"/>
            <a:ext cx="2316403" cy="465836"/>
          </a:xfrm>
          <a:prstGeom prst="rect">
            <a:avLst/>
          </a:prstGeom>
          <a:noFill/>
        </p:spPr>
        <p:txBody>
          <a:bodyPr wrap="square" anchor="t" lIns="0" rIns="0" tIns="0" bIns="0">
            <a:spAutoFit/>
          </a:bodyPr>
          <a:lstStyle/>
          <a:p>
            <a:pPr algn="l"/>
            <a:r>
              <a:rPr sz="1300" b="1" i="0">
                <a:solidFill>
                  <a:srgbClr val="FFFFFF"/>
                </a:solidFill>
                <a:latin typeface="Calibri"/>
              </a:rPr>
              <a:t>Who sits under one trip an hour?</a:t>
            </a:r>
          </a:p>
        </p:txBody>
      </p:sp>
      <p:sp>
        <p:nvSpPr>
          <p:cNvPr id="35" name="TextBox 34"/>
          <p:cNvSpPr txBox="1"/>
          <p:nvPr/>
        </p:nvSpPr>
        <p:spPr>
          <a:xfrm>
            <a:off x="9180347" y="5437124"/>
            <a:ext cx="2316403" cy="201676"/>
          </a:xfrm>
          <a:prstGeom prst="rect">
            <a:avLst/>
          </a:prstGeom>
          <a:noFill/>
        </p:spPr>
        <p:txBody>
          <a:bodyPr wrap="square" anchor="t" lIns="0" rIns="0" tIns="0" bIns="0">
            <a:spAutoFit/>
          </a:bodyPr>
          <a:lstStyle/>
          <a:p>
            <a:pPr algn="l"/>
            <a:r>
              <a:rPr sz="1000" b="0" i="0">
                <a:solidFill>
                  <a:srgbClr val="CFC9EE"/>
                </a:solidFill>
                <a:latin typeface="Calibri"/>
              </a:rPr>
              <a:t>The drivers behind the fall.</a:t>
            </a:r>
          </a:p>
        </p:txBody>
      </p:sp>
      <p:sp>
        <p:nvSpPr>
          <p:cNvPr id="36" name="TextBox 35"/>
          <p:cNvSpPr txBox="1"/>
          <p:nvPr/>
        </p:nvSpPr>
        <p:spPr>
          <a:xfrm>
            <a:off x="530352" y="6437376"/>
            <a:ext cx="256032" cy="152146"/>
          </a:xfrm>
          <a:prstGeom prst="rect">
            <a:avLst/>
          </a:prstGeom>
          <a:noFill/>
        </p:spPr>
        <p:txBody>
          <a:bodyPr wrap="square" anchor="t" lIns="0" rIns="0" tIns="0" bIns="0">
            <a:spAutoFit/>
          </a:bodyPr>
          <a:lstStyle/>
          <a:p>
            <a:pPr algn="l"/>
            <a:r>
              <a:rPr sz="700" b="0" i="0">
                <a:solidFill>
                  <a:srgbClr val="6B6690"/>
                </a:solidFill>
                <a:latin typeface="Calibri"/>
              </a:rPr>
              <a:t>…</a:t>
            </a:r>
          </a:p>
        </p:txBody>
      </p:sp>
      <p:sp>
        <p:nvSpPr>
          <p:cNvPr id="37" name="Oval 36"/>
          <p:cNvSpPr/>
          <p:nvPr/>
        </p:nvSpPr>
        <p:spPr>
          <a:xfrm>
            <a:off x="78638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896112"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Which number warns?</a:t>
            </a:r>
          </a:p>
        </p:txBody>
      </p:sp>
      <p:sp>
        <p:nvSpPr>
          <p:cNvPr id="39" name="Oval 38"/>
          <p:cNvSpPr/>
          <p:nvPr/>
        </p:nvSpPr>
        <p:spPr>
          <a:xfrm>
            <a:off x="213598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2245709"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Which four lines?</a:t>
            </a:r>
          </a:p>
        </p:txBody>
      </p:sp>
      <p:sp>
        <p:nvSpPr>
          <p:cNvPr id="41" name="Oval 40"/>
          <p:cNvSpPr/>
          <p:nvPr/>
        </p:nvSpPr>
        <p:spPr>
          <a:xfrm>
            <a:off x="339356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3503295"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How is a number gamed?</a:t>
            </a:r>
          </a:p>
        </p:txBody>
      </p:sp>
      <p:sp>
        <p:nvSpPr>
          <p:cNvPr id="43" name="Oval 42"/>
          <p:cNvSpPr/>
          <p:nvPr/>
        </p:nvSpPr>
        <p:spPr>
          <a:xfrm>
            <a:off x="488118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4990909"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the page hold?</a:t>
            </a:r>
          </a:p>
        </p:txBody>
      </p:sp>
      <p:sp>
        <p:nvSpPr>
          <p:cNvPr id="45" name="Oval 44"/>
          <p:cNvSpPr/>
          <p:nvPr/>
        </p:nvSpPr>
        <p:spPr>
          <a:xfrm>
            <a:off x="646080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TextBox 45"/>
          <p:cNvSpPr txBox="1"/>
          <p:nvPr/>
        </p:nvSpPr>
        <p:spPr>
          <a:xfrm>
            <a:off x="6570535"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an hour count?</a:t>
            </a:r>
          </a:p>
        </p:txBody>
      </p:sp>
      <p:sp>
        <p:nvSpPr>
          <p:cNvPr id="47" name="Oval 46"/>
          <p:cNvSpPr/>
          <p:nvPr/>
        </p:nvSpPr>
        <p:spPr>
          <a:xfrm>
            <a:off x="8040433"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TextBox 47"/>
          <p:cNvSpPr txBox="1"/>
          <p:nvPr/>
        </p:nvSpPr>
        <p:spPr>
          <a:xfrm>
            <a:off x="8150161" y="6437376"/>
            <a:ext cx="1332452" cy="152146"/>
          </a:xfrm>
          <a:prstGeom prst="rect">
            <a:avLst/>
          </a:prstGeom>
          <a:noFill/>
        </p:spPr>
        <p:txBody>
          <a:bodyPr wrap="square" anchor="t" lIns="0" rIns="0" tIns="0" bIns="0">
            <a:spAutoFit/>
          </a:bodyPr>
          <a:lstStyle/>
          <a:p>
            <a:pPr algn="l"/>
            <a:r>
              <a:rPr sz="700" b="1" i="0">
                <a:solidFill>
                  <a:srgbClr val="5B3FD6"/>
                </a:solidFill>
                <a:latin typeface="Calibri"/>
              </a:rPr>
              <a:t>Where did the fall sit?</a:t>
            </a:r>
          </a:p>
        </p:txBody>
      </p:sp>
      <p:sp>
        <p:nvSpPr>
          <p:cNvPr id="49" name="Oval 48"/>
          <p:cNvSpPr/>
          <p:nvPr/>
        </p:nvSpPr>
        <p:spPr>
          <a:xfrm>
            <a:off x="957405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TextBox 49"/>
          <p:cNvSpPr txBox="1"/>
          <p:nvPr/>
        </p:nvSpPr>
        <p:spPr>
          <a:xfrm>
            <a:off x="9683781"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should it pay for?</a:t>
            </a:r>
          </a:p>
        </p:txBody>
      </p:sp>
      <p:sp>
        <p:nvSpPr>
          <p:cNvPr id="51" name="TextBox 50"/>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S64  ·  72 / 93</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MONDAY  ·  BUSINESS METRIC DESIGN  ·  UBER, HYDERABAD</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Which column would show riders asked for less?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If riders simply asked for fewer trips, where would the data show it?</a:t>
            </a:r>
          </a:p>
        </p:txBody>
      </p:sp>
      <p:sp>
        <p:nvSpPr>
          <p:cNvPr id="9" name="TextBox 8"/>
          <p:cNvSpPr txBox="1"/>
          <p:nvPr/>
        </p:nvSpPr>
        <p:spPr>
          <a:xfrm>
            <a:off x="530352" y="1956816"/>
            <a:ext cx="11130991" cy="1654048"/>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a) peak_online_hours in driver_weeks</a:t>
            </a:r>
          </a:p>
          <a:p>
            <a:pPr>
              <a:spcAft>
                <a:spcPts val="800"/>
              </a:spcAft>
            </a:pPr>
            <a:r>
              <a:rPr sz="1600" b="0" i="0">
                <a:solidFill>
                  <a:srgbClr val="1A1440"/>
                </a:solidFill>
                <a:latin typeface="Calibri"/>
              </a:rPr>
              <a:t>b) peak_requests in zone_weeks</a:t>
            </a:r>
          </a:p>
          <a:p>
            <a:pPr>
              <a:spcAft>
                <a:spcPts val="800"/>
              </a:spcAft>
            </a:pPr>
            <a:r>
              <a:rPr sz="1600" b="0" i="0">
                <a:solidFill>
                  <a:srgbClr val="1A1440"/>
                </a:solidFill>
                <a:latin typeface="Calibri"/>
              </a:rPr>
              <a:t>c) topup_rs in driver_weeks</a:t>
            </a:r>
          </a:p>
          <a:p>
            <a:pPr>
              <a:spcAft>
                <a:spcPts val="800"/>
              </a:spcAft>
            </a:pPr>
            <a:r>
              <a:rPr sz="1600" b="0" i="0">
                <a:solidFill>
                  <a:srgbClr val="1A1440"/>
                </a:solidFill>
                <a:latin typeface="Calibri"/>
              </a:rPr>
              <a:t>d) peak_bookings_rs divided by trips</a:t>
            </a:r>
          </a:p>
        </p:txBody>
      </p:sp>
      <p:sp>
        <p:nvSpPr>
          <p:cNvPr id="10" name="TextBox 9"/>
          <p:cNvSpPr txBox="1"/>
          <p:nvPr/>
        </p:nvSpPr>
        <p:spPr>
          <a:xfrm>
            <a:off x="530352" y="6437376"/>
            <a:ext cx="256032" cy="152146"/>
          </a:xfrm>
          <a:prstGeom prst="rect">
            <a:avLst/>
          </a:prstGeom>
          <a:noFill/>
        </p:spPr>
        <p:txBody>
          <a:bodyPr wrap="square" anchor="t" lIns="0" rIns="0" tIns="0" bIns="0">
            <a:spAutoFit/>
          </a:bodyPr>
          <a:lstStyle/>
          <a:p>
            <a:pPr algn="l"/>
            <a:r>
              <a:rPr sz="700" b="0" i="0">
                <a:solidFill>
                  <a:srgbClr val="6B6690"/>
                </a:solidFill>
                <a:latin typeface="Calibri"/>
              </a:rPr>
              <a:t>…</a:t>
            </a:r>
          </a:p>
        </p:txBody>
      </p:sp>
      <p:sp>
        <p:nvSpPr>
          <p:cNvPr id="11" name="Oval 10"/>
          <p:cNvSpPr/>
          <p:nvPr/>
        </p:nvSpPr>
        <p:spPr>
          <a:xfrm>
            <a:off x="78638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96112"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Which number warns?</a:t>
            </a:r>
          </a:p>
        </p:txBody>
      </p:sp>
      <p:sp>
        <p:nvSpPr>
          <p:cNvPr id="13" name="Oval 12"/>
          <p:cNvSpPr/>
          <p:nvPr/>
        </p:nvSpPr>
        <p:spPr>
          <a:xfrm>
            <a:off x="213598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2245709"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Which four lines?</a:t>
            </a:r>
          </a:p>
        </p:txBody>
      </p:sp>
      <p:sp>
        <p:nvSpPr>
          <p:cNvPr id="15" name="Oval 14"/>
          <p:cNvSpPr/>
          <p:nvPr/>
        </p:nvSpPr>
        <p:spPr>
          <a:xfrm>
            <a:off x="339356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3503295"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How is a number gamed?</a:t>
            </a:r>
          </a:p>
        </p:txBody>
      </p:sp>
      <p:sp>
        <p:nvSpPr>
          <p:cNvPr id="17" name="Oval 16"/>
          <p:cNvSpPr/>
          <p:nvPr/>
        </p:nvSpPr>
        <p:spPr>
          <a:xfrm>
            <a:off x="488118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4990909"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the page hold?</a:t>
            </a:r>
          </a:p>
        </p:txBody>
      </p:sp>
      <p:sp>
        <p:nvSpPr>
          <p:cNvPr id="19" name="Oval 18"/>
          <p:cNvSpPr/>
          <p:nvPr/>
        </p:nvSpPr>
        <p:spPr>
          <a:xfrm>
            <a:off x="646080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570535"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an hour count?</a:t>
            </a:r>
          </a:p>
        </p:txBody>
      </p:sp>
      <p:sp>
        <p:nvSpPr>
          <p:cNvPr id="21" name="Oval 20"/>
          <p:cNvSpPr/>
          <p:nvPr/>
        </p:nvSpPr>
        <p:spPr>
          <a:xfrm>
            <a:off x="8040433"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8150161" y="6437376"/>
            <a:ext cx="1332452" cy="152146"/>
          </a:xfrm>
          <a:prstGeom prst="rect">
            <a:avLst/>
          </a:prstGeom>
          <a:noFill/>
        </p:spPr>
        <p:txBody>
          <a:bodyPr wrap="square" anchor="t" lIns="0" rIns="0" tIns="0" bIns="0">
            <a:spAutoFit/>
          </a:bodyPr>
          <a:lstStyle/>
          <a:p>
            <a:pPr algn="l"/>
            <a:r>
              <a:rPr sz="700" b="1" i="0">
                <a:solidFill>
                  <a:srgbClr val="5B3FD6"/>
                </a:solidFill>
                <a:latin typeface="Calibri"/>
              </a:rPr>
              <a:t>Where did the fall sit?</a:t>
            </a:r>
          </a:p>
        </p:txBody>
      </p:sp>
      <p:sp>
        <p:nvSpPr>
          <p:cNvPr id="23" name="Oval 22"/>
          <p:cNvSpPr/>
          <p:nvPr/>
        </p:nvSpPr>
        <p:spPr>
          <a:xfrm>
            <a:off x="957405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9683781"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should it pay for?</a:t>
            </a:r>
          </a:p>
        </p:txBody>
      </p:sp>
      <p:sp>
        <p:nvSpPr>
          <p:cNvPr id="25" name="TextBox 24"/>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S65  ·  73 / 93</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MONDAY  ·  BUSINESS METRIC DESIGN  ·  UBER, HYDERABAD</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Answer: rider requests rose 1.8 percent</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Did demand fall, and why do the two tables count different things?</a:t>
            </a:r>
          </a:p>
        </p:txBody>
      </p:sp>
      <p:sp>
        <p:nvSpPr>
          <p:cNvPr id="9" name="Rounded Rectangle 8"/>
          <p:cNvSpPr/>
          <p:nvPr/>
        </p:nvSpPr>
        <p:spPr>
          <a:xfrm>
            <a:off x="530352" y="1956816"/>
            <a:ext cx="11130991" cy="10744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unded Rectangle 9"/>
          <p:cNvSpPr/>
          <p:nvPr/>
        </p:nvSpPr>
        <p:spPr>
          <a:xfrm>
            <a:off x="676656" y="2084832"/>
            <a:ext cx="45720" cy="8183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77824" y="2075688"/>
            <a:ext cx="10564063" cy="891540"/>
          </a:xfrm>
          <a:prstGeom prst="rect">
            <a:avLst/>
          </a:prstGeom>
          <a:noFill/>
        </p:spPr>
        <p:txBody>
          <a:bodyPr wrap="square" anchor="ctr" lIns="0" rIns="0" tIns="0" bIns="0">
            <a:spAutoFit/>
          </a:bodyPr>
          <a:lstStyle/>
          <a:p>
            <a:r>
              <a:rPr sz="1500" b="1">
                <a:solidFill>
                  <a:srgbClr val="5B3FD6"/>
                </a:solidFill>
                <a:latin typeface="Calibri"/>
              </a:rPr>
              <a:t>Answer: b. </a:t>
            </a:r>
            <a:r>
              <a:rPr sz="1500" b="0" i="0">
                <a:solidFill>
                  <a:srgbClr val="1A1440"/>
                </a:solidFill>
                <a:latin typeface="Calibri"/>
              </a:rPr>
              <a:t>Demand lives in zone_weeks. Rider requests rose from 251,910 to 256,556 (up 1.8 percent), the unfulfilled share went from 0.11 to 0.10 and the median wait from 4.8 to 4.6 minutes. The fall in trips per hour is not demand.</a:t>
            </a:r>
          </a:p>
        </p:txBody>
      </p:sp>
      <p:sp>
        <p:nvSpPr>
          <p:cNvPr id="12" name="TextBox 11"/>
          <p:cNvSpPr txBox="1"/>
          <p:nvPr/>
        </p:nvSpPr>
        <p:spPr>
          <a:xfrm>
            <a:off x="530352" y="3195828"/>
            <a:ext cx="5428335" cy="698500"/>
          </a:xfrm>
          <a:prstGeom prst="rect">
            <a:avLst/>
          </a:prstGeom>
          <a:noFill/>
        </p:spPr>
        <p:txBody>
          <a:bodyPr wrap="square" anchor="t" lIns="0" rIns="0" tIns="0" bIns="0">
            <a:spAutoFit/>
          </a:bodyPr>
          <a:lstStyle/>
          <a:p>
            <a:pPr algn="l"/>
            <a:r>
              <a:rPr sz="4400" b="0" i="0">
                <a:solidFill>
                  <a:srgbClr val="5B3FD6"/>
                </a:solidFill>
                <a:latin typeface="Georgia"/>
              </a:rPr>
              <a:t>1.07</a:t>
            </a:r>
          </a:p>
        </p:txBody>
      </p:sp>
      <p:sp>
        <p:nvSpPr>
          <p:cNvPr id="13" name="TextBox 12"/>
          <p:cNvSpPr txBox="1"/>
          <p:nvPr/>
        </p:nvSpPr>
        <p:spPr>
          <a:xfrm>
            <a:off x="530352" y="3930904"/>
            <a:ext cx="5428335" cy="168656"/>
          </a:xfrm>
          <a:prstGeom prst="rect">
            <a:avLst/>
          </a:prstGeom>
          <a:noFill/>
        </p:spPr>
        <p:txBody>
          <a:bodyPr wrap="square" anchor="t" lIns="0" rIns="0" tIns="0" bIns="0">
            <a:spAutoFit/>
          </a:bodyPr>
          <a:lstStyle/>
          <a:p>
            <a:pPr algn="l"/>
            <a:r>
              <a:rPr sz="800" b="1" i="0" spc="250">
                <a:solidFill>
                  <a:srgbClr val="1A0F5C"/>
                </a:solidFill>
                <a:latin typeface="Calibri"/>
              </a:rPr>
              <a:t>OFFERS PER REQUEST, BEFORE</a:t>
            </a:r>
          </a:p>
        </p:txBody>
      </p:sp>
      <p:sp>
        <p:nvSpPr>
          <p:cNvPr id="14" name="TextBox 13"/>
          <p:cNvSpPr txBox="1"/>
          <p:nvPr/>
        </p:nvSpPr>
        <p:spPr>
          <a:xfrm>
            <a:off x="530352" y="4132072"/>
            <a:ext cx="5428335" cy="193421"/>
          </a:xfrm>
          <a:prstGeom prst="rect">
            <a:avLst/>
          </a:prstGeom>
          <a:noFill/>
        </p:spPr>
        <p:txBody>
          <a:bodyPr wrap="square" anchor="t" lIns="0" rIns="0" tIns="0" bIns="0">
            <a:spAutoFit/>
          </a:bodyPr>
          <a:lstStyle/>
          <a:p>
            <a:pPr algn="l"/>
            <a:r>
              <a:rPr sz="950" b="0" i="0">
                <a:solidFill>
                  <a:srgbClr val="6B6690"/>
                </a:solidFill>
                <a:latin typeface="Calibri"/>
              </a:rPr>
              <a:t>269,773 offers shown to drivers for 251,910 rider requests</a:t>
            </a:r>
          </a:p>
        </p:txBody>
      </p:sp>
      <p:sp>
        <p:nvSpPr>
          <p:cNvPr id="15" name="Rectangle 14"/>
          <p:cNvSpPr/>
          <p:nvPr/>
        </p:nvSpPr>
        <p:spPr>
          <a:xfrm>
            <a:off x="530352" y="4384548"/>
            <a:ext cx="5428335"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233007" y="3195828"/>
            <a:ext cx="5428335" cy="698500"/>
          </a:xfrm>
          <a:prstGeom prst="rect">
            <a:avLst/>
          </a:prstGeom>
          <a:noFill/>
        </p:spPr>
        <p:txBody>
          <a:bodyPr wrap="square" anchor="t" lIns="0" rIns="0" tIns="0" bIns="0">
            <a:spAutoFit/>
          </a:bodyPr>
          <a:lstStyle/>
          <a:p>
            <a:pPr algn="l"/>
            <a:r>
              <a:rPr sz="4400" b="0" i="0">
                <a:solidFill>
                  <a:srgbClr val="5B3FD6"/>
                </a:solidFill>
                <a:latin typeface="Georgia"/>
              </a:rPr>
              <a:t>1.35</a:t>
            </a:r>
          </a:p>
        </p:txBody>
      </p:sp>
      <p:sp>
        <p:nvSpPr>
          <p:cNvPr id="17" name="TextBox 16"/>
          <p:cNvSpPr txBox="1"/>
          <p:nvPr/>
        </p:nvSpPr>
        <p:spPr>
          <a:xfrm>
            <a:off x="6233007" y="3930904"/>
            <a:ext cx="5428335" cy="168656"/>
          </a:xfrm>
          <a:prstGeom prst="rect">
            <a:avLst/>
          </a:prstGeom>
          <a:noFill/>
        </p:spPr>
        <p:txBody>
          <a:bodyPr wrap="square" anchor="t" lIns="0" rIns="0" tIns="0" bIns="0">
            <a:spAutoFit/>
          </a:bodyPr>
          <a:lstStyle/>
          <a:p>
            <a:pPr algn="l"/>
            <a:r>
              <a:rPr sz="800" b="1" i="0" spc="250">
                <a:solidFill>
                  <a:srgbClr val="1A0F5C"/>
                </a:solidFill>
                <a:latin typeface="Calibri"/>
              </a:rPr>
              <a:t>OFFERS PER REQUEST, AFTER</a:t>
            </a:r>
          </a:p>
        </p:txBody>
      </p:sp>
      <p:sp>
        <p:nvSpPr>
          <p:cNvPr id="18" name="TextBox 17"/>
          <p:cNvSpPr txBox="1"/>
          <p:nvPr/>
        </p:nvSpPr>
        <p:spPr>
          <a:xfrm>
            <a:off x="6233007" y="4132072"/>
            <a:ext cx="5428335" cy="193421"/>
          </a:xfrm>
          <a:prstGeom prst="rect">
            <a:avLst/>
          </a:prstGeom>
          <a:noFill/>
        </p:spPr>
        <p:txBody>
          <a:bodyPr wrap="square" anchor="t" lIns="0" rIns="0" tIns="0" bIns="0">
            <a:spAutoFit/>
          </a:bodyPr>
          <a:lstStyle/>
          <a:p>
            <a:pPr algn="l"/>
            <a:r>
              <a:rPr sz="950" b="0" i="0">
                <a:solidFill>
                  <a:srgbClr val="6B6690"/>
                </a:solidFill>
                <a:latin typeface="Calibri"/>
              </a:rPr>
              <a:t>347,583 offers for 256,556 requests: more declines, more re-offers</a:t>
            </a:r>
          </a:p>
        </p:txBody>
      </p:sp>
      <p:sp>
        <p:nvSpPr>
          <p:cNvPr id="19" name="Rectangle 18"/>
          <p:cNvSpPr/>
          <p:nvPr/>
        </p:nvSpPr>
        <p:spPr>
          <a:xfrm>
            <a:off x="6233007" y="4384548"/>
            <a:ext cx="5428335"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530352" y="4658868"/>
            <a:ext cx="11130991" cy="1048512"/>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A request one driver declines is offered to the next driver, so driver_weeks counts offers and zone_weeks counts requests: two units for the same riders, as Delhi Metro's riders and line uses were in chapter 4, and the gap between them grew with the declining.</a:t>
            </a:r>
          </a:p>
        </p:txBody>
      </p:sp>
      <p:sp>
        <p:nvSpPr>
          <p:cNvPr id="21" name="TextBox 20"/>
          <p:cNvSpPr txBox="1"/>
          <p:nvPr/>
        </p:nvSpPr>
        <p:spPr>
          <a:xfrm>
            <a:off x="530352" y="6437376"/>
            <a:ext cx="256032" cy="152146"/>
          </a:xfrm>
          <a:prstGeom prst="rect">
            <a:avLst/>
          </a:prstGeom>
          <a:noFill/>
        </p:spPr>
        <p:txBody>
          <a:bodyPr wrap="square" anchor="t" lIns="0" rIns="0" tIns="0" bIns="0">
            <a:spAutoFit/>
          </a:bodyPr>
          <a:lstStyle/>
          <a:p>
            <a:pPr algn="l"/>
            <a:r>
              <a:rPr sz="700" b="0" i="0">
                <a:solidFill>
                  <a:srgbClr val="6B6690"/>
                </a:solidFill>
                <a:latin typeface="Calibri"/>
              </a:rPr>
              <a:t>…</a:t>
            </a:r>
          </a:p>
        </p:txBody>
      </p:sp>
      <p:sp>
        <p:nvSpPr>
          <p:cNvPr id="22" name="Oval 21"/>
          <p:cNvSpPr/>
          <p:nvPr/>
        </p:nvSpPr>
        <p:spPr>
          <a:xfrm>
            <a:off x="78638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896112"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Which number warns?</a:t>
            </a:r>
          </a:p>
        </p:txBody>
      </p:sp>
      <p:sp>
        <p:nvSpPr>
          <p:cNvPr id="24" name="Oval 23"/>
          <p:cNvSpPr/>
          <p:nvPr/>
        </p:nvSpPr>
        <p:spPr>
          <a:xfrm>
            <a:off x="213598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2245709"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Which four lines?</a:t>
            </a:r>
          </a:p>
        </p:txBody>
      </p:sp>
      <p:sp>
        <p:nvSpPr>
          <p:cNvPr id="26" name="Oval 25"/>
          <p:cNvSpPr/>
          <p:nvPr/>
        </p:nvSpPr>
        <p:spPr>
          <a:xfrm>
            <a:off x="339356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3503295"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How is a number gamed?</a:t>
            </a:r>
          </a:p>
        </p:txBody>
      </p:sp>
      <p:sp>
        <p:nvSpPr>
          <p:cNvPr id="28" name="Oval 27"/>
          <p:cNvSpPr/>
          <p:nvPr/>
        </p:nvSpPr>
        <p:spPr>
          <a:xfrm>
            <a:off x="488118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4990909"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the page hold?</a:t>
            </a:r>
          </a:p>
        </p:txBody>
      </p:sp>
      <p:sp>
        <p:nvSpPr>
          <p:cNvPr id="30" name="Oval 29"/>
          <p:cNvSpPr/>
          <p:nvPr/>
        </p:nvSpPr>
        <p:spPr>
          <a:xfrm>
            <a:off x="646080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6570535"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an hour count?</a:t>
            </a:r>
          </a:p>
        </p:txBody>
      </p:sp>
      <p:sp>
        <p:nvSpPr>
          <p:cNvPr id="32" name="Oval 31"/>
          <p:cNvSpPr/>
          <p:nvPr/>
        </p:nvSpPr>
        <p:spPr>
          <a:xfrm>
            <a:off x="8040433"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8150161" y="6437376"/>
            <a:ext cx="1332452" cy="152146"/>
          </a:xfrm>
          <a:prstGeom prst="rect">
            <a:avLst/>
          </a:prstGeom>
          <a:noFill/>
        </p:spPr>
        <p:txBody>
          <a:bodyPr wrap="square" anchor="t" lIns="0" rIns="0" tIns="0" bIns="0">
            <a:spAutoFit/>
          </a:bodyPr>
          <a:lstStyle/>
          <a:p>
            <a:pPr algn="l"/>
            <a:r>
              <a:rPr sz="700" b="1" i="0">
                <a:solidFill>
                  <a:srgbClr val="5B3FD6"/>
                </a:solidFill>
                <a:latin typeface="Calibri"/>
              </a:rPr>
              <a:t>Where did the fall sit?</a:t>
            </a:r>
          </a:p>
        </p:txBody>
      </p:sp>
      <p:sp>
        <p:nvSpPr>
          <p:cNvPr id="34" name="Oval 33"/>
          <p:cNvSpPr/>
          <p:nvPr/>
        </p:nvSpPr>
        <p:spPr>
          <a:xfrm>
            <a:off x="957405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9683781"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should it pay for?</a:t>
            </a:r>
          </a:p>
        </p:txBody>
      </p:sp>
      <p:sp>
        <p:nvSpPr>
          <p:cNvPr id="36" name="TextBox 35"/>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S66  ·  74 / 93</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MONDAY  ·  BUSINESS METRIC DESIGN  ·  UBER, HYDERABAD</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Twelve weeks: hours jumped, trips per hour fell</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Was the fall two odd weeks, or a level that held for six?</a:t>
            </a:r>
          </a:p>
        </p:txBody>
      </p:sp>
      <p:pic>
        <p:nvPicPr>
          <p:cNvPr id="9" name="mermaid diagram" descr="C2_W04_D01_drift_STUDENT.png"/>
          <p:cNvPicPr>
            <a:picLocks noChangeAspect="1"/>
          </p:cNvPicPr>
          <p:nvPr/>
        </p:nvPicPr>
        <p:blipFill>
          <a:blip r:embed="rId4"/>
          <a:stretch>
            <a:fillRect/>
          </a:stretch>
        </p:blipFill>
        <p:spPr>
          <a:xfrm>
            <a:off x="2880207" y="1664208"/>
            <a:ext cx="6431280" cy="3215640"/>
          </a:xfrm>
          <a:prstGeom prst="rect">
            <a:avLst/>
          </a:prstGeom>
        </p:spPr>
      </p:pic>
      <p:sp>
        <p:nvSpPr>
          <p:cNvPr id="10" name="picture caption"/>
          <p:cNvSpPr txBox="1"/>
          <p:nvPr/>
        </p:nvSpPr>
        <p:spPr>
          <a:xfrm>
            <a:off x="530352" y="4916424"/>
            <a:ext cx="11130991" cy="316992"/>
          </a:xfrm>
          <a:prstGeom prst="rect">
            <a:avLst/>
          </a:prstGeom>
          <a:noFill/>
        </p:spPr>
        <p:txBody>
          <a:bodyPr wrap="square" anchor="t" lIns="0" rIns="0" tIns="0" bIns="0">
            <a:spAutoFit/>
          </a:bodyPr>
          <a:lstStyle/>
          <a:p>
            <a:pPr algn="ctr"/>
            <a:r>
              <a:rPr sz="1200" b="0" i="0">
                <a:solidFill>
                  <a:srgbClr val="6B6690"/>
                </a:solidFill>
                <a:latin typeface="Calibri"/>
              </a:rPr>
              <a:t>Hours rose at the launch while trips per hour fell and stayed down, twelve weeks</a:t>
            </a:r>
          </a:p>
        </p:txBody>
      </p:sp>
      <p:sp>
        <p:nvSpPr>
          <p:cNvPr id="11" name="TextBox 10"/>
          <p:cNvSpPr txBox="1"/>
          <p:nvPr/>
        </p:nvSpPr>
        <p:spPr>
          <a:xfrm>
            <a:off x="530352" y="5242560"/>
            <a:ext cx="11130991" cy="957072"/>
          </a:xfrm>
          <a:prstGeom prst="rect">
            <a:avLst/>
          </a:prstGeom>
          <a:noFill/>
        </p:spPr>
        <p:txBody>
          <a:bodyPr wrap="square" anchor="t" lIns="0" rIns="0" tIns="0" bIns="0">
            <a:spAutoFit/>
          </a:bodyPr>
          <a:lstStyle/>
          <a:p>
            <a:r>
              <a:rPr sz="1600" b="0" i="0">
                <a:solidFill>
                  <a:srgbClr val="1A1440"/>
                </a:solidFill>
                <a:latin typeface="Calibri"/>
              </a:rPr>
              <a:t>Before the launch, trips per hour wandered between 1.88 and 1.93. In the launch week it read 1.64, then held between 1.55 and 1.59 for five weeks, while hours rose from about 20,000 a week to about 24,000. The two lines use two different scales, so the point where they cross means nothing.</a:t>
            </a:r>
          </a:p>
        </p:txBody>
      </p:sp>
      <p:sp>
        <p:nvSpPr>
          <p:cNvPr id="12" name="TextBox 11"/>
          <p:cNvSpPr txBox="1"/>
          <p:nvPr/>
        </p:nvSpPr>
        <p:spPr>
          <a:xfrm>
            <a:off x="530352" y="6437376"/>
            <a:ext cx="256032" cy="152146"/>
          </a:xfrm>
          <a:prstGeom prst="rect">
            <a:avLst/>
          </a:prstGeom>
          <a:noFill/>
        </p:spPr>
        <p:txBody>
          <a:bodyPr wrap="square" anchor="t" lIns="0" rIns="0" tIns="0" bIns="0">
            <a:spAutoFit/>
          </a:bodyPr>
          <a:lstStyle/>
          <a:p>
            <a:pPr algn="l"/>
            <a:r>
              <a:rPr sz="700" b="0" i="0">
                <a:solidFill>
                  <a:srgbClr val="6B6690"/>
                </a:solidFill>
                <a:latin typeface="Calibri"/>
              </a:rPr>
              <a:t>…</a:t>
            </a:r>
          </a:p>
        </p:txBody>
      </p:sp>
      <p:sp>
        <p:nvSpPr>
          <p:cNvPr id="13" name="Oval 12"/>
          <p:cNvSpPr/>
          <p:nvPr/>
        </p:nvSpPr>
        <p:spPr>
          <a:xfrm>
            <a:off x="78638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96112"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Which number warns?</a:t>
            </a:r>
          </a:p>
        </p:txBody>
      </p:sp>
      <p:sp>
        <p:nvSpPr>
          <p:cNvPr id="15" name="Oval 14"/>
          <p:cNvSpPr/>
          <p:nvPr/>
        </p:nvSpPr>
        <p:spPr>
          <a:xfrm>
            <a:off x="213598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2245709"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Which four lines?</a:t>
            </a:r>
          </a:p>
        </p:txBody>
      </p:sp>
      <p:sp>
        <p:nvSpPr>
          <p:cNvPr id="17" name="Oval 16"/>
          <p:cNvSpPr/>
          <p:nvPr/>
        </p:nvSpPr>
        <p:spPr>
          <a:xfrm>
            <a:off x="339356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503295"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How is a number gamed?</a:t>
            </a:r>
          </a:p>
        </p:txBody>
      </p:sp>
      <p:sp>
        <p:nvSpPr>
          <p:cNvPr id="19" name="Oval 18"/>
          <p:cNvSpPr/>
          <p:nvPr/>
        </p:nvSpPr>
        <p:spPr>
          <a:xfrm>
            <a:off x="488118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4990909"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the page hold?</a:t>
            </a:r>
          </a:p>
        </p:txBody>
      </p:sp>
      <p:sp>
        <p:nvSpPr>
          <p:cNvPr id="21" name="Oval 20"/>
          <p:cNvSpPr/>
          <p:nvPr/>
        </p:nvSpPr>
        <p:spPr>
          <a:xfrm>
            <a:off x="646080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6570535"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an hour count?</a:t>
            </a:r>
          </a:p>
        </p:txBody>
      </p:sp>
      <p:sp>
        <p:nvSpPr>
          <p:cNvPr id="23" name="Oval 22"/>
          <p:cNvSpPr/>
          <p:nvPr/>
        </p:nvSpPr>
        <p:spPr>
          <a:xfrm>
            <a:off x="8040433"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8150161" y="6437376"/>
            <a:ext cx="1332452" cy="152146"/>
          </a:xfrm>
          <a:prstGeom prst="rect">
            <a:avLst/>
          </a:prstGeom>
          <a:noFill/>
        </p:spPr>
        <p:txBody>
          <a:bodyPr wrap="square" anchor="t" lIns="0" rIns="0" tIns="0" bIns="0">
            <a:spAutoFit/>
          </a:bodyPr>
          <a:lstStyle/>
          <a:p>
            <a:pPr algn="l"/>
            <a:r>
              <a:rPr sz="700" b="1" i="0">
                <a:solidFill>
                  <a:srgbClr val="5B3FD6"/>
                </a:solidFill>
                <a:latin typeface="Calibri"/>
              </a:rPr>
              <a:t>Where did the fall sit?</a:t>
            </a:r>
          </a:p>
        </p:txBody>
      </p:sp>
      <p:sp>
        <p:nvSpPr>
          <p:cNvPr id="25" name="Oval 24"/>
          <p:cNvSpPr/>
          <p:nvPr/>
        </p:nvSpPr>
        <p:spPr>
          <a:xfrm>
            <a:off x="957405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9683781"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should it pay for?</a:t>
            </a:r>
          </a:p>
        </p:txBody>
      </p:sp>
      <p:sp>
        <p:nvSpPr>
          <p:cNvPr id="27" name="TextBox 26"/>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S67  ·  75 / 93</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MONDAY  ·  BUSINESS METRIC DESIGN  ·  UBER, HYDERABAD</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One groupby gives the city's totals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is the smallest code that turns 12,860 driver-weeks, one row for every driver on the app each week, into the ticket's numbers?</a:t>
            </a:r>
          </a:p>
        </p:txBody>
      </p:sp>
      <p:sp>
        <p:nvSpPr>
          <p:cNvPr id="9" name="Rounded Rectangle 8"/>
          <p:cNvSpPr/>
          <p:nvPr/>
        </p:nvSpPr>
        <p:spPr>
          <a:xfrm>
            <a:off x="530352" y="1956816"/>
            <a:ext cx="11130991" cy="1214627"/>
          </a:xfrm>
          <a:prstGeom prst="roundRect">
            <a:avLst>
              <a:gd name="adj" fmla="val 3500"/>
            </a:avLst>
          </a:prstGeom>
          <a:solidFill>
            <a:srgbClr val="1A1440"/>
          </a:soli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713232" y="2084832"/>
            <a:ext cx="91440" cy="91440"/>
          </a:xfrm>
          <a:prstGeom prst="ellipse">
            <a:avLst/>
          </a:prstGeom>
          <a:solidFill>
            <a:srgbClr val="D63A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868680" y="2084832"/>
            <a:ext cx="91440" cy="91440"/>
          </a:xfrm>
          <a:prstGeom prst="ellipse">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Oval 11"/>
          <p:cNvSpPr/>
          <p:nvPr/>
        </p:nvSpPr>
        <p:spPr>
          <a:xfrm>
            <a:off x="1024128" y="2084832"/>
            <a:ext cx="91440" cy="91440"/>
          </a:xfrm>
          <a:prstGeom prst="ellipse">
            <a:avLst/>
          </a:prstGeom>
          <a:solidFill>
            <a:srgbClr val="1F8A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804671" y="2286000"/>
            <a:ext cx="10673791" cy="812291"/>
          </a:xfrm>
          <a:prstGeom prst="rect">
            <a:avLst/>
          </a:prstGeom>
          <a:noFill/>
        </p:spPr>
        <p:txBody>
          <a:bodyPr wrap="square" anchor="t" lIns="0" rIns="0" tIns="0" bIns="0">
            <a:spAutoFit/>
          </a:bodyPr>
          <a:lstStyle/>
          <a:p>
            <a:pPr>
              <a:spcAft>
                <a:spcPts val="200"/>
              </a:spcAft>
            </a:pPr>
            <a:r>
              <a:rPr sz="1400" b="0" i="0">
                <a:solidFill>
                  <a:srgbClr val="E4E1F1"/>
                </a:solidFill>
                <a:latin typeface="Consolas"/>
              </a:rPr>
              <a:t>dw["window"] = dw["week_start"].lt("2026-08-31").map({True: "before", False: "after"})</a:t>
            </a:r>
          </a:p>
          <a:p>
            <a:pPr>
              <a:spcAft>
                <a:spcPts val="200"/>
              </a:spcAft>
            </a:pPr>
            <a:r>
              <a:rPr sz="1400" b="0" i="0">
                <a:solidFill>
                  <a:srgbClr val="E4E1F1"/>
                </a:solidFill>
                <a:latin typeface="Consolas"/>
              </a:rPr>
              <a:t>city = dw.groupby("window")[["peak_online_hours", "peak_trips"]].sum()</a:t>
            </a:r>
          </a:p>
          <a:p>
            <a:pPr>
              <a:spcAft>
                <a:spcPts val="200"/>
              </a:spcAft>
            </a:pPr>
            <a:r>
              <a:rPr sz="1400" b="0" i="0">
                <a:solidFill>
                  <a:srgbClr val="E4E1F1"/>
                </a:solidFill>
                <a:latin typeface="Consolas"/>
              </a:rPr>
              <a:t>city["trips_per_hour"] = city["peak_trips"] / city["peak_online_hours"]</a:t>
            </a:r>
          </a:p>
        </p:txBody>
      </p:sp>
      <p:graphicFrame>
        <p:nvGraphicFramePr>
          <p:cNvPr id="14" name="Table 13"/>
          <p:cNvGraphicFramePr>
            <a:graphicFrameLocks noGrp="1"/>
          </p:cNvGraphicFramePr>
          <p:nvPr/>
        </p:nvGraphicFramePr>
        <p:xfrm>
          <a:off x="530352" y="3336036"/>
          <a:ext cx="11130989" cy="1005840"/>
        </p:xfrm>
        <a:graphic>
          <a:graphicData uri="http://schemas.openxmlformats.org/drawingml/2006/table">
            <a:tbl>
              <a:tblPr firstRow="0" bandRow="0">
                <a:tableStyleId>{2D5ABB26-0587-4C30-8999-92F81FD0307C}</a:tableStyleId>
              </a:tblPr>
              <a:tblGrid>
                <a:gridCol w="914400"/>
                <a:gridCol w="914400"/>
                <a:gridCol w="914400"/>
                <a:gridCol w="2853633"/>
                <a:gridCol w="2853633"/>
                <a:gridCol w="2680523"/>
              </a:tblGrid>
              <a:tr h="335280">
                <a:tc>
                  <a:txBody>
                    <a:bodyPr/>
                    <a:lstStyle/>
                    <a:p>
                      <a:r>
                        <a:rPr sz="1250" b="1" i="0">
                          <a:solidFill>
                            <a:srgbClr val="FFFFFF"/>
                          </a:solidFill>
                          <a:latin typeface="Calibri"/>
                        </a:rPr>
                        <a:t>Window</a:t>
                      </a:r>
                    </a:p>
                  </a:txBody>
                  <a:tcPr marL="101600" marR="101600" marT="38100" marB="38100" anchor="ctr">
                    <a:solidFill>
                      <a:srgbClr val="1A0F5C"/>
                    </a:solidFill>
                  </a:tcPr>
                </a:tc>
                <a:tc>
                  <a:txBody>
                    <a:bodyPr/>
                    <a:lstStyle/>
                    <a:p>
                      <a:r>
                        <a:rPr sz="1250" b="1" i="0">
                          <a:solidFill>
                            <a:srgbClr val="FFFFFF"/>
                          </a:solidFill>
                          <a:latin typeface="Calibri"/>
                        </a:rPr>
                        <a:t>Hours</a:t>
                      </a:r>
                    </a:p>
                  </a:txBody>
                  <a:tcPr marL="101600" marR="101600" marT="38100" marB="38100" anchor="ctr">
                    <a:solidFill>
                      <a:srgbClr val="1A0F5C"/>
                    </a:solidFill>
                  </a:tcPr>
                </a:tc>
                <a:tc>
                  <a:txBody>
                    <a:bodyPr/>
                    <a:lstStyle/>
                    <a:p>
                      <a:r>
                        <a:rPr sz="1250" b="1" i="0">
                          <a:solidFill>
                            <a:srgbClr val="FFFFFF"/>
                          </a:solidFill>
                          <a:latin typeface="Calibri"/>
                        </a:rPr>
                        <a:t>Trips</a:t>
                      </a:r>
                    </a:p>
                  </a:txBody>
                  <a:tcPr marL="101600" marR="101600" marT="38100" marB="38100" anchor="ctr">
                    <a:solidFill>
                      <a:srgbClr val="1A0F5C"/>
                    </a:solidFill>
                  </a:tcPr>
                </a:tc>
                <a:tc>
                  <a:txBody>
                    <a:bodyPr/>
                    <a:lstStyle/>
                    <a:p>
                      <a:r>
                        <a:rPr sz="1250" b="1" i="0">
                          <a:solidFill>
                            <a:srgbClr val="FFFFFF"/>
                          </a:solidFill>
                          <a:latin typeface="Calibri"/>
                        </a:rPr>
                        <a:t>Trips per hour</a:t>
                      </a:r>
                    </a:p>
                  </a:txBody>
                  <a:tcPr marL="101600" marR="101600" marT="38100" marB="38100" anchor="ctr">
                    <a:solidFill>
                      <a:srgbClr val="1A0F5C"/>
                    </a:solidFill>
                  </a:tcPr>
                </a:tc>
                <a:tc>
                  <a:txBody>
                    <a:bodyPr/>
                    <a:lstStyle/>
                    <a:p>
                      <a:r>
                        <a:rPr sz="1250" b="1" i="0">
                          <a:solidFill>
                            <a:srgbClr val="FFFFFF"/>
                          </a:solidFill>
                          <a:latin typeface="Calibri"/>
                        </a:rPr>
                        <a:t>Accepted share</a:t>
                      </a:r>
                    </a:p>
                  </a:txBody>
                  <a:tcPr marL="101600" marR="101600" marT="38100" marB="38100" anchor="ctr">
                    <a:solidFill>
                      <a:srgbClr val="1A0F5C"/>
                    </a:solidFill>
                  </a:tcPr>
                </a:tc>
                <a:tc>
                  <a:txBody>
                    <a:bodyPr/>
                    <a:lstStyle/>
                    <a:p>
                      <a:r>
                        <a:rPr sz="1250" b="1" i="0">
                          <a:solidFill>
                            <a:srgbClr val="FFFFFF"/>
                          </a:solidFill>
                          <a:latin typeface="Calibri"/>
                        </a:rPr>
                        <a:t>No-trip share</a:t>
                      </a:r>
                    </a:p>
                  </a:txBody>
                  <a:tcPr marL="101600" marR="101600" marT="38100" marB="38100" anchor="ctr">
                    <a:solidFill>
                      <a:srgbClr val="1A0F5C"/>
                    </a:solidFill>
                  </a:tcPr>
                </a:tc>
              </a:tr>
              <a:tr h="335280">
                <a:tc>
                  <a:txBody>
                    <a:bodyPr/>
                    <a:lstStyle/>
                    <a:p>
                      <a:r>
                        <a:rPr sz="1200" b="0" i="0">
                          <a:solidFill>
                            <a:srgbClr val="1A1440"/>
                          </a:solidFill>
                          <a:latin typeface="Calibri"/>
                        </a:rPr>
                        <a:t>Before</a:t>
                      </a:r>
                    </a:p>
                  </a:txBody>
                  <a:tcPr marL="101600" marR="101600" marT="38100" marB="38100" anchor="ctr">
                    <a:solidFill>
                      <a:srgbClr val="FFFFFF"/>
                    </a:solidFill>
                  </a:tcPr>
                </a:tc>
                <a:tc>
                  <a:txBody>
                    <a:bodyPr/>
                    <a:lstStyle/>
                    <a:p>
                      <a:r>
                        <a:rPr sz="1200" b="0" i="0">
                          <a:solidFill>
                            <a:srgbClr val="1A1440"/>
                          </a:solidFill>
                          <a:latin typeface="Calibri"/>
                        </a:rPr>
                        <a:t>118,000</a:t>
                      </a:r>
                    </a:p>
                  </a:txBody>
                  <a:tcPr marL="101600" marR="101600" marT="38100" marB="38100" anchor="ctr">
                    <a:solidFill>
                      <a:srgbClr val="FFFFFF"/>
                    </a:solidFill>
                  </a:tcPr>
                </a:tc>
                <a:tc>
                  <a:txBody>
                    <a:bodyPr/>
                    <a:lstStyle/>
                    <a:p>
                      <a:r>
                        <a:rPr sz="1200" b="0" i="0">
                          <a:solidFill>
                            <a:srgbClr val="1A1440"/>
                          </a:solidFill>
                          <a:latin typeface="Calibri"/>
                        </a:rPr>
                        <a:t>224,200</a:t>
                      </a:r>
                    </a:p>
                  </a:txBody>
                  <a:tcPr marL="101600" marR="101600" marT="38100" marB="38100" anchor="ctr">
                    <a:solidFill>
                      <a:srgbClr val="FFFFFF"/>
                    </a:solidFill>
                  </a:tcPr>
                </a:tc>
                <a:tc>
                  <a:txBody>
                    <a:bodyPr/>
                    <a:lstStyle/>
                    <a:p>
                      <a:r>
                        <a:rPr sz="1200" b="0" i="0">
                          <a:solidFill>
                            <a:srgbClr val="1A1440"/>
                          </a:solidFill>
                          <a:latin typeface="Calibri"/>
                        </a:rPr>
                        <a:t>1.90</a:t>
                      </a:r>
                    </a:p>
                  </a:txBody>
                  <a:tcPr marL="101600" marR="101600" marT="38100" marB="38100" anchor="ctr">
                    <a:solidFill>
                      <a:srgbClr val="FFFFFF"/>
                    </a:solidFill>
                  </a:tcPr>
                </a:tc>
                <a:tc>
                  <a:txBody>
                    <a:bodyPr/>
                    <a:lstStyle/>
                    <a:p>
                      <a:r>
                        <a:rPr sz="1200" b="0" i="0">
                          <a:solidFill>
                            <a:srgbClr val="1A1440"/>
                          </a:solidFill>
                          <a:latin typeface="Calibri"/>
                        </a:rPr>
                        <a:t>0.863</a:t>
                      </a:r>
                    </a:p>
                  </a:txBody>
                  <a:tcPr marL="101600" marR="101600" marT="38100" marB="38100" anchor="ctr">
                    <a:solidFill>
                      <a:srgbClr val="FFFFFF"/>
                    </a:solidFill>
                  </a:tcPr>
                </a:tc>
                <a:tc>
                  <a:txBody>
                    <a:bodyPr/>
                    <a:lstStyle/>
                    <a:p>
                      <a:r>
                        <a:rPr sz="1200" b="0" i="0">
                          <a:solidFill>
                            <a:srgbClr val="1A1440"/>
                          </a:solidFill>
                          <a:latin typeface="Calibri"/>
                        </a:rPr>
                        <a:t>0.22</a:t>
                      </a:r>
                    </a:p>
                  </a:txBody>
                  <a:tcPr marL="101600" marR="101600" marT="38100" marB="38100" anchor="ctr">
                    <a:solidFill>
                      <a:srgbClr val="FFFFFF"/>
                    </a:solidFill>
                  </a:tcPr>
                </a:tc>
              </a:tr>
              <a:tr h="335280">
                <a:tc>
                  <a:txBody>
                    <a:bodyPr/>
                    <a:lstStyle/>
                    <a:p>
                      <a:r>
                        <a:rPr sz="1200" b="0" i="0">
                          <a:solidFill>
                            <a:srgbClr val="1A1440"/>
                          </a:solidFill>
                          <a:latin typeface="Calibri"/>
                        </a:rPr>
                        <a:t>After</a:t>
                      </a:r>
                    </a:p>
                  </a:txBody>
                  <a:tcPr marL="101600" marR="101600" marT="38100" marB="38100" anchor="ctr">
                    <a:solidFill>
                      <a:srgbClr val="F4F2FA"/>
                    </a:solidFill>
                  </a:tcPr>
                </a:tc>
                <a:tc>
                  <a:txBody>
                    <a:bodyPr/>
                    <a:lstStyle/>
                    <a:p>
                      <a:r>
                        <a:rPr sz="1200" b="0" i="0">
                          <a:solidFill>
                            <a:srgbClr val="1A1440"/>
                          </a:solidFill>
                          <a:latin typeface="Calibri"/>
                        </a:rPr>
                        <a:t>146,300</a:t>
                      </a:r>
                    </a:p>
                  </a:txBody>
                  <a:tcPr marL="101600" marR="101600" marT="38100" marB="38100" anchor="ctr">
                    <a:solidFill>
                      <a:srgbClr val="F4F2FA"/>
                    </a:solidFill>
                  </a:tcPr>
                </a:tc>
                <a:tc>
                  <a:txBody>
                    <a:bodyPr/>
                    <a:lstStyle/>
                    <a:p>
                      <a:r>
                        <a:rPr sz="1200" b="0" i="0">
                          <a:solidFill>
                            <a:srgbClr val="1A1440"/>
                          </a:solidFill>
                          <a:latin typeface="Calibri"/>
                        </a:rPr>
                        <a:t>230,900</a:t>
                      </a:r>
                    </a:p>
                  </a:txBody>
                  <a:tcPr marL="101600" marR="101600" marT="38100" marB="38100" anchor="ctr">
                    <a:solidFill>
                      <a:srgbClr val="F4F2FA"/>
                    </a:solidFill>
                  </a:tcPr>
                </a:tc>
                <a:tc>
                  <a:txBody>
                    <a:bodyPr/>
                    <a:lstStyle/>
                    <a:p>
                      <a:r>
                        <a:rPr sz="1200" b="0" i="0">
                          <a:solidFill>
                            <a:srgbClr val="1A1440"/>
                          </a:solidFill>
                          <a:latin typeface="Calibri"/>
                        </a:rPr>
                        <a:t>1.58</a:t>
                      </a:r>
                    </a:p>
                  </a:txBody>
                  <a:tcPr marL="101600" marR="101600" marT="38100" marB="38100" anchor="ctr">
                    <a:solidFill>
                      <a:srgbClr val="F4F2FA"/>
                    </a:solidFill>
                  </a:tcPr>
                </a:tc>
                <a:tc>
                  <a:txBody>
                    <a:bodyPr/>
                    <a:lstStyle/>
                    <a:p>
                      <a:r>
                        <a:rPr sz="1200" b="0" i="0">
                          <a:solidFill>
                            <a:srgbClr val="1A1440"/>
                          </a:solidFill>
                          <a:latin typeface="Calibri"/>
                        </a:rPr>
                        <a:t>0.730</a:t>
                      </a:r>
                    </a:p>
                  </a:txBody>
                  <a:tcPr marL="101600" marR="101600" marT="38100" marB="38100" anchor="ctr">
                    <a:solidFill>
                      <a:srgbClr val="F4F2FA"/>
                    </a:solidFill>
                  </a:tcPr>
                </a:tc>
                <a:tc>
                  <a:txBody>
                    <a:bodyPr/>
                    <a:lstStyle/>
                    <a:p>
                      <a:r>
                        <a:rPr sz="1200" b="0" i="0">
                          <a:solidFill>
                            <a:srgbClr val="1A1440"/>
                          </a:solidFill>
                          <a:latin typeface="Calibri"/>
                        </a:rPr>
                        <a:t>0.38</a:t>
                      </a:r>
                    </a:p>
                  </a:txBody>
                  <a:tcPr marL="101600" marR="101600" marT="38100" marB="38100" anchor="ctr">
                    <a:solidFill>
                      <a:srgbClr val="F4F2FA"/>
                    </a:solidFill>
                  </a:tcPr>
                </a:tc>
              </a:tr>
            </a:tbl>
          </a:graphicData>
        </a:graphic>
      </p:graphicFrame>
      <p:sp>
        <p:nvSpPr>
          <p:cNvPr id="15" name="TextBox 14"/>
          <p:cNvSpPr txBox="1"/>
          <p:nvPr/>
        </p:nvSpPr>
        <p:spPr>
          <a:xfrm>
            <a:off x="530352" y="4597908"/>
            <a:ext cx="11130991" cy="1324864"/>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The rate is a ratio of two sums, chapter 4's numerator and denominator over chapter 4's window: every trip over every hour, six weeks each side. .lt(...) asks whether a week starts before the launch, and .map turns True and False into before and after; the notebook adds the two shares the same way, sum first, then divide.</a:t>
            </a:r>
          </a:p>
        </p:txBody>
      </p:sp>
      <p:sp>
        <p:nvSpPr>
          <p:cNvPr id="16" name="TextBox 15"/>
          <p:cNvSpPr txBox="1"/>
          <p:nvPr/>
        </p:nvSpPr>
        <p:spPr>
          <a:xfrm>
            <a:off x="530352" y="6437376"/>
            <a:ext cx="256032" cy="152146"/>
          </a:xfrm>
          <a:prstGeom prst="rect">
            <a:avLst/>
          </a:prstGeom>
          <a:noFill/>
        </p:spPr>
        <p:txBody>
          <a:bodyPr wrap="square" anchor="t" lIns="0" rIns="0" tIns="0" bIns="0">
            <a:spAutoFit/>
          </a:bodyPr>
          <a:lstStyle/>
          <a:p>
            <a:pPr algn="l"/>
            <a:r>
              <a:rPr sz="700" b="0" i="0">
                <a:solidFill>
                  <a:srgbClr val="6B6690"/>
                </a:solidFill>
                <a:latin typeface="Calibri"/>
              </a:rPr>
              <a:t>…</a:t>
            </a:r>
          </a:p>
        </p:txBody>
      </p:sp>
      <p:sp>
        <p:nvSpPr>
          <p:cNvPr id="17" name="Oval 16"/>
          <p:cNvSpPr/>
          <p:nvPr/>
        </p:nvSpPr>
        <p:spPr>
          <a:xfrm>
            <a:off x="78638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96112"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Which number warns?</a:t>
            </a:r>
          </a:p>
        </p:txBody>
      </p:sp>
      <p:sp>
        <p:nvSpPr>
          <p:cNvPr id="19" name="Oval 18"/>
          <p:cNvSpPr/>
          <p:nvPr/>
        </p:nvSpPr>
        <p:spPr>
          <a:xfrm>
            <a:off x="213598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2245709"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Which four lines?</a:t>
            </a:r>
          </a:p>
        </p:txBody>
      </p:sp>
      <p:sp>
        <p:nvSpPr>
          <p:cNvPr id="21" name="Oval 20"/>
          <p:cNvSpPr/>
          <p:nvPr/>
        </p:nvSpPr>
        <p:spPr>
          <a:xfrm>
            <a:off x="339356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3503295"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How is a number gamed?</a:t>
            </a:r>
          </a:p>
        </p:txBody>
      </p:sp>
      <p:sp>
        <p:nvSpPr>
          <p:cNvPr id="23" name="Oval 22"/>
          <p:cNvSpPr/>
          <p:nvPr/>
        </p:nvSpPr>
        <p:spPr>
          <a:xfrm>
            <a:off x="488118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4990909"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the page hold?</a:t>
            </a:r>
          </a:p>
        </p:txBody>
      </p:sp>
      <p:sp>
        <p:nvSpPr>
          <p:cNvPr id="25" name="Oval 24"/>
          <p:cNvSpPr/>
          <p:nvPr/>
        </p:nvSpPr>
        <p:spPr>
          <a:xfrm>
            <a:off x="646080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6570535"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an hour count?</a:t>
            </a:r>
          </a:p>
        </p:txBody>
      </p:sp>
      <p:sp>
        <p:nvSpPr>
          <p:cNvPr id="27" name="Oval 26"/>
          <p:cNvSpPr/>
          <p:nvPr/>
        </p:nvSpPr>
        <p:spPr>
          <a:xfrm>
            <a:off x="8040433"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8150161" y="6437376"/>
            <a:ext cx="1332452" cy="152146"/>
          </a:xfrm>
          <a:prstGeom prst="rect">
            <a:avLst/>
          </a:prstGeom>
          <a:noFill/>
        </p:spPr>
        <p:txBody>
          <a:bodyPr wrap="square" anchor="t" lIns="0" rIns="0" tIns="0" bIns="0">
            <a:spAutoFit/>
          </a:bodyPr>
          <a:lstStyle/>
          <a:p>
            <a:pPr algn="l"/>
            <a:r>
              <a:rPr sz="700" b="1" i="0">
                <a:solidFill>
                  <a:srgbClr val="5B3FD6"/>
                </a:solidFill>
                <a:latin typeface="Calibri"/>
              </a:rPr>
              <a:t>Where did the fall sit?</a:t>
            </a:r>
          </a:p>
        </p:txBody>
      </p:sp>
      <p:sp>
        <p:nvSpPr>
          <p:cNvPr id="29" name="Oval 28"/>
          <p:cNvSpPr/>
          <p:nvPr/>
        </p:nvSpPr>
        <p:spPr>
          <a:xfrm>
            <a:off x="957405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9683781"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should it pay for?</a:t>
            </a:r>
          </a:p>
        </p:txBody>
      </p:sp>
      <p:sp>
        <p:nvSpPr>
          <p:cNvPr id="31" name="TextBox 30"/>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S68  ·  76 / 93</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MONDAY  ·  BUSINESS METRIC DESIGN  ·  UBER, HYDERABAD</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What does an average of weekly rates print?</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A colleague averages every driver-week's own trips per hour; what does that print for the after window?</a:t>
            </a:r>
          </a:p>
        </p:txBody>
      </p:sp>
      <p:sp>
        <p:nvSpPr>
          <p:cNvPr id="9" name="TextBox 8"/>
          <p:cNvSpPr txBox="1"/>
          <p:nvPr/>
        </p:nvSpPr>
        <p:spPr>
          <a:xfrm>
            <a:off x="530352" y="1956816"/>
            <a:ext cx="11130991" cy="1654048"/>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a) 1.58</a:t>
            </a:r>
          </a:p>
          <a:p>
            <a:pPr>
              <a:spcAft>
                <a:spcPts val="800"/>
              </a:spcAft>
            </a:pPr>
            <a:r>
              <a:rPr sz="1600" b="0" i="0">
                <a:solidFill>
                  <a:srgbClr val="1A1440"/>
                </a:solidFill>
                <a:latin typeface="Calibri"/>
              </a:rPr>
              <a:t>b) 1.71</a:t>
            </a:r>
          </a:p>
          <a:p>
            <a:pPr>
              <a:spcAft>
                <a:spcPts val="800"/>
              </a:spcAft>
            </a:pPr>
            <a:r>
              <a:rPr sz="1600" b="0" i="0">
                <a:solidFill>
                  <a:srgbClr val="1A1440"/>
                </a:solidFill>
                <a:latin typeface="Calibri"/>
              </a:rPr>
              <a:t>c) 1.19</a:t>
            </a:r>
          </a:p>
          <a:p>
            <a:pPr>
              <a:spcAft>
                <a:spcPts val="800"/>
              </a:spcAft>
            </a:pPr>
            <a:r>
              <a:rPr sz="1600" b="0" i="0">
                <a:solidFill>
                  <a:srgbClr val="1A1440"/>
                </a:solidFill>
                <a:latin typeface="Calibri"/>
              </a:rPr>
              <a:t>d) 1.90</a:t>
            </a:r>
          </a:p>
        </p:txBody>
      </p:sp>
      <p:sp>
        <p:nvSpPr>
          <p:cNvPr id="10" name="TextBox 9"/>
          <p:cNvSpPr txBox="1"/>
          <p:nvPr/>
        </p:nvSpPr>
        <p:spPr>
          <a:xfrm>
            <a:off x="530352" y="6437376"/>
            <a:ext cx="256032" cy="152146"/>
          </a:xfrm>
          <a:prstGeom prst="rect">
            <a:avLst/>
          </a:prstGeom>
          <a:noFill/>
        </p:spPr>
        <p:txBody>
          <a:bodyPr wrap="square" anchor="t" lIns="0" rIns="0" tIns="0" bIns="0">
            <a:spAutoFit/>
          </a:bodyPr>
          <a:lstStyle/>
          <a:p>
            <a:pPr algn="l"/>
            <a:r>
              <a:rPr sz="700" b="0" i="0">
                <a:solidFill>
                  <a:srgbClr val="6B6690"/>
                </a:solidFill>
                <a:latin typeface="Calibri"/>
              </a:rPr>
              <a:t>…</a:t>
            </a:r>
          </a:p>
        </p:txBody>
      </p:sp>
      <p:sp>
        <p:nvSpPr>
          <p:cNvPr id="11" name="Oval 10"/>
          <p:cNvSpPr/>
          <p:nvPr/>
        </p:nvSpPr>
        <p:spPr>
          <a:xfrm>
            <a:off x="78638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96112"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Which number warns?</a:t>
            </a:r>
          </a:p>
        </p:txBody>
      </p:sp>
      <p:sp>
        <p:nvSpPr>
          <p:cNvPr id="13" name="Oval 12"/>
          <p:cNvSpPr/>
          <p:nvPr/>
        </p:nvSpPr>
        <p:spPr>
          <a:xfrm>
            <a:off x="213598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2245709"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Which four lines?</a:t>
            </a:r>
          </a:p>
        </p:txBody>
      </p:sp>
      <p:sp>
        <p:nvSpPr>
          <p:cNvPr id="15" name="Oval 14"/>
          <p:cNvSpPr/>
          <p:nvPr/>
        </p:nvSpPr>
        <p:spPr>
          <a:xfrm>
            <a:off x="339356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3503295"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How is a number gamed?</a:t>
            </a:r>
          </a:p>
        </p:txBody>
      </p:sp>
      <p:sp>
        <p:nvSpPr>
          <p:cNvPr id="17" name="Oval 16"/>
          <p:cNvSpPr/>
          <p:nvPr/>
        </p:nvSpPr>
        <p:spPr>
          <a:xfrm>
            <a:off x="488118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4990909"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the page hold?</a:t>
            </a:r>
          </a:p>
        </p:txBody>
      </p:sp>
      <p:sp>
        <p:nvSpPr>
          <p:cNvPr id="19" name="Oval 18"/>
          <p:cNvSpPr/>
          <p:nvPr/>
        </p:nvSpPr>
        <p:spPr>
          <a:xfrm>
            <a:off x="646080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570535"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an hour count?</a:t>
            </a:r>
          </a:p>
        </p:txBody>
      </p:sp>
      <p:sp>
        <p:nvSpPr>
          <p:cNvPr id="21" name="Oval 20"/>
          <p:cNvSpPr/>
          <p:nvPr/>
        </p:nvSpPr>
        <p:spPr>
          <a:xfrm>
            <a:off x="8040433"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8150161" y="6437376"/>
            <a:ext cx="1332452" cy="152146"/>
          </a:xfrm>
          <a:prstGeom prst="rect">
            <a:avLst/>
          </a:prstGeom>
          <a:noFill/>
        </p:spPr>
        <p:txBody>
          <a:bodyPr wrap="square" anchor="t" lIns="0" rIns="0" tIns="0" bIns="0">
            <a:spAutoFit/>
          </a:bodyPr>
          <a:lstStyle/>
          <a:p>
            <a:pPr algn="l"/>
            <a:r>
              <a:rPr sz="700" b="1" i="0">
                <a:solidFill>
                  <a:srgbClr val="5B3FD6"/>
                </a:solidFill>
                <a:latin typeface="Calibri"/>
              </a:rPr>
              <a:t>Where did the fall sit?</a:t>
            </a:r>
          </a:p>
        </p:txBody>
      </p:sp>
      <p:sp>
        <p:nvSpPr>
          <p:cNvPr id="23" name="Oval 22"/>
          <p:cNvSpPr/>
          <p:nvPr/>
        </p:nvSpPr>
        <p:spPr>
          <a:xfrm>
            <a:off x="957405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9683781"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should it pay for?</a:t>
            </a:r>
          </a:p>
        </p:txBody>
      </p:sp>
      <p:sp>
        <p:nvSpPr>
          <p:cNvPr id="25" name="TextBox 24"/>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S69  ·  77 / 93</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MONDAY  ·  BUSINESS METRIC DESIGN  ·  UBER, HYDERABAD</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Answer: 1.71, which hides two-fifths of the fall</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Why does averaging each week's rate understate the fall, and what is the fix?</a:t>
            </a:r>
          </a:p>
        </p:txBody>
      </p:sp>
      <p:pic>
        <p:nvPicPr>
          <p:cNvPr id="9" name="mermaid diagram" descr="49f41a108752e8e1.png"/>
          <p:cNvPicPr>
            <a:picLocks noChangeAspect="1"/>
          </p:cNvPicPr>
          <p:nvPr/>
        </p:nvPicPr>
        <p:blipFill>
          <a:blip r:embed="rId5"/>
          <a:stretch>
            <a:fillRect/>
          </a:stretch>
        </p:blipFill>
        <p:spPr>
          <a:xfrm>
            <a:off x="3560514" y="1664208"/>
            <a:ext cx="5070666" cy="2295144"/>
          </a:xfrm>
          <a:prstGeom prst="rect">
            <a:avLst/>
          </a:prstGeom>
        </p:spPr>
      </p:pic>
      <p:sp>
        <p:nvSpPr>
          <p:cNvPr id="10" name="Rounded Rectangle 9"/>
          <p:cNvSpPr/>
          <p:nvPr/>
        </p:nvSpPr>
        <p:spPr>
          <a:xfrm>
            <a:off x="530352" y="4005072"/>
            <a:ext cx="11130991" cy="13411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676656" y="4133088"/>
            <a:ext cx="45720" cy="10850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7824" y="4123944"/>
            <a:ext cx="10564063" cy="1158240"/>
          </a:xfrm>
          <a:prstGeom prst="rect">
            <a:avLst/>
          </a:prstGeom>
          <a:noFill/>
        </p:spPr>
        <p:txBody>
          <a:bodyPr wrap="square" anchor="ctr" lIns="0" rIns="0" tIns="0" bIns="0">
            <a:spAutoFit/>
          </a:bodyPr>
          <a:lstStyle/>
          <a:p>
            <a:r>
              <a:rPr sz="1500" b="1">
                <a:solidFill>
                  <a:srgbClr val="5B3FD6"/>
                </a:solidFill>
                <a:latin typeface="Calibri"/>
              </a:rPr>
              <a:t>Answer: b. </a:t>
            </a:r>
            <a:r>
              <a:rPr sz="1500" b="0" i="0">
                <a:solidFill>
                  <a:srgbClr val="1A1440"/>
                </a:solidFill>
                <a:latin typeface="Calibri"/>
              </a:rPr>
              <a:t>The average of rates prints 1.71 after the launch, against 1.58 from the sums. Before the launch the same average read 1.90, so set beside itself it shows a fall of 0.19; the true fall is 0.32, from 1.90 to 1.58, so the average hides 0.13, about two-fifths. It gives a 42-hour week the same weight as a 10-hour one, so the long, slow weeks of the drivers online longest count no more than anyone's short, busy ones.</a:t>
            </a:r>
          </a:p>
        </p:txBody>
      </p:sp>
      <p:sp>
        <p:nvSpPr>
          <p:cNvPr id="13" name="TextBox 12"/>
          <p:cNvSpPr txBox="1"/>
          <p:nvPr/>
        </p:nvSpPr>
        <p:spPr>
          <a:xfrm>
            <a:off x="530352" y="5510784"/>
            <a:ext cx="11130991" cy="1324864"/>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The drivers are invented: Y's 40 slow hours count as one week, like X's 10, so the average reads 1.25 against a true 0.80, too high, as the city's 1.71 is. </a:t>
            </a:r>
            <a:r>
              <a:rPr sz="1600" b="1" i="0">
                <a:solidFill>
                  <a:srgbClr val="1A1440"/>
                </a:solidFill>
                <a:latin typeface="Calibri"/>
              </a:rPr>
              <a:t>The decision it would mislead:</a:t>
            </a:r>
            <a:r>
              <a:rPr sz="1600" b="0" i="0">
                <a:solidFill>
                  <a:srgbClr val="1A1440"/>
                </a:solidFill>
                <a:latin typeface="Calibri"/>
              </a:rPr>
              <a:t> a fall two-fifths smaller reads as noise, and the scheme is extended. </a:t>
            </a:r>
            <a:r>
              <a:rPr sz="1600" b="1" i="0">
                <a:solidFill>
                  <a:srgbClr val="1A1440"/>
                </a:solidFill>
                <a:latin typeface="Calibri"/>
              </a:rPr>
              <a:t>The check:</a:t>
            </a:r>
            <a:r>
              <a:rPr sz="1600" b="0" i="0">
                <a:solidFill>
                  <a:srgbClr val="1A1440"/>
                </a:solidFill>
                <a:latin typeface="Calibri"/>
              </a:rPr>
              <a:t> recompute from the sums. </a:t>
            </a:r>
            <a:r>
              <a:rPr sz="1600" b="1" i="0">
                <a:solidFill>
                  <a:srgbClr val="1A1440"/>
                </a:solidFill>
                <a:latin typeface="Calibri"/>
              </a:rPr>
              <a:t>The fix:</a:t>
            </a:r>
            <a:r>
              <a:rPr sz="1600" b="0" i="0">
                <a:solidFill>
                  <a:srgbClr val="1A1440"/>
                </a:solidFill>
                <a:latin typeface="Calibri"/>
              </a:rPr>
              <a:t> a ratio of sums, its denominator named, as Swiggy's filings name theirs (chapter 4).</a:t>
            </a:r>
          </a:p>
        </p:txBody>
      </p:sp>
      <p:sp>
        <p:nvSpPr>
          <p:cNvPr id="14" name="TextBox 13"/>
          <p:cNvSpPr txBox="1"/>
          <p:nvPr/>
        </p:nvSpPr>
        <p:spPr>
          <a:xfrm>
            <a:off x="530352" y="6437376"/>
            <a:ext cx="256032" cy="152146"/>
          </a:xfrm>
          <a:prstGeom prst="rect">
            <a:avLst/>
          </a:prstGeom>
          <a:noFill/>
        </p:spPr>
        <p:txBody>
          <a:bodyPr wrap="square" anchor="t" lIns="0" rIns="0" tIns="0" bIns="0">
            <a:spAutoFit/>
          </a:bodyPr>
          <a:lstStyle/>
          <a:p>
            <a:pPr algn="l"/>
            <a:r>
              <a:rPr sz="700" b="0" i="0">
                <a:solidFill>
                  <a:srgbClr val="6B6690"/>
                </a:solidFill>
                <a:latin typeface="Calibri"/>
              </a:rPr>
              <a:t>…</a:t>
            </a:r>
          </a:p>
        </p:txBody>
      </p:sp>
      <p:sp>
        <p:nvSpPr>
          <p:cNvPr id="15" name="Oval 14"/>
          <p:cNvSpPr/>
          <p:nvPr/>
        </p:nvSpPr>
        <p:spPr>
          <a:xfrm>
            <a:off x="78638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896112"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Which number warns?</a:t>
            </a:r>
          </a:p>
        </p:txBody>
      </p:sp>
      <p:sp>
        <p:nvSpPr>
          <p:cNvPr id="17" name="Oval 16"/>
          <p:cNvSpPr/>
          <p:nvPr/>
        </p:nvSpPr>
        <p:spPr>
          <a:xfrm>
            <a:off x="213598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2245709"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Which four lines?</a:t>
            </a:r>
          </a:p>
        </p:txBody>
      </p:sp>
      <p:sp>
        <p:nvSpPr>
          <p:cNvPr id="19" name="Oval 18"/>
          <p:cNvSpPr/>
          <p:nvPr/>
        </p:nvSpPr>
        <p:spPr>
          <a:xfrm>
            <a:off x="339356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3503295"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How is a number gamed?</a:t>
            </a:r>
          </a:p>
        </p:txBody>
      </p:sp>
      <p:sp>
        <p:nvSpPr>
          <p:cNvPr id="21" name="Oval 20"/>
          <p:cNvSpPr/>
          <p:nvPr/>
        </p:nvSpPr>
        <p:spPr>
          <a:xfrm>
            <a:off x="488118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4990909"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the page hold?</a:t>
            </a:r>
          </a:p>
        </p:txBody>
      </p:sp>
      <p:sp>
        <p:nvSpPr>
          <p:cNvPr id="23" name="Oval 22"/>
          <p:cNvSpPr/>
          <p:nvPr/>
        </p:nvSpPr>
        <p:spPr>
          <a:xfrm>
            <a:off x="646080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6570535"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an hour count?</a:t>
            </a:r>
          </a:p>
        </p:txBody>
      </p:sp>
      <p:sp>
        <p:nvSpPr>
          <p:cNvPr id="25" name="Oval 24"/>
          <p:cNvSpPr/>
          <p:nvPr/>
        </p:nvSpPr>
        <p:spPr>
          <a:xfrm>
            <a:off x="8040433"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8150161" y="6437376"/>
            <a:ext cx="1332452" cy="152146"/>
          </a:xfrm>
          <a:prstGeom prst="rect">
            <a:avLst/>
          </a:prstGeom>
          <a:noFill/>
        </p:spPr>
        <p:txBody>
          <a:bodyPr wrap="square" anchor="t" lIns="0" rIns="0" tIns="0" bIns="0">
            <a:spAutoFit/>
          </a:bodyPr>
          <a:lstStyle/>
          <a:p>
            <a:pPr algn="l"/>
            <a:r>
              <a:rPr sz="700" b="1" i="0">
                <a:solidFill>
                  <a:srgbClr val="5B3FD6"/>
                </a:solidFill>
                <a:latin typeface="Calibri"/>
              </a:rPr>
              <a:t>Where did the fall sit?</a:t>
            </a:r>
          </a:p>
        </p:txBody>
      </p:sp>
      <p:sp>
        <p:nvSpPr>
          <p:cNvPr id="27" name="Oval 26"/>
          <p:cNvSpPr/>
          <p:nvPr/>
        </p:nvSpPr>
        <p:spPr>
          <a:xfrm>
            <a:off x="957405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9683781"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should it pay for?</a:t>
            </a:r>
          </a:p>
        </p:txBody>
      </p:sp>
      <p:sp>
        <p:nvSpPr>
          <p:cNvPr id="29" name="TextBox 28"/>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S70  ·  78 / 93</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MONDAY  ·  BUSINESS METRIC DESIGN  ·  UBER, HYDERABAD</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How many drivers sit under one trip an hour?</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Of the 1,200 drivers, how many made fewer than one trip per peak online hour after the launch?</a:t>
            </a:r>
          </a:p>
        </p:txBody>
      </p:sp>
      <p:sp>
        <p:nvSpPr>
          <p:cNvPr id="9" name="TextBox 8"/>
          <p:cNvSpPr txBox="1"/>
          <p:nvPr/>
        </p:nvSpPr>
        <p:spPr>
          <a:xfrm>
            <a:off x="530352" y="1956816"/>
            <a:ext cx="11130991" cy="1654048"/>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a) About 30</a:t>
            </a:r>
          </a:p>
          <a:p>
            <a:pPr>
              <a:spcAft>
                <a:spcPts val="800"/>
              </a:spcAft>
            </a:pPr>
            <a:r>
              <a:rPr sz="1600" b="0" i="0">
                <a:solidFill>
                  <a:srgbClr val="1A1440"/>
                </a:solidFill>
                <a:latin typeface="Calibri"/>
              </a:rPr>
              <a:t>b) About 100</a:t>
            </a:r>
          </a:p>
          <a:p>
            <a:pPr>
              <a:spcAft>
                <a:spcPts val="800"/>
              </a:spcAft>
            </a:pPr>
            <a:r>
              <a:rPr sz="1600" b="0" i="0">
                <a:solidFill>
                  <a:srgbClr val="1A1440"/>
                </a:solidFill>
                <a:latin typeface="Calibri"/>
              </a:rPr>
              <a:t>c) About 180</a:t>
            </a:r>
          </a:p>
          <a:p>
            <a:pPr>
              <a:spcAft>
                <a:spcPts val="800"/>
              </a:spcAft>
            </a:pPr>
            <a:r>
              <a:rPr sz="1600" b="0" i="0">
                <a:solidFill>
                  <a:srgbClr val="1A1440"/>
                </a:solidFill>
                <a:latin typeface="Calibri"/>
              </a:rPr>
              <a:t>d) About 400</a:t>
            </a:r>
          </a:p>
        </p:txBody>
      </p:sp>
      <p:sp>
        <p:nvSpPr>
          <p:cNvPr id="10" name="TextBox 9"/>
          <p:cNvSpPr txBox="1"/>
          <p:nvPr/>
        </p:nvSpPr>
        <p:spPr>
          <a:xfrm>
            <a:off x="530352" y="6437376"/>
            <a:ext cx="256032" cy="152146"/>
          </a:xfrm>
          <a:prstGeom prst="rect">
            <a:avLst/>
          </a:prstGeom>
          <a:noFill/>
        </p:spPr>
        <p:txBody>
          <a:bodyPr wrap="square" anchor="t" lIns="0" rIns="0" tIns="0" bIns="0">
            <a:spAutoFit/>
          </a:bodyPr>
          <a:lstStyle/>
          <a:p>
            <a:pPr algn="l"/>
            <a:r>
              <a:rPr sz="700" b="0" i="0">
                <a:solidFill>
                  <a:srgbClr val="6B6690"/>
                </a:solidFill>
                <a:latin typeface="Calibri"/>
              </a:rPr>
              <a:t>…</a:t>
            </a:r>
          </a:p>
        </p:txBody>
      </p:sp>
      <p:sp>
        <p:nvSpPr>
          <p:cNvPr id="11" name="Oval 10"/>
          <p:cNvSpPr/>
          <p:nvPr/>
        </p:nvSpPr>
        <p:spPr>
          <a:xfrm>
            <a:off x="78638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96112"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Which number warns?</a:t>
            </a:r>
          </a:p>
        </p:txBody>
      </p:sp>
      <p:sp>
        <p:nvSpPr>
          <p:cNvPr id="13" name="Oval 12"/>
          <p:cNvSpPr/>
          <p:nvPr/>
        </p:nvSpPr>
        <p:spPr>
          <a:xfrm>
            <a:off x="213598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2245709"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Which four lines?</a:t>
            </a:r>
          </a:p>
        </p:txBody>
      </p:sp>
      <p:sp>
        <p:nvSpPr>
          <p:cNvPr id="15" name="Oval 14"/>
          <p:cNvSpPr/>
          <p:nvPr/>
        </p:nvSpPr>
        <p:spPr>
          <a:xfrm>
            <a:off x="339356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3503295"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How is a number gamed?</a:t>
            </a:r>
          </a:p>
        </p:txBody>
      </p:sp>
      <p:sp>
        <p:nvSpPr>
          <p:cNvPr id="17" name="Oval 16"/>
          <p:cNvSpPr/>
          <p:nvPr/>
        </p:nvSpPr>
        <p:spPr>
          <a:xfrm>
            <a:off x="488118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4990909"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the page hold?</a:t>
            </a:r>
          </a:p>
        </p:txBody>
      </p:sp>
      <p:sp>
        <p:nvSpPr>
          <p:cNvPr id="19" name="Oval 18"/>
          <p:cNvSpPr/>
          <p:nvPr/>
        </p:nvSpPr>
        <p:spPr>
          <a:xfrm>
            <a:off x="646080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570535"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an hour count?</a:t>
            </a:r>
          </a:p>
        </p:txBody>
      </p:sp>
      <p:sp>
        <p:nvSpPr>
          <p:cNvPr id="21" name="Oval 20"/>
          <p:cNvSpPr/>
          <p:nvPr/>
        </p:nvSpPr>
        <p:spPr>
          <a:xfrm>
            <a:off x="8040433"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8150161" y="6437376"/>
            <a:ext cx="1332452" cy="152146"/>
          </a:xfrm>
          <a:prstGeom prst="rect">
            <a:avLst/>
          </a:prstGeom>
          <a:noFill/>
        </p:spPr>
        <p:txBody>
          <a:bodyPr wrap="square" anchor="t" lIns="0" rIns="0" tIns="0" bIns="0">
            <a:spAutoFit/>
          </a:bodyPr>
          <a:lstStyle/>
          <a:p>
            <a:pPr algn="l"/>
            <a:r>
              <a:rPr sz="700" b="1" i="0">
                <a:solidFill>
                  <a:srgbClr val="5B3FD6"/>
                </a:solidFill>
                <a:latin typeface="Calibri"/>
              </a:rPr>
              <a:t>Where did the fall sit?</a:t>
            </a:r>
          </a:p>
        </p:txBody>
      </p:sp>
      <p:sp>
        <p:nvSpPr>
          <p:cNvPr id="23" name="Oval 22"/>
          <p:cNvSpPr/>
          <p:nvPr/>
        </p:nvSpPr>
        <p:spPr>
          <a:xfrm>
            <a:off x="957405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9683781"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should it pay for?</a:t>
            </a:r>
          </a:p>
        </p:txBody>
      </p:sp>
      <p:sp>
        <p:nvSpPr>
          <p:cNvPr id="25" name="TextBox 24"/>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S71  ·  79 / 93</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MONDAY  ·  BUSINESS METRIC DESIGN  ·  UBER, HYDERABAD</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Answer: 180 drivers, more hours, fewer trips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Who are they, what did their hours and trips do, and where were they online?</a:t>
            </a:r>
          </a:p>
        </p:txBody>
      </p:sp>
      <p:pic>
        <p:nvPicPr>
          <p:cNvPr id="9" name="mermaid diagram" descr="C2_W04_D01_idle_tail_STUDENT.png"/>
          <p:cNvPicPr>
            <a:picLocks noChangeAspect="1"/>
          </p:cNvPicPr>
          <p:nvPr/>
        </p:nvPicPr>
        <p:blipFill>
          <a:blip r:embed="rId4"/>
          <a:stretch>
            <a:fillRect/>
          </a:stretch>
        </p:blipFill>
        <p:spPr>
          <a:xfrm>
            <a:off x="2863274" y="1664208"/>
            <a:ext cx="6465146" cy="2951480"/>
          </a:xfrm>
          <a:prstGeom prst="rect">
            <a:avLst/>
          </a:prstGeom>
        </p:spPr>
      </p:pic>
      <p:sp>
        <p:nvSpPr>
          <p:cNvPr id="10" name="picture caption"/>
          <p:cNvSpPr txBox="1"/>
          <p:nvPr/>
        </p:nvSpPr>
        <p:spPr>
          <a:xfrm>
            <a:off x="530352" y="4652264"/>
            <a:ext cx="11130991" cy="316992"/>
          </a:xfrm>
          <a:prstGeom prst="rect">
            <a:avLst/>
          </a:prstGeom>
          <a:noFill/>
        </p:spPr>
        <p:txBody>
          <a:bodyPr wrap="square" anchor="t" lIns="0" rIns="0" tIns="0" bIns="0">
            <a:spAutoFit/>
          </a:bodyPr>
          <a:lstStyle/>
          <a:p>
            <a:pPr algn="ctr"/>
            <a:r>
              <a:rPr sz="1200" b="0" i="0">
                <a:solidFill>
                  <a:srgbClr val="6B6690"/>
                </a:solidFill>
                <a:latin typeface="Calibri"/>
              </a:rPr>
              <a:t>After the launch, every driver-week by hours and trips; the idle tail sits far right and low</a:t>
            </a:r>
          </a:p>
        </p:txBody>
      </p:sp>
      <p:sp>
        <p:nvSpPr>
          <p:cNvPr id="11" name="Rounded Rectangle 10"/>
          <p:cNvSpPr/>
          <p:nvPr/>
        </p:nvSpPr>
        <p:spPr>
          <a:xfrm>
            <a:off x="530352" y="4978400"/>
            <a:ext cx="11130991" cy="105664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ounded Rectangle 11"/>
          <p:cNvSpPr/>
          <p:nvPr/>
        </p:nvSpPr>
        <p:spPr>
          <a:xfrm>
            <a:off x="676656" y="5106416"/>
            <a:ext cx="45720" cy="80060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877824" y="5097272"/>
            <a:ext cx="10564063" cy="873760"/>
          </a:xfrm>
          <a:prstGeom prst="rect">
            <a:avLst/>
          </a:prstGeom>
          <a:noFill/>
        </p:spPr>
        <p:txBody>
          <a:bodyPr wrap="square" anchor="ctr" lIns="0" rIns="0" tIns="0" bIns="0">
            <a:spAutoFit/>
          </a:bodyPr>
          <a:lstStyle/>
          <a:p>
            <a:r>
              <a:rPr sz="1100" b="1">
                <a:solidFill>
                  <a:srgbClr val="5B3FD6"/>
                </a:solidFill>
                <a:latin typeface="Calibri"/>
              </a:rPr>
              <a:t>Answer: c. </a:t>
            </a:r>
            <a:r>
              <a:rPr sz="1100" b="0" i="0">
                <a:solidFill>
                  <a:srgbClr val="1A1440"/>
                </a:solidFill>
                <a:latin typeface="Calibri"/>
              </a:rPr>
              <a:t>180 drivers, 15 percent of the city: the </a:t>
            </a:r>
            <a:r>
              <a:rPr sz="1100" b="1" i="0">
                <a:solidFill>
                  <a:srgbClr val="1A1440"/>
                </a:solidFill>
                <a:latin typeface="Calibri"/>
              </a:rPr>
              <a:t>idle tail</a:t>
            </a:r>
            <a:r>
              <a:rPr sz="1100" b="0" i="0">
                <a:solidFill>
                  <a:srgbClr val="1A1440"/>
                </a:solidFill>
                <a:latin typeface="Calibri"/>
              </a:rPr>
              <a:t>, named for the long online hours in which they completed few trips. Their hours went to 2.1 times their level before the launch while their trips fell 12 percent, and 72 percent of their new hours were in the outer zones. Each dot is one driver-week. Most of the tail sits far right and low, at about 39 hours a week; E's and F's weeks sit apart at the bottom left, short weeks with almost no trips, the extreme of the 180, which is why the six fall further than the city.</a:t>
            </a:r>
          </a:p>
        </p:txBody>
      </p:sp>
      <p:sp>
        <p:nvSpPr>
          <p:cNvPr id="14" name="TextBox 13"/>
          <p:cNvSpPr txBox="1"/>
          <p:nvPr/>
        </p:nvSpPr>
        <p:spPr>
          <a:xfrm>
            <a:off x="530352" y="6437376"/>
            <a:ext cx="256032" cy="152146"/>
          </a:xfrm>
          <a:prstGeom prst="rect">
            <a:avLst/>
          </a:prstGeom>
          <a:noFill/>
        </p:spPr>
        <p:txBody>
          <a:bodyPr wrap="square" anchor="t" lIns="0" rIns="0" tIns="0" bIns="0">
            <a:spAutoFit/>
          </a:bodyPr>
          <a:lstStyle/>
          <a:p>
            <a:pPr algn="l"/>
            <a:r>
              <a:rPr sz="700" b="0" i="0">
                <a:solidFill>
                  <a:srgbClr val="6B6690"/>
                </a:solidFill>
                <a:latin typeface="Calibri"/>
              </a:rPr>
              <a:t>…</a:t>
            </a:r>
          </a:p>
        </p:txBody>
      </p:sp>
      <p:sp>
        <p:nvSpPr>
          <p:cNvPr id="15" name="Oval 14"/>
          <p:cNvSpPr/>
          <p:nvPr/>
        </p:nvSpPr>
        <p:spPr>
          <a:xfrm>
            <a:off x="78638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896112"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Which number warns?</a:t>
            </a:r>
          </a:p>
        </p:txBody>
      </p:sp>
      <p:sp>
        <p:nvSpPr>
          <p:cNvPr id="17" name="Oval 16"/>
          <p:cNvSpPr/>
          <p:nvPr/>
        </p:nvSpPr>
        <p:spPr>
          <a:xfrm>
            <a:off x="213598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2245709"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Which four lines?</a:t>
            </a:r>
          </a:p>
        </p:txBody>
      </p:sp>
      <p:sp>
        <p:nvSpPr>
          <p:cNvPr id="19" name="Oval 18"/>
          <p:cNvSpPr/>
          <p:nvPr/>
        </p:nvSpPr>
        <p:spPr>
          <a:xfrm>
            <a:off x="339356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3503295"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How is a number gamed?</a:t>
            </a:r>
          </a:p>
        </p:txBody>
      </p:sp>
      <p:sp>
        <p:nvSpPr>
          <p:cNvPr id="21" name="Oval 20"/>
          <p:cNvSpPr/>
          <p:nvPr/>
        </p:nvSpPr>
        <p:spPr>
          <a:xfrm>
            <a:off x="488118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4990909"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the page hold?</a:t>
            </a:r>
          </a:p>
        </p:txBody>
      </p:sp>
      <p:sp>
        <p:nvSpPr>
          <p:cNvPr id="23" name="Oval 22"/>
          <p:cNvSpPr/>
          <p:nvPr/>
        </p:nvSpPr>
        <p:spPr>
          <a:xfrm>
            <a:off x="646080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6570535"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an hour count?</a:t>
            </a:r>
          </a:p>
        </p:txBody>
      </p:sp>
      <p:sp>
        <p:nvSpPr>
          <p:cNvPr id="25" name="Oval 24"/>
          <p:cNvSpPr/>
          <p:nvPr/>
        </p:nvSpPr>
        <p:spPr>
          <a:xfrm>
            <a:off x="8040433"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8150161" y="6437376"/>
            <a:ext cx="1332452" cy="152146"/>
          </a:xfrm>
          <a:prstGeom prst="rect">
            <a:avLst/>
          </a:prstGeom>
          <a:noFill/>
        </p:spPr>
        <p:txBody>
          <a:bodyPr wrap="square" anchor="t" lIns="0" rIns="0" tIns="0" bIns="0">
            <a:spAutoFit/>
          </a:bodyPr>
          <a:lstStyle/>
          <a:p>
            <a:pPr algn="l"/>
            <a:r>
              <a:rPr sz="700" b="1" i="0">
                <a:solidFill>
                  <a:srgbClr val="5B3FD6"/>
                </a:solidFill>
                <a:latin typeface="Calibri"/>
              </a:rPr>
              <a:t>Where did the fall sit?</a:t>
            </a:r>
          </a:p>
        </p:txBody>
      </p:sp>
      <p:sp>
        <p:nvSpPr>
          <p:cNvPr id="27" name="Oval 26"/>
          <p:cNvSpPr/>
          <p:nvPr/>
        </p:nvSpPr>
        <p:spPr>
          <a:xfrm>
            <a:off x="957405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9683781"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should it pay for?</a:t>
            </a:r>
          </a:p>
        </p:txBody>
      </p:sp>
      <p:sp>
        <p:nvSpPr>
          <p:cNvPr id="29" name="TextBox 28"/>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S72  ·  80 / 93</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MONDAY  ·  BUSINESS METRIC DESIGN  ·  UBER, HYDERABAD</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Close: hours rose where riders were few</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has chapter 8 answered, and what does the board now hold?</a:t>
            </a:r>
          </a:p>
        </p:txBody>
      </p:sp>
      <p:pic>
        <p:nvPicPr>
          <p:cNvPr id="9" name="mermaid diagram" descr="8a6216b8701bc2de.png"/>
          <p:cNvPicPr>
            <a:picLocks noChangeAspect="1"/>
          </p:cNvPicPr>
          <p:nvPr/>
        </p:nvPicPr>
        <p:blipFill>
          <a:blip r:embed="rId5"/>
          <a:stretch>
            <a:fillRect/>
          </a:stretch>
        </p:blipFill>
        <p:spPr>
          <a:xfrm>
            <a:off x="2823601" y="1664208"/>
            <a:ext cx="6544491" cy="2545080"/>
          </a:xfrm>
          <a:prstGeom prst="rect">
            <a:avLst/>
          </a:prstGeom>
        </p:spPr>
      </p:pic>
      <p:sp>
        <p:nvSpPr>
          <p:cNvPr id="10" name="Rounded Rectangle 9"/>
          <p:cNvSpPr/>
          <p:nvPr/>
        </p:nvSpPr>
        <p:spPr>
          <a:xfrm>
            <a:off x="530352" y="4255008"/>
            <a:ext cx="11130991" cy="8077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676656" y="4383024"/>
            <a:ext cx="45720" cy="5516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7824" y="4373880"/>
            <a:ext cx="10564063" cy="624840"/>
          </a:xfrm>
          <a:prstGeom prst="rect">
            <a:avLst/>
          </a:prstGeom>
          <a:noFill/>
        </p:spPr>
        <p:txBody>
          <a:bodyPr wrap="square" anchor="ctr" lIns="0" rIns="0" tIns="0" bIns="0">
            <a:spAutoFit/>
          </a:bodyPr>
          <a:lstStyle/>
          <a:p>
            <a:r>
              <a:rPr sz="1500" b="1">
                <a:solidFill>
                  <a:srgbClr val="5B3FD6"/>
                </a:solidFill>
                <a:latin typeface="Calibri"/>
              </a:rPr>
              <a:t>The crux. </a:t>
            </a:r>
            <a:r>
              <a:rPr sz="1500" b="0" i="0">
                <a:solidFill>
                  <a:srgbClr val="1A1440"/>
                </a:solidFill>
                <a:latin typeface="Calibri"/>
              </a:rPr>
              <a:t>The city's rate is two sums divided once, with its denominator named; the city's 1.90 to 1.58 is real, demand rose, and 180 drivers sitting online in thin zones carry the fall.</a:t>
            </a:r>
          </a:p>
        </p:txBody>
      </p:sp>
      <p:sp>
        <p:nvSpPr>
          <p:cNvPr id="13" name="Rounded Rectangle 12"/>
          <p:cNvSpPr/>
          <p:nvPr/>
        </p:nvSpPr>
        <p:spPr>
          <a:xfrm>
            <a:off x="530352" y="5227320"/>
            <a:ext cx="11130991" cy="8077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ounded Rectangle 13"/>
          <p:cNvSpPr/>
          <p:nvPr/>
        </p:nvSpPr>
        <p:spPr>
          <a:xfrm>
            <a:off x="676656" y="5355336"/>
            <a:ext cx="45720" cy="5516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77824" y="5346192"/>
            <a:ext cx="10564063" cy="624840"/>
          </a:xfrm>
          <a:prstGeom prst="rect">
            <a:avLst/>
          </a:prstGeom>
          <a:noFill/>
        </p:spPr>
        <p:txBody>
          <a:bodyPr wrap="square" anchor="ctr" lIns="0" rIns="0" tIns="0" bIns="0">
            <a:spAutoFit/>
          </a:bodyPr>
          <a:lstStyle/>
          <a:p>
            <a:r>
              <a:rPr sz="1500" b="1">
                <a:solidFill>
                  <a:srgbClr val="5B3FD6"/>
                </a:solidFill>
                <a:latin typeface="Calibri"/>
              </a:rPr>
              <a:t>The senior analyst's check. </a:t>
            </a:r>
            <a:r>
              <a:rPr sz="1500" b="0" i="0">
                <a:solidFill>
                  <a:srgbClr val="1A1440"/>
                </a:solidFill>
                <a:latin typeface="Calibri"/>
              </a:rPr>
              <a:t>Baseline (1.90), denominator (online hours), evidence from a second table (requests rose 1.8 percent), and the segment reached a second way (acceptance finds the same 180).</a:t>
            </a:r>
          </a:p>
        </p:txBody>
      </p:sp>
      <p:sp>
        <p:nvSpPr>
          <p:cNvPr id="16" name="TextBox 15"/>
          <p:cNvSpPr txBox="1"/>
          <p:nvPr/>
        </p:nvSpPr>
        <p:spPr>
          <a:xfrm>
            <a:off x="530352" y="6437376"/>
            <a:ext cx="256032" cy="152146"/>
          </a:xfrm>
          <a:prstGeom prst="rect">
            <a:avLst/>
          </a:prstGeom>
          <a:noFill/>
        </p:spPr>
        <p:txBody>
          <a:bodyPr wrap="square" anchor="t" lIns="0" rIns="0" tIns="0" bIns="0">
            <a:spAutoFit/>
          </a:bodyPr>
          <a:lstStyle/>
          <a:p>
            <a:pPr algn="l"/>
            <a:r>
              <a:rPr sz="700" b="0" i="0">
                <a:solidFill>
                  <a:srgbClr val="6B6690"/>
                </a:solidFill>
                <a:latin typeface="Calibri"/>
              </a:rPr>
              <a:t>…</a:t>
            </a:r>
          </a:p>
        </p:txBody>
      </p:sp>
      <p:sp>
        <p:nvSpPr>
          <p:cNvPr id="17" name="Oval 16"/>
          <p:cNvSpPr/>
          <p:nvPr/>
        </p:nvSpPr>
        <p:spPr>
          <a:xfrm>
            <a:off x="78638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96112"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Which number warns?</a:t>
            </a:r>
          </a:p>
        </p:txBody>
      </p:sp>
      <p:sp>
        <p:nvSpPr>
          <p:cNvPr id="19" name="Oval 18"/>
          <p:cNvSpPr/>
          <p:nvPr/>
        </p:nvSpPr>
        <p:spPr>
          <a:xfrm>
            <a:off x="213598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2245709"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Which four lines?</a:t>
            </a:r>
          </a:p>
        </p:txBody>
      </p:sp>
      <p:sp>
        <p:nvSpPr>
          <p:cNvPr id="21" name="Oval 20"/>
          <p:cNvSpPr/>
          <p:nvPr/>
        </p:nvSpPr>
        <p:spPr>
          <a:xfrm>
            <a:off x="339356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3503295"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How is a number gamed?</a:t>
            </a:r>
          </a:p>
        </p:txBody>
      </p:sp>
      <p:sp>
        <p:nvSpPr>
          <p:cNvPr id="23" name="Oval 22"/>
          <p:cNvSpPr/>
          <p:nvPr/>
        </p:nvSpPr>
        <p:spPr>
          <a:xfrm>
            <a:off x="488118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4990909"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the page hold?</a:t>
            </a:r>
          </a:p>
        </p:txBody>
      </p:sp>
      <p:sp>
        <p:nvSpPr>
          <p:cNvPr id="25" name="Oval 24"/>
          <p:cNvSpPr/>
          <p:nvPr/>
        </p:nvSpPr>
        <p:spPr>
          <a:xfrm>
            <a:off x="646080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6570535"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an hour count?</a:t>
            </a:r>
          </a:p>
        </p:txBody>
      </p:sp>
      <p:sp>
        <p:nvSpPr>
          <p:cNvPr id="27" name="Oval 26"/>
          <p:cNvSpPr/>
          <p:nvPr/>
        </p:nvSpPr>
        <p:spPr>
          <a:xfrm>
            <a:off x="8040433"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8150161" y="6437376"/>
            <a:ext cx="1332452" cy="152146"/>
          </a:xfrm>
          <a:prstGeom prst="rect">
            <a:avLst/>
          </a:prstGeom>
          <a:noFill/>
        </p:spPr>
        <p:txBody>
          <a:bodyPr wrap="square" anchor="t" lIns="0" rIns="0" tIns="0" bIns="0">
            <a:spAutoFit/>
          </a:bodyPr>
          <a:lstStyle/>
          <a:p>
            <a:pPr algn="l"/>
            <a:r>
              <a:rPr sz="700" b="1" i="0">
                <a:solidFill>
                  <a:srgbClr val="5B3FD6"/>
                </a:solidFill>
                <a:latin typeface="Calibri"/>
              </a:rPr>
              <a:t>Where did the fall sit?</a:t>
            </a:r>
          </a:p>
        </p:txBody>
      </p:sp>
      <p:sp>
        <p:nvSpPr>
          <p:cNvPr id="29" name="Oval 28"/>
          <p:cNvSpPr/>
          <p:nvPr/>
        </p:nvSpPr>
        <p:spPr>
          <a:xfrm>
            <a:off x="957405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9683781"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should it pay for?</a:t>
            </a:r>
          </a:p>
        </p:txBody>
      </p:sp>
      <p:sp>
        <p:nvSpPr>
          <p:cNvPr id="31" name="TextBox 30"/>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S73  ·  81 / 93</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dark.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FFFFFF"/>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CFC9EE"/>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CFC9EE"/>
                </a:solidFill>
                <a:latin typeface="Calibri"/>
              </a:rPr>
              <a:t>PG DIPLOMA IN AI-ML AND AGENTIC AI ENGINEERING  ·  COHORT 2</a:t>
            </a:r>
          </a:p>
        </p:txBody>
      </p:sp>
      <p:sp>
        <p:nvSpPr>
          <p:cNvPr id="7" name="TextBox 6"/>
          <p:cNvSpPr txBox="1"/>
          <p:nvPr/>
        </p:nvSpPr>
        <p:spPr>
          <a:xfrm>
            <a:off x="731519" y="1143000"/>
            <a:ext cx="3657600" cy="1371600"/>
          </a:xfrm>
          <a:prstGeom prst="rect">
            <a:avLst/>
          </a:prstGeom>
          <a:noFill/>
        </p:spPr>
        <p:txBody>
          <a:bodyPr wrap="square" anchor="t" lIns="0" rIns="0" tIns="0" bIns="0">
            <a:spAutoFit/>
          </a:bodyPr>
          <a:lstStyle/>
          <a:p>
            <a:pPr algn="l"/>
            <a:r>
              <a:rPr sz="9600" b="0" i="0">
                <a:solidFill>
                  <a:srgbClr val="D9A7FF"/>
                </a:solidFill>
                <a:latin typeface="Georgia"/>
              </a:rPr>
              <a:t>09</a:t>
            </a:r>
          </a:p>
        </p:txBody>
      </p:sp>
      <p:sp>
        <p:nvSpPr>
          <p:cNvPr id="8" name="TextBox 7"/>
          <p:cNvSpPr txBox="1"/>
          <p:nvPr/>
        </p:nvSpPr>
        <p:spPr>
          <a:xfrm>
            <a:off x="731519" y="2542032"/>
            <a:ext cx="10673791" cy="317246"/>
          </a:xfrm>
          <a:prstGeom prst="rect">
            <a:avLst/>
          </a:prstGeom>
          <a:noFill/>
        </p:spPr>
        <p:txBody>
          <a:bodyPr wrap="square" anchor="t" lIns="0" rIns="0" tIns="0" bIns="0">
            <a:spAutoFit/>
          </a:bodyPr>
          <a:lstStyle/>
          <a:p>
            <a:pPr algn="l"/>
            <a:r>
              <a:rPr sz="1700" b="1" i="0">
                <a:solidFill>
                  <a:srgbClr val="D9A7FF"/>
                </a:solidFill>
                <a:latin typeface="Calibri"/>
              </a:rPr>
              <a:t>The redesign's north star, guardrails, leading inputs, resistant lines and seven-line page</a:t>
            </a:r>
          </a:p>
        </p:txBody>
      </p:sp>
      <p:sp>
        <p:nvSpPr>
          <p:cNvPr id="9" name="TextBox 8"/>
          <p:cNvSpPr txBox="1"/>
          <p:nvPr/>
        </p:nvSpPr>
        <p:spPr>
          <a:xfrm>
            <a:off x="731519" y="3017520"/>
            <a:ext cx="10673791" cy="731520"/>
          </a:xfrm>
          <a:prstGeom prst="rect">
            <a:avLst/>
          </a:prstGeom>
          <a:noFill/>
        </p:spPr>
        <p:txBody>
          <a:bodyPr wrap="square" anchor="t" lIns="0" rIns="0" tIns="0" bIns="0">
            <a:spAutoFit/>
          </a:bodyPr>
          <a:lstStyle/>
          <a:p>
            <a:pPr algn="l"/>
            <a:r>
              <a:rPr sz="4000" b="0" i="0">
                <a:solidFill>
                  <a:srgbClr val="FFFFFF"/>
                </a:solidFill>
                <a:latin typeface="Georgia"/>
              </a:rPr>
              <a:t>What should it pay for?</a:t>
            </a:r>
          </a:p>
        </p:txBody>
      </p:sp>
      <p:sp>
        <p:nvSpPr>
          <p:cNvPr id="10" name="TextBox 9"/>
          <p:cNvSpPr txBox="1"/>
          <p:nvPr/>
        </p:nvSpPr>
        <p:spPr>
          <a:xfrm>
            <a:off x="731519" y="3931920"/>
            <a:ext cx="9509760" cy="779526"/>
          </a:xfrm>
          <a:prstGeom prst="rect">
            <a:avLst/>
          </a:prstGeom>
          <a:noFill/>
        </p:spPr>
        <p:txBody>
          <a:bodyPr wrap="square" anchor="t" lIns="0" rIns="0" tIns="0" bIns="0">
            <a:spAutoFit/>
          </a:bodyPr>
          <a:lstStyle/>
          <a:p>
            <a:pPr algn="l"/>
            <a:r>
              <a:rPr sz="1500" b="0" i="0">
                <a:solidFill>
                  <a:srgbClr val="E4E1F1"/>
                </a:solidFill>
                <a:latin typeface="Calibri"/>
              </a:rPr>
              <a:t>Applies the north star and guardrails (chapter 2), the leading inputs (chapter 3), the lines that resist gaming (chapter 5) and the seven-line page (chapter 6) to the redesign, before the city head decides on Friday.</a:t>
            </a:r>
          </a:p>
        </p:txBody>
      </p:sp>
      <p:sp>
        <p:nvSpPr>
          <p:cNvPr id="11" name="Rounded Rectangle 10"/>
          <p:cNvSpPr/>
          <p:nvPr/>
        </p:nvSpPr>
        <p:spPr>
          <a:xfrm>
            <a:off x="731519" y="5074920"/>
            <a:ext cx="1082213"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What is a number for?</a:t>
            </a:r>
          </a:p>
        </p:txBody>
      </p:sp>
      <p:sp>
        <p:nvSpPr>
          <p:cNvPr id="12" name="Rounded Rectangle 11"/>
          <p:cNvSpPr/>
          <p:nvPr/>
        </p:nvSpPr>
        <p:spPr>
          <a:xfrm>
            <a:off x="1923461" y="5074920"/>
            <a:ext cx="1122034"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Which number to chase?</a:t>
            </a:r>
          </a:p>
        </p:txBody>
      </p:sp>
      <p:sp>
        <p:nvSpPr>
          <p:cNvPr id="13" name="Rounded Rectangle 12"/>
          <p:cNvSpPr/>
          <p:nvPr/>
        </p:nvSpPr>
        <p:spPr>
          <a:xfrm>
            <a:off x="3155223" y="5074920"/>
            <a:ext cx="1002570"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Which number warns?</a:t>
            </a:r>
          </a:p>
        </p:txBody>
      </p:sp>
      <p:sp>
        <p:nvSpPr>
          <p:cNvPr id="14" name="Rounded Rectangle 13"/>
          <p:cNvSpPr/>
          <p:nvPr/>
        </p:nvSpPr>
        <p:spPr>
          <a:xfrm>
            <a:off x="4267522" y="5074920"/>
            <a:ext cx="922927"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Which four lines?</a:t>
            </a:r>
          </a:p>
        </p:txBody>
      </p:sp>
      <p:sp>
        <p:nvSpPr>
          <p:cNvPr id="15" name="Rounded Rectangle 14"/>
          <p:cNvSpPr/>
          <p:nvPr/>
        </p:nvSpPr>
        <p:spPr>
          <a:xfrm>
            <a:off x="5300178" y="5074920"/>
            <a:ext cx="1122034"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How is a number gamed?</a:t>
            </a:r>
          </a:p>
        </p:txBody>
      </p:sp>
      <p:sp>
        <p:nvSpPr>
          <p:cNvPr id="16" name="Rounded Rectangle 15"/>
          <p:cNvSpPr/>
          <p:nvPr/>
        </p:nvSpPr>
        <p:spPr>
          <a:xfrm>
            <a:off x="6531940" y="5074920"/>
            <a:ext cx="1201677"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What does the page hold?</a:t>
            </a:r>
          </a:p>
        </p:txBody>
      </p:sp>
      <p:sp>
        <p:nvSpPr>
          <p:cNvPr id="17" name="Rounded Rectangle 16"/>
          <p:cNvSpPr/>
          <p:nvPr/>
        </p:nvSpPr>
        <p:spPr>
          <a:xfrm>
            <a:off x="7843346" y="5074920"/>
            <a:ext cx="1201677"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What does an hour count?</a:t>
            </a:r>
          </a:p>
        </p:txBody>
      </p:sp>
      <p:sp>
        <p:nvSpPr>
          <p:cNvPr id="18" name="Rounded Rectangle 17"/>
          <p:cNvSpPr/>
          <p:nvPr/>
        </p:nvSpPr>
        <p:spPr>
          <a:xfrm>
            <a:off x="9154751" y="5074920"/>
            <a:ext cx="1161855"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Where did the fall sit?</a:t>
            </a:r>
          </a:p>
        </p:txBody>
      </p:sp>
      <p:sp>
        <p:nvSpPr>
          <p:cNvPr id="19" name="Rounded Rectangle 18"/>
          <p:cNvSpPr/>
          <p:nvPr/>
        </p:nvSpPr>
        <p:spPr>
          <a:xfrm>
            <a:off x="10426335" y="5074920"/>
            <a:ext cx="1161855" cy="310896"/>
          </a:xfrm>
          <a:prstGeom prst="roundRect">
            <a:avLst>
              <a:gd name="adj" fmla="val 50000"/>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1">
                <a:solidFill>
                  <a:srgbClr val="1A0F5C"/>
                </a:solidFill>
                <a:latin typeface="Calibri"/>
              </a:rPr>
              <a:t>What should it pay for?</a:t>
            </a:r>
          </a:p>
        </p:txBody>
      </p:sp>
      <p:sp>
        <p:nvSpPr>
          <p:cNvPr id="20" name="TextBox 19"/>
          <p:cNvSpPr txBox="1"/>
          <p:nvPr/>
        </p:nvSpPr>
        <p:spPr>
          <a:xfrm>
            <a:off x="530352" y="6437376"/>
            <a:ext cx="9667951" cy="160401"/>
          </a:xfrm>
          <a:prstGeom prst="rect">
            <a:avLst/>
          </a:prstGeom>
          <a:noFill/>
        </p:spPr>
        <p:txBody>
          <a:bodyPr wrap="square" anchor="t" lIns="0" rIns="0" tIns="0" bIns="0">
            <a:spAutoFit/>
          </a:bodyPr>
          <a:lstStyle/>
          <a:p>
            <a:pPr algn="l"/>
            <a:r>
              <a:rPr sz="750" b="0" i="0">
                <a:solidFill>
                  <a:srgbClr val="CFC9EE"/>
                </a:solidFill>
                <a:latin typeface="Calibri"/>
              </a:rPr>
              <a:t>Week 4, Day 1. Business metric design: which number should the plan chase, and what stops it being gamed?</a:t>
            </a:r>
          </a:p>
        </p:txBody>
      </p:sp>
      <p:sp>
        <p:nvSpPr>
          <p:cNvPr id="21" name="TextBox 20"/>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CFC9EE"/>
                </a:solidFill>
                <a:latin typeface="Calibri"/>
              </a:rPr>
              <a:t>82 / 93</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MONDAY  ·  BUSINESS METRIC DESIGN  ·  UBER, HYDERABAD</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redesign applies chapters 2, 3, 5 and 6</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Who needs the answer, and which questions lead to it?</a:t>
            </a:r>
          </a:p>
        </p:txBody>
      </p:sp>
      <p:sp>
        <p:nvSpPr>
          <p:cNvPr id="9" name="Rounded Rectangle 8"/>
          <p:cNvSpPr/>
          <p:nvPr/>
        </p:nvSpPr>
        <p:spPr>
          <a:xfrm>
            <a:off x="530352" y="1853438"/>
            <a:ext cx="11130991" cy="8077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unded Rectangle 9"/>
          <p:cNvSpPr/>
          <p:nvPr/>
        </p:nvSpPr>
        <p:spPr>
          <a:xfrm>
            <a:off x="676656" y="1981454"/>
            <a:ext cx="45720" cy="5516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77824" y="1972310"/>
            <a:ext cx="10564063" cy="624840"/>
          </a:xfrm>
          <a:prstGeom prst="rect">
            <a:avLst/>
          </a:prstGeom>
          <a:noFill/>
        </p:spPr>
        <p:txBody>
          <a:bodyPr wrap="square" anchor="ctr" lIns="0" rIns="0" tIns="0" bIns="0">
            <a:spAutoFit/>
          </a:bodyPr>
          <a:lstStyle/>
          <a:p>
            <a:r>
              <a:rPr sz="1500" b="1">
                <a:solidFill>
                  <a:srgbClr val="5B3FD6"/>
                </a:solidFill>
                <a:latin typeface="Calibri"/>
              </a:rPr>
              <a:t>Applies: </a:t>
            </a:r>
            <a:r>
              <a:rPr sz="1500" b="0" i="0">
                <a:solidFill>
                  <a:srgbClr val="1A1440"/>
                </a:solidFill>
                <a:latin typeface="Calibri"/>
              </a:rPr>
              <a:t>North-star and guardrail metrics (chapter 2); Leading against lagging indicators (chapter 3); Gaming, and definitions that resist it (chapter 5); The metric definition artifact (chapter 6).</a:t>
            </a:r>
          </a:p>
        </p:txBody>
      </p:sp>
      <p:sp>
        <p:nvSpPr>
          <p:cNvPr id="12" name="Rounded Rectangle 11"/>
          <p:cNvSpPr/>
          <p:nvPr/>
        </p:nvSpPr>
        <p:spPr>
          <a:xfrm>
            <a:off x="530352" y="2825750"/>
            <a:ext cx="11130991" cy="10744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ounded Rectangle 12"/>
          <p:cNvSpPr/>
          <p:nvPr/>
        </p:nvSpPr>
        <p:spPr>
          <a:xfrm>
            <a:off x="676656" y="2953766"/>
            <a:ext cx="45720" cy="8183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77824" y="2944622"/>
            <a:ext cx="10564063" cy="891540"/>
          </a:xfrm>
          <a:prstGeom prst="rect">
            <a:avLst/>
          </a:prstGeom>
          <a:noFill/>
        </p:spPr>
        <p:txBody>
          <a:bodyPr wrap="square" anchor="ctr" lIns="0" rIns="0" tIns="0" bIns="0">
            <a:spAutoFit/>
          </a:bodyPr>
          <a:lstStyle/>
          <a:p>
            <a:r>
              <a:rPr sz="1500" b="1">
                <a:solidFill>
                  <a:srgbClr val="5B3FD6"/>
                </a:solidFill>
                <a:latin typeface="Calibri"/>
              </a:rPr>
              <a:t>Who needs the answer. </a:t>
            </a:r>
            <a:r>
              <a:rPr sz="1500" b="0" i="0">
                <a:solidFill>
                  <a:srgbClr val="1A1440"/>
                </a:solidFill>
                <a:latin typeface="Calibri"/>
              </a:rPr>
              <a:t>The city head, who must say by Friday what the scheme pays for, and the finance partner, who holds the top-up budget: a scheme that keeps paying for hours keeps paying drivers to sit online in zones with few riders.</a:t>
            </a:r>
          </a:p>
        </p:txBody>
      </p:sp>
      <p:sp>
        <p:nvSpPr>
          <p:cNvPr id="15" name="Rectangle 14"/>
          <p:cNvSpPr/>
          <p:nvPr/>
        </p:nvSpPr>
        <p:spPr>
          <a:xfrm>
            <a:off x="1853145" y="4631690"/>
            <a:ext cx="8485403" cy="18288"/>
          </a:xfrm>
          <a:prstGeom prst="rect">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530352" y="4064762"/>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THE RULE</a:t>
            </a:r>
          </a:p>
        </p:txBody>
      </p:sp>
      <p:sp>
        <p:nvSpPr>
          <p:cNvPr id="17" name="Oval 16"/>
          <p:cNvSpPr/>
          <p:nvPr/>
        </p:nvSpPr>
        <p:spPr>
          <a:xfrm>
            <a:off x="1752561" y="4540250"/>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ounded Rectangle 17"/>
          <p:cNvSpPr/>
          <p:nvPr/>
        </p:nvSpPr>
        <p:spPr>
          <a:xfrm>
            <a:off x="530352" y="4951730"/>
            <a:ext cx="2645587"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694944" y="5098034"/>
            <a:ext cx="2316403" cy="251205"/>
          </a:xfrm>
          <a:prstGeom prst="rect">
            <a:avLst/>
          </a:prstGeom>
          <a:noFill/>
        </p:spPr>
        <p:txBody>
          <a:bodyPr wrap="square" anchor="t" lIns="0" rIns="0" tIns="0" bIns="0">
            <a:spAutoFit/>
          </a:bodyPr>
          <a:lstStyle/>
          <a:p>
            <a:pPr algn="l"/>
            <a:r>
              <a:rPr sz="1300" b="1" i="0">
                <a:solidFill>
                  <a:srgbClr val="1A0F5C"/>
                </a:solidFill>
                <a:latin typeface="Calibri"/>
              </a:rPr>
              <a:t>Which number to pay for?</a:t>
            </a:r>
          </a:p>
        </p:txBody>
      </p:sp>
      <p:sp>
        <p:nvSpPr>
          <p:cNvPr id="20" name="TextBox 19"/>
          <p:cNvSpPr txBox="1"/>
          <p:nvPr/>
        </p:nvSpPr>
        <p:spPr>
          <a:xfrm>
            <a:off x="694944" y="5385816"/>
            <a:ext cx="2316403" cy="201676"/>
          </a:xfrm>
          <a:prstGeom prst="rect">
            <a:avLst/>
          </a:prstGeom>
          <a:noFill/>
        </p:spPr>
        <p:txBody>
          <a:bodyPr wrap="square" anchor="t" lIns="0" rIns="0" tIns="0" bIns="0">
            <a:spAutoFit/>
          </a:bodyPr>
          <a:lstStyle/>
          <a:p>
            <a:pPr algn="l"/>
            <a:r>
              <a:rPr sz="1000" b="0" i="0">
                <a:solidFill>
                  <a:srgbClr val="6B6690"/>
                </a:solidFill>
                <a:latin typeface="Calibri"/>
              </a:rPr>
              <a:t>Four rules, voted.</a:t>
            </a:r>
          </a:p>
        </p:txBody>
      </p:sp>
      <p:sp>
        <p:nvSpPr>
          <p:cNvPr id="21" name="TextBox 20"/>
          <p:cNvSpPr txBox="1"/>
          <p:nvPr/>
        </p:nvSpPr>
        <p:spPr>
          <a:xfrm>
            <a:off x="3358819" y="4064762"/>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THE COST</a:t>
            </a:r>
          </a:p>
        </p:txBody>
      </p:sp>
      <p:sp>
        <p:nvSpPr>
          <p:cNvPr id="22" name="Oval 21"/>
          <p:cNvSpPr/>
          <p:nvPr/>
        </p:nvSpPr>
        <p:spPr>
          <a:xfrm>
            <a:off x="4581029" y="4540250"/>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ounded Rectangle 22"/>
          <p:cNvSpPr/>
          <p:nvPr/>
        </p:nvSpPr>
        <p:spPr>
          <a:xfrm>
            <a:off x="3358819" y="4951730"/>
            <a:ext cx="2645587"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3523411" y="5098034"/>
            <a:ext cx="2316403" cy="251205"/>
          </a:xfrm>
          <a:prstGeom prst="rect">
            <a:avLst/>
          </a:prstGeom>
          <a:noFill/>
        </p:spPr>
        <p:txBody>
          <a:bodyPr wrap="square" anchor="t" lIns="0" rIns="0" tIns="0" bIns="0">
            <a:spAutoFit/>
          </a:bodyPr>
          <a:lstStyle/>
          <a:p>
            <a:pPr algn="l"/>
            <a:r>
              <a:rPr sz="1300" b="1" i="0">
                <a:solidFill>
                  <a:srgbClr val="1A0F5C"/>
                </a:solidFill>
                <a:latin typeface="Calibri"/>
              </a:rPr>
              <a:t>What did hours cost?</a:t>
            </a:r>
          </a:p>
        </p:txBody>
      </p:sp>
      <p:sp>
        <p:nvSpPr>
          <p:cNvPr id="25" name="TextBox 24"/>
          <p:cNvSpPr txBox="1"/>
          <p:nvPr/>
        </p:nvSpPr>
        <p:spPr>
          <a:xfrm>
            <a:off x="3523411" y="5385816"/>
            <a:ext cx="2316403" cy="201676"/>
          </a:xfrm>
          <a:prstGeom prst="rect">
            <a:avLst/>
          </a:prstGeom>
          <a:noFill/>
        </p:spPr>
        <p:txBody>
          <a:bodyPr wrap="square" anchor="t" lIns="0" rIns="0" tIns="0" bIns="0">
            <a:spAutoFit/>
          </a:bodyPr>
          <a:lstStyle/>
          <a:p>
            <a:pPr algn="l"/>
            <a:r>
              <a:rPr sz="1000" b="0" i="0">
                <a:solidFill>
                  <a:srgbClr val="6B6690"/>
                </a:solidFill>
                <a:latin typeface="Calibri"/>
              </a:rPr>
              <a:t>The top-up, split at half accepted.</a:t>
            </a:r>
          </a:p>
        </p:txBody>
      </p:sp>
      <p:sp>
        <p:nvSpPr>
          <p:cNvPr id="26" name="TextBox 25"/>
          <p:cNvSpPr txBox="1"/>
          <p:nvPr/>
        </p:nvSpPr>
        <p:spPr>
          <a:xfrm>
            <a:off x="6187287" y="4064762"/>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THE PAGE</a:t>
            </a:r>
          </a:p>
        </p:txBody>
      </p:sp>
      <p:sp>
        <p:nvSpPr>
          <p:cNvPr id="27" name="Oval 26"/>
          <p:cNvSpPr/>
          <p:nvPr/>
        </p:nvSpPr>
        <p:spPr>
          <a:xfrm>
            <a:off x="7409497" y="4540250"/>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ounded Rectangle 27"/>
          <p:cNvSpPr/>
          <p:nvPr/>
        </p:nvSpPr>
        <p:spPr>
          <a:xfrm>
            <a:off x="6187287" y="4951730"/>
            <a:ext cx="2645587"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6351879" y="5098034"/>
            <a:ext cx="2316403" cy="465836"/>
          </a:xfrm>
          <a:prstGeom prst="rect">
            <a:avLst/>
          </a:prstGeom>
          <a:noFill/>
        </p:spPr>
        <p:txBody>
          <a:bodyPr wrap="square" anchor="t" lIns="0" rIns="0" tIns="0" bIns="0">
            <a:spAutoFit/>
          </a:bodyPr>
          <a:lstStyle/>
          <a:p>
            <a:pPr algn="l"/>
            <a:r>
              <a:rPr sz="1300" b="1" i="0">
                <a:solidFill>
                  <a:srgbClr val="1A0F5C"/>
                </a:solidFill>
                <a:latin typeface="Calibri"/>
              </a:rPr>
              <a:t>What do the seven lines say?</a:t>
            </a:r>
          </a:p>
        </p:txBody>
      </p:sp>
      <p:sp>
        <p:nvSpPr>
          <p:cNvPr id="30" name="TextBox 29"/>
          <p:cNvSpPr txBox="1"/>
          <p:nvPr/>
        </p:nvSpPr>
        <p:spPr>
          <a:xfrm>
            <a:off x="6351879" y="5600446"/>
            <a:ext cx="2316403" cy="366776"/>
          </a:xfrm>
          <a:prstGeom prst="rect">
            <a:avLst/>
          </a:prstGeom>
          <a:noFill/>
        </p:spPr>
        <p:txBody>
          <a:bodyPr wrap="square" anchor="t" lIns="0" rIns="0" tIns="0" bIns="0">
            <a:spAutoFit/>
          </a:bodyPr>
          <a:lstStyle/>
          <a:p>
            <a:pPr algn="l"/>
            <a:r>
              <a:rPr sz="1000" b="0" i="0">
                <a:solidFill>
                  <a:srgbClr val="6B6690"/>
                </a:solidFill>
                <a:latin typeface="Calibri"/>
              </a:rPr>
              <a:t>Chapter 6's page, filled for the city.</a:t>
            </a:r>
          </a:p>
        </p:txBody>
      </p:sp>
      <p:sp>
        <p:nvSpPr>
          <p:cNvPr id="31" name="TextBox 30"/>
          <p:cNvSpPr txBox="1"/>
          <p:nvPr/>
        </p:nvSpPr>
        <p:spPr>
          <a:xfrm>
            <a:off x="9015755" y="4064762"/>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THE DOUBTS</a:t>
            </a:r>
          </a:p>
        </p:txBody>
      </p:sp>
      <p:sp>
        <p:nvSpPr>
          <p:cNvPr id="32" name="Oval 31"/>
          <p:cNvSpPr/>
          <p:nvPr/>
        </p:nvSpPr>
        <p:spPr>
          <a:xfrm>
            <a:off x="10237965" y="4540250"/>
            <a:ext cx="201168" cy="201168"/>
          </a:xfrm>
          <a:prstGeom prst="ellipse">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ounded Rectangle 32"/>
          <p:cNvSpPr/>
          <p:nvPr/>
        </p:nvSpPr>
        <p:spPr>
          <a:xfrm>
            <a:off x="9015755" y="4951730"/>
            <a:ext cx="2645587" cy="1076960"/>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9180347" y="5098034"/>
            <a:ext cx="2316403" cy="251205"/>
          </a:xfrm>
          <a:prstGeom prst="rect">
            <a:avLst/>
          </a:prstGeom>
          <a:noFill/>
        </p:spPr>
        <p:txBody>
          <a:bodyPr wrap="square" anchor="t" lIns="0" rIns="0" tIns="0" bIns="0">
            <a:spAutoFit/>
          </a:bodyPr>
          <a:lstStyle/>
          <a:p>
            <a:pPr algn="l"/>
            <a:r>
              <a:rPr sz="1300" b="1" i="0">
                <a:solidFill>
                  <a:srgbClr val="FFFFFF"/>
                </a:solidFill>
                <a:latin typeface="Calibri"/>
              </a:rPr>
              <a:t>What can the data not show?</a:t>
            </a:r>
          </a:p>
        </p:txBody>
      </p:sp>
      <p:sp>
        <p:nvSpPr>
          <p:cNvPr id="35" name="TextBox 34"/>
          <p:cNvSpPr txBox="1"/>
          <p:nvPr/>
        </p:nvSpPr>
        <p:spPr>
          <a:xfrm>
            <a:off x="9180347" y="5385816"/>
            <a:ext cx="2316403" cy="366776"/>
          </a:xfrm>
          <a:prstGeom prst="rect">
            <a:avLst/>
          </a:prstGeom>
          <a:noFill/>
        </p:spPr>
        <p:txBody>
          <a:bodyPr wrap="square" anchor="t" lIns="0" rIns="0" tIns="0" bIns="0">
            <a:spAutoFit/>
          </a:bodyPr>
          <a:lstStyle/>
          <a:p>
            <a:pPr algn="l"/>
            <a:r>
              <a:rPr sz="1000" b="0" i="0">
                <a:solidFill>
                  <a:srgbClr val="CFC9EE"/>
                </a:solidFill>
                <a:latin typeface="Calibri"/>
              </a:rPr>
              <a:t>Each caveat and the fact that settles it.</a:t>
            </a:r>
          </a:p>
        </p:txBody>
      </p:sp>
      <p:sp>
        <p:nvSpPr>
          <p:cNvPr id="36" name="TextBox 35"/>
          <p:cNvSpPr txBox="1"/>
          <p:nvPr/>
        </p:nvSpPr>
        <p:spPr>
          <a:xfrm>
            <a:off x="530352" y="6437376"/>
            <a:ext cx="256032" cy="152146"/>
          </a:xfrm>
          <a:prstGeom prst="rect">
            <a:avLst/>
          </a:prstGeom>
          <a:noFill/>
        </p:spPr>
        <p:txBody>
          <a:bodyPr wrap="square" anchor="t" lIns="0" rIns="0" tIns="0" bIns="0">
            <a:spAutoFit/>
          </a:bodyPr>
          <a:lstStyle/>
          <a:p>
            <a:pPr algn="l"/>
            <a:r>
              <a:rPr sz="700" b="0" i="0">
                <a:solidFill>
                  <a:srgbClr val="6B6690"/>
                </a:solidFill>
                <a:latin typeface="Calibri"/>
              </a:rPr>
              <a:t>…</a:t>
            </a:r>
          </a:p>
        </p:txBody>
      </p:sp>
      <p:sp>
        <p:nvSpPr>
          <p:cNvPr id="37" name="Oval 36"/>
          <p:cNvSpPr/>
          <p:nvPr/>
        </p:nvSpPr>
        <p:spPr>
          <a:xfrm>
            <a:off x="78638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896112"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Which number warns?</a:t>
            </a:r>
          </a:p>
        </p:txBody>
      </p:sp>
      <p:sp>
        <p:nvSpPr>
          <p:cNvPr id="39" name="Oval 38"/>
          <p:cNvSpPr/>
          <p:nvPr/>
        </p:nvSpPr>
        <p:spPr>
          <a:xfrm>
            <a:off x="213598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2245709"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Which four lines?</a:t>
            </a:r>
          </a:p>
        </p:txBody>
      </p:sp>
      <p:sp>
        <p:nvSpPr>
          <p:cNvPr id="41" name="Oval 40"/>
          <p:cNvSpPr/>
          <p:nvPr/>
        </p:nvSpPr>
        <p:spPr>
          <a:xfrm>
            <a:off x="339356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3503295"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How is a number gamed?</a:t>
            </a:r>
          </a:p>
        </p:txBody>
      </p:sp>
      <p:sp>
        <p:nvSpPr>
          <p:cNvPr id="43" name="Oval 42"/>
          <p:cNvSpPr/>
          <p:nvPr/>
        </p:nvSpPr>
        <p:spPr>
          <a:xfrm>
            <a:off x="488118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4990909"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the page hold?</a:t>
            </a:r>
          </a:p>
        </p:txBody>
      </p:sp>
      <p:sp>
        <p:nvSpPr>
          <p:cNvPr id="45" name="Oval 44"/>
          <p:cNvSpPr/>
          <p:nvPr/>
        </p:nvSpPr>
        <p:spPr>
          <a:xfrm>
            <a:off x="646080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TextBox 45"/>
          <p:cNvSpPr txBox="1"/>
          <p:nvPr/>
        </p:nvSpPr>
        <p:spPr>
          <a:xfrm>
            <a:off x="6570535"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an hour count?</a:t>
            </a:r>
          </a:p>
        </p:txBody>
      </p:sp>
      <p:sp>
        <p:nvSpPr>
          <p:cNvPr id="47" name="Oval 46"/>
          <p:cNvSpPr/>
          <p:nvPr/>
        </p:nvSpPr>
        <p:spPr>
          <a:xfrm>
            <a:off x="804043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TextBox 47"/>
          <p:cNvSpPr txBox="1"/>
          <p:nvPr/>
        </p:nvSpPr>
        <p:spPr>
          <a:xfrm>
            <a:off x="8150161"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Where did the fall sit?</a:t>
            </a:r>
          </a:p>
        </p:txBody>
      </p:sp>
      <p:sp>
        <p:nvSpPr>
          <p:cNvPr id="49" name="Oval 48"/>
          <p:cNvSpPr/>
          <p:nvPr/>
        </p:nvSpPr>
        <p:spPr>
          <a:xfrm>
            <a:off x="9574053"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TextBox 49"/>
          <p:cNvSpPr txBox="1"/>
          <p:nvPr/>
        </p:nvSpPr>
        <p:spPr>
          <a:xfrm>
            <a:off x="9683781" y="6437376"/>
            <a:ext cx="1332452" cy="152146"/>
          </a:xfrm>
          <a:prstGeom prst="rect">
            <a:avLst/>
          </a:prstGeom>
          <a:noFill/>
        </p:spPr>
        <p:txBody>
          <a:bodyPr wrap="square" anchor="t" lIns="0" rIns="0" tIns="0" bIns="0">
            <a:spAutoFit/>
          </a:bodyPr>
          <a:lstStyle/>
          <a:p>
            <a:pPr algn="l"/>
            <a:r>
              <a:rPr sz="700" b="1" i="0">
                <a:solidFill>
                  <a:srgbClr val="5B3FD6"/>
                </a:solidFill>
                <a:latin typeface="Calibri"/>
              </a:rPr>
              <a:t>What should it pay for?</a:t>
            </a:r>
          </a:p>
        </p:txBody>
      </p:sp>
      <p:sp>
        <p:nvSpPr>
          <p:cNvPr id="51" name="TextBox 50"/>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S74  ·  83 / 93</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MONDAY  ·  BUSINESS METRIC DESIGN  ·  UBER, HYDERABAD</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Which number should the scheme reward?</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Which number, if the scheme rewarded it, would make drivers drive and serve riders, without rewarding idling or picking only easy trips?</a:t>
            </a:r>
          </a:p>
        </p:txBody>
      </p:sp>
      <p:sp>
        <p:nvSpPr>
          <p:cNvPr id="9" name="TextBox 8"/>
          <p:cNvSpPr txBox="1"/>
          <p:nvPr/>
        </p:nvSpPr>
        <p:spPr>
          <a:xfrm>
            <a:off x="530352" y="1956816"/>
            <a:ext cx="11130991" cy="1654048"/>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a) Peak online hours, as now</a:t>
            </a:r>
          </a:p>
          <a:p>
            <a:pPr>
              <a:spcAft>
                <a:spcPts val="800"/>
              </a:spcAft>
            </a:pPr>
            <a:r>
              <a:rPr sz="1600" b="0" i="0">
                <a:solidFill>
                  <a:srgbClr val="1A1440"/>
                </a:solidFill>
                <a:latin typeface="Calibri"/>
              </a:rPr>
              <a:t>b) Completed peak trips, nothing beside it</a:t>
            </a:r>
          </a:p>
          <a:p>
            <a:pPr>
              <a:spcAft>
                <a:spcPts val="800"/>
              </a:spcAft>
            </a:pPr>
            <a:r>
              <a:rPr sz="1600" b="0" i="0">
                <a:solidFill>
                  <a:srgbClr val="1A1440"/>
                </a:solidFill>
                <a:latin typeface="Calibri"/>
              </a:rPr>
              <a:t>c) Completed peak trips, with a minimum share of offers accepted</a:t>
            </a:r>
          </a:p>
          <a:p>
            <a:pPr>
              <a:spcAft>
                <a:spcPts val="800"/>
              </a:spcAft>
            </a:pPr>
            <a:r>
              <a:rPr sz="1600" b="0" i="0">
                <a:solidFill>
                  <a:srgbClr val="1A1440"/>
                </a:solidFill>
                <a:latin typeface="Calibri"/>
              </a:rPr>
              <a:t>d) Enrolled drivers</a:t>
            </a:r>
          </a:p>
        </p:txBody>
      </p:sp>
      <p:sp>
        <p:nvSpPr>
          <p:cNvPr id="10" name="TextBox 9"/>
          <p:cNvSpPr txBox="1"/>
          <p:nvPr/>
        </p:nvSpPr>
        <p:spPr>
          <a:xfrm>
            <a:off x="530352" y="6437376"/>
            <a:ext cx="256032" cy="152146"/>
          </a:xfrm>
          <a:prstGeom prst="rect">
            <a:avLst/>
          </a:prstGeom>
          <a:noFill/>
        </p:spPr>
        <p:txBody>
          <a:bodyPr wrap="square" anchor="t" lIns="0" rIns="0" tIns="0" bIns="0">
            <a:spAutoFit/>
          </a:bodyPr>
          <a:lstStyle/>
          <a:p>
            <a:pPr algn="l"/>
            <a:r>
              <a:rPr sz="700" b="0" i="0">
                <a:solidFill>
                  <a:srgbClr val="6B6690"/>
                </a:solidFill>
                <a:latin typeface="Calibri"/>
              </a:rPr>
              <a:t>…</a:t>
            </a:r>
          </a:p>
        </p:txBody>
      </p:sp>
      <p:sp>
        <p:nvSpPr>
          <p:cNvPr id="11" name="Oval 10"/>
          <p:cNvSpPr/>
          <p:nvPr/>
        </p:nvSpPr>
        <p:spPr>
          <a:xfrm>
            <a:off x="78638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96112"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Which number warns?</a:t>
            </a:r>
          </a:p>
        </p:txBody>
      </p:sp>
      <p:sp>
        <p:nvSpPr>
          <p:cNvPr id="13" name="Oval 12"/>
          <p:cNvSpPr/>
          <p:nvPr/>
        </p:nvSpPr>
        <p:spPr>
          <a:xfrm>
            <a:off x="213598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2245709"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Which four lines?</a:t>
            </a:r>
          </a:p>
        </p:txBody>
      </p:sp>
      <p:sp>
        <p:nvSpPr>
          <p:cNvPr id="15" name="Oval 14"/>
          <p:cNvSpPr/>
          <p:nvPr/>
        </p:nvSpPr>
        <p:spPr>
          <a:xfrm>
            <a:off x="339356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3503295"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How is a number gamed?</a:t>
            </a:r>
          </a:p>
        </p:txBody>
      </p:sp>
      <p:sp>
        <p:nvSpPr>
          <p:cNvPr id="17" name="Oval 16"/>
          <p:cNvSpPr/>
          <p:nvPr/>
        </p:nvSpPr>
        <p:spPr>
          <a:xfrm>
            <a:off x="488118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4990909"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the page hold?</a:t>
            </a:r>
          </a:p>
        </p:txBody>
      </p:sp>
      <p:sp>
        <p:nvSpPr>
          <p:cNvPr id="19" name="Oval 18"/>
          <p:cNvSpPr/>
          <p:nvPr/>
        </p:nvSpPr>
        <p:spPr>
          <a:xfrm>
            <a:off x="646080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570535"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an hour count?</a:t>
            </a:r>
          </a:p>
        </p:txBody>
      </p:sp>
      <p:sp>
        <p:nvSpPr>
          <p:cNvPr id="21" name="Oval 20"/>
          <p:cNvSpPr/>
          <p:nvPr/>
        </p:nvSpPr>
        <p:spPr>
          <a:xfrm>
            <a:off x="804043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8150161"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Where did the fall sit?</a:t>
            </a:r>
          </a:p>
        </p:txBody>
      </p:sp>
      <p:sp>
        <p:nvSpPr>
          <p:cNvPr id="23" name="Oval 22"/>
          <p:cNvSpPr/>
          <p:nvPr/>
        </p:nvSpPr>
        <p:spPr>
          <a:xfrm>
            <a:off x="9574053"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9683781" y="6437376"/>
            <a:ext cx="1332452" cy="152146"/>
          </a:xfrm>
          <a:prstGeom prst="rect">
            <a:avLst/>
          </a:prstGeom>
          <a:noFill/>
        </p:spPr>
        <p:txBody>
          <a:bodyPr wrap="square" anchor="t" lIns="0" rIns="0" tIns="0" bIns="0">
            <a:spAutoFit/>
          </a:bodyPr>
          <a:lstStyle/>
          <a:p>
            <a:pPr algn="l"/>
            <a:r>
              <a:rPr sz="700" b="1" i="0">
                <a:solidFill>
                  <a:srgbClr val="5B3FD6"/>
                </a:solidFill>
                <a:latin typeface="Calibri"/>
              </a:rPr>
              <a:t>What should it pay for?</a:t>
            </a:r>
          </a:p>
        </p:txBody>
      </p:sp>
      <p:sp>
        <p:nvSpPr>
          <p:cNvPr id="25" name="TextBox 24"/>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S75  ·  84 / 93</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MONDAY  ·  BUSINESS METRIC DESIGN  ·  UBER, HYDERABAD</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Answer: trips, with an acceptance floor</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Why does each of the other three fail?</a:t>
            </a:r>
          </a:p>
        </p:txBody>
      </p:sp>
      <p:sp>
        <p:nvSpPr>
          <p:cNvPr id="9" name="Rounded Rectangle 8"/>
          <p:cNvSpPr/>
          <p:nvPr/>
        </p:nvSpPr>
        <p:spPr>
          <a:xfrm>
            <a:off x="530352" y="1956816"/>
            <a:ext cx="11130991" cy="1874519"/>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unded Rectangle 9"/>
          <p:cNvSpPr/>
          <p:nvPr/>
        </p:nvSpPr>
        <p:spPr>
          <a:xfrm>
            <a:off x="676656" y="2084832"/>
            <a:ext cx="45720" cy="1618487"/>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77824" y="2075688"/>
            <a:ext cx="10564063" cy="1691639"/>
          </a:xfrm>
          <a:prstGeom prst="rect">
            <a:avLst/>
          </a:prstGeom>
          <a:noFill/>
        </p:spPr>
        <p:txBody>
          <a:bodyPr wrap="square" anchor="ctr" lIns="0" rIns="0" tIns="0" bIns="0">
            <a:spAutoFit/>
          </a:bodyPr>
          <a:lstStyle/>
          <a:p>
            <a:r>
              <a:rPr sz="1500" b="1">
                <a:solidFill>
                  <a:srgbClr val="5B3FD6"/>
                </a:solidFill>
                <a:latin typeface="Calibri"/>
              </a:rPr>
              <a:t>Answer: c. </a:t>
            </a:r>
            <a:r>
              <a:rPr sz="1500" b="0" i="0">
                <a:solidFill>
                  <a:srgbClr val="1A1440"/>
                </a:solidFill>
                <a:latin typeface="Calibri"/>
              </a:rPr>
              <a:t>Hours pay for an open app, which the idle tail showed. Trips alone let a driver accept only short or nearby trips and decline the rest, which the share of offers accepted catches. Enrolled drivers rise with every sign-up whether or not anyone drives. Trips with an acceptance floor, a least share of offers accepted, reward the service and catch the cherry-picking: chapter 2's north star with its guardrail. Two floors now run through the case: the Rs 300 floor is what a driver-week is guaranteed, and the acceptance floor is what a driver-week must clear to earn it, the pay rule chapter 10 prices.</a:t>
            </a:r>
          </a:p>
        </p:txBody>
      </p:sp>
      <p:sp>
        <p:nvSpPr>
          <p:cNvPr id="12" name="TextBox 11"/>
          <p:cNvSpPr txBox="1"/>
          <p:nvPr/>
        </p:nvSpPr>
        <p:spPr>
          <a:xfrm>
            <a:off x="530352" y="6437376"/>
            <a:ext cx="256032" cy="152146"/>
          </a:xfrm>
          <a:prstGeom prst="rect">
            <a:avLst/>
          </a:prstGeom>
          <a:noFill/>
        </p:spPr>
        <p:txBody>
          <a:bodyPr wrap="square" anchor="t" lIns="0" rIns="0" tIns="0" bIns="0">
            <a:spAutoFit/>
          </a:bodyPr>
          <a:lstStyle/>
          <a:p>
            <a:pPr algn="l"/>
            <a:r>
              <a:rPr sz="700" b="0" i="0">
                <a:solidFill>
                  <a:srgbClr val="6B6690"/>
                </a:solidFill>
                <a:latin typeface="Calibri"/>
              </a:rPr>
              <a:t>…</a:t>
            </a:r>
          </a:p>
        </p:txBody>
      </p:sp>
      <p:sp>
        <p:nvSpPr>
          <p:cNvPr id="13" name="Oval 12"/>
          <p:cNvSpPr/>
          <p:nvPr/>
        </p:nvSpPr>
        <p:spPr>
          <a:xfrm>
            <a:off x="78638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96112"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Which number warns?</a:t>
            </a:r>
          </a:p>
        </p:txBody>
      </p:sp>
      <p:sp>
        <p:nvSpPr>
          <p:cNvPr id="15" name="Oval 14"/>
          <p:cNvSpPr/>
          <p:nvPr/>
        </p:nvSpPr>
        <p:spPr>
          <a:xfrm>
            <a:off x="213598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2245709"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Which four lines?</a:t>
            </a:r>
          </a:p>
        </p:txBody>
      </p:sp>
      <p:sp>
        <p:nvSpPr>
          <p:cNvPr id="17" name="Oval 16"/>
          <p:cNvSpPr/>
          <p:nvPr/>
        </p:nvSpPr>
        <p:spPr>
          <a:xfrm>
            <a:off x="339356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503295"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How is a number gamed?</a:t>
            </a:r>
          </a:p>
        </p:txBody>
      </p:sp>
      <p:sp>
        <p:nvSpPr>
          <p:cNvPr id="19" name="Oval 18"/>
          <p:cNvSpPr/>
          <p:nvPr/>
        </p:nvSpPr>
        <p:spPr>
          <a:xfrm>
            <a:off x="488118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4990909"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the page hold?</a:t>
            </a:r>
          </a:p>
        </p:txBody>
      </p:sp>
      <p:sp>
        <p:nvSpPr>
          <p:cNvPr id="21" name="Oval 20"/>
          <p:cNvSpPr/>
          <p:nvPr/>
        </p:nvSpPr>
        <p:spPr>
          <a:xfrm>
            <a:off x="646080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6570535"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an hour count?</a:t>
            </a:r>
          </a:p>
        </p:txBody>
      </p:sp>
      <p:sp>
        <p:nvSpPr>
          <p:cNvPr id="23" name="Oval 22"/>
          <p:cNvSpPr/>
          <p:nvPr/>
        </p:nvSpPr>
        <p:spPr>
          <a:xfrm>
            <a:off x="804043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8150161"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Where did the fall sit?</a:t>
            </a:r>
          </a:p>
        </p:txBody>
      </p:sp>
      <p:sp>
        <p:nvSpPr>
          <p:cNvPr id="25" name="Oval 24"/>
          <p:cNvSpPr/>
          <p:nvPr/>
        </p:nvSpPr>
        <p:spPr>
          <a:xfrm>
            <a:off x="9574053"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9683781" y="6437376"/>
            <a:ext cx="1332452" cy="152146"/>
          </a:xfrm>
          <a:prstGeom prst="rect">
            <a:avLst/>
          </a:prstGeom>
          <a:noFill/>
        </p:spPr>
        <p:txBody>
          <a:bodyPr wrap="square" anchor="t" lIns="0" rIns="0" tIns="0" bIns="0">
            <a:spAutoFit/>
          </a:bodyPr>
          <a:lstStyle/>
          <a:p>
            <a:pPr algn="l"/>
            <a:r>
              <a:rPr sz="700" b="1" i="0">
                <a:solidFill>
                  <a:srgbClr val="5B3FD6"/>
                </a:solidFill>
                <a:latin typeface="Calibri"/>
              </a:rPr>
              <a:t>What should it pay for?</a:t>
            </a:r>
          </a:p>
        </p:txBody>
      </p:sp>
      <p:sp>
        <p:nvSpPr>
          <p:cNvPr id="27" name="TextBox 26"/>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S76  ·  85 / 93</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MONDAY  ·  BUSINESS METRIC DESIGN  ·  UBER, HYDERABAD</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wrong memo: "supply met, extend it"</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decision does "peak online hours up 24 percent" send to the city head, and what catches it?</a:t>
            </a:r>
          </a:p>
        </p:txBody>
      </p:sp>
      <p:pic>
        <p:nvPicPr>
          <p:cNvPr id="9" name="mermaid diagram" descr="4ec08a1ec876b01c.png"/>
          <p:cNvPicPr>
            <a:picLocks noChangeAspect="1"/>
          </p:cNvPicPr>
          <p:nvPr/>
        </p:nvPicPr>
        <p:blipFill>
          <a:blip r:embed="rId5"/>
          <a:stretch>
            <a:fillRect/>
          </a:stretch>
        </p:blipFill>
        <p:spPr>
          <a:xfrm>
            <a:off x="1688153" y="1792414"/>
            <a:ext cx="8815387" cy="2543175"/>
          </a:xfrm>
          <a:prstGeom prst="rect">
            <a:avLst/>
          </a:prstGeom>
        </p:spPr>
      </p:pic>
      <p:sp>
        <p:nvSpPr>
          <p:cNvPr id="10" name="Rounded Rectangle 9"/>
          <p:cNvSpPr/>
          <p:nvPr/>
        </p:nvSpPr>
        <p:spPr>
          <a:xfrm>
            <a:off x="530352" y="4481893"/>
            <a:ext cx="11130991" cy="16078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676656" y="4609909"/>
            <a:ext cx="45720" cy="13517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7824" y="4600765"/>
            <a:ext cx="10564063" cy="1424940"/>
          </a:xfrm>
          <a:prstGeom prst="rect">
            <a:avLst/>
          </a:prstGeom>
          <a:noFill/>
        </p:spPr>
        <p:txBody>
          <a:bodyPr wrap="square" anchor="ctr" lIns="0" rIns="0" tIns="0" bIns="0">
            <a:spAutoFit/>
          </a:bodyPr>
          <a:lstStyle/>
          <a:p>
            <a:r>
              <a:rPr sz="1500" b="1">
                <a:solidFill>
                  <a:srgbClr val="5B3FD6"/>
                </a:solidFill>
                <a:latin typeface="Calibri"/>
              </a:rPr>
              <a:t>The plausible wrong answer: </a:t>
            </a:r>
            <a:r>
              <a:rPr sz="1500" b="0" i="0">
                <a:solidFill>
                  <a:srgbClr val="1A1440"/>
                </a:solidFill>
                <a:latin typeface="Calibri"/>
              </a:rPr>
              <a:t>"Peak online hours up 24 percent over six weeks. Supply target met. Recommendation: extend the scheme to two more cities." </a:t>
            </a:r>
            <a:r>
              <a:rPr sz="1500" b="1" i="0">
                <a:solidFill>
                  <a:srgbClr val="1A1440"/>
                </a:solidFill>
                <a:latin typeface="Calibri"/>
              </a:rPr>
              <a:t>The check that catches it:</a:t>
            </a:r>
            <a:r>
              <a:rPr sz="1500" b="0" i="0">
                <a:solidFill>
                  <a:srgbClr val="1A1440"/>
                </a:solidFill>
                <a:latin typeface="Calibri"/>
              </a:rPr>
              <a:t> trips per peak online hour fell from 1.90 to 1.58 and the median wait moved only from 4.8 to 4.6 minutes, so riders were served barely better, at about Rs 2,836 of top-up for each extra trip. </a:t>
            </a:r>
            <a:r>
              <a:rPr sz="1500" b="1" i="0">
                <a:solidFill>
                  <a:srgbClr val="1A1440"/>
                </a:solidFill>
                <a:latin typeface="Calibri"/>
              </a:rPr>
              <a:t>The fix:</a:t>
            </a:r>
            <a:r>
              <a:rPr sz="1500" b="0" i="0">
                <a:solidFill>
                  <a:srgbClr val="1A1440"/>
                </a:solidFill>
                <a:latin typeface="Calibri"/>
              </a:rPr>
              <a:t> judge the scheme by completed peak trips, with an acceptance guardrail.</a:t>
            </a:r>
          </a:p>
        </p:txBody>
      </p:sp>
      <p:sp>
        <p:nvSpPr>
          <p:cNvPr id="13" name="TextBox 12"/>
          <p:cNvSpPr txBox="1"/>
          <p:nvPr/>
        </p:nvSpPr>
        <p:spPr>
          <a:xfrm>
            <a:off x="530352" y="6437376"/>
            <a:ext cx="256032" cy="152146"/>
          </a:xfrm>
          <a:prstGeom prst="rect">
            <a:avLst/>
          </a:prstGeom>
          <a:noFill/>
        </p:spPr>
        <p:txBody>
          <a:bodyPr wrap="square" anchor="t" lIns="0" rIns="0" tIns="0" bIns="0">
            <a:spAutoFit/>
          </a:bodyPr>
          <a:lstStyle/>
          <a:p>
            <a:pPr algn="l"/>
            <a:r>
              <a:rPr sz="700" b="0" i="0">
                <a:solidFill>
                  <a:srgbClr val="6B6690"/>
                </a:solidFill>
                <a:latin typeface="Calibri"/>
              </a:rPr>
              <a:t>…</a:t>
            </a:r>
          </a:p>
        </p:txBody>
      </p:sp>
      <p:sp>
        <p:nvSpPr>
          <p:cNvPr id="14" name="Oval 13"/>
          <p:cNvSpPr/>
          <p:nvPr/>
        </p:nvSpPr>
        <p:spPr>
          <a:xfrm>
            <a:off x="78638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96112"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Which number warns?</a:t>
            </a:r>
          </a:p>
        </p:txBody>
      </p:sp>
      <p:sp>
        <p:nvSpPr>
          <p:cNvPr id="16" name="Oval 15"/>
          <p:cNvSpPr/>
          <p:nvPr/>
        </p:nvSpPr>
        <p:spPr>
          <a:xfrm>
            <a:off x="213598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2245709"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Which four lines?</a:t>
            </a:r>
          </a:p>
        </p:txBody>
      </p:sp>
      <p:sp>
        <p:nvSpPr>
          <p:cNvPr id="18" name="Oval 17"/>
          <p:cNvSpPr/>
          <p:nvPr/>
        </p:nvSpPr>
        <p:spPr>
          <a:xfrm>
            <a:off x="339356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3503295"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How is a number gamed?</a:t>
            </a:r>
          </a:p>
        </p:txBody>
      </p:sp>
      <p:sp>
        <p:nvSpPr>
          <p:cNvPr id="20" name="Oval 19"/>
          <p:cNvSpPr/>
          <p:nvPr/>
        </p:nvSpPr>
        <p:spPr>
          <a:xfrm>
            <a:off x="488118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4990909"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the page hold?</a:t>
            </a:r>
          </a:p>
        </p:txBody>
      </p:sp>
      <p:sp>
        <p:nvSpPr>
          <p:cNvPr id="22" name="Oval 21"/>
          <p:cNvSpPr/>
          <p:nvPr/>
        </p:nvSpPr>
        <p:spPr>
          <a:xfrm>
            <a:off x="646080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6570535"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an hour count?</a:t>
            </a:r>
          </a:p>
        </p:txBody>
      </p:sp>
      <p:sp>
        <p:nvSpPr>
          <p:cNvPr id="24" name="Oval 23"/>
          <p:cNvSpPr/>
          <p:nvPr/>
        </p:nvSpPr>
        <p:spPr>
          <a:xfrm>
            <a:off x="804043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8150161"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Where did the fall sit?</a:t>
            </a:r>
          </a:p>
        </p:txBody>
      </p:sp>
      <p:sp>
        <p:nvSpPr>
          <p:cNvPr id="26" name="Oval 25"/>
          <p:cNvSpPr/>
          <p:nvPr/>
        </p:nvSpPr>
        <p:spPr>
          <a:xfrm>
            <a:off x="9574053"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9683781" y="6437376"/>
            <a:ext cx="1332452" cy="152146"/>
          </a:xfrm>
          <a:prstGeom prst="rect">
            <a:avLst/>
          </a:prstGeom>
          <a:noFill/>
        </p:spPr>
        <p:txBody>
          <a:bodyPr wrap="square" anchor="t" lIns="0" rIns="0" tIns="0" bIns="0">
            <a:spAutoFit/>
          </a:bodyPr>
          <a:lstStyle/>
          <a:p>
            <a:pPr algn="l"/>
            <a:r>
              <a:rPr sz="700" b="1" i="0">
                <a:solidFill>
                  <a:srgbClr val="5B3FD6"/>
                </a:solidFill>
                <a:latin typeface="Calibri"/>
              </a:rPr>
              <a:t>What should it pay for?</a:t>
            </a:r>
          </a:p>
        </p:txBody>
      </p:sp>
      <p:sp>
        <p:nvSpPr>
          <p:cNvPr id="28" name="TextBox 27"/>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S77  ·  86 / 93</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MONDAY  ·  BUSINESS METRIC DESIGN  ·  UBER, HYDERABAD</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How much top-up went to declining weeks?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share of the Rs 1.9 crore went to driver-weeks that accepted fewer than half their offers?</a:t>
            </a:r>
          </a:p>
        </p:txBody>
      </p:sp>
      <p:sp>
        <p:nvSpPr>
          <p:cNvPr id="9" name="TextBox 8"/>
          <p:cNvSpPr txBox="1"/>
          <p:nvPr/>
        </p:nvSpPr>
        <p:spPr>
          <a:xfrm>
            <a:off x="530352" y="1956816"/>
            <a:ext cx="11130991" cy="1654048"/>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a) 15 percent</a:t>
            </a:r>
          </a:p>
          <a:p>
            <a:pPr>
              <a:spcAft>
                <a:spcPts val="800"/>
              </a:spcAft>
            </a:pPr>
            <a:r>
              <a:rPr sz="1600" b="0" i="0">
                <a:solidFill>
                  <a:srgbClr val="1A1440"/>
                </a:solidFill>
                <a:latin typeface="Calibri"/>
              </a:rPr>
              <a:t>b) 39 percent</a:t>
            </a:r>
          </a:p>
          <a:p>
            <a:pPr>
              <a:spcAft>
                <a:spcPts val="800"/>
              </a:spcAft>
            </a:pPr>
            <a:r>
              <a:rPr sz="1600" b="0" i="0">
                <a:solidFill>
                  <a:srgbClr val="1A1440"/>
                </a:solidFill>
                <a:latin typeface="Calibri"/>
              </a:rPr>
              <a:t>c) 61 percent</a:t>
            </a:r>
          </a:p>
          <a:p>
            <a:pPr>
              <a:spcAft>
                <a:spcPts val="800"/>
              </a:spcAft>
            </a:pPr>
            <a:r>
              <a:rPr sz="1600" b="0" i="0">
                <a:solidFill>
                  <a:srgbClr val="1A1440"/>
                </a:solidFill>
                <a:latin typeface="Calibri"/>
              </a:rPr>
              <a:t>d) 88 percent</a:t>
            </a:r>
          </a:p>
        </p:txBody>
      </p:sp>
      <p:sp>
        <p:nvSpPr>
          <p:cNvPr id="10" name="TextBox 9"/>
          <p:cNvSpPr txBox="1"/>
          <p:nvPr/>
        </p:nvSpPr>
        <p:spPr>
          <a:xfrm>
            <a:off x="530352" y="6437376"/>
            <a:ext cx="256032" cy="152146"/>
          </a:xfrm>
          <a:prstGeom prst="rect">
            <a:avLst/>
          </a:prstGeom>
          <a:noFill/>
        </p:spPr>
        <p:txBody>
          <a:bodyPr wrap="square" anchor="t" lIns="0" rIns="0" tIns="0" bIns="0">
            <a:spAutoFit/>
          </a:bodyPr>
          <a:lstStyle/>
          <a:p>
            <a:pPr algn="l"/>
            <a:r>
              <a:rPr sz="700" b="0" i="0">
                <a:solidFill>
                  <a:srgbClr val="6B6690"/>
                </a:solidFill>
                <a:latin typeface="Calibri"/>
              </a:rPr>
              <a:t>…</a:t>
            </a:r>
          </a:p>
        </p:txBody>
      </p:sp>
      <p:sp>
        <p:nvSpPr>
          <p:cNvPr id="11" name="Oval 10"/>
          <p:cNvSpPr/>
          <p:nvPr/>
        </p:nvSpPr>
        <p:spPr>
          <a:xfrm>
            <a:off x="78638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96112"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Which number warns?</a:t>
            </a:r>
          </a:p>
        </p:txBody>
      </p:sp>
      <p:sp>
        <p:nvSpPr>
          <p:cNvPr id="13" name="Oval 12"/>
          <p:cNvSpPr/>
          <p:nvPr/>
        </p:nvSpPr>
        <p:spPr>
          <a:xfrm>
            <a:off x="213598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2245709"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Which four lines?</a:t>
            </a:r>
          </a:p>
        </p:txBody>
      </p:sp>
      <p:sp>
        <p:nvSpPr>
          <p:cNvPr id="15" name="Oval 14"/>
          <p:cNvSpPr/>
          <p:nvPr/>
        </p:nvSpPr>
        <p:spPr>
          <a:xfrm>
            <a:off x="339356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3503295"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How is a number gamed?</a:t>
            </a:r>
          </a:p>
        </p:txBody>
      </p:sp>
      <p:sp>
        <p:nvSpPr>
          <p:cNvPr id="17" name="Oval 16"/>
          <p:cNvSpPr/>
          <p:nvPr/>
        </p:nvSpPr>
        <p:spPr>
          <a:xfrm>
            <a:off x="488118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4990909"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the page hold?</a:t>
            </a:r>
          </a:p>
        </p:txBody>
      </p:sp>
      <p:sp>
        <p:nvSpPr>
          <p:cNvPr id="19" name="Oval 18"/>
          <p:cNvSpPr/>
          <p:nvPr/>
        </p:nvSpPr>
        <p:spPr>
          <a:xfrm>
            <a:off x="646080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570535"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an hour count?</a:t>
            </a:r>
          </a:p>
        </p:txBody>
      </p:sp>
      <p:sp>
        <p:nvSpPr>
          <p:cNvPr id="21" name="Oval 20"/>
          <p:cNvSpPr/>
          <p:nvPr/>
        </p:nvSpPr>
        <p:spPr>
          <a:xfrm>
            <a:off x="804043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8150161"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Where did the fall sit?</a:t>
            </a:r>
          </a:p>
        </p:txBody>
      </p:sp>
      <p:sp>
        <p:nvSpPr>
          <p:cNvPr id="23" name="Oval 22"/>
          <p:cNvSpPr/>
          <p:nvPr/>
        </p:nvSpPr>
        <p:spPr>
          <a:xfrm>
            <a:off x="9574053"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9683781" y="6437376"/>
            <a:ext cx="1332452" cy="152146"/>
          </a:xfrm>
          <a:prstGeom prst="rect">
            <a:avLst/>
          </a:prstGeom>
          <a:noFill/>
        </p:spPr>
        <p:txBody>
          <a:bodyPr wrap="square" anchor="t" lIns="0" rIns="0" tIns="0" bIns="0">
            <a:spAutoFit/>
          </a:bodyPr>
          <a:lstStyle/>
          <a:p>
            <a:pPr algn="l"/>
            <a:r>
              <a:rPr sz="700" b="1" i="0">
                <a:solidFill>
                  <a:srgbClr val="5B3FD6"/>
                </a:solidFill>
                <a:latin typeface="Calibri"/>
              </a:rPr>
              <a:t>What should it pay for?</a:t>
            </a:r>
          </a:p>
        </p:txBody>
      </p:sp>
      <p:sp>
        <p:nvSpPr>
          <p:cNvPr id="25" name="TextBox 24"/>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S78  ·  87 / 93</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MONDAY  ·  BUSINESS METRIC DESIGN  ·  UBER, HYDERABAD</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Answer: 61 percent, Rs 1.16 crore of 1.9</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Where did the money go, and what is the honest way to state a saving?</a:t>
            </a:r>
          </a:p>
        </p:txBody>
      </p:sp>
      <p:pic>
        <p:nvPicPr>
          <p:cNvPr id="9" name="mermaid diagram" descr="C2_W04_D01_topup_split_STUDENT.png"/>
          <p:cNvPicPr>
            <a:picLocks noChangeAspect="1"/>
          </p:cNvPicPr>
          <p:nvPr/>
        </p:nvPicPr>
        <p:blipFill>
          <a:blip r:embed="rId4"/>
          <a:stretch>
            <a:fillRect/>
          </a:stretch>
        </p:blipFill>
        <p:spPr>
          <a:xfrm>
            <a:off x="2262035" y="1664208"/>
            <a:ext cx="7667625" cy="2667000"/>
          </a:xfrm>
          <a:prstGeom prst="rect">
            <a:avLst/>
          </a:prstGeom>
        </p:spPr>
      </p:pic>
      <p:sp>
        <p:nvSpPr>
          <p:cNvPr id="10" name="picture caption"/>
          <p:cNvSpPr txBox="1"/>
          <p:nvPr/>
        </p:nvSpPr>
        <p:spPr>
          <a:xfrm>
            <a:off x="530352" y="4367784"/>
            <a:ext cx="11130991" cy="316992"/>
          </a:xfrm>
          <a:prstGeom prst="rect">
            <a:avLst/>
          </a:prstGeom>
          <a:noFill/>
        </p:spPr>
        <p:txBody>
          <a:bodyPr wrap="square" anchor="t" lIns="0" rIns="0" tIns="0" bIns="0">
            <a:spAutoFit/>
          </a:bodyPr>
          <a:lstStyle/>
          <a:p>
            <a:pPr algn="ctr"/>
            <a:r>
              <a:rPr sz="1200" b="0" i="0">
                <a:solidFill>
                  <a:srgbClr val="6B6690"/>
                </a:solidFill>
                <a:latin typeface="Calibri"/>
              </a:rPr>
              <a:t>Where the Rs 1.9 crore top-up went, split at an accepted share of 0.5</a:t>
            </a:r>
          </a:p>
        </p:txBody>
      </p:sp>
      <p:sp>
        <p:nvSpPr>
          <p:cNvPr id="11" name="Rounded Rectangle 10"/>
          <p:cNvSpPr/>
          <p:nvPr/>
        </p:nvSpPr>
        <p:spPr>
          <a:xfrm>
            <a:off x="530352" y="4693920"/>
            <a:ext cx="11130991" cy="13411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ounded Rectangle 11"/>
          <p:cNvSpPr/>
          <p:nvPr/>
        </p:nvSpPr>
        <p:spPr>
          <a:xfrm>
            <a:off x="676656" y="4821936"/>
            <a:ext cx="45720" cy="10850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877824" y="4812792"/>
            <a:ext cx="10564063" cy="1158240"/>
          </a:xfrm>
          <a:prstGeom prst="rect">
            <a:avLst/>
          </a:prstGeom>
          <a:noFill/>
        </p:spPr>
        <p:txBody>
          <a:bodyPr wrap="square" anchor="ctr" lIns="0" rIns="0" tIns="0" bIns="0">
            <a:spAutoFit/>
          </a:bodyPr>
          <a:lstStyle/>
          <a:p>
            <a:r>
              <a:rPr sz="1500" b="1">
                <a:solidFill>
                  <a:srgbClr val="5B3FD6"/>
                </a:solidFill>
                <a:latin typeface="Calibri"/>
              </a:rPr>
              <a:t>Answer: c. </a:t>
            </a:r>
            <a:r>
              <a:rPr sz="1500" b="0" i="0">
                <a:solidFill>
                  <a:srgbClr val="1A1440"/>
                </a:solidFill>
                <a:latin typeface="Calibri"/>
              </a:rPr>
              <a:t>Rs 1.159 crore, 61 percent, went to driver-weeks that accepted fewer than half the offers they were shown; Rs 74 lakh went to the rest. Rs 74 lakh is what the six weeks would have cost had only the second group been paid and every driver behaved the same, which a new rule would not guarantee: some idle drivers would start accepting enough to qualify.</a:t>
            </a:r>
          </a:p>
        </p:txBody>
      </p:sp>
      <p:sp>
        <p:nvSpPr>
          <p:cNvPr id="14" name="TextBox 13"/>
          <p:cNvSpPr txBox="1"/>
          <p:nvPr/>
        </p:nvSpPr>
        <p:spPr>
          <a:xfrm>
            <a:off x="530352" y="6437376"/>
            <a:ext cx="256032" cy="152146"/>
          </a:xfrm>
          <a:prstGeom prst="rect">
            <a:avLst/>
          </a:prstGeom>
          <a:noFill/>
        </p:spPr>
        <p:txBody>
          <a:bodyPr wrap="square" anchor="t" lIns="0" rIns="0" tIns="0" bIns="0">
            <a:spAutoFit/>
          </a:bodyPr>
          <a:lstStyle/>
          <a:p>
            <a:pPr algn="l"/>
            <a:r>
              <a:rPr sz="700" b="0" i="0">
                <a:solidFill>
                  <a:srgbClr val="6B6690"/>
                </a:solidFill>
                <a:latin typeface="Calibri"/>
              </a:rPr>
              <a:t>…</a:t>
            </a:r>
          </a:p>
        </p:txBody>
      </p:sp>
      <p:sp>
        <p:nvSpPr>
          <p:cNvPr id="15" name="Oval 14"/>
          <p:cNvSpPr/>
          <p:nvPr/>
        </p:nvSpPr>
        <p:spPr>
          <a:xfrm>
            <a:off x="78638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896112"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Which number warns?</a:t>
            </a:r>
          </a:p>
        </p:txBody>
      </p:sp>
      <p:sp>
        <p:nvSpPr>
          <p:cNvPr id="17" name="Oval 16"/>
          <p:cNvSpPr/>
          <p:nvPr/>
        </p:nvSpPr>
        <p:spPr>
          <a:xfrm>
            <a:off x="213598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2245709"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Which four lines?</a:t>
            </a:r>
          </a:p>
        </p:txBody>
      </p:sp>
      <p:sp>
        <p:nvSpPr>
          <p:cNvPr id="19" name="Oval 18"/>
          <p:cNvSpPr/>
          <p:nvPr/>
        </p:nvSpPr>
        <p:spPr>
          <a:xfrm>
            <a:off x="339356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3503295"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How is a number gamed?</a:t>
            </a:r>
          </a:p>
        </p:txBody>
      </p:sp>
      <p:sp>
        <p:nvSpPr>
          <p:cNvPr id="21" name="Oval 20"/>
          <p:cNvSpPr/>
          <p:nvPr/>
        </p:nvSpPr>
        <p:spPr>
          <a:xfrm>
            <a:off x="488118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4990909"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the page hold?</a:t>
            </a:r>
          </a:p>
        </p:txBody>
      </p:sp>
      <p:sp>
        <p:nvSpPr>
          <p:cNvPr id="23" name="Oval 22"/>
          <p:cNvSpPr/>
          <p:nvPr/>
        </p:nvSpPr>
        <p:spPr>
          <a:xfrm>
            <a:off x="646080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6570535"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an hour count?</a:t>
            </a:r>
          </a:p>
        </p:txBody>
      </p:sp>
      <p:sp>
        <p:nvSpPr>
          <p:cNvPr id="25" name="Oval 24"/>
          <p:cNvSpPr/>
          <p:nvPr/>
        </p:nvSpPr>
        <p:spPr>
          <a:xfrm>
            <a:off x="804043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8150161"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Where did the fall sit?</a:t>
            </a:r>
          </a:p>
        </p:txBody>
      </p:sp>
      <p:sp>
        <p:nvSpPr>
          <p:cNvPr id="27" name="Oval 26"/>
          <p:cNvSpPr/>
          <p:nvPr/>
        </p:nvSpPr>
        <p:spPr>
          <a:xfrm>
            <a:off x="9574053"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9683781" y="6437376"/>
            <a:ext cx="1332452" cy="152146"/>
          </a:xfrm>
          <a:prstGeom prst="rect">
            <a:avLst/>
          </a:prstGeom>
          <a:noFill/>
        </p:spPr>
        <p:txBody>
          <a:bodyPr wrap="square" anchor="t" lIns="0" rIns="0" tIns="0" bIns="0">
            <a:spAutoFit/>
          </a:bodyPr>
          <a:lstStyle/>
          <a:p>
            <a:pPr algn="l"/>
            <a:r>
              <a:rPr sz="700" b="1" i="0">
                <a:solidFill>
                  <a:srgbClr val="5B3FD6"/>
                </a:solidFill>
                <a:latin typeface="Calibri"/>
              </a:rPr>
              <a:t>What should it pay for?</a:t>
            </a:r>
          </a:p>
        </p:txBody>
      </p:sp>
      <p:sp>
        <p:nvSpPr>
          <p:cNvPr id="29" name="TextBox 28"/>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S79  ·  88 / 93</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MONDAY  ·  BUSINESS METRIC DESIGN  ·  UBER, HYDERABAD</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tree: a north star, guardrails, inputs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How does the number the scheme pays for connect to the numbers that must not get worse and the ones the city team can act on this week?</a:t>
            </a:r>
          </a:p>
        </p:txBody>
      </p:sp>
      <p:pic>
        <p:nvPicPr>
          <p:cNvPr id="9" name="mermaid diagram" descr="656bfc69833912e5.png"/>
          <p:cNvPicPr>
            <a:picLocks noChangeAspect="1"/>
          </p:cNvPicPr>
          <p:nvPr/>
        </p:nvPicPr>
        <p:blipFill>
          <a:blip r:embed="rId5"/>
          <a:stretch>
            <a:fillRect/>
          </a:stretch>
        </p:blipFill>
        <p:spPr>
          <a:xfrm>
            <a:off x="3440393" y="1664208"/>
            <a:ext cx="5310908" cy="2703575"/>
          </a:xfrm>
          <a:prstGeom prst="rect">
            <a:avLst/>
          </a:prstGeom>
        </p:spPr>
      </p:pic>
      <p:sp>
        <p:nvSpPr>
          <p:cNvPr id="10" name="TextBox 9"/>
          <p:cNvSpPr txBox="1"/>
          <p:nvPr/>
        </p:nvSpPr>
        <p:spPr>
          <a:xfrm>
            <a:off x="530352" y="4413504"/>
            <a:ext cx="11130991" cy="1786128"/>
          </a:xfrm>
          <a:prstGeom prst="rect">
            <a:avLst/>
          </a:prstGeom>
          <a:noFill/>
        </p:spPr>
        <p:txBody>
          <a:bodyPr wrap="square" anchor="t" lIns="0" rIns="0" tIns="0" bIns="0">
            <a:spAutoFit/>
          </a:bodyPr>
          <a:lstStyle/>
          <a:p>
            <a:r>
              <a:rPr sz="1600" b="0" i="0">
                <a:solidFill>
                  <a:srgbClr val="1A1440"/>
                </a:solidFill>
                <a:latin typeface="Calibri"/>
              </a:rPr>
              <a:t>Chapter 2's north star and guardrails and chapter 3's leading inputs, on the city. A completed trip is a rider served, counted with a receipt; the wait covers only riders who were picked up, so it can improve while more requests go unserved, which is why it guards from beside the north star. Read it as chapter 2's seesaw: if the north star rises while a guardrail moves the wrong way, riders or the budget paid for the rise. Acceptance, guardrail 1, also settled first in the launch week (chapter 3's S28). The first input needs a record the tables do not hold, drivers online by peak hour, so the city starts logging it.</a:t>
            </a:r>
          </a:p>
        </p:txBody>
      </p:sp>
      <p:sp>
        <p:nvSpPr>
          <p:cNvPr id="11" name="TextBox 10"/>
          <p:cNvSpPr txBox="1"/>
          <p:nvPr/>
        </p:nvSpPr>
        <p:spPr>
          <a:xfrm>
            <a:off x="530352" y="6437376"/>
            <a:ext cx="256032" cy="152146"/>
          </a:xfrm>
          <a:prstGeom prst="rect">
            <a:avLst/>
          </a:prstGeom>
          <a:noFill/>
        </p:spPr>
        <p:txBody>
          <a:bodyPr wrap="square" anchor="t" lIns="0" rIns="0" tIns="0" bIns="0">
            <a:spAutoFit/>
          </a:bodyPr>
          <a:lstStyle/>
          <a:p>
            <a:pPr algn="l"/>
            <a:r>
              <a:rPr sz="700" b="0" i="0">
                <a:solidFill>
                  <a:srgbClr val="6B6690"/>
                </a:solidFill>
                <a:latin typeface="Calibri"/>
              </a:rPr>
              <a:t>…</a:t>
            </a:r>
          </a:p>
        </p:txBody>
      </p:sp>
      <p:sp>
        <p:nvSpPr>
          <p:cNvPr id="12" name="Oval 11"/>
          <p:cNvSpPr/>
          <p:nvPr/>
        </p:nvSpPr>
        <p:spPr>
          <a:xfrm>
            <a:off x="78638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896112"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Which number warns?</a:t>
            </a:r>
          </a:p>
        </p:txBody>
      </p:sp>
      <p:sp>
        <p:nvSpPr>
          <p:cNvPr id="14" name="Oval 13"/>
          <p:cNvSpPr/>
          <p:nvPr/>
        </p:nvSpPr>
        <p:spPr>
          <a:xfrm>
            <a:off x="213598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2245709"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Which four lines?</a:t>
            </a:r>
          </a:p>
        </p:txBody>
      </p:sp>
      <p:sp>
        <p:nvSpPr>
          <p:cNvPr id="16" name="Oval 15"/>
          <p:cNvSpPr/>
          <p:nvPr/>
        </p:nvSpPr>
        <p:spPr>
          <a:xfrm>
            <a:off x="339356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3503295"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How is a number gamed?</a:t>
            </a:r>
          </a:p>
        </p:txBody>
      </p:sp>
      <p:sp>
        <p:nvSpPr>
          <p:cNvPr id="18" name="Oval 17"/>
          <p:cNvSpPr/>
          <p:nvPr/>
        </p:nvSpPr>
        <p:spPr>
          <a:xfrm>
            <a:off x="488118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4990909"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the page hold?</a:t>
            </a:r>
          </a:p>
        </p:txBody>
      </p:sp>
      <p:sp>
        <p:nvSpPr>
          <p:cNvPr id="20" name="Oval 19"/>
          <p:cNvSpPr/>
          <p:nvPr/>
        </p:nvSpPr>
        <p:spPr>
          <a:xfrm>
            <a:off x="646080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6570535"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an hour count?</a:t>
            </a:r>
          </a:p>
        </p:txBody>
      </p:sp>
      <p:sp>
        <p:nvSpPr>
          <p:cNvPr id="22" name="Oval 21"/>
          <p:cNvSpPr/>
          <p:nvPr/>
        </p:nvSpPr>
        <p:spPr>
          <a:xfrm>
            <a:off x="804043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8150161"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Where did the fall sit?</a:t>
            </a:r>
          </a:p>
        </p:txBody>
      </p:sp>
      <p:sp>
        <p:nvSpPr>
          <p:cNvPr id="24" name="Oval 23"/>
          <p:cNvSpPr/>
          <p:nvPr/>
        </p:nvSpPr>
        <p:spPr>
          <a:xfrm>
            <a:off x="9574053"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9683781" y="6437376"/>
            <a:ext cx="1332452" cy="152146"/>
          </a:xfrm>
          <a:prstGeom prst="rect">
            <a:avLst/>
          </a:prstGeom>
          <a:noFill/>
        </p:spPr>
        <p:txBody>
          <a:bodyPr wrap="square" anchor="t" lIns="0" rIns="0" tIns="0" bIns="0">
            <a:spAutoFit/>
          </a:bodyPr>
          <a:lstStyle/>
          <a:p>
            <a:pPr algn="l"/>
            <a:r>
              <a:rPr sz="700" b="1" i="0">
                <a:solidFill>
                  <a:srgbClr val="5B3FD6"/>
                </a:solidFill>
                <a:latin typeface="Calibri"/>
              </a:rPr>
              <a:t>What should it pay for?</a:t>
            </a:r>
          </a:p>
        </p:txBody>
      </p:sp>
      <p:sp>
        <p:nvSpPr>
          <p:cNvPr id="26" name="TextBox 25"/>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S80  ·  89 / 93</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MONDAY  ·  BUSINESS METRIC DESIGN  ·  UBER, HYDERABAD</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Seven lines make the number hard to game</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does each line of the redesign's definition say, and which gaming does it stop?</a:t>
            </a:r>
          </a:p>
        </p:txBody>
      </p:sp>
      <p:graphicFrame>
        <p:nvGraphicFramePr>
          <p:cNvPr id="9" name="Table 8"/>
          <p:cNvGraphicFramePr>
            <a:graphicFrameLocks noGrp="1"/>
          </p:cNvGraphicFramePr>
          <p:nvPr/>
        </p:nvGraphicFramePr>
        <p:xfrm>
          <a:off x="530352" y="1682496"/>
          <a:ext cx="11130990" cy="3304032"/>
        </p:xfrm>
        <a:graphic>
          <a:graphicData uri="http://schemas.openxmlformats.org/drawingml/2006/table">
            <a:tbl>
              <a:tblPr firstRow="0" bandRow="0">
                <a:tableStyleId>{2D5ABB26-0587-4C30-8999-92F81FD0307C}</a:tableStyleId>
              </a:tblPr>
              <a:tblGrid>
                <a:gridCol w="2813090"/>
                <a:gridCol w="8317900"/>
              </a:tblGrid>
              <a:tr h="318008">
                <a:tc>
                  <a:txBody>
                    <a:bodyPr/>
                    <a:lstStyle/>
                    <a:p>
                      <a:r>
                        <a:rPr sz="1150" b="1" i="0">
                          <a:solidFill>
                            <a:srgbClr val="FFFFFF"/>
                          </a:solidFill>
                          <a:latin typeface="Calibri"/>
                        </a:rPr>
                        <a:t>Line</a:t>
                      </a:r>
                    </a:p>
                  </a:txBody>
                  <a:tcPr marL="101600" marR="101600" marT="38100" marB="38100" anchor="ctr">
                    <a:solidFill>
                      <a:srgbClr val="1A0F5C"/>
                    </a:solidFill>
                  </a:tcPr>
                </a:tc>
                <a:tc>
                  <a:txBody>
                    <a:bodyPr/>
                    <a:lstStyle/>
                    <a:p>
                      <a:r>
                        <a:rPr sz="1150" b="1" i="0">
                          <a:solidFill>
                            <a:srgbClr val="FFFFFF"/>
                          </a:solidFill>
                          <a:latin typeface="Calibri"/>
                        </a:rPr>
                        <a:t>The redesign's definition</a:t>
                      </a:r>
                    </a:p>
                  </a:txBody>
                  <a:tcPr marL="101600" marR="101600" marT="38100" marB="38100" anchor="ctr">
                    <a:solidFill>
                      <a:srgbClr val="1A0F5C"/>
                    </a:solidFill>
                  </a:tcPr>
                </a:tc>
              </a:tr>
              <a:tr h="508000">
                <a:tc>
                  <a:txBody>
                    <a:bodyPr/>
                    <a:lstStyle/>
                    <a:p>
                      <a:r>
                        <a:rPr sz="1100" b="0" i="0">
                          <a:solidFill>
                            <a:srgbClr val="1A1440"/>
                          </a:solidFill>
                          <a:latin typeface="Calibri"/>
                        </a:rPr>
                        <a:t>Numerator</a:t>
                      </a:r>
                    </a:p>
                  </a:txBody>
                  <a:tcPr marL="101600" marR="101600" marT="38100" marB="38100" anchor="ctr">
                    <a:solidFill>
                      <a:srgbClr val="FFFFFF"/>
                    </a:solidFill>
                  </a:tcPr>
                </a:tc>
                <a:tc>
                  <a:txBody>
                    <a:bodyPr/>
                    <a:lstStyle/>
                    <a:p>
                      <a:r>
                        <a:rPr sz="1100" b="0" i="0">
                          <a:solidFill>
                            <a:srgbClr val="1A1440"/>
                          </a:solidFill>
                          <a:latin typeface="Calibri"/>
                        </a:rPr>
                        <a:t>Trips completed inside the peak windows, one per paying rider: Uber's annual report counts an UberX Share ride with three paying riders as three trips</a:t>
                      </a:r>
                    </a:p>
                  </a:txBody>
                  <a:tcPr marL="101600" marR="101600" marT="38100" marB="38100" anchor="ctr">
                    <a:solidFill>
                      <a:srgbClr val="FFFFFF"/>
                    </a:solidFill>
                  </a:tcPr>
                </a:tc>
              </a:tr>
              <a:tr h="318008">
                <a:tc>
                  <a:txBody>
                    <a:bodyPr/>
                    <a:lstStyle/>
                    <a:p>
                      <a:r>
                        <a:rPr sz="1100" b="0" i="0">
                          <a:solidFill>
                            <a:srgbClr val="1A1440"/>
                          </a:solidFill>
                          <a:latin typeface="Calibri"/>
                        </a:rPr>
                        <a:t>Denominator</a:t>
                      </a:r>
                    </a:p>
                  </a:txBody>
                  <a:tcPr marL="101600" marR="101600" marT="38100" marB="38100" anchor="ctr">
                    <a:solidFill>
                      <a:srgbClr val="F4F2FA"/>
                    </a:solidFill>
                  </a:tcPr>
                </a:tc>
                <a:tc>
                  <a:txBody>
                    <a:bodyPr/>
                    <a:lstStyle/>
                    <a:p>
                      <a:r>
                        <a:rPr sz="1100" b="0" i="0">
                          <a:solidFill>
                            <a:srgbClr val="1A1440"/>
                          </a:solidFill>
                          <a:latin typeface="Calibri"/>
                        </a:rPr>
                        <a:t>Enrolled drivers online at least one peak hour that week, the count printed beside the rate</a:t>
                      </a:r>
                    </a:p>
                  </a:txBody>
                  <a:tcPr marL="101600" marR="101600" marT="38100" marB="38100" anchor="ctr">
                    <a:solidFill>
                      <a:srgbClr val="F4F2FA"/>
                    </a:solidFill>
                  </a:tcPr>
                </a:tc>
              </a:tr>
              <a:tr h="318008">
                <a:tc>
                  <a:txBody>
                    <a:bodyPr/>
                    <a:lstStyle/>
                    <a:p>
                      <a:r>
                        <a:rPr sz="1100" b="0" i="0">
                          <a:solidFill>
                            <a:srgbClr val="1A1440"/>
                          </a:solidFill>
                          <a:latin typeface="Calibri"/>
                        </a:rPr>
                        <a:t>Window</a:t>
                      </a:r>
                    </a:p>
                  </a:txBody>
                  <a:tcPr marL="101600" marR="101600" marT="38100" marB="38100" anchor="ctr">
                    <a:solidFill>
                      <a:srgbClr val="FFFFFF"/>
                    </a:solidFill>
                  </a:tcPr>
                </a:tc>
                <a:tc>
                  <a:txBody>
                    <a:bodyPr/>
                    <a:lstStyle/>
                    <a:p>
                      <a:r>
                        <a:rPr sz="1100" b="0" i="0">
                          <a:solidFill>
                            <a:srgbClr val="1A1440"/>
                          </a:solidFill>
                          <a:latin typeface="Calibri"/>
                        </a:rPr>
                        <a:t>The calendar week</a:t>
                      </a:r>
                    </a:p>
                  </a:txBody>
                  <a:tcPr marL="101600" marR="101600" marT="38100" marB="38100" anchor="ctr">
                    <a:solidFill>
                      <a:srgbClr val="FFFFFF"/>
                    </a:solidFill>
                  </a:tcPr>
                </a:tc>
              </a:tr>
              <a:tr h="318008">
                <a:tc>
                  <a:txBody>
                    <a:bodyPr/>
                    <a:lstStyle/>
                    <a:p>
                      <a:r>
                        <a:rPr sz="1100" b="0" i="0">
                          <a:solidFill>
                            <a:srgbClr val="1A1440"/>
                          </a:solidFill>
                          <a:latin typeface="Calibri"/>
                        </a:rPr>
                        <a:t>Exclusions</a:t>
                      </a:r>
                    </a:p>
                  </a:txBody>
                  <a:tcPr marL="101600" marR="101600" marT="38100" marB="38100" anchor="ctr">
                    <a:solidFill>
                      <a:srgbClr val="F4F2FA"/>
                    </a:solidFill>
                  </a:tcPr>
                </a:tc>
                <a:tc>
                  <a:txBody>
                    <a:bodyPr/>
                    <a:lstStyle/>
                    <a:p>
                      <a:r>
                        <a:rPr sz="1100" b="0" i="0">
                          <a:solidFill>
                            <a:srgbClr val="1A1440"/>
                          </a:solidFill>
                          <a:latin typeface="Calibri"/>
                        </a:rPr>
                        <a:t>Trips cancelled by either side, test accounts, trips outside the windows</a:t>
                      </a:r>
                    </a:p>
                  </a:txBody>
                  <a:tcPr marL="101600" marR="101600" marT="38100" marB="38100" anchor="ctr">
                    <a:solidFill>
                      <a:srgbClr val="F4F2FA"/>
                    </a:solidFill>
                  </a:tcPr>
                </a:tc>
              </a:tr>
              <a:tr h="508000">
                <a:tc>
                  <a:txBody>
                    <a:bodyPr/>
                    <a:lstStyle/>
                    <a:p>
                      <a:r>
                        <a:rPr sz="1100" b="0" i="0">
                          <a:solidFill>
                            <a:srgbClr val="1A1440"/>
                          </a:solidFill>
                          <a:latin typeface="Calibri"/>
                        </a:rPr>
                        <a:t>What it does not reward</a:t>
                      </a:r>
                    </a:p>
                  </a:txBody>
                  <a:tcPr marL="101600" marR="101600" marT="38100" marB="38100" anchor="ctr">
                    <a:solidFill>
                      <a:srgbClr val="FFFFFF"/>
                    </a:solidFill>
                  </a:tcPr>
                </a:tc>
                <a:tc>
                  <a:txBody>
                    <a:bodyPr/>
                    <a:lstStyle/>
                    <a:p>
                      <a:r>
                        <a:rPr sz="1100" b="0" i="0">
                          <a:solidFill>
                            <a:srgbClr val="1A1440"/>
                          </a:solidFill>
                          <a:latin typeface="Calibri"/>
                        </a:rPr>
                        <a:t>Hours online; offers declined; a shrinking enrolled base, since fewer drivers in the count would raise the rate with no extra trip</a:t>
                      </a:r>
                    </a:p>
                  </a:txBody>
                  <a:tcPr marL="101600" marR="101600" marT="38100" marB="38100" anchor="ctr">
                    <a:solidFill>
                      <a:srgbClr val="FFFFFF"/>
                    </a:solidFill>
                  </a:tcPr>
                </a:tc>
              </a:tr>
              <a:tr h="508000">
                <a:tc>
                  <a:txBody>
                    <a:bodyPr/>
                    <a:lstStyle/>
                    <a:p>
                      <a:r>
                        <a:rPr sz="1100" b="0" i="0">
                          <a:solidFill>
                            <a:srgbClr val="1A1440"/>
                          </a:solidFill>
                          <a:latin typeface="Calibri"/>
                        </a:rPr>
                        <a:t>Guardrails</a:t>
                      </a:r>
                    </a:p>
                  </a:txBody>
                  <a:tcPr marL="101600" marR="101600" marT="38100" marB="38100" anchor="ctr">
                    <a:solidFill>
                      <a:srgbClr val="F4F2FA"/>
                    </a:solidFill>
                  </a:tcPr>
                </a:tc>
                <a:tc>
                  <a:txBody>
                    <a:bodyPr/>
                    <a:lstStyle/>
                    <a:p>
                      <a:r>
                        <a:rPr sz="1100" b="0" i="0">
                          <a:solidFill>
                            <a:srgbClr val="1A1440"/>
                          </a:solidFill>
                          <a:latin typeface="Calibri"/>
                        </a:rPr>
                        <a:t>For riders: accepted share at or above an acceptance floor the city sets, read with the share of accepted trips the driver cancels, and the median rider wait. For the budget: top-up per completed trip</a:t>
                      </a:r>
                    </a:p>
                  </a:txBody>
                  <a:tcPr marL="101600" marR="101600" marT="38100" marB="38100" anchor="ctr">
                    <a:solidFill>
                      <a:srgbClr val="F4F2FA"/>
                    </a:solidFill>
                  </a:tcPr>
                </a:tc>
              </a:tr>
              <a:tr h="508000">
                <a:tc>
                  <a:txBody>
                    <a:bodyPr/>
                    <a:lstStyle/>
                    <a:p>
                      <a:r>
                        <a:rPr sz="1100" b="0" i="0">
                          <a:solidFill>
                            <a:srgbClr val="1A1440"/>
                          </a:solidFill>
                          <a:latin typeface="Calibri"/>
                        </a:rPr>
                        <a:t>Gaming note</a:t>
                      </a:r>
                    </a:p>
                  </a:txBody>
                  <a:tcPr marL="101600" marR="101600" marT="38100" marB="38100" anchor="ctr">
                    <a:solidFill>
                      <a:srgbClr val="FFFFFF"/>
                    </a:solidFill>
                  </a:tcPr>
                </a:tc>
                <a:tc>
                  <a:txBody>
                    <a:bodyPr/>
                    <a:lstStyle/>
                    <a:p>
                      <a:r>
                        <a:rPr sz="1100" b="0" i="0">
                          <a:solidFill>
                            <a:srgbClr val="1A1440"/>
                          </a:solidFill>
                          <a:latin typeface="Calibri"/>
                        </a:rPr>
                        <a:t>Guardrail 1 catches declining and cherry-picking, and the cancel share beside it accepting then cancelling; guardrail 2, supply that stops serving riders; guardrail 3, a top-up that runs away from the trips it pays for</a:t>
                      </a:r>
                    </a:p>
                  </a:txBody>
                  <a:tcPr marL="101600" marR="101600" marT="38100" marB="38100" anchor="ctr">
                    <a:solidFill>
                      <a:srgbClr val="FFFFFF"/>
                    </a:solidFill>
                  </a:tcPr>
                </a:tc>
              </a:tr>
            </a:tbl>
          </a:graphicData>
        </a:graphic>
      </p:graphicFrame>
      <p:sp>
        <p:nvSpPr>
          <p:cNvPr id="10" name="TextBox 9"/>
          <p:cNvSpPr txBox="1"/>
          <p:nvPr/>
        </p:nvSpPr>
        <p:spPr>
          <a:xfrm>
            <a:off x="530352" y="5242560"/>
            <a:ext cx="11130991" cy="841248"/>
          </a:xfrm>
          <a:prstGeom prst="rect">
            <a:avLst/>
          </a:prstGeom>
          <a:noFill/>
        </p:spPr>
        <p:txBody>
          <a:bodyPr wrap="square" anchor="t" lIns="0" rIns="0" tIns="0" bIns="0">
            <a:spAutoFit/>
          </a:bodyPr>
          <a:lstStyle/>
          <a:p>
            <a:pPr>
              <a:spcAft>
                <a:spcPts val="600"/>
              </a:spcAft>
            </a:pPr>
            <a:r>
              <a:rPr sz="1200" b="0" i="0">
                <a:solidFill>
                  <a:srgbClr val="1A1440"/>
                </a:solidFill>
                <a:latin typeface="Calibri"/>
              </a:rPr>
              <a:t>Chapter 6's page, filled for the city. On the data, the north star read 35.76 trips per online driver-week before and 35.89 after: hours rose 24 percent and the number the scheme exists for barely moved. Every driver in the table enrolled, so the weeks before the launch count the same drivers.</a:t>
            </a:r>
          </a:p>
        </p:txBody>
      </p:sp>
      <p:sp>
        <p:nvSpPr>
          <p:cNvPr id="11" name="TextBox 10"/>
          <p:cNvSpPr txBox="1"/>
          <p:nvPr/>
        </p:nvSpPr>
        <p:spPr>
          <a:xfrm>
            <a:off x="530352" y="6437376"/>
            <a:ext cx="256032" cy="152146"/>
          </a:xfrm>
          <a:prstGeom prst="rect">
            <a:avLst/>
          </a:prstGeom>
          <a:noFill/>
        </p:spPr>
        <p:txBody>
          <a:bodyPr wrap="square" anchor="t" lIns="0" rIns="0" tIns="0" bIns="0">
            <a:spAutoFit/>
          </a:bodyPr>
          <a:lstStyle/>
          <a:p>
            <a:pPr algn="l"/>
            <a:r>
              <a:rPr sz="700" b="0" i="0">
                <a:solidFill>
                  <a:srgbClr val="6B6690"/>
                </a:solidFill>
                <a:latin typeface="Calibri"/>
              </a:rPr>
              <a:t>…</a:t>
            </a:r>
          </a:p>
        </p:txBody>
      </p:sp>
      <p:sp>
        <p:nvSpPr>
          <p:cNvPr id="12" name="Oval 11"/>
          <p:cNvSpPr/>
          <p:nvPr/>
        </p:nvSpPr>
        <p:spPr>
          <a:xfrm>
            <a:off x="78638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896112"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Which number warns?</a:t>
            </a:r>
          </a:p>
        </p:txBody>
      </p:sp>
      <p:sp>
        <p:nvSpPr>
          <p:cNvPr id="14" name="Oval 13"/>
          <p:cNvSpPr/>
          <p:nvPr/>
        </p:nvSpPr>
        <p:spPr>
          <a:xfrm>
            <a:off x="213598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2245709"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Which four lines?</a:t>
            </a:r>
          </a:p>
        </p:txBody>
      </p:sp>
      <p:sp>
        <p:nvSpPr>
          <p:cNvPr id="16" name="Oval 15"/>
          <p:cNvSpPr/>
          <p:nvPr/>
        </p:nvSpPr>
        <p:spPr>
          <a:xfrm>
            <a:off x="339356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3503295"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How is a number gamed?</a:t>
            </a:r>
          </a:p>
        </p:txBody>
      </p:sp>
      <p:sp>
        <p:nvSpPr>
          <p:cNvPr id="18" name="Oval 17"/>
          <p:cNvSpPr/>
          <p:nvPr/>
        </p:nvSpPr>
        <p:spPr>
          <a:xfrm>
            <a:off x="488118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4990909"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the page hold?</a:t>
            </a:r>
          </a:p>
        </p:txBody>
      </p:sp>
      <p:sp>
        <p:nvSpPr>
          <p:cNvPr id="20" name="Oval 19"/>
          <p:cNvSpPr/>
          <p:nvPr/>
        </p:nvSpPr>
        <p:spPr>
          <a:xfrm>
            <a:off x="646080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6570535"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an hour count?</a:t>
            </a:r>
          </a:p>
        </p:txBody>
      </p:sp>
      <p:sp>
        <p:nvSpPr>
          <p:cNvPr id="22" name="Oval 21"/>
          <p:cNvSpPr/>
          <p:nvPr/>
        </p:nvSpPr>
        <p:spPr>
          <a:xfrm>
            <a:off x="804043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8150161"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Where did the fall sit?</a:t>
            </a:r>
          </a:p>
        </p:txBody>
      </p:sp>
      <p:sp>
        <p:nvSpPr>
          <p:cNvPr id="24" name="Oval 23"/>
          <p:cNvSpPr/>
          <p:nvPr/>
        </p:nvSpPr>
        <p:spPr>
          <a:xfrm>
            <a:off x="9574053"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9683781" y="6437376"/>
            <a:ext cx="1332452" cy="152146"/>
          </a:xfrm>
          <a:prstGeom prst="rect">
            <a:avLst/>
          </a:prstGeom>
          <a:noFill/>
        </p:spPr>
        <p:txBody>
          <a:bodyPr wrap="square" anchor="t" lIns="0" rIns="0" tIns="0" bIns="0">
            <a:spAutoFit/>
          </a:bodyPr>
          <a:lstStyle/>
          <a:p>
            <a:pPr algn="l"/>
            <a:r>
              <a:rPr sz="700" b="1" i="0">
                <a:solidFill>
                  <a:srgbClr val="5B3FD6"/>
                </a:solidFill>
                <a:latin typeface="Calibri"/>
              </a:rPr>
              <a:t>What should it pay for?</a:t>
            </a:r>
          </a:p>
        </p:txBody>
      </p:sp>
      <p:sp>
        <p:nvSpPr>
          <p:cNvPr id="26" name="TextBox 25"/>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S81  ·  90 / 93</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MONDAY  ·  BUSINESS METRIC DESIGN  ·  UBER, HYDERABAD</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Without the 140 new drivers, what remains?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Take out every driver who joined after the launch: what does trips per hour read for the six weeks after?</a:t>
            </a:r>
          </a:p>
        </p:txBody>
      </p:sp>
      <p:sp>
        <p:nvSpPr>
          <p:cNvPr id="9" name="TextBox 8"/>
          <p:cNvSpPr txBox="1"/>
          <p:nvPr/>
        </p:nvSpPr>
        <p:spPr>
          <a:xfrm>
            <a:off x="530352" y="1956816"/>
            <a:ext cx="11130991" cy="1654048"/>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a) 1.90</a:t>
            </a:r>
          </a:p>
          <a:p>
            <a:pPr>
              <a:spcAft>
                <a:spcPts val="800"/>
              </a:spcAft>
            </a:pPr>
            <a:r>
              <a:rPr sz="1600" b="0" i="0">
                <a:solidFill>
                  <a:srgbClr val="1A1440"/>
                </a:solidFill>
                <a:latin typeface="Calibri"/>
              </a:rPr>
              <a:t>b) 1.79</a:t>
            </a:r>
          </a:p>
          <a:p>
            <a:pPr>
              <a:spcAft>
                <a:spcPts val="800"/>
              </a:spcAft>
            </a:pPr>
            <a:r>
              <a:rPr sz="1600" b="0" i="0">
                <a:solidFill>
                  <a:srgbClr val="1A1440"/>
                </a:solidFill>
                <a:latin typeface="Calibri"/>
              </a:rPr>
              <a:t>c) 1.58</a:t>
            </a:r>
          </a:p>
          <a:p>
            <a:pPr>
              <a:spcAft>
                <a:spcPts val="800"/>
              </a:spcAft>
            </a:pPr>
            <a:r>
              <a:rPr sz="1600" b="0" i="0">
                <a:solidFill>
                  <a:srgbClr val="1A1440"/>
                </a:solidFill>
                <a:latin typeface="Calibri"/>
              </a:rPr>
              <a:t>d) 1.19</a:t>
            </a:r>
          </a:p>
        </p:txBody>
      </p:sp>
      <p:sp>
        <p:nvSpPr>
          <p:cNvPr id="10" name="TextBox 9"/>
          <p:cNvSpPr txBox="1"/>
          <p:nvPr/>
        </p:nvSpPr>
        <p:spPr>
          <a:xfrm>
            <a:off x="530352" y="6437376"/>
            <a:ext cx="256032" cy="152146"/>
          </a:xfrm>
          <a:prstGeom prst="rect">
            <a:avLst/>
          </a:prstGeom>
          <a:noFill/>
        </p:spPr>
        <p:txBody>
          <a:bodyPr wrap="square" anchor="t" lIns="0" rIns="0" tIns="0" bIns="0">
            <a:spAutoFit/>
          </a:bodyPr>
          <a:lstStyle/>
          <a:p>
            <a:pPr algn="l"/>
            <a:r>
              <a:rPr sz="700" b="0" i="0">
                <a:solidFill>
                  <a:srgbClr val="6B6690"/>
                </a:solidFill>
                <a:latin typeface="Calibri"/>
              </a:rPr>
              <a:t>…</a:t>
            </a:r>
          </a:p>
        </p:txBody>
      </p:sp>
      <p:sp>
        <p:nvSpPr>
          <p:cNvPr id="11" name="Oval 10"/>
          <p:cNvSpPr/>
          <p:nvPr/>
        </p:nvSpPr>
        <p:spPr>
          <a:xfrm>
            <a:off x="78638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96112"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Which number warns?</a:t>
            </a:r>
          </a:p>
        </p:txBody>
      </p:sp>
      <p:sp>
        <p:nvSpPr>
          <p:cNvPr id="13" name="Oval 12"/>
          <p:cNvSpPr/>
          <p:nvPr/>
        </p:nvSpPr>
        <p:spPr>
          <a:xfrm>
            <a:off x="213598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2245709"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Which four lines?</a:t>
            </a:r>
          </a:p>
        </p:txBody>
      </p:sp>
      <p:sp>
        <p:nvSpPr>
          <p:cNvPr id="15" name="Oval 14"/>
          <p:cNvSpPr/>
          <p:nvPr/>
        </p:nvSpPr>
        <p:spPr>
          <a:xfrm>
            <a:off x="339356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3503295"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How is a number gamed?</a:t>
            </a:r>
          </a:p>
        </p:txBody>
      </p:sp>
      <p:sp>
        <p:nvSpPr>
          <p:cNvPr id="17" name="Oval 16"/>
          <p:cNvSpPr/>
          <p:nvPr/>
        </p:nvSpPr>
        <p:spPr>
          <a:xfrm>
            <a:off x="488118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4990909"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the page hold?</a:t>
            </a:r>
          </a:p>
        </p:txBody>
      </p:sp>
      <p:sp>
        <p:nvSpPr>
          <p:cNvPr id="19" name="Oval 18"/>
          <p:cNvSpPr/>
          <p:nvPr/>
        </p:nvSpPr>
        <p:spPr>
          <a:xfrm>
            <a:off x="646080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570535"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an hour count?</a:t>
            </a:r>
          </a:p>
        </p:txBody>
      </p:sp>
      <p:sp>
        <p:nvSpPr>
          <p:cNvPr id="21" name="Oval 20"/>
          <p:cNvSpPr/>
          <p:nvPr/>
        </p:nvSpPr>
        <p:spPr>
          <a:xfrm>
            <a:off x="804043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8150161"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Where did the fall sit?</a:t>
            </a:r>
          </a:p>
        </p:txBody>
      </p:sp>
      <p:sp>
        <p:nvSpPr>
          <p:cNvPr id="23" name="Oval 22"/>
          <p:cNvSpPr/>
          <p:nvPr/>
        </p:nvSpPr>
        <p:spPr>
          <a:xfrm>
            <a:off x="9574053"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9683781" y="6437376"/>
            <a:ext cx="1332452" cy="152146"/>
          </a:xfrm>
          <a:prstGeom prst="rect">
            <a:avLst/>
          </a:prstGeom>
          <a:noFill/>
        </p:spPr>
        <p:txBody>
          <a:bodyPr wrap="square" anchor="t" lIns="0" rIns="0" tIns="0" bIns="0">
            <a:spAutoFit/>
          </a:bodyPr>
          <a:lstStyle/>
          <a:p>
            <a:pPr algn="l"/>
            <a:r>
              <a:rPr sz="700" b="1" i="0">
                <a:solidFill>
                  <a:srgbClr val="5B3FD6"/>
                </a:solidFill>
                <a:latin typeface="Calibri"/>
              </a:rPr>
              <a:t>What should it pay for?</a:t>
            </a:r>
          </a:p>
        </p:txBody>
      </p:sp>
      <p:sp>
        <p:nvSpPr>
          <p:cNvPr id="25" name="TextBox 24"/>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S82  ·  91 / 93</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MONDAY  ·  BUSINESS METRIC DESIGN  ·  UBER, HYDERABAD</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Answer: 1.58; the fall survives each cut</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Which doubts does the fall survive, and which stay open until someone gathers more?</a:t>
            </a:r>
          </a:p>
        </p:txBody>
      </p:sp>
      <p:pic>
        <p:nvPicPr>
          <p:cNvPr id="9" name="mermaid diagram" descr="C2_W04_D01_fall_cuts_STUDENT.png"/>
          <p:cNvPicPr>
            <a:picLocks noChangeAspect="1"/>
          </p:cNvPicPr>
          <p:nvPr/>
        </p:nvPicPr>
        <p:blipFill>
          <a:blip r:embed="rId4"/>
          <a:stretch>
            <a:fillRect/>
          </a:stretch>
        </p:blipFill>
        <p:spPr>
          <a:xfrm>
            <a:off x="2652142" y="1664208"/>
            <a:ext cx="6887410" cy="2844800"/>
          </a:xfrm>
          <a:prstGeom prst="rect">
            <a:avLst/>
          </a:prstGeom>
        </p:spPr>
      </p:pic>
      <p:sp>
        <p:nvSpPr>
          <p:cNvPr id="10" name="picture caption"/>
          <p:cNvSpPr txBox="1"/>
          <p:nvPr/>
        </p:nvSpPr>
        <p:spPr>
          <a:xfrm>
            <a:off x="530352" y="4545584"/>
            <a:ext cx="11130991" cy="316992"/>
          </a:xfrm>
          <a:prstGeom prst="rect">
            <a:avLst/>
          </a:prstGeom>
          <a:noFill/>
        </p:spPr>
        <p:txBody>
          <a:bodyPr wrap="square" anchor="t" lIns="0" rIns="0" tIns="0" bIns="0">
            <a:spAutoFit/>
          </a:bodyPr>
          <a:lstStyle/>
          <a:p>
            <a:pPr algn="ctr"/>
            <a:r>
              <a:rPr sz="1200" b="0" i="0">
                <a:solidFill>
                  <a:srgbClr val="6B6690"/>
                </a:solidFill>
                <a:latin typeface="Calibri"/>
              </a:rPr>
              <a:t>Trips per peak online hour after the launch under each cut the data can make</a:t>
            </a:r>
          </a:p>
        </p:txBody>
      </p:sp>
      <p:sp>
        <p:nvSpPr>
          <p:cNvPr id="11" name="Rounded Rectangle 10"/>
          <p:cNvSpPr/>
          <p:nvPr/>
        </p:nvSpPr>
        <p:spPr>
          <a:xfrm>
            <a:off x="530352" y="4871720"/>
            <a:ext cx="11130991" cy="11633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ounded Rectangle 11"/>
          <p:cNvSpPr/>
          <p:nvPr/>
        </p:nvSpPr>
        <p:spPr>
          <a:xfrm>
            <a:off x="676656" y="4999736"/>
            <a:ext cx="45720" cy="907287"/>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877824" y="4990592"/>
            <a:ext cx="10564063" cy="980440"/>
          </a:xfrm>
          <a:prstGeom prst="rect">
            <a:avLst/>
          </a:prstGeom>
          <a:noFill/>
        </p:spPr>
        <p:txBody>
          <a:bodyPr wrap="square" anchor="ctr" lIns="0" rIns="0" tIns="0" bIns="0">
            <a:spAutoFit/>
          </a:bodyPr>
          <a:lstStyle/>
          <a:p>
            <a:r>
              <a:rPr sz="1000" b="1">
                <a:solidFill>
                  <a:srgbClr val="5B3FD6"/>
                </a:solidFill>
                <a:latin typeface="Calibri"/>
              </a:rPr>
              <a:t>Answer: c. </a:t>
            </a:r>
            <a:r>
              <a:rPr sz="1000" b="0" i="0">
                <a:solidFill>
                  <a:srgbClr val="1A1440"/>
                </a:solidFill>
                <a:latin typeface="Calibri"/>
              </a:rPr>
              <a:t>Without the new drivers the rate is still 1.58. In the three weeks with the most rider requests, the first three after the launch and still in the rains, it already read 1.60, so the monsoon's end does not explain the step at the launch; whether the season moved the later weeks stays partly open, since last year's weeks are not in the data. In the nine core zones it fell from 1.90 to 1.79, so the fall sits mostly in the three outer zones. Three doubts stay open: drivers on two apps (the data holds weekly totals, so it cannot show a decline made because another app's trip was under way), who chose to enrol (every driver here enrolled, so no group stayed out to compare with), and cause (only a test of the redesign settles it).</a:t>
            </a:r>
          </a:p>
        </p:txBody>
      </p:sp>
      <p:sp>
        <p:nvSpPr>
          <p:cNvPr id="14" name="TextBox 13"/>
          <p:cNvSpPr txBox="1"/>
          <p:nvPr/>
        </p:nvSpPr>
        <p:spPr>
          <a:xfrm>
            <a:off x="530352" y="6437376"/>
            <a:ext cx="256032" cy="152146"/>
          </a:xfrm>
          <a:prstGeom prst="rect">
            <a:avLst/>
          </a:prstGeom>
          <a:noFill/>
        </p:spPr>
        <p:txBody>
          <a:bodyPr wrap="square" anchor="t" lIns="0" rIns="0" tIns="0" bIns="0">
            <a:spAutoFit/>
          </a:bodyPr>
          <a:lstStyle/>
          <a:p>
            <a:pPr algn="l"/>
            <a:r>
              <a:rPr sz="700" b="0" i="0">
                <a:solidFill>
                  <a:srgbClr val="6B6690"/>
                </a:solidFill>
                <a:latin typeface="Calibri"/>
              </a:rPr>
              <a:t>…</a:t>
            </a:r>
          </a:p>
        </p:txBody>
      </p:sp>
      <p:sp>
        <p:nvSpPr>
          <p:cNvPr id="15" name="Oval 14"/>
          <p:cNvSpPr/>
          <p:nvPr/>
        </p:nvSpPr>
        <p:spPr>
          <a:xfrm>
            <a:off x="78638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896112"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Which number warns?</a:t>
            </a:r>
          </a:p>
        </p:txBody>
      </p:sp>
      <p:sp>
        <p:nvSpPr>
          <p:cNvPr id="17" name="Oval 16"/>
          <p:cNvSpPr/>
          <p:nvPr/>
        </p:nvSpPr>
        <p:spPr>
          <a:xfrm>
            <a:off x="213598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2245709"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Which four lines?</a:t>
            </a:r>
          </a:p>
        </p:txBody>
      </p:sp>
      <p:sp>
        <p:nvSpPr>
          <p:cNvPr id="19" name="Oval 18"/>
          <p:cNvSpPr/>
          <p:nvPr/>
        </p:nvSpPr>
        <p:spPr>
          <a:xfrm>
            <a:off x="339356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3503295"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How is a number gamed?</a:t>
            </a:r>
          </a:p>
        </p:txBody>
      </p:sp>
      <p:sp>
        <p:nvSpPr>
          <p:cNvPr id="21" name="Oval 20"/>
          <p:cNvSpPr/>
          <p:nvPr/>
        </p:nvSpPr>
        <p:spPr>
          <a:xfrm>
            <a:off x="488118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4990909"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the page hold?</a:t>
            </a:r>
          </a:p>
        </p:txBody>
      </p:sp>
      <p:sp>
        <p:nvSpPr>
          <p:cNvPr id="23" name="Oval 22"/>
          <p:cNvSpPr/>
          <p:nvPr/>
        </p:nvSpPr>
        <p:spPr>
          <a:xfrm>
            <a:off x="646080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6570535"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an hour count?</a:t>
            </a:r>
          </a:p>
        </p:txBody>
      </p:sp>
      <p:sp>
        <p:nvSpPr>
          <p:cNvPr id="25" name="Oval 24"/>
          <p:cNvSpPr/>
          <p:nvPr/>
        </p:nvSpPr>
        <p:spPr>
          <a:xfrm>
            <a:off x="804043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8150161"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Where did the fall sit?</a:t>
            </a:r>
          </a:p>
        </p:txBody>
      </p:sp>
      <p:sp>
        <p:nvSpPr>
          <p:cNvPr id="27" name="Oval 26"/>
          <p:cNvSpPr/>
          <p:nvPr/>
        </p:nvSpPr>
        <p:spPr>
          <a:xfrm>
            <a:off x="9574053"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9683781" y="6437376"/>
            <a:ext cx="1332452" cy="152146"/>
          </a:xfrm>
          <a:prstGeom prst="rect">
            <a:avLst/>
          </a:prstGeom>
          <a:noFill/>
        </p:spPr>
        <p:txBody>
          <a:bodyPr wrap="square" anchor="t" lIns="0" rIns="0" tIns="0" bIns="0">
            <a:spAutoFit/>
          </a:bodyPr>
          <a:lstStyle/>
          <a:p>
            <a:pPr algn="l"/>
            <a:r>
              <a:rPr sz="700" b="1" i="0">
                <a:solidFill>
                  <a:srgbClr val="5B3FD6"/>
                </a:solidFill>
                <a:latin typeface="Calibri"/>
              </a:rPr>
              <a:t>What should it pay for?</a:t>
            </a:r>
          </a:p>
        </p:txBody>
      </p:sp>
      <p:sp>
        <p:nvSpPr>
          <p:cNvPr id="29" name="TextBox 28"/>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S83  ·  92 / 93</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MONDAY  ·  BUSINESS METRIC DESIGN  ·  UBER, HYDERABAD</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Close: judge by trips, guarded three ways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does the finished board say?</a:t>
            </a:r>
          </a:p>
        </p:txBody>
      </p:sp>
      <p:pic>
        <p:nvPicPr>
          <p:cNvPr id="9" name="mermaid diagram" descr="bbee0ebef2a25b03.png"/>
          <p:cNvPicPr>
            <a:picLocks noChangeAspect="1"/>
          </p:cNvPicPr>
          <p:nvPr/>
        </p:nvPicPr>
        <p:blipFill>
          <a:blip r:embed="rId5"/>
          <a:stretch>
            <a:fillRect/>
          </a:stretch>
        </p:blipFill>
        <p:spPr>
          <a:xfrm>
            <a:off x="530352" y="1854868"/>
            <a:ext cx="11130991" cy="2951668"/>
          </a:xfrm>
          <a:prstGeom prst="rect">
            <a:avLst/>
          </a:prstGeom>
        </p:spPr>
      </p:pic>
      <p:sp>
        <p:nvSpPr>
          <p:cNvPr id="10" name="Rounded Rectangle 9"/>
          <p:cNvSpPr/>
          <p:nvPr/>
        </p:nvSpPr>
        <p:spPr>
          <a:xfrm>
            <a:off x="530352" y="4952840"/>
            <a:ext cx="11130991" cy="10744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676656" y="5080856"/>
            <a:ext cx="45720" cy="8183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7824" y="5071712"/>
            <a:ext cx="10564063" cy="891540"/>
          </a:xfrm>
          <a:prstGeom prst="rect">
            <a:avLst/>
          </a:prstGeom>
          <a:noFill/>
        </p:spPr>
        <p:txBody>
          <a:bodyPr wrap="square" anchor="ctr" lIns="0" rIns="0" tIns="0" bIns="0">
            <a:spAutoFit/>
          </a:bodyPr>
          <a:lstStyle/>
          <a:p>
            <a:r>
              <a:rPr sz="1500" b="1">
                <a:solidFill>
                  <a:srgbClr val="5B3FD6"/>
                </a:solidFill>
                <a:latin typeface="Calibri"/>
              </a:rPr>
              <a:t>The crux. </a:t>
            </a:r>
            <a:r>
              <a:rPr sz="1500" b="0" i="0">
                <a:solidFill>
                  <a:srgbClr val="1A1440"/>
                </a:solidFill>
                <a:latin typeface="Calibri"/>
              </a:rPr>
              <a:t>Judge the scheme by completed peak trips per enrolled driver online at peak, guarded for riders by acceptance and the wait, and for the budget by the top-up per trip; chapter 10 prices the pay rule that follows.</a:t>
            </a:r>
          </a:p>
        </p:txBody>
      </p:sp>
      <p:sp>
        <p:nvSpPr>
          <p:cNvPr id="13" name="TextBox 12"/>
          <p:cNvSpPr txBox="1"/>
          <p:nvPr/>
        </p:nvSpPr>
        <p:spPr>
          <a:xfrm>
            <a:off x="530352" y="6437376"/>
            <a:ext cx="256032" cy="152146"/>
          </a:xfrm>
          <a:prstGeom prst="rect">
            <a:avLst/>
          </a:prstGeom>
          <a:noFill/>
        </p:spPr>
        <p:txBody>
          <a:bodyPr wrap="square" anchor="t" lIns="0" rIns="0" tIns="0" bIns="0">
            <a:spAutoFit/>
          </a:bodyPr>
          <a:lstStyle/>
          <a:p>
            <a:pPr algn="l"/>
            <a:r>
              <a:rPr sz="700" b="0" i="0">
                <a:solidFill>
                  <a:srgbClr val="6B6690"/>
                </a:solidFill>
                <a:latin typeface="Calibri"/>
              </a:rPr>
              <a:t>…</a:t>
            </a:r>
          </a:p>
        </p:txBody>
      </p:sp>
      <p:sp>
        <p:nvSpPr>
          <p:cNvPr id="14" name="Oval 13"/>
          <p:cNvSpPr/>
          <p:nvPr/>
        </p:nvSpPr>
        <p:spPr>
          <a:xfrm>
            <a:off x="78638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96112"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Which number warns?</a:t>
            </a:r>
          </a:p>
        </p:txBody>
      </p:sp>
      <p:sp>
        <p:nvSpPr>
          <p:cNvPr id="16" name="Oval 15"/>
          <p:cNvSpPr/>
          <p:nvPr/>
        </p:nvSpPr>
        <p:spPr>
          <a:xfrm>
            <a:off x="213598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2245709"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Which four lines?</a:t>
            </a:r>
          </a:p>
        </p:txBody>
      </p:sp>
      <p:sp>
        <p:nvSpPr>
          <p:cNvPr id="18" name="Oval 17"/>
          <p:cNvSpPr/>
          <p:nvPr/>
        </p:nvSpPr>
        <p:spPr>
          <a:xfrm>
            <a:off x="339356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3503295"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How is a number gamed?</a:t>
            </a:r>
          </a:p>
        </p:txBody>
      </p:sp>
      <p:sp>
        <p:nvSpPr>
          <p:cNvPr id="20" name="Oval 19"/>
          <p:cNvSpPr/>
          <p:nvPr/>
        </p:nvSpPr>
        <p:spPr>
          <a:xfrm>
            <a:off x="488118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4990909"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the page hold?</a:t>
            </a:r>
          </a:p>
        </p:txBody>
      </p:sp>
      <p:sp>
        <p:nvSpPr>
          <p:cNvPr id="22" name="Oval 21"/>
          <p:cNvSpPr/>
          <p:nvPr/>
        </p:nvSpPr>
        <p:spPr>
          <a:xfrm>
            <a:off x="646080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6570535"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an hour count?</a:t>
            </a:r>
          </a:p>
        </p:txBody>
      </p:sp>
      <p:sp>
        <p:nvSpPr>
          <p:cNvPr id="24" name="Oval 23"/>
          <p:cNvSpPr/>
          <p:nvPr/>
        </p:nvSpPr>
        <p:spPr>
          <a:xfrm>
            <a:off x="804043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8150161"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Where did the fall sit?</a:t>
            </a:r>
          </a:p>
        </p:txBody>
      </p:sp>
      <p:sp>
        <p:nvSpPr>
          <p:cNvPr id="26" name="Oval 25"/>
          <p:cNvSpPr/>
          <p:nvPr/>
        </p:nvSpPr>
        <p:spPr>
          <a:xfrm>
            <a:off x="9574053"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9683781" y="6437376"/>
            <a:ext cx="1332452" cy="152146"/>
          </a:xfrm>
          <a:prstGeom prst="rect">
            <a:avLst/>
          </a:prstGeom>
          <a:noFill/>
        </p:spPr>
        <p:txBody>
          <a:bodyPr wrap="square" anchor="t" lIns="0" rIns="0" tIns="0" bIns="0">
            <a:spAutoFit/>
          </a:bodyPr>
          <a:lstStyle/>
          <a:p>
            <a:pPr algn="l"/>
            <a:r>
              <a:rPr sz="700" b="1" i="0">
                <a:solidFill>
                  <a:srgbClr val="5B3FD6"/>
                </a:solidFill>
                <a:latin typeface="Calibri"/>
              </a:rPr>
              <a:t>What should it pay for?</a:t>
            </a:r>
          </a:p>
        </p:txBody>
      </p:sp>
      <p:sp>
        <p:nvSpPr>
          <p:cNvPr id="28" name="TextBox 27"/>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S84  ·  93 / 93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